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9" d="100"/>
          <a:sy n="79" d="100"/>
        </p:scale>
        <p:origin x="42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smtClean="0"/>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8808D184-DE5B-402F-BD06-8F305F406185}" type="datetimeFigureOut">
              <a:rPr lang="en-US" smtClean="0"/>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5AE336-C3AA-4867-A89F-07E9577CA39B}" type="slidenum">
              <a:rPr lang="en-US" smtClean="0"/>
              <a:t>‹#›</a:t>
            </a:fld>
            <a:endParaRPr lang="en-US"/>
          </a:p>
        </p:txBody>
      </p:sp>
    </p:spTree>
    <p:extLst>
      <p:ext uri="{BB962C8B-B14F-4D97-AF65-F5344CB8AC3E}">
        <p14:creationId xmlns:p14="http://schemas.microsoft.com/office/powerpoint/2010/main" val="8505931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3"/>
          <p:cNvSpPr>
            <a:spLocks noGrp="1"/>
          </p:cNvSpPr>
          <p:nvPr>
            <p:ph type="dt" sz="half" idx="10"/>
          </p:nvPr>
        </p:nvSpPr>
        <p:spPr/>
        <p:txBody>
          <a:bodyPr/>
          <a:lstStyle/>
          <a:p>
            <a:fld id="{8808D184-DE5B-402F-BD06-8F305F406185}" type="datetimeFigureOut">
              <a:rPr lang="en-US" smtClean="0"/>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5AE336-C3AA-4867-A89F-07E9577CA39B}" type="slidenum">
              <a:rPr lang="en-US" smtClean="0"/>
              <a:t>‹#›</a:t>
            </a:fld>
            <a:endParaRPr lang="en-US"/>
          </a:p>
        </p:txBody>
      </p:sp>
    </p:spTree>
    <p:extLst>
      <p:ext uri="{BB962C8B-B14F-4D97-AF65-F5344CB8AC3E}">
        <p14:creationId xmlns:p14="http://schemas.microsoft.com/office/powerpoint/2010/main" val="25516341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8808D184-DE5B-402F-BD06-8F305F406185}" type="datetimeFigureOut">
              <a:rPr lang="en-US" smtClean="0"/>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5AE336-C3AA-4867-A89F-07E9577CA39B}" type="slidenum">
              <a:rPr lang="en-US" smtClean="0"/>
              <a:t>‹#›</a:t>
            </a:fld>
            <a:endParaRPr lang="en-US"/>
          </a:p>
        </p:txBody>
      </p:sp>
    </p:spTree>
    <p:extLst>
      <p:ext uri="{BB962C8B-B14F-4D97-AF65-F5344CB8AC3E}">
        <p14:creationId xmlns:p14="http://schemas.microsoft.com/office/powerpoint/2010/main" val="17224219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8808D184-DE5B-402F-BD06-8F305F406185}" type="datetimeFigureOut">
              <a:rPr lang="en-US" smtClean="0"/>
              <a:t>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D5AE336-C3AA-4867-A89F-07E9577CA39B}" type="slidenum">
              <a:rPr lang="en-US" smtClean="0"/>
              <a:t>‹#›</a:t>
            </a:fld>
            <a:endParaRPr lang="en-US"/>
          </a:p>
        </p:txBody>
      </p:sp>
    </p:spTree>
    <p:extLst>
      <p:ext uri="{BB962C8B-B14F-4D97-AF65-F5344CB8AC3E}">
        <p14:creationId xmlns:p14="http://schemas.microsoft.com/office/powerpoint/2010/main" val="17131128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8808D184-DE5B-402F-BD06-8F305F406185}" type="datetimeFigureOut">
              <a:rPr lang="en-US" smtClean="0"/>
              <a:t>1/24/2025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D5AE336-C3AA-4867-A89F-07E9577CA39B}" type="slidenum">
              <a:rPr lang="en-US" smtClean="0"/>
              <a:t>‹#›</a:t>
            </a:fld>
            <a:endParaRPr lang="en-US"/>
          </a:p>
        </p:txBody>
      </p:sp>
    </p:spTree>
    <p:extLst>
      <p:ext uri="{BB962C8B-B14F-4D97-AF65-F5344CB8AC3E}">
        <p14:creationId xmlns:p14="http://schemas.microsoft.com/office/powerpoint/2010/main" val="11288500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Date Placeholder 2"/>
          <p:cNvSpPr>
            <a:spLocks noGrp="1"/>
          </p:cNvSpPr>
          <p:nvPr>
            <p:ph type="dt" sz="half" idx="10"/>
          </p:nvPr>
        </p:nvSpPr>
        <p:spPr/>
        <p:txBody>
          <a:bodyPr/>
          <a:lstStyle/>
          <a:p>
            <a:fld id="{8808D184-DE5B-402F-BD06-8F305F406185}" type="datetimeFigureOut">
              <a:rPr lang="en-US" smtClean="0"/>
              <a:t>1/24/2025</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9D5AE336-C3AA-4867-A89F-07E9577CA39B}" type="slidenum">
              <a:rPr lang="en-US" smtClean="0"/>
              <a:t>‹#›</a:t>
            </a:fld>
            <a:endParaRPr lang="en-US"/>
          </a:p>
        </p:txBody>
      </p:sp>
    </p:spTree>
    <p:extLst>
      <p:ext uri="{BB962C8B-B14F-4D97-AF65-F5344CB8AC3E}">
        <p14:creationId xmlns:p14="http://schemas.microsoft.com/office/powerpoint/2010/main" val="40348846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8808D184-DE5B-402F-BD06-8F305F406185}" type="datetimeFigureOut">
              <a:rPr lang="en-US" smtClean="0"/>
              <a:t>1/24/2025</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9D5AE336-C3AA-4867-A89F-07E9577CA39B}" type="slidenum">
              <a:rPr lang="en-US" smtClean="0"/>
              <a:t>‹#›</a:t>
            </a:fld>
            <a:endParaRPr lang="en-US"/>
          </a:p>
        </p:txBody>
      </p:sp>
    </p:spTree>
    <p:extLst>
      <p:ext uri="{BB962C8B-B14F-4D97-AF65-F5344CB8AC3E}">
        <p14:creationId xmlns:p14="http://schemas.microsoft.com/office/powerpoint/2010/main" val="32705108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7" name="Date Placeholder 4"/>
          <p:cNvSpPr>
            <a:spLocks noGrp="1"/>
          </p:cNvSpPr>
          <p:nvPr>
            <p:ph type="dt" sz="half" idx="10"/>
          </p:nvPr>
        </p:nvSpPr>
        <p:spPr/>
        <p:txBody>
          <a:bodyPr/>
          <a:lstStyle/>
          <a:p>
            <a:fld id="{8808D184-DE5B-402F-BD06-8F305F406185}" type="datetimeFigureOut">
              <a:rPr lang="en-US" smtClean="0"/>
              <a:t>1/24/2025</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9D5AE336-C3AA-4867-A89F-07E9577CA39B}" type="slidenum">
              <a:rPr lang="en-US" smtClean="0"/>
              <a:t>‹#›</a:t>
            </a:fld>
            <a:endParaRPr lang="en-US"/>
          </a:p>
        </p:txBody>
      </p:sp>
    </p:spTree>
    <p:extLst>
      <p:ext uri="{BB962C8B-B14F-4D97-AF65-F5344CB8AC3E}">
        <p14:creationId xmlns:p14="http://schemas.microsoft.com/office/powerpoint/2010/main" val="14615509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8808D184-DE5B-402F-BD06-8F305F406185}" type="datetimeFigureOut">
              <a:rPr lang="en-US" smtClean="0"/>
              <a:t>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D5AE336-C3AA-4867-A89F-07E9577CA39B}" type="slidenum">
              <a:rPr lang="en-US" smtClean="0"/>
              <a:t>‹#›</a:t>
            </a:fld>
            <a:endParaRPr lang="en-US"/>
          </a:p>
        </p:txBody>
      </p:sp>
    </p:spTree>
    <p:extLst>
      <p:ext uri="{BB962C8B-B14F-4D97-AF65-F5344CB8AC3E}">
        <p14:creationId xmlns:p14="http://schemas.microsoft.com/office/powerpoint/2010/main" val="11244678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8808D184-DE5B-402F-BD06-8F305F406185}" type="datetimeFigureOut">
              <a:rPr lang="en-US" smtClean="0"/>
              <a:t>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D5AE336-C3AA-4867-A89F-07E9577CA39B}" type="slidenum">
              <a:rPr lang="en-US" smtClean="0"/>
              <a:t>‹#›</a:t>
            </a:fld>
            <a:endParaRPr lang="en-US"/>
          </a:p>
        </p:txBody>
      </p:sp>
    </p:spTree>
    <p:extLst>
      <p:ext uri="{BB962C8B-B14F-4D97-AF65-F5344CB8AC3E}">
        <p14:creationId xmlns:p14="http://schemas.microsoft.com/office/powerpoint/2010/main" val="28069951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8808D184-DE5B-402F-BD06-8F305F406185}" type="datetimeFigureOut">
              <a:rPr lang="en-US" smtClean="0"/>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5AE336-C3AA-4867-A89F-07E9577CA39B}" type="slidenum">
              <a:rPr lang="en-US" smtClean="0"/>
              <a:t>‹#›</a:t>
            </a:fld>
            <a:endParaRPr lang="en-US"/>
          </a:p>
        </p:txBody>
      </p:sp>
    </p:spTree>
    <p:extLst>
      <p:ext uri="{BB962C8B-B14F-4D97-AF65-F5344CB8AC3E}">
        <p14:creationId xmlns:p14="http://schemas.microsoft.com/office/powerpoint/2010/main" val="6199434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smtClean="0"/>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smtClean="0"/>
              <a:t>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8808D184-DE5B-402F-BD06-8F305F406185}" type="datetimeFigureOut">
              <a:rPr lang="en-US" smtClean="0"/>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5AE336-C3AA-4867-A89F-07E9577CA39B}"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9747937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8808D184-DE5B-402F-BD06-8F305F406185}" type="datetimeFigureOut">
              <a:rPr lang="en-US" smtClean="0"/>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5AE336-C3AA-4867-A89F-07E9577CA39B}" type="slidenum">
              <a:rPr lang="en-US" smtClean="0"/>
              <a:t>‹#›</a:t>
            </a:fld>
            <a:endParaRPr lang="en-US"/>
          </a:p>
        </p:txBody>
      </p:sp>
    </p:spTree>
    <p:extLst>
      <p:ext uri="{BB962C8B-B14F-4D97-AF65-F5344CB8AC3E}">
        <p14:creationId xmlns:p14="http://schemas.microsoft.com/office/powerpoint/2010/main" val="24362277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8808D184-DE5B-402F-BD06-8F305F406185}" type="datetimeFigureOut">
              <a:rPr lang="en-US" smtClean="0"/>
              <a:t>1/24/2025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5AE336-C3AA-4867-A89F-07E9577CA39B}" type="slidenum">
              <a:rPr lang="en-US" smtClean="0"/>
              <a:t>‹#›</a:t>
            </a:fld>
            <a:endParaRPr lang="en-US"/>
          </a:p>
        </p:txBody>
      </p:sp>
    </p:spTree>
    <p:extLst>
      <p:ext uri="{BB962C8B-B14F-4D97-AF65-F5344CB8AC3E}">
        <p14:creationId xmlns:p14="http://schemas.microsoft.com/office/powerpoint/2010/main" val="145765792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8808D184-DE5B-402F-BD06-8F305F406185}" type="datetimeFigureOut">
              <a:rPr lang="en-US" smtClean="0"/>
              <a:t>1/24/2025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5AE336-C3AA-4867-A89F-07E9577CA39B}" type="slidenum">
              <a:rPr lang="en-US" smtClean="0"/>
              <a:t>‹#›</a:t>
            </a:fld>
            <a:endParaRPr lang="en-US"/>
          </a:p>
        </p:txBody>
      </p:sp>
    </p:spTree>
    <p:extLst>
      <p:ext uri="{BB962C8B-B14F-4D97-AF65-F5344CB8AC3E}">
        <p14:creationId xmlns:p14="http://schemas.microsoft.com/office/powerpoint/2010/main" val="26681577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808D184-DE5B-402F-BD06-8F305F406185}" type="datetimeFigureOut">
              <a:rPr lang="en-US" smtClean="0"/>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5AE336-C3AA-4867-A89F-07E9577CA39B}" type="slidenum">
              <a:rPr lang="en-US" smtClean="0"/>
              <a:t>‹#›</a:t>
            </a:fld>
            <a:endParaRPr lang="en-US"/>
          </a:p>
        </p:txBody>
      </p:sp>
    </p:spTree>
    <p:extLst>
      <p:ext uri="{BB962C8B-B14F-4D97-AF65-F5344CB8AC3E}">
        <p14:creationId xmlns:p14="http://schemas.microsoft.com/office/powerpoint/2010/main" val="11382366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808D184-DE5B-402F-BD06-8F305F406185}" type="datetimeFigureOut">
              <a:rPr lang="en-US" smtClean="0"/>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5AE336-C3AA-4867-A89F-07E9577CA39B}" type="slidenum">
              <a:rPr lang="en-US" smtClean="0"/>
              <a:t>‹#›</a:t>
            </a:fld>
            <a:endParaRPr lang="en-US"/>
          </a:p>
        </p:txBody>
      </p:sp>
    </p:spTree>
    <p:extLst>
      <p:ext uri="{BB962C8B-B14F-4D97-AF65-F5344CB8AC3E}">
        <p14:creationId xmlns:p14="http://schemas.microsoft.com/office/powerpoint/2010/main" val="6241126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8808D184-DE5B-402F-BD06-8F305F406185}" type="datetimeFigureOut">
              <a:rPr lang="en-US" smtClean="0"/>
              <a:t>1/24/2025</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9D5AE336-C3AA-4867-A89F-07E9577CA39B}" type="slidenum">
              <a:rPr lang="en-US" smtClean="0"/>
              <a:t>‹#›</a:t>
            </a:fld>
            <a:endParaRPr lang="en-US"/>
          </a:p>
        </p:txBody>
      </p:sp>
    </p:spTree>
    <p:extLst>
      <p:ext uri="{BB962C8B-B14F-4D97-AF65-F5344CB8AC3E}">
        <p14:creationId xmlns:p14="http://schemas.microsoft.com/office/powerpoint/2010/main" val="910591395"/>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4B9CF-1F44-31C5-2B04-A50C26F6A3BA}"/>
              </a:ext>
            </a:extLst>
          </p:cNvPr>
          <p:cNvSpPr>
            <a:spLocks noGrp="1"/>
          </p:cNvSpPr>
          <p:nvPr>
            <p:ph type="title"/>
          </p:nvPr>
        </p:nvSpPr>
        <p:spPr>
          <a:xfrm>
            <a:off x="838200" y="365125"/>
            <a:ext cx="10515600" cy="5786293"/>
          </a:xfrm>
        </p:spPr>
        <p:txBody>
          <a:bodyPr>
            <a:normAutofit/>
          </a:bodyPr>
          <a:lstStyle/>
          <a:p>
            <a:pPr algn="ctr"/>
            <a:r>
              <a:rPr lang="en-US" sz="7200" b="1" dirty="0">
                <a:latin typeface="Century Gothic" panose="020B0502020202020204" pitchFamily="34" charset="0"/>
                <a:ea typeface="Calibri" panose="020F0502020204030204" pitchFamily="34" charset="0"/>
                <a:cs typeface="Times New Roman" panose="02020603050405020304" pitchFamily="18" charset="0"/>
              </a:rPr>
              <a:t>Lecture 2</a:t>
            </a:r>
            <a:r>
              <a:rPr lang="en-US" sz="7200" b="1">
                <a:latin typeface="Century Gothic" panose="020B0502020202020204" pitchFamily="34" charset="0"/>
                <a:ea typeface="Calibri" panose="020F0502020204030204" pitchFamily="34" charset="0"/>
                <a:cs typeface="Times New Roman" panose="02020603050405020304" pitchFamily="18" charset="0"/>
              </a:rPr>
              <a:t>: </a:t>
            </a:r>
            <a:r>
              <a:rPr lang="en-US" sz="7200" b="1" smtClean="0">
                <a:latin typeface="Century Gothic" panose="020B0502020202020204" pitchFamily="34" charset="0"/>
                <a:ea typeface="Calibri" panose="020F0502020204030204" pitchFamily="34" charset="0"/>
                <a:cs typeface="Times New Roman" panose="02020603050405020304" pitchFamily="18" charset="0"/>
              </a:rPr>
              <a:t/>
            </a:r>
            <a:br>
              <a:rPr lang="en-US" sz="7200" b="1" smtClean="0">
                <a:latin typeface="Century Gothic" panose="020B0502020202020204" pitchFamily="34" charset="0"/>
                <a:ea typeface="Calibri" panose="020F0502020204030204" pitchFamily="34" charset="0"/>
                <a:cs typeface="Times New Roman" panose="02020603050405020304" pitchFamily="18" charset="0"/>
              </a:rPr>
            </a:br>
            <a:r>
              <a:rPr lang="en-US" sz="7200" b="1" dirty="0">
                <a:latin typeface="Century Gothic" panose="020B0502020202020204" pitchFamily="34" charset="0"/>
                <a:ea typeface="Calibri" panose="020F0502020204030204" pitchFamily="34" charset="0"/>
                <a:cs typeface="Times New Roman" panose="02020603050405020304" pitchFamily="18" charset="0"/>
              </a:rPr>
              <a:t/>
            </a:r>
            <a:br>
              <a:rPr lang="en-US" sz="7200" b="1" dirty="0">
                <a:latin typeface="Century Gothic" panose="020B0502020202020204" pitchFamily="34" charset="0"/>
                <a:ea typeface="Calibri" panose="020F0502020204030204" pitchFamily="34" charset="0"/>
                <a:cs typeface="Times New Roman" panose="02020603050405020304" pitchFamily="18" charset="0"/>
              </a:rPr>
            </a:br>
            <a:r>
              <a:rPr lang="en-US" sz="7200" b="1" dirty="0">
                <a:latin typeface="Century Gothic" panose="020B0502020202020204" pitchFamily="34" charset="0"/>
                <a:ea typeface="Calibri" panose="020F0502020204030204" pitchFamily="34" charset="0"/>
                <a:cs typeface="Times New Roman" panose="02020603050405020304" pitchFamily="18" charset="0"/>
              </a:rPr>
              <a:t>Market Forces: </a:t>
            </a:r>
            <a:br>
              <a:rPr lang="en-US" sz="7200" b="1" dirty="0">
                <a:latin typeface="Century Gothic" panose="020B0502020202020204" pitchFamily="34" charset="0"/>
                <a:ea typeface="Calibri" panose="020F0502020204030204" pitchFamily="34" charset="0"/>
                <a:cs typeface="Times New Roman" panose="02020603050405020304" pitchFamily="18" charset="0"/>
              </a:rPr>
            </a:br>
            <a:r>
              <a:rPr lang="en-US" sz="7200" b="1" dirty="0">
                <a:latin typeface="Century Gothic" panose="020B0502020202020204" pitchFamily="34" charset="0"/>
                <a:ea typeface="Calibri" panose="020F0502020204030204" pitchFamily="34" charset="0"/>
                <a:cs typeface="Times New Roman" panose="02020603050405020304" pitchFamily="18" charset="0"/>
              </a:rPr>
              <a:t>Demand and Supply </a:t>
            </a:r>
            <a:endParaRPr lang="en-US" sz="7200" dirty="0"/>
          </a:p>
        </p:txBody>
      </p:sp>
    </p:spTree>
    <p:extLst>
      <p:ext uri="{BB962C8B-B14F-4D97-AF65-F5344CB8AC3E}">
        <p14:creationId xmlns:p14="http://schemas.microsoft.com/office/powerpoint/2010/main" val="34774978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225A5-85B2-776B-32D4-00EA8C94098D}"/>
              </a:ext>
            </a:extLst>
          </p:cNvPr>
          <p:cNvSpPr>
            <a:spLocks noGrp="1"/>
          </p:cNvSpPr>
          <p:nvPr>
            <p:ph type="title"/>
          </p:nvPr>
        </p:nvSpPr>
        <p:spPr>
          <a:xfrm>
            <a:off x="838200" y="365125"/>
            <a:ext cx="10515600" cy="6035675"/>
          </a:xfrm>
        </p:spPr>
        <p:txBody>
          <a:bodyPr>
            <a:normAutofit/>
          </a:bodyPr>
          <a:lstStyle/>
          <a:p>
            <a:r>
              <a:rPr lang="en-US" b="1" kern="100" dirty="0">
                <a:latin typeface="Century Gothic" panose="020B0502020202020204" pitchFamily="34" charset="0"/>
                <a:ea typeface="Calibri" panose="020F0502020204030204" pitchFamily="34" charset="0"/>
                <a:cs typeface="Times New Roman" panose="02020603050405020304" pitchFamily="18" charset="0"/>
              </a:rPr>
              <a:t>Demand and Supply in Value Chain Agriculture </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Tree>
    <p:extLst>
      <p:ext uri="{BB962C8B-B14F-4D97-AF65-F5344CB8AC3E}">
        <p14:creationId xmlns:p14="http://schemas.microsoft.com/office/powerpoint/2010/main" val="17046898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98260-8CAB-0CFE-B4A2-66BE9F3284E7}"/>
              </a:ext>
            </a:extLst>
          </p:cNvPr>
          <p:cNvSpPr>
            <a:spLocks noGrp="1"/>
          </p:cNvSpPr>
          <p:nvPr>
            <p:ph type="title"/>
          </p:nvPr>
        </p:nvSpPr>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Demand </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062330C2-CF3A-8777-B9AA-D2764E4A0336}"/>
              </a:ext>
            </a:extLst>
          </p:cNvPr>
          <p:cNvSpPr>
            <a:spLocks noGrp="1"/>
          </p:cNvSpPr>
          <p:nvPr>
            <p:ph idx="1"/>
          </p:nvPr>
        </p:nvSpPr>
        <p:spPr/>
        <p:txBody>
          <a:bodyPr>
            <a:normAutofit/>
          </a:bodyPr>
          <a:lstStyle/>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Demand is the quantity of goods or services that consumers are willing and able to buy at different price levels during a specific period.</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It represents the desire of buyers to obtain products in the market.</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Bef>
                <a:spcPts val="0"/>
              </a:spcBef>
              <a:spcAft>
                <a:spcPts val="800"/>
              </a:spcAft>
              <a:buNone/>
            </a:pPr>
            <a:r>
              <a:rPr lang="en-US" b="1" i="1" kern="100" dirty="0">
                <a:latin typeface="Century Gothic" panose="020B0502020202020204" pitchFamily="34" charset="0"/>
                <a:ea typeface="Calibri" panose="020F0502020204030204" pitchFamily="34" charset="0"/>
                <a:cs typeface="Times New Roman" panose="02020603050405020304" pitchFamily="18" charset="0"/>
              </a:rPr>
              <a:t>Law of demand</a:t>
            </a:r>
            <a:endParaRPr lang="en-US" b="1"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Other things held equal (ceteris paribus), when the price of a good rises, the quantity demanded of that particular good falls and when the price of the good falls, the quantity demanded of the good rises.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9327054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57AAC-8275-34A7-624E-FDE916CFBF68}"/>
              </a:ext>
            </a:extLst>
          </p:cNvPr>
          <p:cNvSpPr>
            <a:spLocks noGrp="1"/>
          </p:cNvSpPr>
          <p:nvPr>
            <p:ph type="title"/>
          </p:nvPr>
        </p:nvSpPr>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Supply</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E7AA7049-E698-F608-C3A9-46551DEBC4F3}"/>
              </a:ext>
            </a:extLst>
          </p:cNvPr>
          <p:cNvSpPr>
            <a:spLocks noGrp="1"/>
          </p:cNvSpPr>
          <p:nvPr>
            <p:ph idx="1"/>
          </p:nvPr>
        </p:nvSpPr>
        <p:spPr/>
        <p:txBody>
          <a:bodyPr>
            <a:normAutofit/>
          </a:bodyPr>
          <a:lstStyle/>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Supply, on the other hand, refers to the quantity of goods or services that producers are willing and able to offer for sale at various price levels during a specific period.</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Supply reflects the willingness of producers to make their products available to the market.</a:t>
            </a:r>
            <a:r>
              <a:rPr lang="en-US" kern="100" dirty="0">
                <a:latin typeface="Calibri" panose="020F0502020204030204" pitchFamily="34" charset="0"/>
                <a:ea typeface="Calibri" panose="020F0502020204030204" pitchFamily="34" charset="0"/>
                <a:cs typeface="Times New Roman" panose="02020603050405020304" pitchFamily="18" charset="0"/>
              </a:rPr>
              <a:t> </a:t>
            </a:r>
          </a:p>
          <a:p>
            <a:pPr marL="0" indent="0" algn="just">
              <a:lnSpc>
                <a:spcPct val="107000"/>
              </a:lnSpc>
              <a:spcBef>
                <a:spcPts val="0"/>
              </a:spcBef>
              <a:spcAft>
                <a:spcPts val="800"/>
              </a:spcAft>
              <a:buNone/>
            </a:pPr>
            <a:r>
              <a:rPr lang="en-US" b="1" i="1" kern="100" dirty="0">
                <a:latin typeface="Century Gothic" panose="020B0502020202020204" pitchFamily="34" charset="0"/>
                <a:ea typeface="Calibri" panose="020F0502020204030204" pitchFamily="34" charset="0"/>
                <a:cs typeface="Times New Roman" panose="02020603050405020304" pitchFamily="18" charset="0"/>
              </a:rPr>
              <a:t>Law of supply</a:t>
            </a:r>
            <a:r>
              <a:rPr lang="en-US" b="1" kern="100" dirty="0">
                <a:latin typeface="Century Gothic" panose="020B0502020202020204" pitchFamily="34" charset="0"/>
                <a:ea typeface="Calibri" panose="020F0502020204030204" pitchFamily="34" charset="0"/>
                <a:cs typeface="Times New Roman" panose="02020603050405020304" pitchFamily="18" charset="0"/>
              </a:rPr>
              <a:t> </a:t>
            </a:r>
            <a:endParaRPr lang="en-US" b="1"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Other things equal (ceteris paribus), when the price of a good rises, the quantity supplied of the good rises and when the price of the good falls, the quantity supplied of the good falls. </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5548186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D53A8-7A5B-7BF7-0EA1-39C3BB977C26}"/>
              </a:ext>
            </a:extLst>
          </p:cNvPr>
          <p:cNvSpPr>
            <a:spLocks noGrp="1"/>
          </p:cNvSpPr>
          <p:nvPr>
            <p:ph type="title"/>
          </p:nvPr>
        </p:nvSpPr>
        <p:spPr/>
        <p:txBody>
          <a:bodyPr>
            <a:normAutofit fontScale="90000"/>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Diagram showing supply and demand schedule</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pic>
        <p:nvPicPr>
          <p:cNvPr id="4" name="Content Placeholder 3">
            <a:extLst>
              <a:ext uri="{FF2B5EF4-FFF2-40B4-BE49-F238E27FC236}">
                <a16:creationId xmlns:a16="http://schemas.microsoft.com/office/drawing/2014/main" id="{818007B4-17C5-9C0A-7138-C8BA7A25D8A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07667" y="2052638"/>
            <a:ext cx="4938442" cy="4195762"/>
          </a:xfrm>
          <a:prstGeom prst="rect">
            <a:avLst/>
          </a:prstGeom>
        </p:spPr>
      </p:pic>
    </p:spTree>
    <p:extLst>
      <p:ext uri="{BB962C8B-B14F-4D97-AF65-F5344CB8AC3E}">
        <p14:creationId xmlns:p14="http://schemas.microsoft.com/office/powerpoint/2010/main" val="10223295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AC35FB-AE12-DB3C-AE59-529128363CBD}"/>
              </a:ext>
            </a:extLst>
          </p:cNvPr>
          <p:cNvSpPr>
            <a:spLocks noGrp="1"/>
          </p:cNvSpPr>
          <p:nvPr>
            <p:ph idx="1"/>
          </p:nvPr>
        </p:nvSpPr>
        <p:spPr>
          <a:xfrm>
            <a:off x="838200" y="1340427"/>
            <a:ext cx="10515600" cy="4836536"/>
          </a:xfrm>
        </p:spPr>
        <p:txBody>
          <a:bodyPr>
            <a:normAutofit/>
          </a:bodyPr>
          <a:lstStyle/>
          <a:p>
            <a:pPr marL="0" marR="0" indent="0" algn="just">
              <a:lnSpc>
                <a:spcPct val="107000"/>
              </a:lnSpc>
              <a:spcBef>
                <a:spcPts val="0"/>
              </a:spcBef>
              <a:spcAft>
                <a:spcPts val="800"/>
              </a:spcAft>
              <a:buNone/>
            </a:pPr>
            <a:r>
              <a:rPr lang="en-US" b="1" i="1" kern="100" dirty="0">
                <a:latin typeface="Century Gothic" panose="020B0502020202020204" pitchFamily="34" charset="0"/>
                <a:ea typeface="Calibri" panose="020F0502020204030204" pitchFamily="34" charset="0"/>
                <a:cs typeface="Times New Roman" panose="02020603050405020304" pitchFamily="18" charset="0"/>
              </a:rPr>
              <a:t>Population: </a:t>
            </a: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An increase in population typically leads to higher demand for products.</a:t>
            </a:r>
          </a:p>
          <a:p>
            <a:pPr marL="0" marR="0" indent="0" algn="just">
              <a:lnSpc>
                <a:spcPct val="107000"/>
              </a:lnSpc>
              <a:spcBef>
                <a:spcPts val="0"/>
              </a:spcBef>
              <a:spcAft>
                <a:spcPts val="800"/>
              </a:spcAft>
              <a:buNone/>
            </a:pPr>
            <a:r>
              <a:rPr lang="en-US" b="1" i="1" kern="100" dirty="0">
                <a:latin typeface="Century Gothic" panose="020B0502020202020204" pitchFamily="34" charset="0"/>
                <a:ea typeface="Calibri" panose="020F0502020204030204" pitchFamily="34" charset="0"/>
                <a:cs typeface="Times New Roman" panose="02020603050405020304" pitchFamily="18" charset="0"/>
              </a:rPr>
              <a:t>Expectations:</a:t>
            </a:r>
            <a:r>
              <a:rPr lang="en-US" b="1" kern="100" dirty="0">
                <a:latin typeface="Century Gothic" panose="020B0502020202020204" pitchFamily="34" charset="0"/>
                <a:ea typeface="Calibri" panose="020F0502020204030204" pitchFamily="34" charset="0"/>
                <a:cs typeface="Times New Roman" panose="02020603050405020304" pitchFamily="18" charset="0"/>
              </a:rPr>
              <a:t> </a:t>
            </a:r>
            <a:endParaRPr lang="en-US" b="1"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Expectations of future price changes or income fluctuations can influence current demand. For example, if consumers anticipate higher prices in the future, they may increase their current demand.</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07000"/>
              </a:lnSpc>
              <a:spcBef>
                <a:spcPts val="0"/>
              </a:spcBef>
              <a:spcAft>
                <a:spcPts val="800"/>
              </a:spcAft>
              <a:buNone/>
            </a:pPr>
            <a:r>
              <a:rPr lang="en-US" b="1" i="1" kern="100" dirty="0">
                <a:latin typeface="Century Gothic" panose="020B0502020202020204" pitchFamily="34" charset="0"/>
                <a:ea typeface="Calibri" panose="020F0502020204030204" pitchFamily="34" charset="0"/>
                <a:cs typeface="Times New Roman" panose="02020603050405020304" pitchFamily="18" charset="0"/>
              </a:rPr>
              <a:t>Price of other goods </a:t>
            </a:r>
            <a:endParaRPr lang="en-US" b="1"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b="1" i="1" kern="100" dirty="0">
                <a:latin typeface="Century Gothic" panose="020B0502020202020204" pitchFamily="34" charset="0"/>
                <a:ea typeface="Calibri" panose="020F0502020204030204" pitchFamily="34" charset="0"/>
                <a:cs typeface="Times New Roman" panose="02020603050405020304" pitchFamily="18" charset="0"/>
              </a:rPr>
              <a:t>Substitutes</a:t>
            </a:r>
            <a:r>
              <a:rPr lang="en-US" b="1" kern="100" dirty="0">
                <a:latin typeface="Century Gothic" panose="020B0502020202020204" pitchFamily="34" charset="0"/>
                <a:ea typeface="Calibri" panose="020F0502020204030204" pitchFamily="34" charset="0"/>
                <a:cs typeface="Times New Roman" panose="02020603050405020304" pitchFamily="18" charset="0"/>
              </a:rPr>
              <a:t>-</a:t>
            </a:r>
            <a:r>
              <a:rPr lang="en-US" kern="100" dirty="0">
                <a:latin typeface="Century Gothic" panose="020B0502020202020204" pitchFamily="34" charset="0"/>
                <a:ea typeface="Calibri" panose="020F0502020204030204" pitchFamily="34" charset="0"/>
                <a:cs typeface="Times New Roman" panose="02020603050405020304" pitchFamily="18" charset="0"/>
              </a:rPr>
              <a:t> when the prices of substitutes of a good a rises, it leads to an increase in the quantity demanded of it’s close substitute. </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b="1" i="1" kern="100" dirty="0">
                <a:latin typeface="Century Gothic" panose="020B0502020202020204" pitchFamily="34" charset="0"/>
                <a:ea typeface="Calibri" panose="020F0502020204030204" pitchFamily="34" charset="0"/>
                <a:cs typeface="Times New Roman" panose="02020603050405020304" pitchFamily="18" charset="0"/>
              </a:rPr>
              <a:t>Complements</a:t>
            </a:r>
            <a:r>
              <a:rPr lang="en-US" i="1" kern="100" dirty="0">
                <a:latin typeface="Century Gothic" panose="020B0502020202020204" pitchFamily="34" charset="0"/>
                <a:ea typeface="Calibri" panose="020F0502020204030204" pitchFamily="34" charset="0"/>
                <a:cs typeface="Times New Roman" panose="02020603050405020304" pitchFamily="18" charset="0"/>
              </a:rPr>
              <a:t>- </a:t>
            </a:r>
            <a:r>
              <a:rPr lang="en-US" kern="100" dirty="0">
                <a:latin typeface="Century Gothic" panose="020B0502020202020204" pitchFamily="34" charset="0"/>
                <a:ea typeface="Calibri" panose="020F0502020204030204" pitchFamily="34" charset="0"/>
                <a:cs typeface="Times New Roman" panose="02020603050405020304" pitchFamily="18" charset="0"/>
              </a:rPr>
              <a:t>when the prices of a good rises, the quantity demanded of its ‘perfect’ complement falls.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1879014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30B07E-223C-6C80-700E-B047A464C4F2}"/>
              </a:ext>
            </a:extLst>
          </p:cNvPr>
          <p:cNvSpPr>
            <a:spLocks noGrp="1"/>
          </p:cNvSpPr>
          <p:nvPr>
            <p:ph type="title"/>
          </p:nvPr>
        </p:nvSpPr>
        <p:spPr/>
        <p:txBody>
          <a:bodyPr/>
          <a:lstStyle/>
          <a:p>
            <a:r>
              <a:rPr lang="en-US" b="1" kern="100" dirty="0">
                <a:latin typeface="Century Gothic" panose="020B0502020202020204" pitchFamily="34" charset="0"/>
                <a:ea typeface="Calibri" panose="020F0502020204030204" pitchFamily="34" charset="0"/>
                <a:cs typeface="Times New Roman" panose="02020603050405020304" pitchFamily="18" charset="0"/>
              </a:rPr>
              <a:t>Factors Influencing Supply</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D94F6C35-776D-2A8F-8974-A1345C6A392A}"/>
              </a:ext>
            </a:extLst>
          </p:cNvPr>
          <p:cNvSpPr>
            <a:spLocks noGrp="1"/>
          </p:cNvSpPr>
          <p:nvPr>
            <p:ph idx="1"/>
          </p:nvPr>
        </p:nvSpPr>
        <p:spPr>
          <a:xfrm>
            <a:off x="838200" y="1496291"/>
            <a:ext cx="10515600" cy="4996584"/>
          </a:xfrm>
        </p:spPr>
        <p:txBody>
          <a:bodyPr>
            <a:normAutofit lnSpcReduction="10000"/>
          </a:bodyPr>
          <a:lstStyle/>
          <a:p>
            <a:pPr marL="0" indent="0" algn="just">
              <a:lnSpc>
                <a:spcPct val="107000"/>
              </a:lnSpc>
              <a:spcBef>
                <a:spcPts val="0"/>
              </a:spcBef>
              <a:spcAft>
                <a:spcPts val="800"/>
              </a:spcAft>
              <a:buNone/>
            </a:pPr>
            <a:r>
              <a:rPr lang="en-US" b="1" i="1" kern="100" dirty="0">
                <a:latin typeface="Century Gothic" panose="020B0502020202020204" pitchFamily="34" charset="0"/>
                <a:ea typeface="Calibri" panose="020F0502020204030204" pitchFamily="34" charset="0"/>
                <a:cs typeface="Times New Roman" panose="02020603050405020304" pitchFamily="18" charset="0"/>
              </a:rPr>
              <a:t>Input Prices:</a:t>
            </a:r>
            <a:r>
              <a:rPr lang="en-US" b="1" kern="100" dirty="0">
                <a:latin typeface="Century Gothic" panose="020B0502020202020204" pitchFamily="34" charset="0"/>
                <a:ea typeface="Calibri" panose="020F0502020204030204" pitchFamily="34" charset="0"/>
                <a:cs typeface="Times New Roman" panose="02020603050405020304" pitchFamily="18" charset="0"/>
              </a:rPr>
              <a:t> </a:t>
            </a:r>
            <a:endParaRPr lang="en-US" b="1"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Changes in the prices of inputs like seeds, fertilizers, and labor can affect the cost of production, influencing the quantity of agricultural goods that producers are willing to supply</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Bef>
                <a:spcPts val="0"/>
              </a:spcBef>
              <a:spcAft>
                <a:spcPts val="800"/>
              </a:spcAft>
              <a:buNone/>
            </a:pPr>
            <a:r>
              <a:rPr lang="en-US" b="1" i="1" kern="100" dirty="0">
                <a:latin typeface="Century Gothic" panose="020B0502020202020204" pitchFamily="34" charset="0"/>
                <a:ea typeface="Calibri" panose="020F0502020204030204" pitchFamily="34" charset="0"/>
                <a:cs typeface="Times New Roman" panose="02020603050405020304" pitchFamily="18" charset="0"/>
              </a:rPr>
              <a:t>Technology:</a:t>
            </a:r>
            <a:r>
              <a:rPr lang="en-US" b="1" kern="100" dirty="0">
                <a:latin typeface="Century Gothic" panose="020B0502020202020204" pitchFamily="34" charset="0"/>
                <a:ea typeface="Calibri" panose="020F0502020204030204" pitchFamily="34" charset="0"/>
                <a:cs typeface="Times New Roman" panose="02020603050405020304" pitchFamily="18" charset="0"/>
              </a:rPr>
              <a:t> </a:t>
            </a:r>
            <a:endParaRPr lang="en-US" b="1"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Technological advancements in agriculture can increase productivity, leading to higher supply of agricultural products.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Bef>
                <a:spcPts val="0"/>
              </a:spcBef>
              <a:spcAft>
                <a:spcPts val="800"/>
              </a:spcAft>
              <a:buNone/>
            </a:pPr>
            <a:r>
              <a:rPr lang="en-US" b="1" i="1" kern="100" dirty="0">
                <a:latin typeface="Century Gothic" panose="020B0502020202020204" pitchFamily="34" charset="0"/>
                <a:ea typeface="Calibri" panose="020F0502020204030204" pitchFamily="34" charset="0"/>
                <a:cs typeface="Times New Roman" panose="02020603050405020304" pitchFamily="18" charset="0"/>
              </a:rPr>
              <a:t>Government Policies:</a:t>
            </a: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Government policies, such as subsidies or trade regulations, can impact the cost of production and, consequently, the supply of agricultural goods.</a:t>
            </a:r>
          </a:p>
          <a:p>
            <a:pPr marL="0" indent="0" algn="just">
              <a:lnSpc>
                <a:spcPct val="107000"/>
              </a:lnSpc>
              <a:spcBef>
                <a:spcPts val="0"/>
              </a:spcBef>
              <a:spcAft>
                <a:spcPts val="800"/>
              </a:spcAft>
              <a:buNone/>
            </a:pPr>
            <a:r>
              <a:rPr lang="en-US" b="1" i="1" kern="100" dirty="0">
                <a:latin typeface="Century Gothic" panose="020B0502020202020204" pitchFamily="34" charset="0"/>
                <a:ea typeface="Calibri" panose="020F0502020204030204" pitchFamily="34" charset="0"/>
                <a:cs typeface="Times New Roman" panose="02020603050405020304" pitchFamily="18" charset="0"/>
              </a:rPr>
              <a:t>Natural Conditions:</a:t>
            </a:r>
            <a:r>
              <a:rPr lang="en-US" b="1" kern="100" dirty="0">
                <a:latin typeface="Century Gothic" panose="020B0502020202020204" pitchFamily="34" charset="0"/>
                <a:ea typeface="Calibri" panose="020F0502020204030204" pitchFamily="34" charset="0"/>
                <a:cs typeface="Times New Roman" panose="02020603050405020304" pitchFamily="18" charset="0"/>
              </a:rPr>
              <a:t> </a:t>
            </a:r>
            <a:endParaRPr lang="en-US" b="1"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Weather conditions, pest outbreaks, and natural disasters can significantly influence the quantity of agricultural products available in the market.</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3750883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8B200F-36EE-CE5C-FED9-8901D9D8883B}"/>
              </a:ext>
            </a:extLst>
          </p:cNvPr>
          <p:cNvSpPr>
            <a:spLocks noGrp="1"/>
          </p:cNvSpPr>
          <p:nvPr>
            <p:ph type="title"/>
          </p:nvPr>
        </p:nvSpPr>
        <p:spPr>
          <a:xfrm>
            <a:off x="838200" y="365125"/>
            <a:ext cx="10515600" cy="1444393"/>
          </a:xfrm>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Understanding Market Equilibrium </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pic>
        <p:nvPicPr>
          <p:cNvPr id="4" name="Picture 3">
            <a:extLst>
              <a:ext uri="{FF2B5EF4-FFF2-40B4-BE49-F238E27FC236}">
                <a16:creationId xmlns:a16="http://schemas.microsoft.com/office/drawing/2014/main" id="{52582AA3-D82C-5919-DAA9-735BC2AF37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0137" y="1809518"/>
            <a:ext cx="6816436" cy="4714973"/>
          </a:xfrm>
          <a:prstGeom prst="rect">
            <a:avLst/>
          </a:prstGeom>
        </p:spPr>
      </p:pic>
    </p:spTree>
    <p:extLst>
      <p:ext uri="{BB962C8B-B14F-4D97-AF65-F5344CB8AC3E}">
        <p14:creationId xmlns:p14="http://schemas.microsoft.com/office/powerpoint/2010/main" val="11019567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B4AD3CC-2A5D-4C24-8A2C-6DB7B75F0F0D}"/>
              </a:ext>
            </a:extLst>
          </p:cNvPr>
          <p:cNvSpPr>
            <a:spLocks noGrp="1"/>
          </p:cNvSpPr>
          <p:nvPr>
            <p:ph idx="1"/>
          </p:nvPr>
        </p:nvSpPr>
        <p:spPr>
          <a:xfrm>
            <a:off x="838200" y="1319645"/>
            <a:ext cx="10515600" cy="4857318"/>
          </a:xfrm>
        </p:spPr>
        <p:txBody>
          <a:bodyPr/>
          <a:lstStyle/>
          <a:p>
            <a:pPr algn="just">
              <a:lnSpc>
                <a:spcPct val="107000"/>
              </a:lnSpc>
              <a:spcBef>
                <a:spcPts val="0"/>
              </a:spcBef>
              <a:spcAft>
                <a:spcPts val="800"/>
              </a:spcAft>
            </a:pPr>
            <a:r>
              <a:rPr lang="en-US" sz="2400" kern="100" dirty="0">
                <a:latin typeface="Century Gothic" panose="020B0502020202020204" pitchFamily="34" charset="0"/>
                <a:ea typeface="Calibri" panose="020F0502020204030204" pitchFamily="34" charset="0"/>
                <a:cs typeface="Times New Roman" panose="02020603050405020304" pitchFamily="18" charset="0"/>
              </a:rPr>
              <a:t>Market equilibrium is the point where the quantity demanded by consumers is equal to the quantity supplied by producers at a particular price level. </a:t>
            </a:r>
          </a:p>
          <a:p>
            <a:pPr algn="just">
              <a:lnSpc>
                <a:spcPct val="107000"/>
              </a:lnSpc>
              <a:spcBef>
                <a:spcPts val="0"/>
              </a:spcBef>
              <a:spcAft>
                <a:spcPts val="800"/>
              </a:spcAft>
            </a:pPr>
            <a:r>
              <a:rPr lang="en-US" sz="2400" kern="100" dirty="0">
                <a:latin typeface="Century Gothic" panose="020B0502020202020204" pitchFamily="34" charset="0"/>
                <a:ea typeface="Calibri" panose="020F0502020204030204" pitchFamily="34" charset="0"/>
                <a:cs typeface="Times New Roman" panose="02020603050405020304" pitchFamily="18" charset="0"/>
              </a:rPr>
              <a:t>At this point, there is no surplus or shortage in the market.</a:t>
            </a:r>
          </a:p>
          <a:p>
            <a:pPr algn="just">
              <a:lnSpc>
                <a:spcPct val="107000"/>
              </a:lnSpc>
              <a:spcBef>
                <a:spcPts val="0"/>
              </a:spcBef>
              <a:spcAft>
                <a:spcPts val="800"/>
              </a:spcAft>
            </a:pPr>
            <a:r>
              <a:rPr lang="en-US" sz="2400" kern="100" dirty="0">
                <a:latin typeface="Century Gothic" panose="020B0502020202020204" pitchFamily="34" charset="0"/>
                <a:ea typeface="Calibri" panose="020F0502020204030204" pitchFamily="34" charset="0"/>
                <a:cs typeface="Times New Roman" panose="02020603050405020304" pitchFamily="18" charset="0"/>
              </a:rPr>
              <a:t>When the price is too high (above the equilibrium), there is a surplus, leading to downward pressure on prices. </a:t>
            </a:r>
          </a:p>
          <a:p>
            <a:pPr algn="just">
              <a:lnSpc>
                <a:spcPct val="107000"/>
              </a:lnSpc>
              <a:spcBef>
                <a:spcPts val="0"/>
              </a:spcBef>
              <a:spcAft>
                <a:spcPts val="800"/>
              </a:spcAft>
            </a:pPr>
            <a:r>
              <a:rPr lang="en-US" sz="2400" kern="100" dirty="0">
                <a:latin typeface="Century Gothic" panose="020B0502020202020204" pitchFamily="34" charset="0"/>
                <a:ea typeface="Calibri" panose="020F0502020204030204" pitchFamily="34" charset="0"/>
                <a:cs typeface="Times New Roman" panose="02020603050405020304" pitchFamily="18" charset="0"/>
              </a:rPr>
              <a:t>When the price is too low (below the equilibrium), there is a shortage, leading to upward pressure on prices.</a:t>
            </a:r>
          </a:p>
          <a:p>
            <a:endParaRPr lang="en-US" dirty="0"/>
          </a:p>
        </p:txBody>
      </p:sp>
    </p:spTree>
    <p:extLst>
      <p:ext uri="{BB962C8B-B14F-4D97-AF65-F5344CB8AC3E}">
        <p14:creationId xmlns:p14="http://schemas.microsoft.com/office/powerpoint/2010/main" val="10124316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DDF115-229E-F37F-0168-C436988CC1CF}"/>
              </a:ext>
            </a:extLst>
          </p:cNvPr>
          <p:cNvSpPr>
            <a:spLocks noGrp="1"/>
          </p:cNvSpPr>
          <p:nvPr>
            <p:ph type="title"/>
          </p:nvPr>
        </p:nvSpPr>
        <p:spPr>
          <a:xfrm>
            <a:off x="838200" y="103909"/>
            <a:ext cx="10515600" cy="1246909"/>
          </a:xfrm>
        </p:spPr>
        <p:txBody>
          <a:bodyPr>
            <a:normAutofit fontScale="90000"/>
          </a:bodyPr>
          <a:lstStyle/>
          <a:p>
            <a:pPr marL="0" marR="0" algn="ctr">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 </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r>
              <a:rPr lang="en-US" b="1" kern="100" dirty="0">
                <a:latin typeface="Century Gothic" panose="020B0502020202020204" pitchFamily="34" charset="0"/>
                <a:ea typeface="Calibri" panose="020F0502020204030204" pitchFamily="34" charset="0"/>
                <a:cs typeface="Times New Roman" panose="02020603050405020304" pitchFamily="18" charset="0"/>
              </a:rPr>
              <a:t>Consumer Surplus and Producer Surplus </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4B7A9865-BA98-4804-55B2-94BD1D205C43}"/>
              </a:ext>
            </a:extLst>
          </p:cNvPr>
          <p:cNvSpPr>
            <a:spLocks noGrp="1"/>
          </p:cNvSpPr>
          <p:nvPr>
            <p:ph idx="1"/>
          </p:nvPr>
        </p:nvSpPr>
        <p:spPr>
          <a:xfrm>
            <a:off x="838200" y="1278082"/>
            <a:ext cx="10515600" cy="5382491"/>
          </a:xfrm>
        </p:spPr>
        <p:txBody>
          <a:bodyPr>
            <a:normAutofit fontScale="92500"/>
          </a:bodyPr>
          <a:lstStyle/>
          <a:p>
            <a:pPr algn="just">
              <a:lnSpc>
                <a:spcPct val="107000"/>
              </a:lnSpc>
              <a:spcBef>
                <a:spcPts val="0"/>
              </a:spcBef>
              <a:spcAft>
                <a:spcPts val="800"/>
              </a:spcAft>
            </a:pPr>
            <a:r>
              <a:rPr lang="en-US" sz="2600" kern="100" dirty="0">
                <a:latin typeface="Century Gothic" panose="020B0502020202020204" pitchFamily="34" charset="0"/>
                <a:ea typeface="Calibri" panose="020F0502020204030204" pitchFamily="34" charset="0"/>
                <a:cs typeface="Times New Roman" panose="02020603050405020304" pitchFamily="18" charset="0"/>
              </a:rPr>
              <a:t>Consumer surplus refers to the economic benefit that consumers receive from purchasing a good or service at a price lower than the maximum price they were willing to pay. </a:t>
            </a:r>
            <a:endParaRPr lang="en-US" sz="2600"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sz="2600" kern="100" dirty="0">
                <a:latin typeface="Century Gothic" panose="020B0502020202020204" pitchFamily="34" charset="0"/>
                <a:ea typeface="Calibri" panose="020F0502020204030204" pitchFamily="34" charset="0"/>
                <a:cs typeface="Times New Roman" panose="02020603050405020304" pitchFamily="18" charset="0"/>
              </a:rPr>
              <a:t>In simpler terms, it represents the difference between the price a consumer actually pays and the highest price they would have been willing to pay.</a:t>
            </a:r>
            <a:endParaRPr lang="en-US" sz="2600"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sz="2600" kern="100" dirty="0">
                <a:latin typeface="Century Gothic" panose="020B0502020202020204" pitchFamily="34" charset="0"/>
                <a:ea typeface="Calibri" panose="020F0502020204030204" pitchFamily="34" charset="0"/>
                <a:cs typeface="Times New Roman" panose="02020603050405020304" pitchFamily="18" charset="0"/>
              </a:rPr>
              <a:t>Producer surplus, on the other hand, refers to the economic benefit that producers or firms receive from selling a good or service at a price higher than the minimum price they were willing to accept. </a:t>
            </a:r>
            <a:endParaRPr lang="en-US" sz="2600"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sz="2600" kern="100" dirty="0">
                <a:latin typeface="Century Gothic" panose="020B0502020202020204" pitchFamily="34" charset="0"/>
                <a:ea typeface="Calibri" panose="020F0502020204030204" pitchFamily="34" charset="0"/>
                <a:cs typeface="Times New Roman" panose="02020603050405020304" pitchFamily="18" charset="0"/>
              </a:rPr>
              <a:t>It represents the difference between the market price of a product and the lowest price a producer would have been willing to sell it for.</a:t>
            </a:r>
            <a:endParaRPr lang="en-US" sz="2600"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43433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C073A-229F-33FD-E57B-376B69610E95}"/>
              </a:ext>
            </a:extLst>
          </p:cNvPr>
          <p:cNvSpPr>
            <a:spLocks noGrp="1"/>
          </p:cNvSpPr>
          <p:nvPr>
            <p:ph type="title"/>
          </p:nvPr>
        </p:nvSpPr>
        <p:spPr>
          <a:xfrm>
            <a:off x="838200" y="93519"/>
            <a:ext cx="10515600" cy="1597170"/>
          </a:xfrm>
        </p:spPr>
        <p:txBody>
          <a:bodyPr>
            <a:normAutofit fontScale="90000"/>
          </a:bodyPr>
          <a:lstStyle/>
          <a:p>
            <a:pPr algn="ctr"/>
            <a:r>
              <a:rPr lang="en-US" b="1" dirty="0">
                <a:latin typeface="Century Gothic" panose="020B0502020202020204" pitchFamily="34" charset="0"/>
              </a:rPr>
              <a:t>Graph showing Consumer and Producer Surplus</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pic>
        <p:nvPicPr>
          <p:cNvPr id="2050" name="Picture 2">
            <a:extLst>
              <a:ext uri="{FF2B5EF4-FFF2-40B4-BE49-F238E27FC236}">
                <a16:creationId xmlns:a16="http://schemas.microsoft.com/office/drawing/2014/main" id="{0ADFBD13-FE95-8C2E-FA71-9C163F6851A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828870" y="1690688"/>
            <a:ext cx="6534259" cy="4203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93515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062228-6E4C-CAEA-9A45-B27074F50D77}"/>
              </a:ext>
            </a:extLst>
          </p:cNvPr>
          <p:cNvSpPr>
            <a:spLocks noGrp="1"/>
          </p:cNvSpPr>
          <p:nvPr>
            <p:ph type="title"/>
          </p:nvPr>
        </p:nvSpPr>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Consumer Surplus in Agriculture</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12DF2CD9-176B-8F99-9AFD-CAB805644ED9}"/>
              </a:ext>
            </a:extLst>
          </p:cNvPr>
          <p:cNvSpPr>
            <a:spLocks noGrp="1"/>
          </p:cNvSpPr>
          <p:nvPr>
            <p:ph idx="1"/>
          </p:nvPr>
        </p:nvSpPr>
        <p:spPr>
          <a:xfrm>
            <a:off x="838200" y="1569027"/>
            <a:ext cx="10515600" cy="4607936"/>
          </a:xfrm>
        </p:spPr>
        <p:txBody>
          <a:bodyPr>
            <a:normAutofit/>
          </a:bodyPr>
          <a:lstStyle/>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Consumer surplus in agriculture refers to the benefit that consumers receive when purchasing agricultural products at a price lower than the maximum price they were willing to pay. </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i="1" kern="100" dirty="0">
                <a:latin typeface="Century Gothic" panose="020B0502020202020204" pitchFamily="34" charset="0"/>
                <a:ea typeface="Calibri" panose="020F0502020204030204" pitchFamily="34" charset="0"/>
                <a:cs typeface="Times New Roman" panose="02020603050405020304" pitchFamily="18" charset="0"/>
              </a:rPr>
              <a:t>Consider a farmer's market selling fresh organic tomatoes. Suppose a consumer values a basket of organic tomatoes at MWK 200 because they highly appreciate the quality and health benefits of these tomatoes. </a:t>
            </a:r>
          </a:p>
          <a:p>
            <a:pPr algn="just">
              <a:lnSpc>
                <a:spcPct val="107000"/>
              </a:lnSpc>
              <a:spcBef>
                <a:spcPts val="0"/>
              </a:spcBef>
              <a:spcAft>
                <a:spcPts val="800"/>
              </a:spcAft>
            </a:pPr>
            <a:r>
              <a:rPr lang="en-US" i="1" kern="100" dirty="0">
                <a:latin typeface="Century Gothic" panose="020B0502020202020204" pitchFamily="34" charset="0"/>
                <a:ea typeface="Calibri" panose="020F0502020204030204" pitchFamily="34" charset="0"/>
                <a:cs typeface="Times New Roman" panose="02020603050405020304" pitchFamily="18" charset="0"/>
              </a:rPr>
              <a:t>However, due to market competition or promotional discounts, the tomatoes are available for purchase at MWK 150. </a:t>
            </a:r>
            <a:endParaRPr lang="en-US" i="1"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i="1" kern="100" dirty="0">
                <a:latin typeface="Century Gothic" panose="020B0502020202020204" pitchFamily="34" charset="0"/>
                <a:ea typeface="Calibri" panose="020F0502020204030204" pitchFamily="34" charset="0"/>
                <a:cs typeface="Times New Roman" panose="02020603050405020304" pitchFamily="18" charset="0"/>
              </a:rPr>
              <a:t>In this case, the consumer surplus would be MWK 50 (MWK 200 – MWK 150), representing the extra value the consumer gains by acquiring the tomatoes at a price lower than their perceived worth.</a:t>
            </a:r>
            <a:endParaRPr lang="en-US" i="1"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0126794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C0E95-FFC6-1895-CBAA-F06BA083ACE5}"/>
              </a:ext>
            </a:extLst>
          </p:cNvPr>
          <p:cNvSpPr>
            <a:spLocks noGrp="1"/>
          </p:cNvSpPr>
          <p:nvPr>
            <p:ph type="title"/>
          </p:nvPr>
        </p:nvSpPr>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Producer Surplus in Agriculture:</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4E4D19B6-B25F-183C-2CEC-B70B172D4E13}"/>
              </a:ext>
            </a:extLst>
          </p:cNvPr>
          <p:cNvSpPr>
            <a:spLocks noGrp="1"/>
          </p:cNvSpPr>
          <p:nvPr>
            <p:ph idx="1"/>
          </p:nvPr>
        </p:nvSpPr>
        <p:spPr>
          <a:xfrm>
            <a:off x="838200" y="1600200"/>
            <a:ext cx="10515600" cy="4576763"/>
          </a:xfrm>
        </p:spPr>
        <p:txBody>
          <a:bodyPr>
            <a:normAutofit/>
          </a:bodyPr>
          <a:lstStyle/>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Producer surplus in agriculture refers to the benefit that farmers or agricultural producers receive when selling their products at a price higher than the minimum price they were willing to accept.</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Consider a wheat farmer selling sacks of wheat in the market. Suppose the farmer incurs production costs and would be willing to sell a sack of wheat at MWK 80 to cover these costs and earn a reasonable profit.</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However, due to the strong demand for high-quality wheat, the market price for a sack of wheat is MWK 120. In this scenario, the producer surplus would be MWK 40 (MWK 120 – MWK 80), reflecting the extra revenue or profit the farmer gains by selling the wheat at a price higher than their production cost or the minimum price they were willing to accept.</a:t>
            </a:r>
            <a:endParaRPr lang="en-US" kern="1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5433479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6056713-DE63-EBA6-7276-4C5104959FCA}"/>
              </a:ext>
            </a:extLst>
          </p:cNvPr>
          <p:cNvSpPr>
            <a:spLocks noGrp="1"/>
          </p:cNvSpPr>
          <p:nvPr>
            <p:ph idx="1"/>
          </p:nvPr>
        </p:nvSpPr>
        <p:spPr/>
        <p:txBody>
          <a:bodyPr>
            <a:normAutofit/>
          </a:bodyPr>
          <a:lstStyle/>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In both cases, consumer surplus and producer surplus play a crucial role in understanding the welfare and efficiency of agricultural markets. </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Consumer surplus highlights the benefits that consumers enjoy when they can purchase products at prices lower than their valuation, while producer surplus emphasizes the benefits that farmers gain when they can sell their products at prices higher than their production costs. </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These concepts help economists and policy makers evaluate market efficiency, welfare, and the overall economic impact of agricultural transactions.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41307315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AB45C-38DB-5A8E-7561-35315530CCF3}"/>
              </a:ext>
            </a:extLst>
          </p:cNvPr>
          <p:cNvSpPr>
            <a:spLocks noGrp="1"/>
          </p:cNvSpPr>
          <p:nvPr>
            <p:ph type="title"/>
          </p:nvPr>
        </p:nvSpPr>
        <p:spPr/>
        <p:txBody>
          <a:bodyPr>
            <a:normAutofit fontScale="90000"/>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Practical Examples of Demand and Supply in Agricultural Markets </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2652F815-66B1-3662-2E75-828550625F54}"/>
              </a:ext>
            </a:extLst>
          </p:cNvPr>
          <p:cNvSpPr>
            <a:spLocks noGrp="1"/>
          </p:cNvSpPr>
          <p:nvPr>
            <p:ph idx="1"/>
          </p:nvPr>
        </p:nvSpPr>
        <p:spPr/>
        <p:txBody>
          <a:bodyPr>
            <a:normAutofit/>
          </a:bodyPr>
          <a:lstStyle/>
          <a:p>
            <a:pPr marL="0" marR="0" indent="0" algn="just">
              <a:lnSpc>
                <a:spcPct val="107000"/>
              </a:lnSpc>
              <a:spcBef>
                <a:spcPts val="0"/>
              </a:spcBef>
              <a:spcAft>
                <a:spcPts val="800"/>
              </a:spcAft>
              <a:buNone/>
            </a:pPr>
            <a:r>
              <a:rPr lang="en-US" b="1" i="1" kern="100" dirty="0">
                <a:latin typeface="Century Gothic" panose="020B0502020202020204" pitchFamily="34" charset="0"/>
                <a:ea typeface="Calibri" panose="020F0502020204030204" pitchFamily="34" charset="0"/>
                <a:cs typeface="Times New Roman" panose="02020603050405020304" pitchFamily="18" charset="0"/>
              </a:rPr>
              <a:t>Example 1: </a:t>
            </a:r>
            <a:endParaRPr lang="en-US" b="1" kern="100" dirty="0">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07000"/>
              </a:lnSpc>
              <a:spcBef>
                <a:spcPts val="0"/>
              </a:spcBef>
              <a:spcAft>
                <a:spcPts val="800"/>
              </a:spcAft>
              <a:buNone/>
            </a:pPr>
            <a:r>
              <a:rPr lang="en-US" i="1" kern="100" dirty="0">
                <a:latin typeface="Century Gothic" panose="020B0502020202020204" pitchFamily="34" charset="0"/>
                <a:ea typeface="Calibri" panose="020F0502020204030204" pitchFamily="34" charset="0"/>
                <a:cs typeface="Times New Roman" panose="02020603050405020304" pitchFamily="18" charset="0"/>
              </a:rPr>
              <a:t>Apple Market: During a bumper apple harvest, the supply of apples increases, leading to a surplus. </a:t>
            </a:r>
          </a:p>
          <a:p>
            <a:pPr marL="0" marR="0" indent="0" algn="just">
              <a:lnSpc>
                <a:spcPct val="107000"/>
              </a:lnSpc>
              <a:spcBef>
                <a:spcPts val="0"/>
              </a:spcBef>
              <a:spcAft>
                <a:spcPts val="800"/>
              </a:spcAft>
              <a:buNone/>
            </a:pPr>
            <a:r>
              <a:rPr lang="en-US" i="1" kern="100" dirty="0">
                <a:latin typeface="Century Gothic" panose="020B0502020202020204" pitchFamily="34" charset="0"/>
                <a:ea typeface="Calibri" panose="020F0502020204030204" pitchFamily="34" charset="0"/>
                <a:cs typeface="Times New Roman" panose="02020603050405020304" pitchFamily="18" charset="0"/>
              </a:rPr>
              <a:t>As a result, apple prices drop, and producers may find it challenging to sell their produce</a:t>
            </a:r>
          </a:p>
          <a:p>
            <a:pPr marL="0" marR="0" indent="0" algn="just">
              <a:lnSpc>
                <a:spcPct val="107000"/>
              </a:lnSpc>
              <a:spcBef>
                <a:spcPts val="0"/>
              </a:spcBef>
              <a:spcAft>
                <a:spcPts val="800"/>
              </a:spcAft>
              <a:buNone/>
            </a:pP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07000"/>
              </a:lnSpc>
              <a:spcBef>
                <a:spcPts val="0"/>
              </a:spcBef>
              <a:spcAft>
                <a:spcPts val="800"/>
              </a:spcAft>
              <a:buNone/>
            </a:pPr>
            <a:r>
              <a:rPr lang="en-US" b="1" i="1" kern="100" dirty="0">
                <a:latin typeface="Century Gothic" panose="020B0502020202020204" pitchFamily="34" charset="0"/>
                <a:ea typeface="Calibri" panose="020F0502020204030204" pitchFamily="34" charset="0"/>
                <a:cs typeface="Times New Roman" panose="02020603050405020304" pitchFamily="18" charset="0"/>
              </a:rPr>
              <a:t>Example 2: </a:t>
            </a:r>
            <a:endParaRPr lang="en-US" b="1" kern="100" dirty="0">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07000"/>
              </a:lnSpc>
              <a:spcBef>
                <a:spcPts val="0"/>
              </a:spcBef>
              <a:spcAft>
                <a:spcPts val="800"/>
              </a:spcAft>
              <a:buNone/>
            </a:pPr>
            <a:r>
              <a:rPr lang="en-US" i="1" kern="100" dirty="0">
                <a:latin typeface="Century Gothic" panose="020B0502020202020204" pitchFamily="34" charset="0"/>
                <a:ea typeface="Calibri" panose="020F0502020204030204" pitchFamily="34" charset="0"/>
                <a:cs typeface="Times New Roman" panose="02020603050405020304" pitchFamily="18" charset="0"/>
              </a:rPr>
              <a:t>Rice Market: If a government implements a subsidy program for rice farmers, the cost of production decreases, leading to an increase in the supply of rice in the market.</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9779304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2BA705-A4A2-A8C0-4A10-981C52D5AD33}"/>
              </a:ext>
            </a:extLst>
          </p:cNvPr>
          <p:cNvSpPr>
            <a:spLocks noGrp="1"/>
          </p:cNvSpPr>
          <p:nvPr>
            <p:ph type="title"/>
          </p:nvPr>
        </p:nvSpPr>
        <p:spPr>
          <a:xfrm>
            <a:off x="838200" y="124691"/>
            <a:ext cx="10515600" cy="1700934"/>
          </a:xfrm>
        </p:spPr>
        <p:txBody>
          <a:bodyPr>
            <a:normAutofit fontScale="90000"/>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Implications of Demand and Supply in Agriculture</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4401E0D1-BE8D-5765-071E-A74AC9C47EE9}"/>
              </a:ext>
            </a:extLst>
          </p:cNvPr>
          <p:cNvSpPr>
            <a:spLocks noGrp="1"/>
          </p:cNvSpPr>
          <p:nvPr>
            <p:ph idx="1"/>
          </p:nvPr>
        </p:nvSpPr>
        <p:spPr/>
        <p:txBody>
          <a:bodyPr>
            <a:normAutofit/>
          </a:bodyPr>
          <a:lstStyle/>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Understanding demand and supply helps value-chain agriculture students in: </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b="1" i="1" kern="100" dirty="0">
                <a:latin typeface="Century Gothic" panose="020B0502020202020204" pitchFamily="34" charset="0"/>
                <a:ea typeface="Calibri" panose="020F0502020204030204" pitchFamily="34" charset="0"/>
                <a:cs typeface="Times New Roman" panose="02020603050405020304" pitchFamily="18" charset="0"/>
              </a:rPr>
              <a:t>Price Analysis:</a:t>
            </a:r>
            <a:r>
              <a:rPr lang="en-US" b="1" kern="100" dirty="0">
                <a:latin typeface="Century Gothic" panose="020B0502020202020204" pitchFamily="34" charset="0"/>
                <a:ea typeface="Calibri" panose="020F0502020204030204" pitchFamily="34" charset="0"/>
                <a:cs typeface="Times New Roman" panose="02020603050405020304" pitchFamily="18" charset="0"/>
              </a:rPr>
              <a:t> </a:t>
            </a:r>
            <a:r>
              <a:rPr lang="en-US" kern="100" dirty="0">
                <a:latin typeface="Century Gothic" panose="020B0502020202020204" pitchFamily="34" charset="0"/>
                <a:ea typeface="Calibri" panose="020F0502020204030204" pitchFamily="34" charset="0"/>
                <a:cs typeface="Times New Roman" panose="02020603050405020304" pitchFamily="18" charset="0"/>
              </a:rPr>
              <a:t>Analyze how changes in demand and supply affect agricultural prices and the income of producers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b="1" i="1" kern="100" dirty="0">
                <a:latin typeface="Century Gothic" panose="020B0502020202020204" pitchFamily="34" charset="0"/>
                <a:ea typeface="Calibri" panose="020F0502020204030204" pitchFamily="34" charset="0"/>
                <a:cs typeface="Times New Roman" panose="02020603050405020304" pitchFamily="18" charset="0"/>
              </a:rPr>
              <a:t>Market Strategies:</a:t>
            </a:r>
            <a:r>
              <a:rPr lang="en-US" b="1" kern="100" dirty="0">
                <a:latin typeface="Century Gothic" panose="020B0502020202020204" pitchFamily="34" charset="0"/>
                <a:ea typeface="Calibri" panose="020F0502020204030204" pitchFamily="34" charset="0"/>
                <a:cs typeface="Times New Roman" panose="02020603050405020304" pitchFamily="18" charset="0"/>
              </a:rPr>
              <a:t> </a:t>
            </a:r>
            <a:r>
              <a:rPr lang="en-US" kern="100" dirty="0">
                <a:latin typeface="Century Gothic" panose="020B0502020202020204" pitchFamily="34" charset="0"/>
                <a:ea typeface="Calibri" panose="020F0502020204030204" pitchFamily="34" charset="0"/>
                <a:cs typeface="Times New Roman" panose="02020603050405020304" pitchFamily="18" charset="0"/>
              </a:rPr>
              <a:t>Devise strategies to match production with consumer demand and maximize profits for farmers.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b="1" i="1" kern="100" dirty="0">
                <a:latin typeface="Century Gothic" panose="020B0502020202020204" pitchFamily="34" charset="0"/>
                <a:ea typeface="Calibri" panose="020F0502020204030204" pitchFamily="34" charset="0"/>
                <a:cs typeface="Times New Roman" panose="02020603050405020304" pitchFamily="18" charset="0"/>
              </a:rPr>
              <a:t>Policy Formulation:</a:t>
            </a:r>
            <a:r>
              <a:rPr lang="en-US" b="1" kern="100" dirty="0">
                <a:latin typeface="Century Gothic" panose="020B0502020202020204" pitchFamily="34" charset="0"/>
                <a:ea typeface="Calibri" panose="020F0502020204030204" pitchFamily="34" charset="0"/>
                <a:cs typeface="Times New Roman" panose="02020603050405020304" pitchFamily="18" charset="0"/>
              </a:rPr>
              <a:t> </a:t>
            </a:r>
            <a:r>
              <a:rPr lang="en-US" kern="100" dirty="0">
                <a:latin typeface="Century Gothic" panose="020B0502020202020204" pitchFamily="34" charset="0"/>
                <a:ea typeface="Calibri" panose="020F0502020204030204" pitchFamily="34" charset="0"/>
                <a:cs typeface="Times New Roman" panose="02020603050405020304" pitchFamily="18" charset="0"/>
              </a:rPr>
              <a:t>Evaluate the impact of government policies on agricultural markets and production.</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9820980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2638967-F5E5-926C-AA32-C04F51D4184A}"/>
              </a:ext>
            </a:extLst>
          </p:cNvPr>
          <p:cNvSpPr>
            <a:spLocks noGrp="1"/>
          </p:cNvSpPr>
          <p:nvPr>
            <p:ph idx="1"/>
          </p:nvPr>
        </p:nvSpPr>
        <p:spPr>
          <a:xfrm>
            <a:off x="838200" y="1049482"/>
            <a:ext cx="10515600" cy="5127481"/>
          </a:xfrm>
        </p:spPr>
        <p:txBody>
          <a:bodyPr>
            <a:normAutofit/>
          </a:bodyPr>
          <a:lstStyle/>
          <a:p>
            <a:pPr algn="just">
              <a:lnSpc>
                <a:spcPct val="107000"/>
              </a:lnSpc>
              <a:spcBef>
                <a:spcPts val="0"/>
              </a:spcBef>
              <a:spcAft>
                <a:spcPts val="800"/>
              </a:spcAft>
            </a:pPr>
            <a:r>
              <a:rPr lang="en-US" i="1" kern="100" dirty="0">
                <a:latin typeface="Century Gothic" panose="020B0502020202020204" pitchFamily="34" charset="0"/>
                <a:ea typeface="Calibri" panose="020F0502020204030204" pitchFamily="34" charset="0"/>
                <a:cs typeface="Times New Roman" panose="02020603050405020304" pitchFamily="18" charset="0"/>
              </a:rPr>
              <a:t>Demand and supply are the driving forces behind agricultural markets. By comprehending these concepts, value chain agriculture students can better analyze market dynamics, make informed decisions, and address challenges in the agricultural sector.</a:t>
            </a:r>
          </a:p>
          <a:p>
            <a:pPr marL="0" indent="0" algn="just">
              <a:lnSpc>
                <a:spcPct val="107000"/>
              </a:lnSpc>
              <a:spcBef>
                <a:spcPts val="0"/>
              </a:spcBef>
              <a:spcAft>
                <a:spcPts val="800"/>
              </a:spcAft>
              <a:buNone/>
            </a:pP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i="1" kern="100" dirty="0">
                <a:latin typeface="Century Gothic" panose="020B0502020202020204" pitchFamily="34" charset="0"/>
                <a:ea typeface="Calibri" panose="020F0502020204030204" pitchFamily="34" charset="0"/>
                <a:cs typeface="Times New Roman" panose="02020603050405020304" pitchFamily="18" charset="0"/>
              </a:rPr>
              <a:t>As future professionals, mastering demand and supply will enable students to contribute significantly to the sustainable growth and development of value chain agriculture. </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4442495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69D7C9-737B-AC5D-C611-AA4866CA8A2F}"/>
              </a:ext>
            </a:extLst>
          </p:cNvPr>
          <p:cNvSpPr>
            <a:spLocks noGrp="1"/>
          </p:cNvSpPr>
          <p:nvPr>
            <p:ph type="title"/>
          </p:nvPr>
        </p:nvSpPr>
        <p:spPr/>
        <p:txBody>
          <a:bodyPr>
            <a:normAutofit fontScale="90000"/>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Exercise 1: Demand and Supply Analysis </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4D890A53-DE7D-3BE3-8A26-A2A4346286A4}"/>
              </a:ext>
            </a:extLst>
          </p:cNvPr>
          <p:cNvSpPr>
            <a:spLocks noGrp="1"/>
          </p:cNvSpPr>
          <p:nvPr>
            <p:ph idx="1"/>
          </p:nvPr>
        </p:nvSpPr>
        <p:spPr>
          <a:xfrm>
            <a:off x="838200" y="1690688"/>
            <a:ext cx="10515600" cy="4802187"/>
          </a:xfrm>
        </p:spPr>
        <p:txBody>
          <a:bodyPr>
            <a:normAutofit/>
          </a:bodyPr>
          <a:lstStyle/>
          <a:p>
            <a:pPr marL="514350" indent="-514350" algn="just">
              <a:lnSpc>
                <a:spcPct val="107000"/>
              </a:lnSpc>
              <a:spcBef>
                <a:spcPts val="0"/>
              </a:spcBef>
              <a:spcAft>
                <a:spcPts val="800"/>
              </a:spcAft>
              <a:buFont typeface="+mj-lt"/>
              <a:buAutoNum type="arabicPeriod"/>
            </a:pPr>
            <a:r>
              <a:rPr lang="en-US" i="1" kern="100" dirty="0">
                <a:latin typeface="Century Gothic" panose="020B0502020202020204" pitchFamily="34" charset="0"/>
                <a:ea typeface="Calibri" panose="020F0502020204030204" pitchFamily="34" charset="0"/>
                <a:cs typeface="Times New Roman" panose="02020603050405020304" pitchFamily="18" charset="0"/>
              </a:rPr>
              <a:t>Suppose the price of tomatoes in a local market increases due to a decrease in supply. What will be the likely impact on the quantity demanded by consumers? Explain your answer.</a:t>
            </a:r>
            <a:endParaRPr lang="en-US" i="1" kern="100" dirty="0">
              <a:latin typeface="Calibri" panose="020F0502020204030204" pitchFamily="34" charset="0"/>
              <a:ea typeface="Calibri" panose="020F0502020204030204" pitchFamily="34" charset="0"/>
              <a:cs typeface="Times New Roman" panose="02020603050405020304" pitchFamily="18" charset="0"/>
            </a:endParaRPr>
          </a:p>
          <a:p>
            <a:pPr marL="514350" indent="-514350" algn="just">
              <a:lnSpc>
                <a:spcPct val="107000"/>
              </a:lnSpc>
              <a:spcBef>
                <a:spcPts val="0"/>
              </a:spcBef>
              <a:spcAft>
                <a:spcPts val="800"/>
              </a:spcAft>
              <a:buFont typeface="+mj-lt"/>
              <a:buAutoNum type="arabicPeriod"/>
            </a:pPr>
            <a:r>
              <a:rPr lang="en-US" i="1" kern="100" dirty="0">
                <a:latin typeface="Century Gothic" panose="020B0502020202020204" pitchFamily="34" charset="0"/>
                <a:ea typeface="Calibri" panose="020F0502020204030204" pitchFamily="34" charset="0"/>
                <a:cs typeface="Times New Roman" panose="02020603050405020304" pitchFamily="18" charset="0"/>
              </a:rPr>
              <a:t>In a hypothetical scenario, the income of consumers in a rural area increases significantly. How will this change in income influence the demand for agricultural products in the region?</a:t>
            </a:r>
            <a:endParaRPr lang="en-US" i="1" kern="100" dirty="0">
              <a:latin typeface="Calibri" panose="020F0502020204030204" pitchFamily="34" charset="0"/>
              <a:ea typeface="Calibri" panose="020F0502020204030204" pitchFamily="34" charset="0"/>
              <a:cs typeface="Times New Roman" panose="02020603050405020304" pitchFamily="18" charset="0"/>
            </a:endParaRPr>
          </a:p>
          <a:p>
            <a:pPr marL="514350" indent="-514350" algn="just">
              <a:lnSpc>
                <a:spcPct val="107000"/>
              </a:lnSpc>
              <a:spcBef>
                <a:spcPts val="0"/>
              </a:spcBef>
              <a:spcAft>
                <a:spcPts val="800"/>
              </a:spcAft>
              <a:buFont typeface="+mj-lt"/>
              <a:buAutoNum type="arabicPeriod"/>
            </a:pPr>
            <a:r>
              <a:rPr lang="en-US" i="1" kern="100" dirty="0">
                <a:latin typeface="Century Gothic" panose="020B0502020202020204" pitchFamily="34" charset="0"/>
                <a:ea typeface="Calibri" panose="020F0502020204030204" pitchFamily="34" charset="0"/>
                <a:cs typeface="Times New Roman" panose="02020603050405020304" pitchFamily="18" charset="0"/>
              </a:rPr>
              <a:t>Draw a demand curve for oranges in a value chain agriculture market, indicating the relationship between price and quantity demanded. Explain the slope of the demand curve.</a:t>
            </a:r>
            <a:endParaRPr lang="en-US" i="1"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7452631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0FBCA-8CB1-F6A6-6D26-3A7F9BC3C8C4}"/>
              </a:ext>
            </a:extLst>
          </p:cNvPr>
          <p:cNvSpPr>
            <a:spLocks noGrp="1"/>
          </p:cNvSpPr>
          <p:nvPr>
            <p:ph type="title"/>
          </p:nvPr>
        </p:nvSpPr>
        <p:spPr/>
        <p:txBody>
          <a:bodyPr/>
          <a:lstStyle/>
          <a:p>
            <a:r>
              <a:rPr lang="en-US" b="1" kern="100" dirty="0">
                <a:latin typeface="Century Gothic" panose="020B0502020202020204" pitchFamily="34" charset="0"/>
                <a:ea typeface="Calibri" panose="020F0502020204030204" pitchFamily="34" charset="0"/>
                <a:cs typeface="Times New Roman" panose="02020603050405020304" pitchFamily="18" charset="0"/>
              </a:rPr>
              <a:t>Exercise 2: Factors Influencing Supply </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AD1495C4-0135-3F4E-E359-F05292BD9B2E}"/>
              </a:ext>
            </a:extLst>
          </p:cNvPr>
          <p:cNvSpPr>
            <a:spLocks noGrp="1"/>
          </p:cNvSpPr>
          <p:nvPr>
            <p:ph idx="1"/>
          </p:nvPr>
        </p:nvSpPr>
        <p:spPr/>
        <p:txBody>
          <a:bodyPr>
            <a:normAutofit fontScale="92500" lnSpcReduction="10000"/>
          </a:bodyPr>
          <a:lstStyle/>
          <a:p>
            <a:pPr marL="457200" indent="-457200" algn="just">
              <a:lnSpc>
                <a:spcPct val="107000"/>
              </a:lnSpc>
              <a:spcBef>
                <a:spcPts val="0"/>
              </a:spcBef>
              <a:spcAft>
                <a:spcPts val="800"/>
              </a:spcAft>
              <a:buFont typeface="+mj-lt"/>
              <a:buAutoNum type="arabicPeriod"/>
            </a:pPr>
            <a:r>
              <a:rPr lang="en-US" sz="2400" i="1" kern="100" dirty="0">
                <a:latin typeface="Century Gothic" panose="020B0502020202020204" pitchFamily="34" charset="0"/>
                <a:ea typeface="Calibri" panose="020F0502020204030204" pitchFamily="34" charset="0"/>
                <a:cs typeface="Times New Roman" panose="02020603050405020304" pitchFamily="18" charset="0"/>
              </a:rPr>
              <a:t>Analyze the impact of a drought on the supply of wheat in a value-chain agriculture market. How might farmers respond to the reduced supply?</a:t>
            </a:r>
          </a:p>
          <a:p>
            <a:pPr marL="457200" indent="-457200" algn="just">
              <a:lnSpc>
                <a:spcPct val="107000"/>
              </a:lnSpc>
              <a:spcBef>
                <a:spcPts val="0"/>
              </a:spcBef>
              <a:spcAft>
                <a:spcPts val="800"/>
              </a:spcAft>
              <a:buFont typeface="+mj-lt"/>
              <a:buAutoNum type="arabicPeriod"/>
            </a:pPr>
            <a:endParaRPr lang="en-US" sz="2400" kern="100" dirty="0">
              <a:latin typeface="Calibri" panose="020F0502020204030204" pitchFamily="34" charset="0"/>
              <a:ea typeface="Calibri" panose="020F0502020204030204" pitchFamily="34" charset="0"/>
              <a:cs typeface="Times New Roman" panose="02020603050405020304" pitchFamily="18" charset="0"/>
            </a:endParaRPr>
          </a:p>
          <a:p>
            <a:pPr marL="457200" indent="-457200" algn="just">
              <a:lnSpc>
                <a:spcPct val="107000"/>
              </a:lnSpc>
              <a:spcBef>
                <a:spcPts val="0"/>
              </a:spcBef>
              <a:spcAft>
                <a:spcPts val="800"/>
              </a:spcAft>
              <a:buFont typeface="+mj-lt"/>
              <a:buAutoNum type="arabicPeriod"/>
            </a:pPr>
            <a:r>
              <a:rPr lang="en-US" sz="2400" i="1" kern="100" dirty="0">
                <a:latin typeface="Century Gothic" panose="020B0502020202020204" pitchFamily="34" charset="0"/>
                <a:ea typeface="Calibri" panose="020F0502020204030204" pitchFamily="34" charset="0"/>
                <a:cs typeface="Times New Roman" panose="02020603050405020304" pitchFamily="18" charset="0"/>
              </a:rPr>
              <a:t>Discuss how government policies, such as imposing export tariffs on agricultural products, can affect the supply of those products in the domestic market.</a:t>
            </a:r>
          </a:p>
          <a:p>
            <a:pPr marL="0" indent="0" algn="just">
              <a:lnSpc>
                <a:spcPct val="107000"/>
              </a:lnSpc>
              <a:spcBef>
                <a:spcPts val="0"/>
              </a:spcBef>
              <a:spcAft>
                <a:spcPts val="800"/>
              </a:spcAft>
              <a:buNone/>
            </a:pPr>
            <a:endParaRPr lang="en-US" sz="2400" kern="100" dirty="0">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Bef>
                <a:spcPts val="0"/>
              </a:spcBef>
              <a:spcAft>
                <a:spcPts val="800"/>
              </a:spcAft>
              <a:buNone/>
            </a:pPr>
            <a:r>
              <a:rPr lang="en-US" sz="2400" i="1" kern="100" dirty="0">
                <a:latin typeface="Century Gothic" panose="020B0502020202020204" pitchFamily="34" charset="0"/>
                <a:ea typeface="Calibri" panose="020F0502020204030204" pitchFamily="34" charset="0"/>
                <a:cs typeface="Times New Roman" panose="02020603050405020304" pitchFamily="18" charset="0"/>
              </a:rPr>
              <a:t>3. Provide examples of technological advancements in agriculture and explain how they can increase the supply of specific crops.</a:t>
            </a:r>
            <a:endParaRPr lang="en-US" sz="2400"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7952512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D56B6F-954D-B689-F6B3-92AF88C3E2CF}"/>
              </a:ext>
            </a:extLst>
          </p:cNvPr>
          <p:cNvSpPr>
            <a:spLocks noGrp="1"/>
          </p:cNvSpPr>
          <p:nvPr>
            <p:ph type="title"/>
          </p:nvPr>
        </p:nvSpPr>
        <p:spPr/>
        <p:txBody>
          <a:bodyPr>
            <a:normAutofit fontScale="90000"/>
          </a:bodyPr>
          <a:lstStyle/>
          <a:p>
            <a:r>
              <a:rPr lang="en-US" b="1" kern="100" dirty="0">
                <a:latin typeface="Century Gothic" panose="020B0502020202020204" pitchFamily="34" charset="0"/>
                <a:ea typeface="Calibri" panose="020F0502020204030204" pitchFamily="34" charset="0"/>
                <a:cs typeface="Times New Roman" panose="02020603050405020304" pitchFamily="18" charset="0"/>
              </a:rPr>
              <a:t>Case Study: The Impact of COVID-19 on the Poultry Industry </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19B3B59C-F66D-F737-32B6-23D635A773D1}"/>
              </a:ext>
            </a:extLst>
          </p:cNvPr>
          <p:cNvSpPr>
            <a:spLocks noGrp="1"/>
          </p:cNvSpPr>
          <p:nvPr>
            <p:ph idx="1"/>
          </p:nvPr>
        </p:nvSpPr>
        <p:spPr/>
        <p:txBody>
          <a:bodyPr>
            <a:normAutofit/>
          </a:bodyPr>
          <a:lstStyle/>
          <a:p>
            <a:pPr marL="0" marR="0" indent="0" algn="just">
              <a:lnSpc>
                <a:spcPct val="107000"/>
              </a:lnSpc>
              <a:spcBef>
                <a:spcPts val="0"/>
              </a:spcBef>
              <a:spcAft>
                <a:spcPts val="800"/>
              </a:spcAft>
              <a:buNone/>
            </a:pPr>
            <a:r>
              <a:rPr lang="en-US" i="1" kern="100" dirty="0">
                <a:latin typeface="Century Gothic" panose="020B0502020202020204" pitchFamily="34" charset="0"/>
                <a:ea typeface="Calibri" panose="020F0502020204030204" pitchFamily="34" charset="0"/>
                <a:cs typeface="Times New Roman" panose="02020603050405020304" pitchFamily="18" charset="0"/>
              </a:rPr>
              <a:t>The poultry industry in Malawi faced significant challenges during the COVID-19 pandemic. Travel restrictions and lockdown measures disrupted the supply chain, affecting both producers and consumers.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514350" marR="0" indent="-514350" algn="just">
              <a:lnSpc>
                <a:spcPct val="107000"/>
              </a:lnSpc>
              <a:spcBef>
                <a:spcPts val="0"/>
              </a:spcBef>
              <a:spcAft>
                <a:spcPts val="800"/>
              </a:spcAft>
              <a:buFont typeface="+mj-lt"/>
              <a:buAutoNum type="arabicPeriod"/>
            </a:pPr>
            <a:r>
              <a:rPr lang="en-US" i="1" kern="100" dirty="0">
                <a:latin typeface="Century Gothic" panose="020B0502020202020204" pitchFamily="34" charset="0"/>
                <a:ea typeface="Calibri" panose="020F0502020204030204" pitchFamily="34" charset="0"/>
                <a:cs typeface="Times New Roman" panose="02020603050405020304" pitchFamily="18" charset="0"/>
              </a:rPr>
              <a:t>Analyze the factors that influenced the demand for poultry products during the pandemic.</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514350" marR="0" indent="-514350" algn="just">
              <a:lnSpc>
                <a:spcPct val="107000"/>
              </a:lnSpc>
              <a:spcBef>
                <a:spcPts val="0"/>
              </a:spcBef>
              <a:spcAft>
                <a:spcPts val="800"/>
              </a:spcAft>
              <a:buFont typeface="+mj-lt"/>
              <a:buAutoNum type="arabicPeriod"/>
            </a:pPr>
            <a:r>
              <a:rPr lang="en-US" i="1" kern="100" dirty="0">
                <a:latin typeface="Century Gothic" panose="020B0502020202020204" pitchFamily="34" charset="0"/>
                <a:ea typeface="Calibri" panose="020F0502020204030204" pitchFamily="34" charset="0"/>
                <a:cs typeface="Times New Roman" panose="02020603050405020304" pitchFamily="18" charset="0"/>
              </a:rPr>
              <a:t>Discuss the supply-side challenges faced by poultry farmers during the COVID-19 crisis.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514350" marR="0" indent="-514350" algn="just">
              <a:lnSpc>
                <a:spcPct val="107000"/>
              </a:lnSpc>
              <a:spcBef>
                <a:spcPts val="0"/>
              </a:spcBef>
              <a:spcAft>
                <a:spcPts val="800"/>
              </a:spcAft>
              <a:buFont typeface="+mj-lt"/>
              <a:buAutoNum type="arabicPeriod"/>
            </a:pPr>
            <a:r>
              <a:rPr lang="en-US" i="1" kern="100" dirty="0">
                <a:latin typeface="Century Gothic" panose="020B0502020202020204" pitchFamily="34" charset="0"/>
                <a:ea typeface="Calibri" panose="020F0502020204030204" pitchFamily="34" charset="0"/>
                <a:cs typeface="Times New Roman" panose="02020603050405020304" pitchFamily="18" charset="0"/>
              </a:rPr>
              <a:t>How did the disruption in demand and supply affect market equilibrium and poultry prices in the region?</a:t>
            </a:r>
            <a:r>
              <a:rPr lang="en-US" kern="100" dirty="0">
                <a:latin typeface="Calibri" panose="020F0502020204030204" pitchFamily="34" charset="0"/>
                <a:ea typeface="Calibri" panose="020F0502020204030204" pitchFamily="34" charset="0"/>
                <a:cs typeface="Times New Roman" panose="02020603050405020304" pitchFamily="18" charset="0"/>
              </a:rPr>
              <a:t> </a:t>
            </a:r>
          </a:p>
          <a:p>
            <a:pPr marL="0" marR="0" indent="0" algn="just">
              <a:lnSpc>
                <a:spcPct val="107000"/>
              </a:lnSpc>
              <a:spcBef>
                <a:spcPts val="0"/>
              </a:spcBef>
              <a:spcAft>
                <a:spcPts val="800"/>
              </a:spcAft>
              <a:buNone/>
            </a:pP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3934357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120513-D394-D7D4-5F96-68C231EB9E40}"/>
              </a:ext>
            </a:extLst>
          </p:cNvPr>
          <p:cNvSpPr>
            <a:spLocks noGrp="1"/>
          </p:cNvSpPr>
          <p:nvPr>
            <p:ph type="title"/>
          </p:nvPr>
        </p:nvSpPr>
        <p:spPr/>
        <p:txBody>
          <a:bodyPr/>
          <a:lstStyle/>
          <a:p>
            <a:r>
              <a:rPr lang="en-US" b="1" dirty="0">
                <a:latin typeface="Century Gothic" panose="020B0502020202020204" pitchFamily="34" charset="0"/>
                <a:ea typeface="Calibri" panose="020F0502020204030204" pitchFamily="34" charset="0"/>
                <a:cs typeface="Times New Roman" panose="02020603050405020304" pitchFamily="18" charset="0"/>
              </a:rPr>
              <a:t>The Market Equilibrium </a:t>
            </a:r>
            <a:endParaRPr lang="en-US" dirty="0"/>
          </a:p>
        </p:txBody>
      </p:sp>
      <p:sp>
        <p:nvSpPr>
          <p:cNvPr id="3" name="Content Placeholder 2">
            <a:extLst>
              <a:ext uri="{FF2B5EF4-FFF2-40B4-BE49-F238E27FC236}">
                <a16:creationId xmlns:a16="http://schemas.microsoft.com/office/drawing/2014/main" id="{D62FAE3B-4764-CDE1-DA4F-458E965047BB}"/>
              </a:ext>
            </a:extLst>
          </p:cNvPr>
          <p:cNvSpPr>
            <a:spLocks noGrp="1"/>
          </p:cNvSpPr>
          <p:nvPr>
            <p:ph idx="1"/>
          </p:nvPr>
        </p:nvSpPr>
        <p:spPr/>
        <p:txBody>
          <a:bodyPr/>
          <a:lstStyle/>
          <a:p>
            <a:pPr marL="0" marR="0"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In this session, we will explore the concept of market equilibrium and its significance in value-chain agriculture. </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Market equilibrium represents the balance between demand and supply in a market, determining the price and quantity of goods exchanged. </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Understanding market equilibrium is essential for value chain agriculture </a:t>
            </a:r>
            <a:r>
              <a:rPr lang="en-US" kern="100" dirty="0" err="1">
                <a:latin typeface="Century Gothic" panose="020B0502020202020204" pitchFamily="34" charset="0"/>
                <a:ea typeface="Calibri" panose="020F0502020204030204" pitchFamily="34" charset="0"/>
                <a:cs typeface="Times New Roman" panose="02020603050405020304" pitchFamily="18" charset="0"/>
              </a:rPr>
              <a:t>proffessionals</a:t>
            </a:r>
            <a:r>
              <a:rPr lang="en-US" kern="100" dirty="0">
                <a:latin typeface="Century Gothic" panose="020B0502020202020204" pitchFamily="34" charset="0"/>
                <a:ea typeface="Calibri" panose="020F0502020204030204" pitchFamily="34" charset="0"/>
                <a:cs typeface="Times New Roman" panose="02020603050405020304" pitchFamily="18" charset="0"/>
              </a:rPr>
              <a:t> as it helps in analyzing market dynamics and making informed decisions. </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80585875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1</TotalTime>
  <Words>1526</Words>
  <Application>Microsoft Office PowerPoint</Application>
  <PresentationFormat>Widescreen</PresentationFormat>
  <Paragraphs>86</Paragraphs>
  <Slides>21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Calibri</vt:lpstr>
      <vt:lpstr>Century Gothic</vt:lpstr>
      <vt:lpstr>Times New Roman</vt:lpstr>
      <vt:lpstr>Wingdings 3</vt:lpstr>
      <vt:lpstr>Ion</vt:lpstr>
      <vt:lpstr>Lecture 2:   Market Forces:  Demand and Supply </vt:lpstr>
      <vt:lpstr>Demand and Supply in Value Chain Agriculture  </vt:lpstr>
      <vt:lpstr>Demand  </vt:lpstr>
      <vt:lpstr>Supply </vt:lpstr>
      <vt:lpstr>Diagram showing supply and demand schedule </vt:lpstr>
      <vt:lpstr>PowerPoint Presentation</vt:lpstr>
      <vt:lpstr>Factors Influencing Supply </vt:lpstr>
      <vt:lpstr>Understanding Market Equilibrium  </vt:lpstr>
      <vt:lpstr>PowerPoint Presentation</vt:lpstr>
      <vt:lpstr>  Consumer Surplus and Producer Surplus  </vt:lpstr>
      <vt:lpstr>Graph showing Consumer and Producer Surplus </vt:lpstr>
      <vt:lpstr>Consumer Surplus in Agriculture </vt:lpstr>
      <vt:lpstr>Producer Surplus in Agriculture: </vt:lpstr>
      <vt:lpstr>PowerPoint Presentation</vt:lpstr>
      <vt:lpstr>Practical Examples of Demand and Supply in Agricultural Markets  </vt:lpstr>
      <vt:lpstr>Implications of Demand and Supply in Agriculture </vt:lpstr>
      <vt:lpstr>PowerPoint Presentation</vt:lpstr>
      <vt:lpstr>Exercise 1: Demand and Supply Analysis  </vt:lpstr>
      <vt:lpstr>Exercise 2: Factors Influencing Supply  </vt:lpstr>
      <vt:lpstr>Case Study: The Impact of COVID-19 on the Poultry Industry  </vt:lpstr>
      <vt:lpstr>The Market Equilibrium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2:   Market Forces:  Demand and Supply </dc:title>
  <dc:creator>hp</dc:creator>
  <cp:lastModifiedBy>hp</cp:lastModifiedBy>
  <cp:revision>1</cp:revision>
  <dcterms:created xsi:type="dcterms:W3CDTF">2025-01-24T02:28:06Z</dcterms:created>
  <dcterms:modified xsi:type="dcterms:W3CDTF">2025-01-24T02:29:07Z</dcterms:modified>
</cp:coreProperties>
</file>