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7" r:id="rId2"/>
    <p:sldId id="258" r:id="rId3"/>
    <p:sldId id="259" r:id="rId4"/>
    <p:sldId id="263"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0" autoAdjust="0"/>
    <p:restoredTop sz="94660"/>
  </p:normalViewPr>
  <p:slideViewPr>
    <p:cSldViewPr snapToGrid="0">
      <p:cViewPr varScale="1">
        <p:scale>
          <a:sx n="75" d="100"/>
          <a:sy n="75" d="100"/>
        </p:scale>
        <p:origin x="33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87FD5D1-2A56-4827-8584-9C1D6874DDB8}"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3454202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7FD5D1-2A56-4827-8584-9C1D6874DDB8}"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1344803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87FD5D1-2A56-4827-8584-9C1D6874DDB8}"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2918474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87FD5D1-2A56-4827-8584-9C1D6874DDB8}" type="datetimeFigureOut">
              <a:rPr lang="en-GB" smtClean="0"/>
              <a:t>18/08/2025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3468230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87FD5D1-2A56-4827-8584-9C1D6874DDB8}" type="datetimeFigureOut">
              <a:rPr lang="en-GB" smtClean="0"/>
              <a:t>18/08/2025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401710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87FD5D1-2A56-4827-8584-9C1D6874DDB8}" type="datetimeFigureOut">
              <a:rPr lang="en-GB" smtClean="0"/>
              <a:t>18/08/2025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165628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7FD5D1-2A56-4827-8584-9C1D6874DDB8}" type="datetimeFigureOut">
              <a:rPr lang="en-GB" smtClean="0"/>
              <a:t>18/08/2025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3545502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87FD5D1-2A56-4827-8584-9C1D6874DDB8}" type="datetimeFigureOut">
              <a:rPr lang="en-GB" smtClean="0"/>
              <a:t>18/08/2025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2732649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87FD5D1-2A56-4827-8584-9C1D6874DDB8}" type="datetimeFigureOut">
              <a:rPr lang="en-GB" smtClean="0"/>
              <a:t>18/08/2025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1996032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7FD5D1-2A56-4827-8584-9C1D6874DDB8}"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2471250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7FD5D1-2A56-4827-8584-9C1D6874DDB8}"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967955C-7556-4DF7-9FF0-192E809DF8E7}" type="slidenum">
              <a:rPr lang="en-GB" smtClean="0"/>
              <a:t>‹#›</a:t>
            </a:fld>
            <a:endParaRPr lang="en-GB"/>
          </a:p>
        </p:txBody>
      </p:sp>
    </p:spTree>
    <p:extLst>
      <p:ext uri="{BB962C8B-B14F-4D97-AF65-F5344CB8AC3E}">
        <p14:creationId xmlns:p14="http://schemas.microsoft.com/office/powerpoint/2010/main" val="3554161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7FD5D1-2A56-4827-8584-9C1D6874DDB8}" type="datetimeFigureOut">
              <a:rPr lang="en-GB" smtClean="0"/>
              <a:t>18/08/2025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67955C-7556-4DF7-9FF0-192E809DF8E7}" type="slidenum">
              <a:rPr lang="en-GB" smtClean="0"/>
              <a:t>‹#›</a:t>
            </a:fld>
            <a:endParaRPr lang="en-GB"/>
          </a:p>
        </p:txBody>
      </p:sp>
    </p:spTree>
    <p:extLst>
      <p:ext uri="{BB962C8B-B14F-4D97-AF65-F5344CB8AC3E}">
        <p14:creationId xmlns:p14="http://schemas.microsoft.com/office/powerpoint/2010/main" val="257625714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50853-0D83-889D-6D5D-79421848F6F3}"/>
              </a:ext>
            </a:extLst>
          </p:cNvPr>
          <p:cNvSpPr>
            <a:spLocks noGrp="1"/>
          </p:cNvSpPr>
          <p:nvPr>
            <p:ph type="title"/>
          </p:nvPr>
        </p:nvSpPr>
        <p:spPr>
          <a:xfrm>
            <a:off x="646111" y="452718"/>
            <a:ext cx="9404723" cy="1047836"/>
          </a:xfrm>
        </p:spPr>
        <p:txBody>
          <a:bodyPr/>
          <a:lstStyle/>
          <a:p>
            <a:r>
              <a:rPr lang="en-GB" sz="3200" b="1" dirty="0"/>
              <a:t>Cost Benefit Analysis (CBA) in Plantation Crops</a:t>
            </a:r>
          </a:p>
        </p:txBody>
      </p:sp>
      <p:sp>
        <p:nvSpPr>
          <p:cNvPr id="3" name="Content Placeholder 2">
            <a:extLst>
              <a:ext uri="{FF2B5EF4-FFF2-40B4-BE49-F238E27FC236}">
                <a16:creationId xmlns:a16="http://schemas.microsoft.com/office/drawing/2014/main" id="{2F8B2B33-061D-AE48-9946-27351EC2BC82}"/>
              </a:ext>
            </a:extLst>
          </p:cNvPr>
          <p:cNvSpPr>
            <a:spLocks noGrp="1"/>
          </p:cNvSpPr>
          <p:nvPr>
            <p:ph idx="1"/>
          </p:nvPr>
        </p:nvSpPr>
        <p:spPr>
          <a:xfrm>
            <a:off x="838200" y="1371600"/>
            <a:ext cx="10515600" cy="5099538"/>
          </a:xfrm>
        </p:spPr>
        <p:txBody>
          <a:bodyPr>
            <a:noAutofit/>
          </a:bodyPr>
          <a:lstStyle/>
          <a:p>
            <a:pPr>
              <a:lnSpc>
                <a:spcPct val="100000"/>
              </a:lnSpc>
            </a:pPr>
            <a:r>
              <a:rPr lang="en-GB" sz="2000" dirty="0">
                <a:latin typeface="Times New Roman" panose="02020603050405020304" pitchFamily="18" charset="0"/>
                <a:cs typeface="Times New Roman" panose="02020603050405020304" pitchFamily="18" charset="0"/>
              </a:rPr>
              <a:t>CBA is a financial tool used to compare the costs and benefits of a project to determine if it is worth pursuing.</a:t>
            </a:r>
          </a:p>
          <a:p>
            <a:pPr marL="0" indent="0">
              <a:lnSpc>
                <a:spcPct val="100000"/>
              </a:lnSpc>
              <a:buNone/>
            </a:pPr>
            <a:r>
              <a:rPr lang="en-GB" sz="2000" b="1" dirty="0">
                <a:latin typeface="Times New Roman" panose="02020603050405020304" pitchFamily="18" charset="0"/>
                <a:cs typeface="Times New Roman" panose="02020603050405020304" pitchFamily="18" charset="0"/>
              </a:rPr>
              <a:t>Importance</a:t>
            </a:r>
          </a:p>
          <a:p>
            <a:pPr>
              <a:lnSpc>
                <a:spcPct val="100000"/>
              </a:lnSpc>
            </a:pPr>
            <a:r>
              <a:rPr lang="en-GB" sz="2000" dirty="0">
                <a:latin typeface="Times New Roman" panose="02020603050405020304" pitchFamily="18" charset="0"/>
                <a:cs typeface="Times New Roman" panose="02020603050405020304" pitchFamily="18" charset="0"/>
              </a:rPr>
              <a:t>Helps farmers and investors in plantation crops (e.g., tea, coffee, or macadamia) to </a:t>
            </a:r>
            <a:r>
              <a:rPr lang="en-GB" sz="2000" i="1" dirty="0">
                <a:solidFill>
                  <a:srgbClr val="FF0000"/>
                </a:solidFill>
                <a:latin typeface="Times New Roman" panose="02020603050405020304" pitchFamily="18" charset="0"/>
                <a:cs typeface="Times New Roman" panose="02020603050405020304" pitchFamily="18" charset="0"/>
              </a:rPr>
              <a:t>make informed decisions by assessing the profitability.</a:t>
            </a:r>
          </a:p>
          <a:p>
            <a:pPr marL="0" indent="0">
              <a:lnSpc>
                <a:spcPct val="100000"/>
              </a:lnSpc>
              <a:buNone/>
            </a:pPr>
            <a:r>
              <a:rPr lang="en-GB" sz="2000" b="1" dirty="0">
                <a:latin typeface="Times New Roman" panose="02020603050405020304" pitchFamily="18" charset="0"/>
                <a:cs typeface="Times New Roman" panose="02020603050405020304" pitchFamily="18" charset="0"/>
              </a:rPr>
              <a:t>Components of Cost-Benefit Analysis</a:t>
            </a:r>
          </a:p>
          <a:p>
            <a:pPr marL="0" indent="0">
              <a:lnSpc>
                <a:spcPct val="100000"/>
              </a:lnSpc>
              <a:buNone/>
            </a:pPr>
            <a:r>
              <a:rPr lang="en-GB" sz="2000" dirty="0">
                <a:latin typeface="Times New Roman" panose="02020603050405020304" pitchFamily="18" charset="0"/>
                <a:cs typeface="Times New Roman" panose="02020603050405020304" pitchFamily="18" charset="0"/>
              </a:rPr>
              <a:t>Costs</a:t>
            </a:r>
          </a:p>
          <a:p>
            <a:pPr>
              <a:lnSpc>
                <a:spcPct val="100000"/>
              </a:lnSpc>
            </a:pPr>
            <a:r>
              <a:rPr lang="en-GB" sz="2000" dirty="0">
                <a:latin typeface="Times New Roman" panose="02020603050405020304" pitchFamily="18" charset="0"/>
                <a:cs typeface="Times New Roman" panose="02020603050405020304" pitchFamily="18" charset="0"/>
              </a:rPr>
              <a:t>Fixed Costs (FC): Do not change with production levels (e.g., land, irrigation system)</a:t>
            </a:r>
          </a:p>
          <a:p>
            <a:pPr>
              <a:lnSpc>
                <a:spcPct val="100000"/>
              </a:lnSpc>
            </a:pPr>
            <a:r>
              <a:rPr lang="en-GB" sz="2000" dirty="0">
                <a:latin typeface="Times New Roman" panose="02020603050405020304" pitchFamily="18" charset="0"/>
                <a:cs typeface="Times New Roman" panose="02020603050405020304" pitchFamily="18" charset="0"/>
              </a:rPr>
              <a:t>Variable Costs (VC): Depend on production levels (e.g., seeds, fertilizers, labour).</a:t>
            </a:r>
          </a:p>
          <a:p>
            <a:pPr marL="0" indent="0">
              <a:lnSpc>
                <a:spcPct val="100000"/>
              </a:lnSpc>
              <a:buNone/>
            </a:pPr>
            <a:r>
              <a:rPr lang="en-GB" sz="2000" dirty="0">
                <a:latin typeface="Times New Roman" panose="02020603050405020304" pitchFamily="18" charset="0"/>
                <a:cs typeface="Times New Roman" panose="02020603050405020304" pitchFamily="18" charset="0"/>
              </a:rPr>
              <a:t>Benefits</a:t>
            </a:r>
          </a:p>
          <a:p>
            <a:pPr>
              <a:lnSpc>
                <a:spcPct val="100000"/>
              </a:lnSpc>
            </a:pPr>
            <a:r>
              <a:rPr lang="en-GB" sz="2000" dirty="0">
                <a:latin typeface="Times New Roman" panose="02020603050405020304" pitchFamily="18" charset="0"/>
                <a:cs typeface="Times New Roman" panose="02020603050405020304" pitchFamily="18" charset="0"/>
              </a:rPr>
              <a:t>Revenue from selling yield </a:t>
            </a:r>
          </a:p>
        </p:txBody>
      </p:sp>
    </p:spTree>
    <p:extLst>
      <p:ext uri="{BB962C8B-B14F-4D97-AF65-F5344CB8AC3E}">
        <p14:creationId xmlns:p14="http://schemas.microsoft.com/office/powerpoint/2010/main" val="3282350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09F53B-8CEB-6335-F00F-1FCFAE573AAE}"/>
              </a:ext>
            </a:extLst>
          </p:cNvPr>
          <p:cNvSpPr>
            <a:spLocks noGrp="1"/>
          </p:cNvSpPr>
          <p:nvPr>
            <p:ph idx="1"/>
          </p:nvPr>
        </p:nvSpPr>
        <p:spPr>
          <a:xfrm>
            <a:off x="838200" y="362607"/>
            <a:ext cx="10515600" cy="6258910"/>
          </a:xfrm>
        </p:spPr>
        <p:txBody>
          <a:bodyPr>
            <a:normAutofit/>
          </a:bodyPr>
          <a:lstStyle/>
          <a:p>
            <a:pPr marL="0" indent="0">
              <a:buNone/>
            </a:pPr>
            <a:r>
              <a:rPr lang="en-GB" dirty="0"/>
              <a:t>Steps in Conducting CBA</a:t>
            </a:r>
          </a:p>
          <a:p>
            <a:r>
              <a:rPr lang="en-GB" dirty="0"/>
              <a:t>Identify Costs and Benefits</a:t>
            </a:r>
          </a:p>
          <a:p>
            <a:r>
              <a:rPr lang="en-GB" dirty="0"/>
              <a:t>Example: FC = MWK 7,000,000;</a:t>
            </a:r>
          </a:p>
          <a:p>
            <a:r>
              <a:rPr lang="en-GB" dirty="0"/>
              <a:t> VC = MWK 3,500,000</a:t>
            </a:r>
          </a:p>
          <a:p>
            <a:r>
              <a:rPr lang="en-GB" dirty="0"/>
              <a:t> Revenue = MWK 15,000,000</a:t>
            </a:r>
          </a:p>
          <a:p>
            <a:r>
              <a:rPr lang="en-GB" dirty="0"/>
              <a:t>Total Costs = FC + VC = MWK 7,000,000 + MWK 3,500,000 = MWK 10,500,000</a:t>
            </a:r>
          </a:p>
          <a:p>
            <a:r>
              <a:rPr lang="en-GB" dirty="0"/>
              <a:t>Net Benefits = Revenue - Total Costs = MWK 15,000,000 - MWK 10,500,000 = MWK 4,500,000</a:t>
            </a:r>
          </a:p>
          <a:p>
            <a:endParaRPr lang="en-GB" dirty="0"/>
          </a:p>
          <a:p>
            <a:pPr marL="0" indent="0">
              <a:buNone/>
            </a:pPr>
            <a:r>
              <a:rPr lang="en-GB" dirty="0"/>
              <a:t>Future cash flows should be discounted to reflect their present value </a:t>
            </a:r>
          </a:p>
          <a:p>
            <a:pPr marL="0" indent="0">
              <a:buNone/>
            </a:pPr>
            <a:r>
              <a:rPr lang="en-GB" dirty="0"/>
              <a:t>why? </a:t>
            </a:r>
          </a:p>
        </p:txBody>
      </p:sp>
    </p:spTree>
    <p:extLst>
      <p:ext uri="{BB962C8B-B14F-4D97-AF65-F5344CB8AC3E}">
        <p14:creationId xmlns:p14="http://schemas.microsoft.com/office/powerpoint/2010/main" val="2538424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61DC3-4B97-8CBD-F9B9-71EE7CA740BA}"/>
              </a:ext>
            </a:extLst>
          </p:cNvPr>
          <p:cNvSpPr>
            <a:spLocks noGrp="1"/>
          </p:cNvSpPr>
          <p:nvPr>
            <p:ph idx="1"/>
          </p:nvPr>
        </p:nvSpPr>
        <p:spPr>
          <a:xfrm>
            <a:off x="469900" y="843017"/>
            <a:ext cx="10947400" cy="5227584"/>
          </a:xfrm>
        </p:spPr>
        <p:txBody>
          <a:bodyPr>
            <a:noAutofit/>
          </a:bodyPr>
          <a:lstStyle/>
          <a:p>
            <a:r>
              <a:rPr lang="en-GB" sz="2000" dirty="0">
                <a:latin typeface="Times New Roman" panose="02020603050405020304" pitchFamily="18" charset="0"/>
                <a:cs typeface="Times New Roman" panose="02020603050405020304" pitchFamily="18" charset="0"/>
              </a:rPr>
              <a:t>Discounting is a financial technique used to adjust the value of future cash flows (like costs or benefits) to reflect their value in today's terms, known as present value.  </a:t>
            </a:r>
          </a:p>
          <a:p>
            <a:r>
              <a:rPr lang="en-GB" sz="2000" dirty="0">
                <a:latin typeface="Times New Roman" panose="02020603050405020304" pitchFamily="18" charset="0"/>
                <a:cs typeface="Times New Roman" panose="02020603050405020304" pitchFamily="18" charset="0"/>
              </a:rPr>
              <a:t>why it's </a:t>
            </a:r>
            <a:r>
              <a:rPr lang="en-GB" sz="2000" dirty="0" smtClean="0">
                <a:latin typeface="Times New Roman" panose="02020603050405020304" pitchFamily="18" charset="0"/>
                <a:cs typeface="Times New Roman" panose="02020603050405020304" pitchFamily="18" charset="0"/>
              </a:rPr>
              <a:t>important, below are </a:t>
            </a:r>
            <a:r>
              <a:rPr lang="en-US" sz="2000" dirty="0" smtClean="0">
                <a:latin typeface="Times New Roman" panose="02020603050405020304" pitchFamily="18" charset="0"/>
                <a:cs typeface="Times New Roman" panose="02020603050405020304" pitchFamily="18" charset="0"/>
              </a:rPr>
              <a:t>answers </a:t>
            </a:r>
            <a:endParaRPr lang="en-GB" sz="2000" dirty="0">
              <a:latin typeface="Times New Roman" panose="02020603050405020304" pitchFamily="18" charset="0"/>
              <a:cs typeface="Times New Roman" panose="02020603050405020304" pitchFamily="18" charset="0"/>
            </a:endParaRPr>
          </a:p>
          <a:p>
            <a:pPr marL="0" indent="0">
              <a:buNone/>
            </a:pPr>
            <a:r>
              <a:rPr lang="en-GB" sz="2000" b="1" dirty="0">
                <a:latin typeface="Times New Roman" panose="02020603050405020304" pitchFamily="18" charset="0"/>
                <a:cs typeface="Times New Roman" panose="02020603050405020304" pitchFamily="18" charset="0"/>
              </a:rPr>
              <a:t>Time Value of Money</a:t>
            </a:r>
            <a:r>
              <a:rPr lang="en-GB" sz="2000" dirty="0">
                <a:latin typeface="Times New Roman" panose="02020603050405020304" pitchFamily="18" charset="0"/>
                <a:cs typeface="Times New Roman" panose="02020603050405020304" pitchFamily="18" charset="0"/>
              </a:rPr>
              <a:t>: </a:t>
            </a:r>
            <a:endParaRPr lang="en-GB" sz="2000" dirty="0" smtClean="0">
              <a:latin typeface="Times New Roman" panose="02020603050405020304" pitchFamily="18" charset="0"/>
              <a:cs typeface="Times New Roman" panose="02020603050405020304" pitchFamily="18" charset="0"/>
            </a:endParaRPr>
          </a:p>
          <a:p>
            <a:pPr marL="0" indent="0">
              <a:buNone/>
            </a:pPr>
            <a:r>
              <a:rPr lang="en-GB" sz="2000" dirty="0" smtClean="0">
                <a:latin typeface="Times New Roman" panose="02020603050405020304" pitchFamily="18" charset="0"/>
                <a:cs typeface="Times New Roman" panose="02020603050405020304" pitchFamily="18" charset="0"/>
              </a:rPr>
              <a:t>Money </a:t>
            </a:r>
            <a:r>
              <a:rPr lang="en-GB" sz="2000" dirty="0">
                <a:latin typeface="Times New Roman" panose="02020603050405020304" pitchFamily="18" charset="0"/>
                <a:cs typeface="Times New Roman" panose="02020603050405020304" pitchFamily="18" charset="0"/>
              </a:rPr>
              <a:t>today is worth more than the same amount in the future because money can be invested </a:t>
            </a:r>
            <a:r>
              <a:rPr lang="en-GB" sz="2000" dirty="0" smtClean="0">
                <a:latin typeface="Times New Roman" panose="02020603050405020304" pitchFamily="18" charset="0"/>
                <a:cs typeface="Times New Roman" panose="02020603050405020304" pitchFamily="18" charset="0"/>
              </a:rPr>
              <a:t>to earn </a:t>
            </a:r>
            <a:r>
              <a:rPr lang="en-GB" sz="2000" dirty="0">
                <a:latin typeface="Times New Roman" panose="02020603050405020304" pitchFamily="18" charset="0"/>
                <a:cs typeface="Times New Roman" panose="02020603050405020304" pitchFamily="18" charset="0"/>
              </a:rPr>
              <a:t>interest or returns.</a:t>
            </a:r>
          </a:p>
          <a:p>
            <a:r>
              <a:rPr lang="en-GB" sz="2000" dirty="0">
                <a:latin typeface="Times New Roman" panose="02020603050405020304" pitchFamily="18" charset="0"/>
                <a:cs typeface="Times New Roman" panose="02020603050405020304" pitchFamily="18" charset="0"/>
              </a:rPr>
              <a:t>Imagine you are deciding whether to invest MWK 40,000,000 today for a project that will give you MWK 12,000,000 per year for 5 years. </a:t>
            </a:r>
            <a:endParaRPr lang="en-GB" sz="2000" dirty="0" smtClean="0">
              <a:latin typeface="Times New Roman" panose="02020603050405020304" pitchFamily="18" charset="0"/>
              <a:cs typeface="Times New Roman" panose="02020603050405020304" pitchFamily="18" charset="0"/>
            </a:endParaRPr>
          </a:p>
          <a:p>
            <a:r>
              <a:rPr lang="en-GB" sz="2000" dirty="0" smtClean="0">
                <a:latin typeface="Times New Roman" panose="02020603050405020304" pitchFamily="18" charset="0"/>
                <a:cs typeface="Times New Roman" panose="02020603050405020304" pitchFamily="18" charset="0"/>
              </a:rPr>
              <a:t>If </a:t>
            </a:r>
            <a:r>
              <a:rPr lang="en-GB" sz="2000" dirty="0">
                <a:latin typeface="Times New Roman" panose="02020603050405020304" pitchFamily="18" charset="0"/>
                <a:cs typeface="Times New Roman" panose="02020603050405020304" pitchFamily="18" charset="0"/>
              </a:rPr>
              <a:t>you don't discount, it may seem like a simple comparison: MWK 12,000,000 × 5 = MWK 60,000,000 in total benefits, which looks like a good profit over MWK 40,000,000</a:t>
            </a:r>
            <a:r>
              <a:rPr lang="en-GB" sz="2000" dirty="0" smtClean="0">
                <a:latin typeface="Times New Roman" panose="02020603050405020304" pitchFamily="18" charset="0"/>
                <a:cs typeface="Times New Roman" panose="02020603050405020304" pitchFamily="18" charset="0"/>
              </a:rPr>
              <a:t>.</a:t>
            </a:r>
          </a:p>
          <a:p>
            <a:r>
              <a:rPr lang="en-GB" sz="2000" dirty="0" smtClean="0">
                <a:latin typeface="Times New Roman" panose="02020603050405020304" pitchFamily="18" charset="0"/>
                <a:cs typeface="Times New Roman" panose="02020603050405020304" pitchFamily="18" charset="0"/>
              </a:rPr>
              <a:t>However</a:t>
            </a:r>
            <a:r>
              <a:rPr lang="en-GB" sz="2000" dirty="0">
                <a:latin typeface="Times New Roman" panose="02020603050405020304" pitchFamily="18" charset="0"/>
                <a:cs typeface="Times New Roman" panose="02020603050405020304" pitchFamily="18" charset="0"/>
              </a:rPr>
              <a:t>, receiving MWK 12,000,000 over time is not the same as receiving MWK 60,000,000 upfront today. </a:t>
            </a:r>
            <a:endParaRPr lang="en-GB" sz="2000" dirty="0" smtClean="0">
              <a:latin typeface="Times New Roman" panose="02020603050405020304" pitchFamily="18" charset="0"/>
              <a:cs typeface="Times New Roman" panose="02020603050405020304" pitchFamily="18" charset="0"/>
            </a:endParaRPr>
          </a:p>
          <a:p>
            <a:r>
              <a:rPr lang="en-GB" sz="2000" dirty="0" smtClean="0">
                <a:latin typeface="Times New Roman" panose="02020603050405020304" pitchFamily="18" charset="0"/>
                <a:cs typeface="Times New Roman" panose="02020603050405020304" pitchFamily="18" charset="0"/>
              </a:rPr>
              <a:t>Discounting </a:t>
            </a:r>
            <a:r>
              <a:rPr lang="en-GB" sz="2000" dirty="0">
                <a:latin typeface="Times New Roman" panose="02020603050405020304" pitchFamily="18" charset="0"/>
                <a:cs typeface="Times New Roman" panose="02020603050405020304" pitchFamily="18" charset="0"/>
              </a:rPr>
              <a:t>adjusts these future cash flows to reflect their true value in today's terms, so you can make an informed decision</a:t>
            </a:r>
            <a:r>
              <a:rPr lang="en-GB" sz="2000" dirty="0" smtClean="0">
                <a:latin typeface="Times New Roman" panose="02020603050405020304" pitchFamily="18" charset="0"/>
                <a:cs typeface="Times New Roman" panose="02020603050405020304" pitchFamily="18" charset="0"/>
              </a:rPr>
              <a:t>.</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8409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762000" y="256558"/>
            <a:ext cx="10229653" cy="5686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lphaLcParen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Time value of money</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Money today can be invested to earn interest, so it is worth more than the same amount received in the future.</a:t>
            </a:r>
          </a:p>
          <a:p>
            <a:pPr marL="342900" marR="0" lvl="0" indent="-342900" algn="l" defTabSz="914400" rtl="0" eaLnBrk="0" fontAlgn="base" latinLnBrk="0" hangingPunct="0">
              <a:lnSpc>
                <a:spcPct val="150000"/>
              </a:lnSpc>
              <a:spcBef>
                <a:spcPct val="0"/>
              </a:spcBef>
              <a:spcAft>
                <a:spcPct val="0"/>
              </a:spcAft>
              <a:buClrTx/>
              <a:buSzTx/>
              <a:buFont typeface="+mj-lt"/>
              <a:buAutoNum type="alphaLcParen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Inflation</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Future money will buy less because prices tend to rise over time.</a:t>
            </a:r>
          </a:p>
          <a:p>
            <a:pPr marL="342900" marR="0" lvl="0" indent="-342900" algn="l" defTabSz="914400" rtl="0" eaLnBrk="0" fontAlgn="base" latinLnBrk="0" hangingPunct="0">
              <a:lnSpc>
                <a:spcPct val="150000"/>
              </a:lnSpc>
              <a:spcBef>
                <a:spcPct val="0"/>
              </a:spcBef>
              <a:spcAft>
                <a:spcPct val="0"/>
              </a:spcAft>
              <a:buClrTx/>
              <a:buSzTx/>
              <a:buFont typeface="+mj-lt"/>
              <a:buAutoNum type="alphaLcParen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Fair decision-making</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It allows businesses, governments, and individuals to fairly compare projects or investments that have costs and benefits spread over many years.</a:t>
            </a:r>
          </a:p>
          <a:p>
            <a:pPr marL="342900" marR="0" lvl="0" indent="-342900" algn="l" defTabSz="914400" rtl="0" eaLnBrk="0" fontAlgn="base" latinLnBrk="0" hangingPunct="0">
              <a:lnSpc>
                <a:spcPct val="150000"/>
              </a:lnSpc>
              <a:spcBef>
                <a:spcPct val="0"/>
              </a:spcBef>
              <a:spcAft>
                <a:spcPct val="0"/>
              </a:spcAft>
              <a:buClrTx/>
              <a:buSzTx/>
              <a:buFont typeface="+mj-lt"/>
              <a:buAutoNum type="alphaLcParen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Resource allocation</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Helps identify which projects give the best return or value when resources are limited.</a:t>
            </a:r>
          </a:p>
          <a:p>
            <a:pPr marL="342900" marR="0" lvl="0" indent="-342900" algn="l" defTabSz="914400" rtl="0" eaLnBrk="0" fontAlgn="base" latinLnBrk="0" hangingPunct="0">
              <a:lnSpc>
                <a:spcPct val="150000"/>
              </a:lnSpc>
              <a:spcBef>
                <a:spcPct val="0"/>
              </a:spcBef>
              <a:spcAft>
                <a:spcPct val="0"/>
              </a:spcAft>
              <a:buClrTx/>
              <a:buSzTx/>
              <a:buFont typeface="+mj-lt"/>
              <a:buAutoNum type="alphaLcParenR"/>
              <a:tabLst/>
            </a:pPr>
            <a:r>
              <a:rPr lang="en-GB" sz="1800" b="1" dirty="0" smtClean="0">
                <a:latin typeface="Times New Roman" panose="02020603050405020304" pitchFamily="18" charset="0"/>
                <a:cs typeface="Times New Roman" panose="02020603050405020304" pitchFamily="18" charset="0"/>
              </a:rPr>
              <a:t>Risk and </a:t>
            </a:r>
            <a:r>
              <a:rPr lang="en-GB" sz="1800" dirty="0" smtClean="0">
                <a:latin typeface="Times New Roman" panose="02020603050405020304" pitchFamily="18" charset="0"/>
                <a:cs typeface="Times New Roman" panose="02020603050405020304" pitchFamily="18" charset="0"/>
              </a:rPr>
              <a:t>Uncertainty There's also more risk and uncertainty with future cash flows. </a:t>
            </a:r>
          </a:p>
          <a:p>
            <a:pPr marL="457200" lvl="1" indent="0">
              <a:lnSpc>
                <a:spcPct val="150000"/>
              </a:lnSpc>
              <a:buNone/>
            </a:pPr>
            <a:r>
              <a:rPr lang="en-GB" sz="1800" dirty="0" smtClean="0">
                <a:latin typeface="Times New Roman" panose="02020603050405020304" pitchFamily="18" charset="0"/>
                <a:cs typeface="Times New Roman" panose="02020603050405020304" pitchFamily="18" charset="0"/>
              </a:rPr>
              <a:t>The further into the future you go, the more things can change (inflation, market fluctuations, risks). </a:t>
            </a:r>
          </a:p>
          <a:p>
            <a:pPr marL="457200" lvl="1" indent="0">
              <a:lnSpc>
                <a:spcPct val="150000"/>
              </a:lnSpc>
              <a:buNone/>
            </a:pPr>
            <a:r>
              <a:rPr lang="en-GB" sz="1800" dirty="0" smtClean="0">
                <a:latin typeface="Times New Roman" panose="02020603050405020304" pitchFamily="18" charset="0"/>
                <a:cs typeface="Times New Roman" panose="02020603050405020304" pitchFamily="18" charset="0"/>
              </a:rPr>
              <a:t>Discounting adjusts for this uncertainty by lowering the present value of future money.</a:t>
            </a:r>
          </a:p>
          <a:p>
            <a:pPr marL="457200" lvl="1" indent="0">
              <a:lnSpc>
                <a:spcPct val="150000"/>
              </a:lnSpc>
              <a:buNone/>
            </a:pPr>
            <a:r>
              <a:rPr lang="en-GB" sz="1800" dirty="0" smtClean="0">
                <a:latin typeface="Times New Roman" panose="02020603050405020304" pitchFamily="18" charset="0"/>
                <a:cs typeface="Times New Roman" panose="02020603050405020304" pitchFamily="18" charset="0"/>
              </a:rPr>
              <a:t>When we discount future cash flows, we reduce them based on a discount rate (usually a percentage like 5%). </a:t>
            </a:r>
          </a:p>
          <a:p>
            <a:pPr marL="342900" marR="0" lvl="0" indent="-342900" algn="l" defTabSz="914400" rtl="0" eaLnBrk="0" fontAlgn="base" latinLnBrk="0" hangingPunct="0">
              <a:lnSpc>
                <a:spcPct val="150000"/>
              </a:lnSpc>
              <a:spcBef>
                <a:spcPct val="0"/>
              </a:spcBef>
              <a:spcAft>
                <a:spcPct val="0"/>
              </a:spcAft>
              <a:buClrTx/>
              <a:buSzTx/>
              <a:buFont typeface="+mj-lt"/>
              <a:buAutoNum type="alphaLcParenR"/>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6369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566DCD-F612-72B7-992E-AEA5A59B6967}"/>
              </a:ext>
            </a:extLst>
          </p:cNvPr>
          <p:cNvSpPr>
            <a:spLocks noGrp="1"/>
          </p:cNvSpPr>
          <p:nvPr>
            <p:ph idx="1"/>
          </p:nvPr>
        </p:nvSpPr>
        <p:spPr>
          <a:xfrm>
            <a:off x="814754" y="841636"/>
            <a:ext cx="10515600" cy="5301256"/>
          </a:xfrm>
        </p:spPr>
        <p:txBody>
          <a:bodyPr>
            <a:normAutofit fontScale="92500" lnSpcReduction="10000"/>
          </a:bodyPr>
          <a:lstStyle/>
          <a:p>
            <a:pPr>
              <a:lnSpc>
                <a:spcPct val="150000"/>
              </a:lnSpc>
            </a:pPr>
            <a:r>
              <a:rPr lang="en-GB" sz="2400" dirty="0">
                <a:latin typeface="Times New Roman" panose="02020603050405020304" pitchFamily="18" charset="0"/>
                <a:cs typeface="Times New Roman" panose="02020603050405020304" pitchFamily="18" charset="0"/>
              </a:rPr>
              <a:t>For example, MWK 12,000,000 in five years is not worth the same as MWK 12,000,000 today. By discounting it, we calculate its value in today's terms to determine whether the project is still profitable when considering time.</a:t>
            </a:r>
          </a:p>
          <a:p>
            <a:pPr marL="0" indent="0">
              <a:lnSpc>
                <a:spcPct val="150000"/>
              </a:lnSpc>
              <a:buNone/>
            </a:pPr>
            <a:r>
              <a:rPr lang="en-GB" sz="2400" b="1" dirty="0">
                <a:latin typeface="Times New Roman" panose="02020603050405020304" pitchFamily="18" charset="0"/>
                <a:cs typeface="Times New Roman" panose="02020603050405020304" pitchFamily="18" charset="0"/>
              </a:rPr>
              <a:t>EXAMPLE</a:t>
            </a:r>
          </a:p>
          <a:p>
            <a:pPr>
              <a:lnSpc>
                <a:spcPct val="150000"/>
              </a:lnSpc>
            </a:pPr>
            <a:r>
              <a:rPr lang="en-GB" sz="2400" dirty="0" smtClean="0">
                <a:latin typeface="Times New Roman" panose="02020603050405020304" pitchFamily="18" charset="0"/>
                <a:cs typeface="Times New Roman" panose="02020603050405020304" pitchFamily="18" charset="0"/>
              </a:rPr>
              <a:t>Calculating </a:t>
            </a:r>
            <a:r>
              <a:rPr lang="en-GB" sz="2400" dirty="0">
                <a:latin typeface="Times New Roman" panose="02020603050405020304" pitchFamily="18" charset="0"/>
                <a:cs typeface="Times New Roman" panose="02020603050405020304" pitchFamily="18" charset="0"/>
              </a:rPr>
              <a:t>the Net Present Value (NPV) of a macadamia </a:t>
            </a:r>
            <a:r>
              <a:rPr lang="en-GB" sz="2400" dirty="0" smtClean="0">
                <a:latin typeface="Times New Roman" panose="02020603050405020304" pitchFamily="18" charset="0"/>
                <a:cs typeface="Times New Roman" panose="02020603050405020304" pitchFamily="18" charset="0"/>
              </a:rPr>
              <a:t>plantation.</a:t>
            </a:r>
          </a:p>
          <a:p>
            <a:pPr>
              <a:lnSpc>
                <a:spcPct val="150000"/>
              </a:lnSpc>
            </a:pPr>
            <a:r>
              <a:rPr lang="en-GB" sz="2400" dirty="0" smtClean="0">
                <a:latin typeface="Times New Roman" panose="02020603050405020304" pitchFamily="18" charset="0"/>
                <a:cs typeface="Times New Roman" panose="02020603050405020304" pitchFamily="18" charset="0"/>
              </a:rPr>
              <a:t>Initial </a:t>
            </a:r>
            <a:r>
              <a:rPr lang="en-GB" sz="2400" dirty="0">
                <a:latin typeface="Times New Roman" panose="02020603050405020304" pitchFamily="18" charset="0"/>
                <a:cs typeface="Times New Roman" panose="02020603050405020304" pitchFamily="18" charset="0"/>
              </a:rPr>
              <a:t>Investment (land, seedlings, irrigation system): MWK </a:t>
            </a:r>
            <a:r>
              <a:rPr lang="en-GB" sz="2400" dirty="0" smtClean="0">
                <a:latin typeface="Times New Roman" panose="02020603050405020304" pitchFamily="18" charset="0"/>
                <a:cs typeface="Times New Roman" panose="02020603050405020304" pitchFamily="18" charset="0"/>
              </a:rPr>
              <a:t>40,000,000</a:t>
            </a:r>
            <a:endParaRPr lang="en-GB" sz="2400" dirty="0">
              <a:latin typeface="Times New Roman" panose="02020603050405020304" pitchFamily="18" charset="0"/>
              <a:cs typeface="Times New Roman" panose="02020603050405020304" pitchFamily="18" charset="0"/>
            </a:endParaRPr>
          </a:p>
          <a:p>
            <a:pPr>
              <a:lnSpc>
                <a:spcPct val="150000"/>
              </a:lnSpc>
            </a:pPr>
            <a:r>
              <a:rPr lang="en-GB" sz="2400" dirty="0" smtClean="0">
                <a:latin typeface="Times New Roman" panose="02020603050405020304" pitchFamily="18" charset="0"/>
                <a:cs typeface="Times New Roman" panose="02020603050405020304" pitchFamily="18" charset="0"/>
              </a:rPr>
              <a:t>Annual </a:t>
            </a:r>
            <a:r>
              <a:rPr lang="en-GB" sz="2400" dirty="0">
                <a:latin typeface="Times New Roman" panose="02020603050405020304" pitchFamily="18" charset="0"/>
                <a:cs typeface="Times New Roman" panose="02020603050405020304" pitchFamily="18" charset="0"/>
              </a:rPr>
              <a:t>Benefits (revenue from harvest): MWK 12,000,000 for 5 years </a:t>
            </a:r>
            <a:endParaRPr lang="en-GB" sz="2400" dirty="0" smtClean="0">
              <a:latin typeface="Times New Roman" panose="02020603050405020304" pitchFamily="18" charset="0"/>
              <a:cs typeface="Times New Roman" panose="02020603050405020304" pitchFamily="18" charset="0"/>
            </a:endParaRPr>
          </a:p>
          <a:p>
            <a:pPr>
              <a:lnSpc>
                <a:spcPct val="150000"/>
              </a:lnSpc>
            </a:pPr>
            <a:r>
              <a:rPr lang="en-GB" sz="2400" dirty="0" smtClean="0">
                <a:latin typeface="Times New Roman" panose="02020603050405020304" pitchFamily="18" charset="0"/>
                <a:cs typeface="Times New Roman" panose="02020603050405020304" pitchFamily="18" charset="0"/>
              </a:rPr>
              <a:t>Discount </a:t>
            </a:r>
            <a:r>
              <a:rPr lang="en-GB" sz="2400" dirty="0">
                <a:latin typeface="Times New Roman" panose="02020603050405020304" pitchFamily="18" charset="0"/>
                <a:cs typeface="Times New Roman" panose="02020603050405020304" pitchFamily="18" charset="0"/>
              </a:rPr>
              <a:t>Rate: 5% (This adjusts future values to the </a:t>
            </a:r>
            <a:r>
              <a:rPr lang="en-GB" sz="2400" dirty="0" smtClean="0">
                <a:latin typeface="Times New Roman" panose="02020603050405020304" pitchFamily="18" charset="0"/>
                <a:cs typeface="Times New Roman" panose="02020603050405020304" pitchFamily="18" charset="0"/>
              </a:rPr>
              <a:t>present)</a:t>
            </a:r>
          </a:p>
          <a:p>
            <a:pPr>
              <a:lnSpc>
                <a:spcPct val="150000"/>
              </a:lnSpc>
            </a:pPr>
            <a:r>
              <a:rPr lang="en-GB" sz="2400" dirty="0" smtClean="0">
                <a:latin typeface="Times New Roman" panose="02020603050405020304" pitchFamily="18" charset="0"/>
                <a:cs typeface="Times New Roman" panose="02020603050405020304" pitchFamily="18" charset="0"/>
              </a:rPr>
              <a:t>Discounting</a:t>
            </a:r>
            <a:r>
              <a:rPr lang="en-GB" sz="2400" dirty="0">
                <a:latin typeface="Times New Roman" panose="02020603050405020304" pitchFamily="18" charset="0"/>
                <a:cs typeface="Times New Roman" panose="02020603050405020304" pitchFamily="18" charset="0"/>
              </a:rPr>
              <a:t>: In order to find the present value of future </a:t>
            </a:r>
            <a:r>
              <a:rPr lang="en-GB" sz="2400" dirty="0" smtClean="0">
                <a:latin typeface="Times New Roman" panose="02020603050405020304" pitchFamily="18" charset="0"/>
                <a:cs typeface="Times New Roman" panose="02020603050405020304" pitchFamily="18" charset="0"/>
              </a:rPr>
              <a:t>benefits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6753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0206066-7A2C-6D1D-9A88-553C5ADB77A2}"/>
                  </a:ext>
                </a:extLst>
              </p:cNvPr>
              <p:cNvSpPr>
                <a:spLocks noGrp="1"/>
              </p:cNvSpPr>
              <p:nvPr>
                <p:ph idx="1"/>
              </p:nvPr>
            </p:nvSpPr>
            <p:spPr>
              <a:xfrm>
                <a:off x="558800" y="0"/>
                <a:ext cx="10795000" cy="6146800"/>
              </a:xfrm>
            </p:spPr>
            <p:txBody>
              <a:bodyPr>
                <a:normAutofit fontScale="55000" lnSpcReduction="20000"/>
              </a:bodyPr>
              <a:lstStyle/>
              <a:p>
                <a:pPr marL="0" indent="0">
                  <a:lnSpc>
                    <a:spcPct val="170000"/>
                  </a:lnSpc>
                  <a:buNone/>
                </a:pPr>
                <a:r>
                  <a:rPr lang="en-GB" sz="3600" dirty="0" smtClean="0">
                    <a:latin typeface="Times New Roman" panose="02020603050405020304" pitchFamily="18" charset="0"/>
                    <a:cs typeface="Times New Roman" panose="02020603050405020304" pitchFamily="18" charset="0"/>
                  </a:rPr>
                  <a:t>Present Value (PV) =</a:t>
                </a:r>
                <a:r>
                  <a:rPr lang="en-GB" sz="3600" dirty="0">
                    <a:latin typeface="Times New Roman" panose="02020603050405020304" pitchFamily="18" charset="0"/>
                    <a:cs typeface="Times New Roman" panose="02020603050405020304" pitchFamily="18" charset="0"/>
                  </a:rPr>
                  <a:t> </a:t>
                </a:r>
                <a14:m>
                  <m:oMath xmlns:m="http://schemas.openxmlformats.org/officeDocument/2006/math">
                    <m:r>
                      <a:rPr lang="en-US" sz="3600" b="0" i="0" smtClean="0">
                        <a:latin typeface="Cambria Math" panose="02040503050406030204" pitchFamily="18" charset="0"/>
                        <a:cs typeface="Times New Roman" panose="02020603050405020304" pitchFamily="18" charset="0"/>
                      </a:rPr>
                      <m:t> </m:t>
                    </m:r>
                    <m:f>
                      <m:fPr>
                        <m:ctrlPr>
                          <a:rPr lang="en-GB" sz="3600" i="1" smtClean="0">
                            <a:latin typeface="Cambria Math" panose="02040503050406030204" pitchFamily="18" charset="0"/>
                            <a:cs typeface="Times New Roman" panose="02020603050405020304" pitchFamily="18" charset="0"/>
                          </a:rPr>
                        </m:ctrlPr>
                      </m:fPr>
                      <m:num>
                        <m:r>
                          <m:rPr>
                            <m:nor/>
                          </m:rPr>
                          <a:rPr lang="en-GB" sz="3600" dirty="0" smtClean="0">
                            <a:latin typeface="Times New Roman" panose="02020603050405020304" pitchFamily="18" charset="0"/>
                            <a:cs typeface="Times New Roman" panose="02020603050405020304" pitchFamily="18" charset="0"/>
                          </a:rPr>
                          <m:t>Future</m:t>
                        </m:r>
                        <m:r>
                          <m:rPr>
                            <m:nor/>
                          </m:rPr>
                          <a:rPr lang="en-US" sz="3600" b="0" i="0" dirty="0" smtClean="0">
                            <a:latin typeface="Times New Roman" panose="02020603050405020304" pitchFamily="18" charset="0"/>
                            <a:cs typeface="Times New Roman" panose="02020603050405020304" pitchFamily="18" charset="0"/>
                          </a:rPr>
                          <m:t> </m:t>
                        </m:r>
                        <m:r>
                          <m:rPr>
                            <m:nor/>
                          </m:rPr>
                          <a:rPr lang="en-US" sz="3600" b="0" i="0" dirty="0" smtClean="0">
                            <a:latin typeface="Times New Roman" panose="02020603050405020304" pitchFamily="18" charset="0"/>
                            <a:cs typeface="Times New Roman" panose="02020603050405020304" pitchFamily="18" charset="0"/>
                          </a:rPr>
                          <m:t>value</m:t>
                        </m:r>
                      </m:num>
                      <m:den>
                        <m:r>
                          <m:rPr>
                            <m:nor/>
                          </m:rPr>
                          <a:rPr lang="en-US" sz="3600" b="0" i="0" smtClean="0">
                            <a:latin typeface="Cambria Math" panose="02040503050406030204" pitchFamily="18" charset="0"/>
                            <a:cs typeface="Times New Roman" panose="02020603050405020304" pitchFamily="18" charset="0"/>
                          </a:rPr>
                          <m:t>(</m:t>
                        </m:r>
                        <m:r>
                          <m:rPr>
                            <m:nor/>
                          </m:rPr>
                          <a:rPr lang="en-GB" sz="3600" dirty="0" smtClean="0">
                            <a:latin typeface="Times New Roman" panose="02020603050405020304" pitchFamily="18" charset="0"/>
                            <a:cs typeface="Times New Roman" panose="02020603050405020304" pitchFamily="18" charset="0"/>
                          </a:rPr>
                          <m:t>1+</m:t>
                        </m:r>
                        <m:r>
                          <m:rPr>
                            <m:nor/>
                          </m:rPr>
                          <a:rPr lang="en-GB" sz="3600" dirty="0" smtClean="0">
                            <a:latin typeface="Times New Roman" panose="02020603050405020304" pitchFamily="18" charset="0"/>
                            <a:cs typeface="Times New Roman" panose="02020603050405020304" pitchFamily="18" charset="0"/>
                          </a:rPr>
                          <m:t>Discount</m:t>
                        </m:r>
                        <m:r>
                          <m:rPr>
                            <m:nor/>
                          </m:rPr>
                          <a:rPr lang="en-GB" sz="3600" dirty="0" smtClean="0">
                            <a:latin typeface="Times New Roman" panose="02020603050405020304" pitchFamily="18" charset="0"/>
                            <a:cs typeface="Times New Roman" panose="02020603050405020304" pitchFamily="18" charset="0"/>
                          </a:rPr>
                          <m:t> </m:t>
                        </m:r>
                        <m:r>
                          <m:rPr>
                            <m:nor/>
                          </m:rPr>
                          <a:rPr lang="en-GB" sz="3600" dirty="0" smtClean="0">
                            <a:latin typeface="Times New Roman" panose="02020603050405020304" pitchFamily="18" charset="0"/>
                            <a:cs typeface="Times New Roman" panose="02020603050405020304" pitchFamily="18" charset="0"/>
                          </a:rPr>
                          <m:t>Rate</m:t>
                        </m:r>
                        <m:r>
                          <m:rPr>
                            <m:nor/>
                          </m:rPr>
                          <a:rPr lang="en-GB" sz="3600" dirty="0" smtClean="0">
                            <a:latin typeface="Times New Roman" panose="02020603050405020304" pitchFamily="18" charset="0"/>
                            <a:cs typeface="Times New Roman" panose="02020603050405020304" pitchFamily="18" charset="0"/>
                          </a:rPr>
                          <m:t>)</m:t>
                        </m:r>
                        <m:r>
                          <m:rPr>
                            <m:nor/>
                          </m:rPr>
                          <a:rPr lang="en-GB" sz="3600" dirty="0" smtClean="0">
                            <a:latin typeface="Times New Roman" panose="02020603050405020304" pitchFamily="18" charset="0"/>
                            <a:cs typeface="Times New Roman" panose="02020603050405020304" pitchFamily="18" charset="0"/>
                          </a:rPr>
                          <m:t>𝑡</m:t>
                        </m:r>
                      </m:den>
                    </m:f>
                  </m:oMath>
                </a14:m>
                <a:endParaRPr lang="en-GB" sz="3600" dirty="0">
                  <a:latin typeface="Times New Roman" panose="02020603050405020304" pitchFamily="18" charset="0"/>
                  <a:cs typeface="Times New Roman" panose="02020603050405020304" pitchFamily="18" charset="0"/>
                </a:endParaRPr>
              </a:p>
              <a:p>
                <a:pPr marL="0" indent="0">
                  <a:lnSpc>
                    <a:spcPct val="170000"/>
                  </a:lnSpc>
                  <a:buNone/>
                </a:pPr>
                <a:r>
                  <a:rPr lang="en-GB" dirty="0">
                    <a:latin typeface="Times New Roman" panose="02020603050405020304" pitchFamily="18" charset="0"/>
                    <a:cs typeface="Times New Roman" panose="02020603050405020304" pitchFamily="18" charset="0"/>
                  </a:rPr>
                  <a:t>Future Value = MWK 12,000,000 (Annual Benefits)</a:t>
                </a:r>
              </a:p>
              <a:p>
                <a:pPr marL="0" indent="0">
                  <a:lnSpc>
                    <a:spcPct val="170000"/>
                  </a:lnSpc>
                  <a:buNone/>
                </a:pPr>
                <a:r>
                  <a:rPr lang="en-GB" dirty="0">
                    <a:latin typeface="Times New Roman" panose="02020603050405020304" pitchFamily="18" charset="0"/>
                    <a:cs typeface="Times New Roman" panose="02020603050405020304" pitchFamily="18" charset="0"/>
                  </a:rPr>
                  <a:t>Discount Rate = 5% or 0.05𝑡</a:t>
                </a:r>
              </a:p>
              <a:p>
                <a:pPr marL="0" indent="0">
                  <a:lnSpc>
                    <a:spcPct val="170000"/>
                  </a:lnSpc>
                  <a:buNone/>
                </a:pPr>
                <a:r>
                  <a:rPr lang="en-GB" dirty="0">
                    <a:latin typeface="Times New Roman" panose="02020603050405020304" pitchFamily="18" charset="0"/>
                    <a:cs typeface="Times New Roman" panose="02020603050405020304" pitchFamily="18" charset="0"/>
                  </a:rPr>
                  <a:t>t = year number (1 to 5)</a:t>
                </a:r>
              </a:p>
              <a:p>
                <a:pPr marL="0" indent="0">
                  <a:lnSpc>
                    <a:spcPct val="170000"/>
                  </a:lnSpc>
                  <a:buNone/>
                </a:pPr>
                <a:r>
                  <a:rPr lang="en-GB" dirty="0">
                    <a:latin typeface="Times New Roman" panose="02020603050405020304" pitchFamily="18" charset="0"/>
                    <a:cs typeface="Times New Roman" panose="02020603050405020304" pitchFamily="18" charset="0"/>
                  </a:rPr>
                  <a:t> </a:t>
                </a:r>
                <a:r>
                  <a:rPr lang="en-GB" b="1" dirty="0">
                    <a:solidFill>
                      <a:srgbClr val="FF0000"/>
                    </a:solidFill>
                    <a:latin typeface="Times New Roman" panose="02020603050405020304" pitchFamily="18" charset="0"/>
                    <a:cs typeface="Times New Roman" panose="02020603050405020304" pitchFamily="18" charset="0"/>
                  </a:rPr>
                  <a:t>Calculation</a:t>
                </a:r>
              </a:p>
              <a:p>
                <a:pPr>
                  <a:lnSpc>
                    <a:spcPct val="170000"/>
                  </a:lnSpc>
                </a:pPr>
                <a:r>
                  <a:rPr lang="en-GB" dirty="0">
                    <a:latin typeface="Times New Roman" panose="02020603050405020304" pitchFamily="18" charset="0"/>
                    <a:cs typeface="Times New Roman" panose="02020603050405020304" pitchFamily="18" charset="0"/>
                  </a:rPr>
                  <a:t>Year 1: PV = MWK 12,000,000 / (1 + 0.05)^1 = MWK 12,000,000 / 1.05 = MWK 11,428,571</a:t>
                </a:r>
              </a:p>
              <a:p>
                <a:pPr>
                  <a:lnSpc>
                    <a:spcPct val="170000"/>
                  </a:lnSpc>
                </a:pPr>
                <a:r>
                  <a:rPr lang="en-GB" dirty="0">
                    <a:latin typeface="Times New Roman" panose="02020603050405020304" pitchFamily="18" charset="0"/>
                    <a:cs typeface="Times New Roman" panose="02020603050405020304" pitchFamily="18" charset="0"/>
                  </a:rPr>
                  <a:t>Year 2: PV = MWK 12,000,000 / (1.05^2) = MWK 12,000,000 / 1.1025 = MWK 10,884,353</a:t>
                </a:r>
              </a:p>
              <a:p>
                <a:pPr>
                  <a:lnSpc>
                    <a:spcPct val="170000"/>
                  </a:lnSpc>
                </a:pPr>
                <a:r>
                  <a:rPr lang="en-GB" dirty="0">
                    <a:latin typeface="Times New Roman" panose="02020603050405020304" pitchFamily="18" charset="0"/>
                    <a:cs typeface="Times New Roman" panose="02020603050405020304" pitchFamily="18" charset="0"/>
                  </a:rPr>
                  <a:t>Year 3: PV = MWK 12,000,000 / (1.05^3) = MWK 12,000,000 / 1.1576 = MWK 10,366,050</a:t>
                </a:r>
              </a:p>
              <a:p>
                <a:pPr>
                  <a:lnSpc>
                    <a:spcPct val="170000"/>
                  </a:lnSpc>
                </a:pPr>
                <a:r>
                  <a:rPr lang="en-GB" dirty="0">
                    <a:latin typeface="Times New Roman" panose="02020603050405020304" pitchFamily="18" charset="0"/>
                    <a:cs typeface="Times New Roman" panose="02020603050405020304" pitchFamily="18" charset="0"/>
                  </a:rPr>
                  <a:t>Year 4: PV = MWK 12,000,000 / (1.05^4) = MWK 12,000,000 / 1.2155 = MWK 9,871,476</a:t>
                </a:r>
              </a:p>
              <a:p>
                <a:pPr>
                  <a:lnSpc>
                    <a:spcPct val="170000"/>
                  </a:lnSpc>
                </a:pPr>
                <a:r>
                  <a:rPr lang="en-GB" dirty="0">
                    <a:latin typeface="Times New Roman" panose="02020603050405020304" pitchFamily="18" charset="0"/>
                    <a:cs typeface="Times New Roman" panose="02020603050405020304" pitchFamily="18" charset="0"/>
                  </a:rPr>
                  <a:t>Year 5: PV = MWK 12,000,000 / (1.05^5) = MWK 12,000,000 / 1.2763 = MWK 9,400,453</a:t>
                </a:r>
              </a:p>
              <a:p>
                <a:pPr marL="0" indent="0">
                  <a:lnSpc>
                    <a:spcPct val="170000"/>
                  </a:lnSpc>
                  <a:buNone/>
                </a:pPr>
                <a:r>
                  <a:rPr lang="en-GB" dirty="0">
                    <a:latin typeface="Times New Roman" panose="02020603050405020304" pitchFamily="18" charset="0"/>
                    <a:cs typeface="Times New Roman" panose="02020603050405020304" pitchFamily="18" charset="0"/>
                  </a:rPr>
                  <a:t>Total Present Value of </a:t>
                </a:r>
                <a:r>
                  <a:rPr lang="en-GB" dirty="0" smtClean="0">
                    <a:latin typeface="Times New Roman" panose="02020603050405020304" pitchFamily="18" charset="0"/>
                    <a:cs typeface="Times New Roman" panose="02020603050405020304" pitchFamily="18" charset="0"/>
                  </a:rPr>
                  <a:t>Benefits (PV) </a:t>
                </a:r>
                <a:r>
                  <a:rPr lang="en-GB" dirty="0">
                    <a:latin typeface="Times New Roman" panose="02020603050405020304" pitchFamily="18" charset="0"/>
                    <a:cs typeface="Times New Roman" panose="02020603050405020304" pitchFamily="18" charset="0"/>
                  </a:rPr>
                  <a:t>= MWK 11,428,571 + MWK 10,884,353 + MWK 10,366,050 + MWK 9,871,476 + MWK 9,400,453 </a:t>
                </a:r>
                <a:endParaRPr lang="en-GB" dirty="0" smtClean="0">
                  <a:latin typeface="Times New Roman" panose="02020603050405020304" pitchFamily="18" charset="0"/>
                  <a:cs typeface="Times New Roman" panose="02020603050405020304" pitchFamily="18" charset="0"/>
                </a:endParaRPr>
              </a:p>
              <a:p>
                <a:pPr marL="0" indent="0">
                  <a:lnSpc>
                    <a:spcPct val="170000"/>
                  </a:lnSpc>
                  <a:buNone/>
                </a:pP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MWK 51,951,903</a:t>
                </a:r>
              </a:p>
            </p:txBody>
          </p:sp>
        </mc:Choice>
        <mc:Fallback>
          <p:sp>
            <p:nvSpPr>
              <p:cNvPr id="3" name="Content Placeholder 2">
                <a:extLst>
                  <a:ext uri="{FF2B5EF4-FFF2-40B4-BE49-F238E27FC236}">
                    <a16:creationId xmlns:a16="http://schemas.microsoft.com/office/drawing/2014/main" id="{F0206066-7A2C-6D1D-9A88-553C5ADB77A2}"/>
                  </a:ext>
                </a:extLst>
              </p:cNvPr>
              <p:cNvSpPr>
                <a:spLocks noGrp="1" noRot="1" noChangeAspect="1" noMove="1" noResize="1" noEditPoints="1" noAdjustHandles="1" noChangeArrowheads="1" noChangeShapeType="1" noTextEdit="1"/>
              </p:cNvSpPr>
              <p:nvPr>
                <p:ph idx="1"/>
              </p:nvPr>
            </p:nvSpPr>
            <p:spPr>
              <a:xfrm>
                <a:off x="558800" y="0"/>
                <a:ext cx="10795000" cy="6146800"/>
              </a:xfrm>
              <a:blipFill>
                <a:blip r:embed="rId2"/>
                <a:stretch>
                  <a:fillRect l="-621" r="-169"/>
                </a:stretch>
              </a:blipFill>
            </p:spPr>
            <p:txBody>
              <a:bodyPr/>
              <a:lstStyle/>
              <a:p>
                <a:r>
                  <a:rPr lang="en-US">
                    <a:noFill/>
                  </a:rPr>
                  <a:t> </a:t>
                </a:r>
              </a:p>
            </p:txBody>
          </p:sp>
        </mc:Fallback>
      </mc:AlternateContent>
    </p:spTree>
    <p:extLst>
      <p:ext uri="{BB962C8B-B14F-4D97-AF65-F5344CB8AC3E}">
        <p14:creationId xmlns:p14="http://schemas.microsoft.com/office/powerpoint/2010/main" val="395527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33ADC-ACA9-35A9-C7DC-63D88DD92D2D}"/>
              </a:ext>
            </a:extLst>
          </p:cNvPr>
          <p:cNvSpPr>
            <a:spLocks noGrp="1"/>
          </p:cNvSpPr>
          <p:nvPr>
            <p:ph idx="1"/>
          </p:nvPr>
        </p:nvSpPr>
        <p:spPr>
          <a:xfrm>
            <a:off x="838200" y="141890"/>
            <a:ext cx="10515600" cy="6035073"/>
          </a:xfrm>
        </p:spPr>
        <p:txBody>
          <a:bodyPr>
            <a:normAutofit fontScale="85000" lnSpcReduction="20000"/>
          </a:bodyPr>
          <a:lstStyle/>
          <a:p>
            <a:pPr>
              <a:lnSpc>
                <a:spcPct val="150000"/>
              </a:lnSpc>
            </a:pPr>
            <a:r>
              <a:rPr lang="en-GB" dirty="0">
                <a:latin typeface="Times New Roman" panose="02020603050405020304" pitchFamily="18" charset="0"/>
                <a:cs typeface="Times New Roman" panose="02020603050405020304" pitchFamily="18" charset="0"/>
              </a:rPr>
              <a:t>Net Present Value (NPV) Calculation</a:t>
            </a:r>
          </a:p>
          <a:p>
            <a:pPr marL="0" indent="0">
              <a:lnSpc>
                <a:spcPct val="150000"/>
              </a:lnSpc>
              <a:buNone/>
            </a:pPr>
            <a:r>
              <a:rPr lang="en-GB" dirty="0">
                <a:latin typeface="Times New Roman" panose="02020603050405020304" pitchFamily="18" charset="0"/>
                <a:cs typeface="Times New Roman" panose="02020603050405020304" pitchFamily="18" charset="0"/>
              </a:rPr>
              <a:t>NPV = Total Present Value of Benefits - Total Investment</a:t>
            </a:r>
          </a:p>
          <a:p>
            <a:pPr marL="0" indent="0">
              <a:lnSpc>
                <a:spcPct val="150000"/>
              </a:lnSpc>
              <a:buNone/>
            </a:pPr>
            <a:r>
              <a:rPr lang="en-GB" dirty="0">
                <a:latin typeface="Times New Roman" panose="02020603050405020304" pitchFamily="18" charset="0"/>
                <a:cs typeface="Times New Roman" panose="02020603050405020304" pitchFamily="18" charset="0"/>
              </a:rPr>
              <a:t>NPV=MWK51,951,903−</a:t>
            </a:r>
            <a:r>
              <a:rPr lang="en-GB" dirty="0" smtClean="0">
                <a:latin typeface="Times New Roman" panose="02020603050405020304" pitchFamily="18" charset="0"/>
                <a:cs typeface="Times New Roman" panose="02020603050405020304" pitchFamily="18" charset="0"/>
              </a:rPr>
              <a:t>MWK40,000,000</a:t>
            </a:r>
          </a:p>
          <a:p>
            <a:pPr marL="0" indent="0">
              <a:lnSpc>
                <a:spcPct val="150000"/>
              </a:lnSpc>
              <a:buNone/>
            </a:pPr>
            <a:r>
              <a:rPr lang="en-GB" dirty="0" smtClean="0">
                <a:latin typeface="Times New Roman" panose="02020603050405020304" pitchFamily="18" charset="0"/>
                <a:cs typeface="Times New Roman" panose="02020603050405020304" pitchFamily="18" charset="0"/>
              </a:rPr>
              <a:t>        = MWK11,951,903</a:t>
            </a:r>
            <a:endParaRPr lang="en-GB" dirty="0">
              <a:latin typeface="Times New Roman" panose="02020603050405020304" pitchFamily="18" charset="0"/>
              <a:cs typeface="Times New Roman" panose="02020603050405020304" pitchFamily="18" charset="0"/>
            </a:endParaRPr>
          </a:p>
          <a:p>
            <a:pPr marL="0" indent="0">
              <a:lnSpc>
                <a:spcPct val="150000"/>
              </a:lnSpc>
              <a:buNone/>
            </a:pPr>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Interpretation of Results</a:t>
            </a:r>
          </a:p>
          <a:p>
            <a:pPr marL="0" indent="0">
              <a:lnSpc>
                <a:spcPct val="150000"/>
              </a:lnSpc>
              <a:buNone/>
            </a:pPr>
            <a:r>
              <a:rPr lang="en-GB" dirty="0">
                <a:latin typeface="Times New Roman" panose="02020603050405020304" pitchFamily="18" charset="0"/>
                <a:cs typeface="Times New Roman" panose="02020603050405020304" pitchFamily="18" charset="0"/>
              </a:rPr>
              <a:t>Since the NPV = MWK 11,951,903, the project is financially viable and profitable</a:t>
            </a:r>
          </a:p>
          <a:p>
            <a:pPr>
              <a:lnSpc>
                <a:spcPct val="150000"/>
              </a:lnSpc>
            </a:pPr>
            <a:r>
              <a:rPr lang="en-GB" dirty="0">
                <a:latin typeface="Times New Roman" panose="02020603050405020304" pitchFamily="18" charset="0"/>
                <a:cs typeface="Times New Roman" panose="02020603050405020304" pitchFamily="18" charset="0"/>
              </a:rPr>
              <a:t>Positive NPV: This means the expected benefits outweigh the costs, and the project should be pursued.</a:t>
            </a:r>
          </a:p>
          <a:p>
            <a:pPr>
              <a:lnSpc>
                <a:spcPct val="150000"/>
              </a:lnSpc>
            </a:pPr>
            <a:r>
              <a:rPr lang="en-GB" dirty="0">
                <a:latin typeface="Times New Roman" panose="02020603050405020304" pitchFamily="18" charset="0"/>
                <a:cs typeface="Times New Roman" panose="02020603050405020304" pitchFamily="18" charset="0"/>
              </a:rPr>
              <a:t>Negative NPV: If this were negative, the project wouldn’t be worth investing in financially.</a:t>
            </a:r>
          </a:p>
        </p:txBody>
      </p:sp>
    </p:spTree>
    <p:extLst>
      <p:ext uri="{BB962C8B-B14F-4D97-AF65-F5344CB8AC3E}">
        <p14:creationId xmlns:p14="http://schemas.microsoft.com/office/powerpoint/2010/main" val="15272063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1192</TotalTime>
  <Words>685</Words>
  <Application>Microsoft Office PowerPoint</Application>
  <PresentationFormat>Widescreen</PresentationFormat>
  <Paragraphs>63</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Cambria Math</vt:lpstr>
      <vt:lpstr>Times New Roman</vt:lpstr>
      <vt:lpstr>Office Theme</vt:lpstr>
      <vt:lpstr>Cost Benefit Analysis (CBA) in Plantation Crops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Benefit Analysis (CBA) in Plantation Crops</dc:title>
  <dc:creator>Milcah Kalinga</dc:creator>
  <cp:lastModifiedBy>hp</cp:lastModifiedBy>
  <cp:revision>33</cp:revision>
  <dcterms:created xsi:type="dcterms:W3CDTF">2024-09-22T16:26:36Z</dcterms:created>
  <dcterms:modified xsi:type="dcterms:W3CDTF">2025-08-18T05:14:02Z</dcterms:modified>
</cp:coreProperties>
</file>