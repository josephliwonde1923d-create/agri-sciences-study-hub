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259" r:id="rId4"/>
    <p:sldId id="260" r:id="rId5"/>
    <p:sldId id="264" r:id="rId6"/>
    <p:sldId id="261" r:id="rId7"/>
    <p:sldId id="265" r:id="rId8"/>
    <p:sldId id="262" r:id="rId9"/>
    <p:sldId id="266" r:id="rId10"/>
    <p:sldId id="263"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5407" autoAdjust="0"/>
  </p:normalViewPr>
  <p:slideViewPr>
    <p:cSldViewPr snapToGrid="0">
      <p:cViewPr varScale="1">
        <p:scale>
          <a:sx n="79" d="100"/>
          <a:sy n="79" d="100"/>
        </p:scale>
        <p:origin x="4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C2B394-8D1D-4212-91E9-FBD3EDDAA16E}" type="datetimeFigureOut">
              <a:rPr lang="en-GB" smtClean="0"/>
              <a:t>17/08/2025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415D31-D28F-4F5B-9C4A-35CB4F532532}" type="slidenum">
              <a:rPr lang="en-GB" smtClean="0"/>
              <a:t>‹#›</a:t>
            </a:fld>
            <a:endParaRPr lang="en-GB"/>
          </a:p>
        </p:txBody>
      </p:sp>
    </p:spTree>
    <p:extLst>
      <p:ext uri="{BB962C8B-B14F-4D97-AF65-F5344CB8AC3E}">
        <p14:creationId xmlns:p14="http://schemas.microsoft.com/office/powerpoint/2010/main" val="2300134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1415D31-D28F-4F5B-9C4A-35CB4F532532}" type="slidenum">
              <a:rPr lang="en-GB" smtClean="0"/>
              <a:t>3</a:t>
            </a:fld>
            <a:endParaRPr lang="en-GB"/>
          </a:p>
        </p:txBody>
      </p:sp>
    </p:spTree>
    <p:extLst>
      <p:ext uri="{BB962C8B-B14F-4D97-AF65-F5344CB8AC3E}">
        <p14:creationId xmlns:p14="http://schemas.microsoft.com/office/powerpoint/2010/main" val="1286727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DCD6B-0FB9-7EB9-BB8E-A5E348C3B7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F8BD013-4B97-AE98-1F45-47E7DBF073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0586FC3-F909-BFBF-030A-21D2572E6F52}"/>
              </a:ext>
            </a:extLst>
          </p:cNvPr>
          <p:cNvSpPr>
            <a:spLocks noGrp="1"/>
          </p:cNvSpPr>
          <p:nvPr>
            <p:ph type="dt" sz="half" idx="10"/>
          </p:nvPr>
        </p:nvSpPr>
        <p:spPr/>
        <p:txBody>
          <a:bodyPr/>
          <a:lstStyle/>
          <a:p>
            <a:fld id="{95EEE41F-AFE1-4CD8-BFC8-D139B8349725}" type="datetimeFigureOut">
              <a:rPr lang="en-GB" smtClean="0"/>
              <a:t>17/08/2025</a:t>
            </a:fld>
            <a:endParaRPr lang="en-GB"/>
          </a:p>
        </p:txBody>
      </p:sp>
      <p:sp>
        <p:nvSpPr>
          <p:cNvPr id="5" name="Footer Placeholder 4">
            <a:extLst>
              <a:ext uri="{FF2B5EF4-FFF2-40B4-BE49-F238E27FC236}">
                <a16:creationId xmlns:a16="http://schemas.microsoft.com/office/drawing/2014/main" id="{BC50226B-1F47-C71E-32FA-3B976CADF0B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1FB1945-1BAB-2DC8-61A0-43E300225503}"/>
              </a:ext>
            </a:extLst>
          </p:cNvPr>
          <p:cNvSpPr>
            <a:spLocks noGrp="1"/>
          </p:cNvSpPr>
          <p:nvPr>
            <p:ph type="sldNum" sz="quarter" idx="12"/>
          </p:nvPr>
        </p:nvSpPr>
        <p:spPr/>
        <p:txBody>
          <a:bodyPr/>
          <a:lstStyle/>
          <a:p>
            <a:fld id="{4DA82F95-6CF4-4FA9-909F-40297E414F49}" type="slidenum">
              <a:rPr lang="en-GB" smtClean="0"/>
              <a:t>‹#›</a:t>
            </a:fld>
            <a:endParaRPr lang="en-GB"/>
          </a:p>
        </p:txBody>
      </p:sp>
    </p:spTree>
    <p:extLst>
      <p:ext uri="{BB962C8B-B14F-4D97-AF65-F5344CB8AC3E}">
        <p14:creationId xmlns:p14="http://schemas.microsoft.com/office/powerpoint/2010/main" val="15435191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A2A7E-920F-64C5-51B7-3FAD749DA80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3ED645B-ED33-1CC3-78D0-4020B59DEE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F5516C9-94DA-F65C-388C-784D45E75A51}"/>
              </a:ext>
            </a:extLst>
          </p:cNvPr>
          <p:cNvSpPr>
            <a:spLocks noGrp="1"/>
          </p:cNvSpPr>
          <p:nvPr>
            <p:ph type="dt" sz="half" idx="10"/>
          </p:nvPr>
        </p:nvSpPr>
        <p:spPr/>
        <p:txBody>
          <a:bodyPr/>
          <a:lstStyle/>
          <a:p>
            <a:fld id="{95EEE41F-AFE1-4CD8-BFC8-D139B8349725}" type="datetimeFigureOut">
              <a:rPr lang="en-GB" smtClean="0"/>
              <a:t>17/08/2025</a:t>
            </a:fld>
            <a:endParaRPr lang="en-GB"/>
          </a:p>
        </p:txBody>
      </p:sp>
      <p:sp>
        <p:nvSpPr>
          <p:cNvPr id="5" name="Footer Placeholder 4">
            <a:extLst>
              <a:ext uri="{FF2B5EF4-FFF2-40B4-BE49-F238E27FC236}">
                <a16:creationId xmlns:a16="http://schemas.microsoft.com/office/drawing/2014/main" id="{BA154903-D73D-D46F-987A-D2C7CF538A9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29ADD8-D946-7E5E-BD02-F8248FA141EE}"/>
              </a:ext>
            </a:extLst>
          </p:cNvPr>
          <p:cNvSpPr>
            <a:spLocks noGrp="1"/>
          </p:cNvSpPr>
          <p:nvPr>
            <p:ph type="sldNum" sz="quarter" idx="12"/>
          </p:nvPr>
        </p:nvSpPr>
        <p:spPr/>
        <p:txBody>
          <a:bodyPr/>
          <a:lstStyle/>
          <a:p>
            <a:fld id="{4DA82F95-6CF4-4FA9-909F-40297E414F49}" type="slidenum">
              <a:rPr lang="en-GB" smtClean="0"/>
              <a:t>‹#›</a:t>
            </a:fld>
            <a:endParaRPr lang="en-GB"/>
          </a:p>
        </p:txBody>
      </p:sp>
    </p:spTree>
    <p:extLst>
      <p:ext uri="{BB962C8B-B14F-4D97-AF65-F5344CB8AC3E}">
        <p14:creationId xmlns:p14="http://schemas.microsoft.com/office/powerpoint/2010/main" val="662212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78E78-66D9-5D9C-79EC-0ECEEB4F90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860440C-3FF5-47AE-468D-159C89241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557741-C422-420C-7F90-16B5933FD904}"/>
              </a:ext>
            </a:extLst>
          </p:cNvPr>
          <p:cNvSpPr>
            <a:spLocks noGrp="1"/>
          </p:cNvSpPr>
          <p:nvPr>
            <p:ph type="dt" sz="half" idx="10"/>
          </p:nvPr>
        </p:nvSpPr>
        <p:spPr/>
        <p:txBody>
          <a:bodyPr/>
          <a:lstStyle/>
          <a:p>
            <a:fld id="{95EEE41F-AFE1-4CD8-BFC8-D139B8349725}" type="datetimeFigureOut">
              <a:rPr lang="en-GB" smtClean="0"/>
              <a:t>17/08/2025</a:t>
            </a:fld>
            <a:endParaRPr lang="en-GB"/>
          </a:p>
        </p:txBody>
      </p:sp>
      <p:sp>
        <p:nvSpPr>
          <p:cNvPr id="5" name="Footer Placeholder 4">
            <a:extLst>
              <a:ext uri="{FF2B5EF4-FFF2-40B4-BE49-F238E27FC236}">
                <a16:creationId xmlns:a16="http://schemas.microsoft.com/office/drawing/2014/main" id="{9E2B6B60-B0ED-85BA-0E0F-FDFBE0D8ED5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F2199A7-B14D-24E2-944B-396ADD5B275D}"/>
              </a:ext>
            </a:extLst>
          </p:cNvPr>
          <p:cNvSpPr>
            <a:spLocks noGrp="1"/>
          </p:cNvSpPr>
          <p:nvPr>
            <p:ph type="sldNum" sz="quarter" idx="12"/>
          </p:nvPr>
        </p:nvSpPr>
        <p:spPr/>
        <p:txBody>
          <a:bodyPr/>
          <a:lstStyle/>
          <a:p>
            <a:fld id="{4DA82F95-6CF4-4FA9-909F-40297E414F49}" type="slidenum">
              <a:rPr lang="en-GB" smtClean="0"/>
              <a:t>‹#›</a:t>
            </a:fld>
            <a:endParaRPr lang="en-GB"/>
          </a:p>
        </p:txBody>
      </p:sp>
    </p:spTree>
    <p:extLst>
      <p:ext uri="{BB962C8B-B14F-4D97-AF65-F5344CB8AC3E}">
        <p14:creationId xmlns:p14="http://schemas.microsoft.com/office/powerpoint/2010/main" val="1581733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18213-090D-0F8A-A790-269446E8131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5581E53-FDDF-EEEB-66AF-A3C756C016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0F4CECF-51F2-C0F4-6418-4A0DDEB2A4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A326087-49A1-DFD8-A607-0FD1A2CF2407}"/>
              </a:ext>
            </a:extLst>
          </p:cNvPr>
          <p:cNvSpPr>
            <a:spLocks noGrp="1"/>
          </p:cNvSpPr>
          <p:nvPr>
            <p:ph type="dt" sz="half" idx="10"/>
          </p:nvPr>
        </p:nvSpPr>
        <p:spPr/>
        <p:txBody>
          <a:bodyPr/>
          <a:lstStyle/>
          <a:p>
            <a:fld id="{95EEE41F-AFE1-4CD8-BFC8-D139B8349725}" type="datetimeFigureOut">
              <a:rPr lang="en-GB" smtClean="0"/>
              <a:t>17/08/2025</a:t>
            </a:fld>
            <a:endParaRPr lang="en-GB"/>
          </a:p>
        </p:txBody>
      </p:sp>
      <p:sp>
        <p:nvSpPr>
          <p:cNvPr id="6" name="Footer Placeholder 5">
            <a:extLst>
              <a:ext uri="{FF2B5EF4-FFF2-40B4-BE49-F238E27FC236}">
                <a16:creationId xmlns:a16="http://schemas.microsoft.com/office/drawing/2014/main" id="{3E2DF1B0-D91D-D617-D71C-BD4687336A0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E944655-1A60-7E1C-1CA4-975270EBAC7C}"/>
              </a:ext>
            </a:extLst>
          </p:cNvPr>
          <p:cNvSpPr>
            <a:spLocks noGrp="1"/>
          </p:cNvSpPr>
          <p:nvPr>
            <p:ph type="sldNum" sz="quarter" idx="12"/>
          </p:nvPr>
        </p:nvSpPr>
        <p:spPr/>
        <p:txBody>
          <a:bodyPr/>
          <a:lstStyle/>
          <a:p>
            <a:fld id="{4DA82F95-6CF4-4FA9-909F-40297E414F49}" type="slidenum">
              <a:rPr lang="en-GB" smtClean="0"/>
              <a:t>‹#›</a:t>
            </a:fld>
            <a:endParaRPr lang="en-GB"/>
          </a:p>
        </p:txBody>
      </p:sp>
    </p:spTree>
    <p:extLst>
      <p:ext uri="{BB962C8B-B14F-4D97-AF65-F5344CB8AC3E}">
        <p14:creationId xmlns:p14="http://schemas.microsoft.com/office/powerpoint/2010/main" val="3217876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C1051-5060-7AC7-74D6-0113FD5A4BB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397D40B-DFE0-F182-8765-F0878F3A22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3C34AC-F07C-C37E-E2D2-84398C0F2F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E6FCB36-A2C7-EF01-D158-5CF1D28658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AAB112B-163B-CFB6-0DCB-69DE20EBF2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206FC5F-3904-6389-6951-C5551F5CFAB1}"/>
              </a:ext>
            </a:extLst>
          </p:cNvPr>
          <p:cNvSpPr>
            <a:spLocks noGrp="1"/>
          </p:cNvSpPr>
          <p:nvPr>
            <p:ph type="dt" sz="half" idx="10"/>
          </p:nvPr>
        </p:nvSpPr>
        <p:spPr/>
        <p:txBody>
          <a:bodyPr/>
          <a:lstStyle/>
          <a:p>
            <a:fld id="{95EEE41F-AFE1-4CD8-BFC8-D139B8349725}" type="datetimeFigureOut">
              <a:rPr lang="en-GB" smtClean="0"/>
              <a:t>17/08/2025</a:t>
            </a:fld>
            <a:endParaRPr lang="en-GB"/>
          </a:p>
        </p:txBody>
      </p:sp>
      <p:sp>
        <p:nvSpPr>
          <p:cNvPr id="8" name="Footer Placeholder 7">
            <a:extLst>
              <a:ext uri="{FF2B5EF4-FFF2-40B4-BE49-F238E27FC236}">
                <a16:creationId xmlns:a16="http://schemas.microsoft.com/office/drawing/2014/main" id="{150E7EB6-D8F9-E3BF-01CE-511E2197813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4F0C1E4-7599-FD1F-8EFC-C21538F9C0D4}"/>
              </a:ext>
            </a:extLst>
          </p:cNvPr>
          <p:cNvSpPr>
            <a:spLocks noGrp="1"/>
          </p:cNvSpPr>
          <p:nvPr>
            <p:ph type="sldNum" sz="quarter" idx="12"/>
          </p:nvPr>
        </p:nvSpPr>
        <p:spPr/>
        <p:txBody>
          <a:bodyPr/>
          <a:lstStyle/>
          <a:p>
            <a:fld id="{4DA82F95-6CF4-4FA9-909F-40297E414F49}" type="slidenum">
              <a:rPr lang="en-GB" smtClean="0"/>
              <a:t>‹#›</a:t>
            </a:fld>
            <a:endParaRPr lang="en-GB"/>
          </a:p>
        </p:txBody>
      </p:sp>
    </p:spTree>
    <p:extLst>
      <p:ext uri="{BB962C8B-B14F-4D97-AF65-F5344CB8AC3E}">
        <p14:creationId xmlns:p14="http://schemas.microsoft.com/office/powerpoint/2010/main" val="3235664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61CEC-4B74-3DDE-1A2B-60F3D87D3A4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6E3D4B4-2323-33A8-29E1-F206E7CD7310}"/>
              </a:ext>
            </a:extLst>
          </p:cNvPr>
          <p:cNvSpPr>
            <a:spLocks noGrp="1"/>
          </p:cNvSpPr>
          <p:nvPr>
            <p:ph type="dt" sz="half" idx="10"/>
          </p:nvPr>
        </p:nvSpPr>
        <p:spPr/>
        <p:txBody>
          <a:bodyPr/>
          <a:lstStyle/>
          <a:p>
            <a:fld id="{95EEE41F-AFE1-4CD8-BFC8-D139B8349725}" type="datetimeFigureOut">
              <a:rPr lang="en-GB" smtClean="0"/>
              <a:t>17/08/2025</a:t>
            </a:fld>
            <a:endParaRPr lang="en-GB"/>
          </a:p>
        </p:txBody>
      </p:sp>
      <p:sp>
        <p:nvSpPr>
          <p:cNvPr id="4" name="Footer Placeholder 3">
            <a:extLst>
              <a:ext uri="{FF2B5EF4-FFF2-40B4-BE49-F238E27FC236}">
                <a16:creationId xmlns:a16="http://schemas.microsoft.com/office/drawing/2014/main" id="{E0B38BB2-AE8A-B921-9FC4-CC771CC4FD3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9EB8DF7-B555-F0F6-B923-B1F3B2134D6D}"/>
              </a:ext>
            </a:extLst>
          </p:cNvPr>
          <p:cNvSpPr>
            <a:spLocks noGrp="1"/>
          </p:cNvSpPr>
          <p:nvPr>
            <p:ph type="sldNum" sz="quarter" idx="12"/>
          </p:nvPr>
        </p:nvSpPr>
        <p:spPr/>
        <p:txBody>
          <a:bodyPr/>
          <a:lstStyle/>
          <a:p>
            <a:fld id="{4DA82F95-6CF4-4FA9-909F-40297E414F49}" type="slidenum">
              <a:rPr lang="en-GB" smtClean="0"/>
              <a:t>‹#›</a:t>
            </a:fld>
            <a:endParaRPr lang="en-GB"/>
          </a:p>
        </p:txBody>
      </p:sp>
    </p:spTree>
    <p:extLst>
      <p:ext uri="{BB962C8B-B14F-4D97-AF65-F5344CB8AC3E}">
        <p14:creationId xmlns:p14="http://schemas.microsoft.com/office/powerpoint/2010/main" val="2240938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AAB6C2-671B-037E-3731-8BBC1E46B2A4}"/>
              </a:ext>
            </a:extLst>
          </p:cNvPr>
          <p:cNvSpPr>
            <a:spLocks noGrp="1"/>
          </p:cNvSpPr>
          <p:nvPr>
            <p:ph type="dt" sz="half" idx="10"/>
          </p:nvPr>
        </p:nvSpPr>
        <p:spPr/>
        <p:txBody>
          <a:bodyPr/>
          <a:lstStyle/>
          <a:p>
            <a:fld id="{95EEE41F-AFE1-4CD8-BFC8-D139B8349725}" type="datetimeFigureOut">
              <a:rPr lang="en-GB" smtClean="0"/>
              <a:t>17/08/2025</a:t>
            </a:fld>
            <a:endParaRPr lang="en-GB"/>
          </a:p>
        </p:txBody>
      </p:sp>
      <p:sp>
        <p:nvSpPr>
          <p:cNvPr id="3" name="Footer Placeholder 2">
            <a:extLst>
              <a:ext uri="{FF2B5EF4-FFF2-40B4-BE49-F238E27FC236}">
                <a16:creationId xmlns:a16="http://schemas.microsoft.com/office/drawing/2014/main" id="{366CC65D-57B7-EAD9-0D02-51DAE42D600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4B4B25D-7131-F4EB-EA8B-3183559116AC}"/>
              </a:ext>
            </a:extLst>
          </p:cNvPr>
          <p:cNvSpPr>
            <a:spLocks noGrp="1"/>
          </p:cNvSpPr>
          <p:nvPr>
            <p:ph type="sldNum" sz="quarter" idx="12"/>
          </p:nvPr>
        </p:nvSpPr>
        <p:spPr/>
        <p:txBody>
          <a:bodyPr/>
          <a:lstStyle/>
          <a:p>
            <a:fld id="{4DA82F95-6CF4-4FA9-909F-40297E414F49}" type="slidenum">
              <a:rPr lang="en-GB" smtClean="0"/>
              <a:t>‹#›</a:t>
            </a:fld>
            <a:endParaRPr lang="en-GB"/>
          </a:p>
        </p:txBody>
      </p:sp>
    </p:spTree>
    <p:extLst>
      <p:ext uri="{BB962C8B-B14F-4D97-AF65-F5344CB8AC3E}">
        <p14:creationId xmlns:p14="http://schemas.microsoft.com/office/powerpoint/2010/main" val="705939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49BD6-CDD3-58BE-0798-73A6F3F52F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85C61E4-0E15-3B3A-F824-57617E961D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97B5550-7F13-88B2-DC44-AB6D24084C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954751-71C9-A25B-DA57-B9299A0D89A5}"/>
              </a:ext>
            </a:extLst>
          </p:cNvPr>
          <p:cNvSpPr>
            <a:spLocks noGrp="1"/>
          </p:cNvSpPr>
          <p:nvPr>
            <p:ph type="dt" sz="half" idx="10"/>
          </p:nvPr>
        </p:nvSpPr>
        <p:spPr/>
        <p:txBody>
          <a:bodyPr/>
          <a:lstStyle/>
          <a:p>
            <a:fld id="{95EEE41F-AFE1-4CD8-BFC8-D139B8349725}" type="datetimeFigureOut">
              <a:rPr lang="en-GB" smtClean="0"/>
              <a:t>17/08/2025</a:t>
            </a:fld>
            <a:endParaRPr lang="en-GB"/>
          </a:p>
        </p:txBody>
      </p:sp>
      <p:sp>
        <p:nvSpPr>
          <p:cNvPr id="6" name="Footer Placeholder 5">
            <a:extLst>
              <a:ext uri="{FF2B5EF4-FFF2-40B4-BE49-F238E27FC236}">
                <a16:creationId xmlns:a16="http://schemas.microsoft.com/office/drawing/2014/main" id="{D1B23480-DD37-3D61-A126-1129DA6A249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9279889-019F-E83D-1995-14D10D3AA59D}"/>
              </a:ext>
            </a:extLst>
          </p:cNvPr>
          <p:cNvSpPr>
            <a:spLocks noGrp="1"/>
          </p:cNvSpPr>
          <p:nvPr>
            <p:ph type="sldNum" sz="quarter" idx="12"/>
          </p:nvPr>
        </p:nvSpPr>
        <p:spPr/>
        <p:txBody>
          <a:bodyPr/>
          <a:lstStyle/>
          <a:p>
            <a:fld id="{4DA82F95-6CF4-4FA9-909F-40297E414F49}" type="slidenum">
              <a:rPr lang="en-GB" smtClean="0"/>
              <a:t>‹#›</a:t>
            </a:fld>
            <a:endParaRPr lang="en-GB"/>
          </a:p>
        </p:txBody>
      </p:sp>
    </p:spTree>
    <p:extLst>
      <p:ext uri="{BB962C8B-B14F-4D97-AF65-F5344CB8AC3E}">
        <p14:creationId xmlns:p14="http://schemas.microsoft.com/office/powerpoint/2010/main" val="3144086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36639-1934-C976-E177-3D29E3C8E6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DD92709-309D-5858-4289-ECD8582ABF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DB8F2B3-B0B2-5ECE-CDA9-6CD4B14755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CA6161-8011-F548-C244-335390F32E20}"/>
              </a:ext>
            </a:extLst>
          </p:cNvPr>
          <p:cNvSpPr>
            <a:spLocks noGrp="1"/>
          </p:cNvSpPr>
          <p:nvPr>
            <p:ph type="dt" sz="half" idx="10"/>
          </p:nvPr>
        </p:nvSpPr>
        <p:spPr/>
        <p:txBody>
          <a:bodyPr/>
          <a:lstStyle/>
          <a:p>
            <a:fld id="{95EEE41F-AFE1-4CD8-BFC8-D139B8349725}" type="datetimeFigureOut">
              <a:rPr lang="en-GB" smtClean="0"/>
              <a:t>17/08/2025</a:t>
            </a:fld>
            <a:endParaRPr lang="en-GB"/>
          </a:p>
        </p:txBody>
      </p:sp>
      <p:sp>
        <p:nvSpPr>
          <p:cNvPr id="6" name="Footer Placeholder 5">
            <a:extLst>
              <a:ext uri="{FF2B5EF4-FFF2-40B4-BE49-F238E27FC236}">
                <a16:creationId xmlns:a16="http://schemas.microsoft.com/office/drawing/2014/main" id="{DCDA42AF-33F6-90D0-A03D-89957F7E71A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9DCCD17-38D0-BACD-41DF-BAA679E5F91A}"/>
              </a:ext>
            </a:extLst>
          </p:cNvPr>
          <p:cNvSpPr>
            <a:spLocks noGrp="1"/>
          </p:cNvSpPr>
          <p:nvPr>
            <p:ph type="sldNum" sz="quarter" idx="12"/>
          </p:nvPr>
        </p:nvSpPr>
        <p:spPr/>
        <p:txBody>
          <a:bodyPr/>
          <a:lstStyle/>
          <a:p>
            <a:fld id="{4DA82F95-6CF4-4FA9-909F-40297E414F49}" type="slidenum">
              <a:rPr lang="en-GB" smtClean="0"/>
              <a:t>‹#›</a:t>
            </a:fld>
            <a:endParaRPr lang="en-GB"/>
          </a:p>
        </p:txBody>
      </p:sp>
    </p:spTree>
    <p:extLst>
      <p:ext uri="{BB962C8B-B14F-4D97-AF65-F5344CB8AC3E}">
        <p14:creationId xmlns:p14="http://schemas.microsoft.com/office/powerpoint/2010/main" val="22961630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8D7F5-AFD9-6A24-970D-F517C8CFC0C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9D1BDA1-73CE-BCBF-D7CC-99389F185C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5F61C44-B5E9-1174-D579-89EEB734DD64}"/>
              </a:ext>
            </a:extLst>
          </p:cNvPr>
          <p:cNvSpPr>
            <a:spLocks noGrp="1"/>
          </p:cNvSpPr>
          <p:nvPr>
            <p:ph type="dt" sz="half" idx="10"/>
          </p:nvPr>
        </p:nvSpPr>
        <p:spPr/>
        <p:txBody>
          <a:bodyPr/>
          <a:lstStyle/>
          <a:p>
            <a:fld id="{95EEE41F-AFE1-4CD8-BFC8-D139B8349725}" type="datetimeFigureOut">
              <a:rPr lang="en-GB" smtClean="0"/>
              <a:t>17/08/2025</a:t>
            </a:fld>
            <a:endParaRPr lang="en-GB"/>
          </a:p>
        </p:txBody>
      </p:sp>
      <p:sp>
        <p:nvSpPr>
          <p:cNvPr id="5" name="Footer Placeholder 4">
            <a:extLst>
              <a:ext uri="{FF2B5EF4-FFF2-40B4-BE49-F238E27FC236}">
                <a16:creationId xmlns:a16="http://schemas.microsoft.com/office/drawing/2014/main" id="{2C8887AC-85AF-C47E-DD7D-99FE36257C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56F26E0-C552-38E6-6FB4-872891441A5D}"/>
              </a:ext>
            </a:extLst>
          </p:cNvPr>
          <p:cNvSpPr>
            <a:spLocks noGrp="1"/>
          </p:cNvSpPr>
          <p:nvPr>
            <p:ph type="sldNum" sz="quarter" idx="12"/>
          </p:nvPr>
        </p:nvSpPr>
        <p:spPr/>
        <p:txBody>
          <a:bodyPr/>
          <a:lstStyle/>
          <a:p>
            <a:fld id="{4DA82F95-6CF4-4FA9-909F-40297E414F49}" type="slidenum">
              <a:rPr lang="en-GB" smtClean="0"/>
              <a:t>‹#›</a:t>
            </a:fld>
            <a:endParaRPr lang="en-GB"/>
          </a:p>
        </p:txBody>
      </p:sp>
    </p:spTree>
    <p:extLst>
      <p:ext uri="{BB962C8B-B14F-4D97-AF65-F5344CB8AC3E}">
        <p14:creationId xmlns:p14="http://schemas.microsoft.com/office/powerpoint/2010/main" val="3950023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C7ED05-4AC5-B3EF-033F-9666F7064A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7FF2D2C-4A70-9EEA-5514-882B865913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2BCE682-250C-3889-8339-DBE2538494EB}"/>
              </a:ext>
            </a:extLst>
          </p:cNvPr>
          <p:cNvSpPr>
            <a:spLocks noGrp="1"/>
          </p:cNvSpPr>
          <p:nvPr>
            <p:ph type="dt" sz="half" idx="10"/>
          </p:nvPr>
        </p:nvSpPr>
        <p:spPr/>
        <p:txBody>
          <a:bodyPr/>
          <a:lstStyle/>
          <a:p>
            <a:fld id="{95EEE41F-AFE1-4CD8-BFC8-D139B8349725}" type="datetimeFigureOut">
              <a:rPr lang="en-GB" smtClean="0"/>
              <a:t>17/08/2025</a:t>
            </a:fld>
            <a:endParaRPr lang="en-GB"/>
          </a:p>
        </p:txBody>
      </p:sp>
      <p:sp>
        <p:nvSpPr>
          <p:cNvPr id="5" name="Footer Placeholder 4">
            <a:extLst>
              <a:ext uri="{FF2B5EF4-FFF2-40B4-BE49-F238E27FC236}">
                <a16:creationId xmlns:a16="http://schemas.microsoft.com/office/drawing/2014/main" id="{F4A2E1BD-88D7-5951-1769-986F3BB2C77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A322981-00BE-CD6C-B871-6E089D7FA1A5}"/>
              </a:ext>
            </a:extLst>
          </p:cNvPr>
          <p:cNvSpPr>
            <a:spLocks noGrp="1"/>
          </p:cNvSpPr>
          <p:nvPr>
            <p:ph type="sldNum" sz="quarter" idx="12"/>
          </p:nvPr>
        </p:nvSpPr>
        <p:spPr/>
        <p:txBody>
          <a:bodyPr/>
          <a:lstStyle/>
          <a:p>
            <a:fld id="{4DA82F95-6CF4-4FA9-909F-40297E414F49}" type="slidenum">
              <a:rPr lang="en-GB" smtClean="0"/>
              <a:t>‹#›</a:t>
            </a:fld>
            <a:endParaRPr lang="en-GB"/>
          </a:p>
        </p:txBody>
      </p:sp>
    </p:spTree>
    <p:extLst>
      <p:ext uri="{BB962C8B-B14F-4D97-AF65-F5344CB8AC3E}">
        <p14:creationId xmlns:p14="http://schemas.microsoft.com/office/powerpoint/2010/main" val="3639233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E7F747-F312-7219-21B0-4971B3493C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E1DD4E3-AC7A-DB25-04F3-442D47EDB0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F426AE5-1145-7905-5504-BDA2C2E341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EEE41F-AFE1-4CD8-BFC8-D139B8349725}" type="datetimeFigureOut">
              <a:rPr lang="en-GB" smtClean="0"/>
              <a:t>17/08/2025</a:t>
            </a:fld>
            <a:endParaRPr lang="en-GB"/>
          </a:p>
        </p:txBody>
      </p:sp>
      <p:sp>
        <p:nvSpPr>
          <p:cNvPr id="5" name="Footer Placeholder 4">
            <a:extLst>
              <a:ext uri="{FF2B5EF4-FFF2-40B4-BE49-F238E27FC236}">
                <a16:creationId xmlns:a16="http://schemas.microsoft.com/office/drawing/2014/main" id="{548B8DDF-6485-6D3D-10AD-C59C59FEA0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8C6FAB4-A814-5C23-2134-27AE379EF3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A82F95-6CF4-4FA9-909F-40297E414F49}" type="slidenum">
              <a:rPr lang="en-GB" smtClean="0"/>
              <a:t>‹#›</a:t>
            </a:fld>
            <a:endParaRPr lang="en-GB"/>
          </a:p>
        </p:txBody>
      </p:sp>
    </p:spTree>
    <p:extLst>
      <p:ext uri="{BB962C8B-B14F-4D97-AF65-F5344CB8AC3E}">
        <p14:creationId xmlns:p14="http://schemas.microsoft.com/office/powerpoint/2010/main" val="37558243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2C207-336F-EA1E-6C8E-1FC45ECDE5A7}"/>
              </a:ext>
            </a:extLst>
          </p:cNvPr>
          <p:cNvSpPr>
            <a:spLocks noGrp="1"/>
          </p:cNvSpPr>
          <p:nvPr>
            <p:ph type="title"/>
          </p:nvPr>
        </p:nvSpPr>
        <p:spPr>
          <a:xfrm>
            <a:off x="838200" y="365125"/>
            <a:ext cx="5645727" cy="834283"/>
          </a:xfrm>
        </p:spPr>
        <p:txBody>
          <a:bodyPr/>
          <a:lstStyle/>
          <a:p>
            <a:r>
              <a:rPr lang="en-GB" b="1" dirty="0"/>
              <a:t>Rubber plantation </a:t>
            </a:r>
          </a:p>
        </p:txBody>
      </p:sp>
      <p:sp>
        <p:nvSpPr>
          <p:cNvPr id="3" name="Content Placeholder 2">
            <a:extLst>
              <a:ext uri="{FF2B5EF4-FFF2-40B4-BE49-F238E27FC236}">
                <a16:creationId xmlns:a16="http://schemas.microsoft.com/office/drawing/2014/main" id="{656CFB5B-6EE0-161E-A169-BBBE677E0BE2}"/>
              </a:ext>
            </a:extLst>
          </p:cNvPr>
          <p:cNvSpPr>
            <a:spLocks noGrp="1"/>
          </p:cNvSpPr>
          <p:nvPr>
            <p:ph idx="1"/>
          </p:nvPr>
        </p:nvSpPr>
        <p:spPr>
          <a:xfrm>
            <a:off x="826324" y="1291234"/>
            <a:ext cx="10515600" cy="4845631"/>
          </a:xfrm>
        </p:spPr>
        <p:txBody>
          <a:bodyPr>
            <a:normAutofit fontScale="85000" lnSpcReduction="20000"/>
          </a:bodyPr>
          <a:lstStyle/>
          <a:p>
            <a:pPr marL="0" indent="0">
              <a:buNone/>
            </a:pPr>
            <a:r>
              <a:rPr lang="en-GB" b="1" dirty="0"/>
              <a:t>Climatic requirements for rubber</a:t>
            </a:r>
          </a:p>
          <a:p>
            <a:r>
              <a:rPr lang="en-GB" dirty="0"/>
              <a:t>Rubber grows well in well drained porous soils which are moderate to highly acidic in nature</a:t>
            </a:r>
          </a:p>
          <a:p>
            <a:r>
              <a:rPr lang="en-GB" dirty="0"/>
              <a:t>Soil must have a minimum dept of 1 m without any intervening hard pan .</a:t>
            </a:r>
          </a:p>
          <a:p>
            <a:r>
              <a:rPr lang="en-GB" dirty="0"/>
              <a:t>Water table should be well below 1 m to ensure good aeration for root </a:t>
            </a:r>
            <a:r>
              <a:rPr lang="en-GB" dirty="0" smtClean="0"/>
              <a:t>penetration</a:t>
            </a:r>
            <a:endParaRPr lang="en-GB" dirty="0"/>
          </a:p>
          <a:p>
            <a:r>
              <a:rPr lang="en-GB" dirty="0"/>
              <a:t>Ph -4.5 -</a:t>
            </a:r>
            <a:r>
              <a:rPr lang="en-GB" dirty="0" smtClean="0"/>
              <a:t>6</a:t>
            </a:r>
          </a:p>
          <a:p>
            <a:pPr marL="0" indent="0">
              <a:buNone/>
            </a:pPr>
            <a:endParaRPr lang="en-GB" dirty="0"/>
          </a:p>
          <a:p>
            <a:r>
              <a:rPr lang="en-GB" dirty="0"/>
              <a:t>Rainfall -&gt;2000mm</a:t>
            </a:r>
          </a:p>
          <a:p>
            <a:r>
              <a:rPr lang="en-GB" dirty="0"/>
              <a:t>Temperature 25 -28 degrees </a:t>
            </a:r>
            <a:r>
              <a:rPr lang="en-GB" dirty="0" err="1"/>
              <a:t>celcious</a:t>
            </a:r>
            <a:endParaRPr lang="en-GB" dirty="0"/>
          </a:p>
          <a:p>
            <a:r>
              <a:rPr lang="en-GB" dirty="0"/>
              <a:t>Humidity 80%</a:t>
            </a:r>
          </a:p>
          <a:p>
            <a:r>
              <a:rPr lang="en-GB" dirty="0"/>
              <a:t>Weather condition – warm and moist</a:t>
            </a:r>
          </a:p>
          <a:p>
            <a:r>
              <a:rPr lang="en-GB" dirty="0"/>
              <a:t>Cold weather and high wind speed affect production</a:t>
            </a:r>
          </a:p>
          <a:p>
            <a:endParaRPr lang="en-GB" dirty="0"/>
          </a:p>
          <a:p>
            <a:endParaRPr lang="en-GB" dirty="0"/>
          </a:p>
        </p:txBody>
      </p:sp>
    </p:spTree>
    <p:extLst>
      <p:ext uri="{BB962C8B-B14F-4D97-AF65-F5344CB8AC3E}">
        <p14:creationId xmlns:p14="http://schemas.microsoft.com/office/powerpoint/2010/main" val="366911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79BA13-4534-43C2-046E-DE9A3F104B66}"/>
              </a:ext>
            </a:extLst>
          </p:cNvPr>
          <p:cNvSpPr>
            <a:spLocks noGrp="1"/>
          </p:cNvSpPr>
          <p:nvPr>
            <p:ph idx="1"/>
          </p:nvPr>
        </p:nvSpPr>
        <p:spPr>
          <a:xfrm>
            <a:off x="838200" y="218942"/>
            <a:ext cx="10515600" cy="6503830"/>
          </a:xfrm>
        </p:spPr>
        <p:txBody>
          <a:bodyPr>
            <a:normAutofit fontScale="62500" lnSpcReduction="20000"/>
          </a:bodyPr>
          <a:lstStyle/>
          <a:p>
            <a:pPr marL="0" indent="0">
              <a:buNone/>
            </a:pPr>
            <a:r>
              <a:rPr lang="en-GB" b="1" dirty="0">
                <a:latin typeface="Times New Roman" panose="02020603050405020304" pitchFamily="18" charset="0"/>
                <a:cs typeface="Times New Roman" panose="02020603050405020304" pitchFamily="18" charset="0"/>
              </a:rPr>
              <a:t>PROPAGATION</a:t>
            </a:r>
          </a:p>
          <a:p>
            <a:r>
              <a:rPr lang="en-GB" dirty="0">
                <a:latin typeface="Times New Roman" panose="02020603050405020304" pitchFamily="18" charset="0"/>
                <a:cs typeface="Times New Roman" panose="02020603050405020304" pitchFamily="18" charset="0"/>
              </a:rPr>
              <a:t>Seedlings- on a seedbed then transplant to the farm</a:t>
            </a:r>
          </a:p>
          <a:p>
            <a:r>
              <a:rPr lang="en-GB" dirty="0">
                <a:latin typeface="Times New Roman" panose="02020603050405020304" pitchFamily="18" charset="0"/>
                <a:cs typeface="Times New Roman" panose="02020603050405020304" pitchFamily="18" charset="0"/>
              </a:rPr>
              <a:t>Budding </a:t>
            </a:r>
          </a:p>
          <a:p>
            <a:pPr marL="0" indent="0">
              <a:buNone/>
            </a:pPr>
            <a:r>
              <a:rPr lang="en-GB" b="1" dirty="0">
                <a:latin typeface="Times New Roman" panose="02020603050405020304" pitchFamily="18" charset="0"/>
                <a:cs typeface="Times New Roman" panose="02020603050405020304" pitchFamily="18" charset="0"/>
              </a:rPr>
              <a:t>Pruning</a:t>
            </a:r>
          </a:p>
          <a:p>
            <a:r>
              <a:rPr lang="en-GB" dirty="0">
                <a:latin typeface="Times New Roman" panose="02020603050405020304" pitchFamily="18" charset="0"/>
                <a:cs typeface="Times New Roman" panose="02020603050405020304" pitchFamily="18" charset="0"/>
              </a:rPr>
              <a:t>Pruning to a height of 2.0-2.5 allows the development of a smooth truck without branches or large scars</a:t>
            </a:r>
          </a:p>
          <a:p>
            <a:r>
              <a:rPr lang="en-GB" dirty="0">
                <a:latin typeface="Times New Roman" panose="02020603050405020304" pitchFamily="18" charset="0"/>
                <a:cs typeface="Times New Roman" panose="02020603050405020304" pitchFamily="18" charset="0"/>
              </a:rPr>
              <a:t>Pruning allows the development of a balanced  canopy</a:t>
            </a:r>
          </a:p>
          <a:p>
            <a:pPr marL="0" indent="0">
              <a:buNone/>
            </a:pPr>
            <a:r>
              <a:rPr lang="en-GB" b="1" dirty="0">
                <a:latin typeface="Times New Roman" panose="02020603050405020304" pitchFamily="18" charset="0"/>
                <a:cs typeface="Times New Roman" panose="02020603050405020304" pitchFamily="18" charset="0"/>
              </a:rPr>
              <a:t>Intercropping</a:t>
            </a:r>
          </a:p>
          <a:p>
            <a:r>
              <a:rPr lang="en-GB" dirty="0">
                <a:latin typeface="Times New Roman" panose="02020603050405020304" pitchFamily="18" charset="0"/>
                <a:cs typeface="Times New Roman" panose="02020603050405020304" pitchFamily="18" charset="0"/>
              </a:rPr>
              <a:t>In the first two years the land area is not fully occupied by the rubber plants  and the inter spaces can be utilised for growing inter crops which do not interfere with the growth of rubber plants</a:t>
            </a:r>
          </a:p>
          <a:p>
            <a:r>
              <a:rPr lang="en-GB" dirty="0">
                <a:latin typeface="Times New Roman" panose="02020603050405020304" pitchFamily="18" charset="0"/>
                <a:cs typeface="Times New Roman" panose="02020603050405020304" pitchFamily="18" charset="0"/>
              </a:rPr>
              <a:t>The common inter crops include bananas, pineapples, tuber crops, ginger, cassava</a:t>
            </a:r>
          </a:p>
          <a:p>
            <a:endParaRPr lang="en-GB" dirty="0">
              <a:latin typeface="Times New Roman" panose="02020603050405020304" pitchFamily="18" charset="0"/>
              <a:cs typeface="Times New Roman" panose="02020603050405020304" pitchFamily="18" charset="0"/>
            </a:endParaRPr>
          </a:p>
          <a:p>
            <a:pPr marL="0" indent="0">
              <a:buNone/>
            </a:pPr>
            <a:endParaRPr lang="en-GB" dirty="0">
              <a:latin typeface="Times New Roman" panose="02020603050405020304" pitchFamily="18" charset="0"/>
              <a:cs typeface="Times New Roman" panose="02020603050405020304" pitchFamily="18" charset="0"/>
            </a:endParaRPr>
          </a:p>
          <a:p>
            <a:pPr marL="0" indent="0">
              <a:buNone/>
            </a:pPr>
            <a:endParaRPr lang="en-GB" dirty="0">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a:p>
            <a:pPr marL="0" indent="0">
              <a:buNone/>
            </a:pPr>
            <a:r>
              <a:rPr lang="en-GB" b="1" dirty="0">
                <a:latin typeface="Times New Roman" panose="02020603050405020304" pitchFamily="18" charset="0"/>
                <a:cs typeface="Times New Roman" panose="02020603050405020304" pitchFamily="18" charset="0"/>
              </a:rPr>
              <a:t>Cover cropping </a:t>
            </a:r>
          </a:p>
          <a:p>
            <a:r>
              <a:rPr lang="en-GB" dirty="0">
                <a:latin typeface="Times New Roman" panose="02020603050405020304" pitchFamily="18" charset="0"/>
                <a:cs typeface="Times New Roman" panose="02020603050405020304" pitchFamily="18" charset="0"/>
              </a:rPr>
              <a:t>Cover cropping is desirable in sloppy areas as it helps to prevent soil erosion , the practice also helps in enhancing soil fertility, suppress weed growth and controls soil temperature</a:t>
            </a:r>
          </a:p>
          <a:p>
            <a:pPr marL="0" indent="0">
              <a:buNone/>
            </a:pPr>
            <a:r>
              <a:rPr lang="en-GB" dirty="0">
                <a:latin typeface="Times New Roman" panose="02020603050405020304" pitchFamily="18" charset="0"/>
                <a:cs typeface="Times New Roman" panose="02020603050405020304" pitchFamily="18" charset="0"/>
              </a:rPr>
              <a:t>Any leguminous crop with spreading habit can be grown.</a:t>
            </a:r>
          </a:p>
          <a:p>
            <a:endParaRPr lang="en-GB" dirty="0">
              <a:latin typeface="Times New Roman" panose="02020603050405020304" pitchFamily="18" charset="0"/>
              <a:cs typeface="Times New Roman" panose="02020603050405020304" pitchFamily="18" charset="0"/>
            </a:endParaRPr>
          </a:p>
          <a:p>
            <a:pPr marL="0" indent="0">
              <a:buNone/>
            </a:pPr>
            <a:endParaRPr lang="en-GB"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1E14988-CC31-D1F7-6ED4-D65E9F43A4B7}"/>
              </a:ext>
            </a:extLst>
          </p:cNvPr>
          <p:cNvPicPr>
            <a:picLocks noChangeAspect="1"/>
          </p:cNvPicPr>
          <p:nvPr/>
        </p:nvPicPr>
        <p:blipFill rotWithShape="1">
          <a:blip r:embed="rId2">
            <a:extLst>
              <a:ext uri="{28A0092B-C50C-407E-A947-70E740481C1C}">
                <a14:useLocalDpi xmlns:a14="http://schemas.microsoft.com/office/drawing/2010/main" val="0"/>
              </a:ext>
            </a:extLst>
          </a:blip>
          <a:srcRect l="62266" t="26739" r="2992" b="7327"/>
          <a:stretch/>
        </p:blipFill>
        <p:spPr>
          <a:xfrm>
            <a:off x="2703226" y="3360717"/>
            <a:ext cx="3786388" cy="2055436"/>
          </a:xfrm>
          <a:prstGeom prst="rect">
            <a:avLst/>
          </a:prstGeom>
        </p:spPr>
      </p:pic>
    </p:spTree>
    <p:extLst>
      <p:ext uri="{BB962C8B-B14F-4D97-AF65-F5344CB8AC3E}">
        <p14:creationId xmlns:p14="http://schemas.microsoft.com/office/powerpoint/2010/main" val="34979125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106E2E-CA13-C21A-D617-28B8538204CE}"/>
              </a:ext>
            </a:extLst>
          </p:cNvPr>
          <p:cNvSpPr>
            <a:spLocks noGrp="1"/>
          </p:cNvSpPr>
          <p:nvPr>
            <p:ph idx="1"/>
          </p:nvPr>
        </p:nvSpPr>
        <p:spPr>
          <a:xfrm>
            <a:off x="838200" y="128788"/>
            <a:ext cx="10515600" cy="6729211"/>
          </a:xfrm>
        </p:spPr>
        <p:txBody>
          <a:bodyPr>
            <a:normAutofit/>
          </a:bodyPr>
          <a:lstStyle/>
          <a:p>
            <a:pPr marL="0" indent="0">
              <a:buNone/>
            </a:pPr>
            <a:r>
              <a:rPr lang="en-GB" sz="2000" b="1" dirty="0">
                <a:latin typeface="Times New Roman" panose="02020603050405020304" pitchFamily="18" charset="0"/>
                <a:cs typeface="Times New Roman" panose="02020603050405020304" pitchFamily="18" charset="0"/>
              </a:rPr>
              <a:t>Mulching</a:t>
            </a:r>
            <a:r>
              <a:rPr lang="en-GB" sz="2000" dirty="0">
                <a:latin typeface="Times New Roman" panose="02020603050405020304" pitchFamily="18" charset="0"/>
                <a:cs typeface="Times New Roman" panose="02020603050405020304" pitchFamily="18" charset="0"/>
              </a:rPr>
              <a:t> </a:t>
            </a:r>
          </a:p>
          <a:p>
            <a:r>
              <a:rPr lang="en-GB" sz="2000" dirty="0">
                <a:latin typeface="Times New Roman" panose="02020603050405020304" pitchFamily="18" charset="0"/>
                <a:cs typeface="Times New Roman" panose="02020603050405020304" pitchFamily="18" charset="0"/>
              </a:rPr>
              <a:t>The young rubber plants need to be mulched by spreading dry leaves , grass, cuttings and cover crop around the plant .</a:t>
            </a:r>
          </a:p>
          <a:p>
            <a:pPr marL="0" indent="0">
              <a:buNone/>
            </a:pPr>
            <a:r>
              <a:rPr lang="en-GB" sz="2000" b="1" dirty="0">
                <a:latin typeface="Times New Roman" panose="02020603050405020304" pitchFamily="18" charset="0"/>
                <a:cs typeface="Times New Roman" panose="02020603050405020304" pitchFamily="18" charset="0"/>
              </a:rPr>
              <a:t>Weed control</a:t>
            </a:r>
          </a:p>
          <a:p>
            <a:r>
              <a:rPr lang="en-GB" sz="2000" dirty="0">
                <a:latin typeface="Times New Roman" panose="02020603050405020304" pitchFamily="18" charset="0"/>
                <a:cs typeface="Times New Roman" panose="02020603050405020304" pitchFamily="18" charset="0"/>
              </a:rPr>
              <a:t>Weeds  commonly found in rubber plantations are </a:t>
            </a:r>
            <a:r>
              <a:rPr lang="en-GB" sz="2000" dirty="0" err="1">
                <a:latin typeface="Times New Roman" panose="02020603050405020304" pitchFamily="18" charset="0"/>
                <a:cs typeface="Times New Roman" panose="02020603050405020304" pitchFamily="18" charset="0"/>
              </a:rPr>
              <a:t>eupatorium,chromolanae</a:t>
            </a:r>
            <a:r>
              <a:rPr lang="en-GB" sz="2000" dirty="0">
                <a:latin typeface="Times New Roman" panose="02020603050405020304" pitchFamily="18" charset="0"/>
                <a:cs typeface="Times New Roman" panose="02020603050405020304" pitchFamily="18" charset="0"/>
              </a:rPr>
              <a:t> , </a:t>
            </a:r>
            <a:r>
              <a:rPr lang="en-GB" sz="2000" dirty="0" err="1">
                <a:latin typeface="Times New Roman" panose="02020603050405020304" pitchFamily="18" charset="0"/>
                <a:cs typeface="Times New Roman" panose="02020603050405020304" pitchFamily="18" charset="0"/>
              </a:rPr>
              <a:t>borreria</a:t>
            </a:r>
            <a:r>
              <a:rPr lang="en-GB" sz="2000" dirty="0">
                <a:latin typeface="Times New Roman" panose="02020603050405020304" pitchFamily="18" charset="0"/>
                <a:cs typeface="Times New Roman" panose="02020603050405020304" pitchFamily="18" charset="0"/>
              </a:rPr>
              <a:t>, </a:t>
            </a:r>
            <a:r>
              <a:rPr lang="en-GB" sz="2000" dirty="0" err="1">
                <a:latin typeface="Times New Roman" panose="02020603050405020304" pitchFamily="18" charset="0"/>
                <a:cs typeface="Times New Roman" panose="02020603050405020304" pitchFamily="18" charset="0"/>
              </a:rPr>
              <a:t>lantana,mimosa</a:t>
            </a:r>
            <a:r>
              <a:rPr lang="en-GB" sz="2000" dirty="0">
                <a:latin typeface="Times New Roman" panose="02020603050405020304" pitchFamily="18" charset="0"/>
                <a:cs typeface="Times New Roman" panose="02020603050405020304" pitchFamily="18" charset="0"/>
              </a:rPr>
              <a:t>, mikania, </a:t>
            </a:r>
            <a:r>
              <a:rPr lang="en-GB" sz="2000" dirty="0" err="1">
                <a:latin typeface="Times New Roman" panose="02020603050405020304" pitchFamily="18" charset="0"/>
                <a:cs typeface="Times New Roman" panose="02020603050405020304" pitchFamily="18" charset="0"/>
              </a:rPr>
              <a:t>sida,cydon</a:t>
            </a:r>
            <a:r>
              <a:rPr lang="en-GB" sz="2000" dirty="0">
                <a:latin typeface="Times New Roman" panose="02020603050405020304" pitchFamily="18" charset="0"/>
                <a:cs typeface="Times New Roman" panose="02020603050405020304" pitchFamily="18" charset="0"/>
              </a:rPr>
              <a:t> and </a:t>
            </a:r>
            <a:r>
              <a:rPr lang="en-GB" sz="2000" dirty="0" err="1">
                <a:latin typeface="Times New Roman" panose="02020603050405020304" pitchFamily="18" charset="0"/>
                <a:cs typeface="Times New Roman" panose="02020603050405020304" pitchFamily="18" charset="0"/>
              </a:rPr>
              <a:t>imperate</a:t>
            </a:r>
            <a:endParaRPr lang="en-GB" sz="2000" dirty="0">
              <a:latin typeface="Times New Roman" panose="02020603050405020304" pitchFamily="18" charset="0"/>
              <a:cs typeface="Times New Roman" panose="02020603050405020304" pitchFamily="18" charset="0"/>
            </a:endParaRPr>
          </a:p>
          <a:p>
            <a:r>
              <a:rPr lang="en-GB" sz="2000" dirty="0">
                <a:latin typeface="Times New Roman" panose="02020603050405020304" pitchFamily="18" charset="0"/>
                <a:cs typeface="Times New Roman" panose="02020603050405020304" pitchFamily="18" charset="0"/>
              </a:rPr>
              <a:t>Control applying chemicals like ,diuron, simazine, </a:t>
            </a:r>
            <a:r>
              <a:rPr lang="en-GB" sz="2000" dirty="0" err="1">
                <a:latin typeface="Times New Roman" panose="02020603050405020304" pitchFamily="18" charset="0"/>
                <a:cs typeface="Times New Roman" panose="02020603050405020304" pitchFamily="18" charset="0"/>
              </a:rPr>
              <a:t>alachor</a:t>
            </a:r>
            <a:r>
              <a:rPr lang="en-GB" sz="2000" dirty="0">
                <a:latin typeface="Times New Roman" panose="02020603050405020304" pitchFamily="18" charset="0"/>
                <a:cs typeface="Times New Roman" panose="02020603050405020304" pitchFamily="18" charset="0"/>
              </a:rPr>
              <a:t> and </a:t>
            </a:r>
            <a:r>
              <a:rPr lang="en-GB" sz="2000" dirty="0" err="1">
                <a:latin typeface="Times New Roman" panose="02020603050405020304" pitchFamily="18" charset="0"/>
                <a:cs typeface="Times New Roman" panose="02020603050405020304" pitchFamily="18" charset="0"/>
              </a:rPr>
              <a:t>glyphosphate</a:t>
            </a:r>
            <a:endParaRPr lang="en-GB" sz="2000" dirty="0">
              <a:latin typeface="Times New Roman" panose="02020603050405020304" pitchFamily="18" charset="0"/>
              <a:cs typeface="Times New Roman" panose="02020603050405020304" pitchFamily="18" charset="0"/>
            </a:endParaRPr>
          </a:p>
          <a:p>
            <a:pPr marL="0" indent="0">
              <a:buNone/>
            </a:pPr>
            <a:r>
              <a:rPr lang="en-GB" sz="2000" dirty="0">
                <a:latin typeface="Times New Roman" panose="02020603050405020304" pitchFamily="18" charset="0"/>
                <a:cs typeface="Times New Roman" panose="02020603050405020304" pitchFamily="18" charset="0"/>
              </a:rPr>
              <a:t> </a:t>
            </a:r>
            <a:r>
              <a:rPr lang="en-GB" sz="3200" b="1" dirty="0">
                <a:solidFill>
                  <a:srgbClr val="FF0000"/>
                </a:solidFill>
                <a:latin typeface="Times New Roman" panose="02020603050405020304" pitchFamily="18" charset="0"/>
                <a:cs typeface="Times New Roman" panose="02020603050405020304" pitchFamily="18" charset="0"/>
              </a:rPr>
              <a:t>Diseases of rubber</a:t>
            </a:r>
          </a:p>
          <a:p>
            <a:pPr marL="0" indent="0">
              <a:buNone/>
            </a:pPr>
            <a:r>
              <a:rPr lang="en-GB" sz="2000" b="1" dirty="0">
                <a:latin typeface="Times New Roman" panose="02020603050405020304" pitchFamily="18" charset="0"/>
                <a:cs typeface="Times New Roman" panose="02020603050405020304" pitchFamily="18" charset="0"/>
              </a:rPr>
              <a:t>Abnormal leaf fall: </a:t>
            </a:r>
            <a:r>
              <a:rPr lang="en-GB" sz="2000" dirty="0">
                <a:latin typeface="Times New Roman" panose="02020603050405020304" pitchFamily="18" charset="0"/>
                <a:cs typeface="Times New Roman" panose="02020603050405020304" pitchFamily="18" charset="0"/>
              </a:rPr>
              <a:t>infected leaves fall in large number prematurely either green or after turning coppery red </a:t>
            </a:r>
          </a:p>
          <a:p>
            <a:pPr marL="0" indent="0">
              <a:buNone/>
            </a:pPr>
            <a:r>
              <a:rPr lang="en-GB" sz="2000" b="1" dirty="0">
                <a:latin typeface="Times New Roman" panose="02020603050405020304" pitchFamily="18" charset="0"/>
                <a:cs typeface="Times New Roman" panose="02020603050405020304" pitchFamily="18" charset="0"/>
              </a:rPr>
              <a:t>Control: </a:t>
            </a:r>
            <a:r>
              <a:rPr lang="en-GB" sz="2000" dirty="0">
                <a:latin typeface="Times New Roman" panose="02020603050405020304" pitchFamily="18" charset="0"/>
                <a:cs typeface="Times New Roman" panose="02020603050405020304" pitchFamily="18" charset="0"/>
              </a:rPr>
              <a:t>spraying of prophylactic the </a:t>
            </a:r>
            <a:r>
              <a:rPr lang="en-GB" sz="2000" dirty="0" smtClean="0">
                <a:latin typeface="Times New Roman" panose="02020603050405020304" pitchFamily="18" charset="0"/>
                <a:cs typeface="Times New Roman" panose="02020603050405020304" pitchFamily="18" charset="0"/>
              </a:rPr>
              <a:t>foliage</a:t>
            </a:r>
            <a:endParaRPr lang="en-GB"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0F4A5FB-7C07-A557-E817-5B0E3994C838}"/>
              </a:ext>
            </a:extLst>
          </p:cNvPr>
          <p:cNvPicPr>
            <a:picLocks noChangeAspect="1"/>
          </p:cNvPicPr>
          <p:nvPr/>
        </p:nvPicPr>
        <p:blipFill rotWithShape="1">
          <a:blip r:embed="rId3">
            <a:extLst>
              <a:ext uri="{28A0092B-C50C-407E-A947-70E740481C1C}">
                <a14:useLocalDpi xmlns:a14="http://schemas.microsoft.com/office/drawing/2010/main" val="0"/>
              </a:ext>
            </a:extLst>
          </a:blip>
          <a:srcRect l="50000" t="29568" b="4145"/>
          <a:stretch/>
        </p:blipFill>
        <p:spPr>
          <a:xfrm>
            <a:off x="3264255" y="4317729"/>
            <a:ext cx="4850104" cy="2119366"/>
          </a:xfrm>
          <a:prstGeom prst="rect">
            <a:avLst/>
          </a:prstGeom>
        </p:spPr>
      </p:pic>
    </p:spTree>
    <p:extLst>
      <p:ext uri="{BB962C8B-B14F-4D97-AF65-F5344CB8AC3E}">
        <p14:creationId xmlns:p14="http://schemas.microsoft.com/office/powerpoint/2010/main" val="820037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5BD5AE-34E7-B5A2-453A-986CF95E8DCB}"/>
              </a:ext>
            </a:extLst>
          </p:cNvPr>
          <p:cNvSpPr>
            <a:spLocks noGrp="1"/>
          </p:cNvSpPr>
          <p:nvPr>
            <p:ph idx="1"/>
          </p:nvPr>
        </p:nvSpPr>
        <p:spPr>
          <a:xfrm>
            <a:off x="838200" y="218940"/>
            <a:ext cx="10515600" cy="6387921"/>
          </a:xfrm>
        </p:spPr>
        <p:txBody>
          <a:bodyPr>
            <a:noAutofit/>
          </a:bodyPr>
          <a:lstStyle/>
          <a:p>
            <a:pPr marL="0" indent="0">
              <a:buNone/>
            </a:pPr>
            <a:r>
              <a:rPr lang="en-GB" sz="1600" b="1" dirty="0" smtClean="0">
                <a:solidFill>
                  <a:srgbClr val="FF0000"/>
                </a:solidFill>
                <a:latin typeface="Times New Roman" panose="02020603050405020304" pitchFamily="18" charset="0"/>
                <a:cs typeface="Times New Roman" panose="02020603050405020304" pitchFamily="18" charset="0"/>
              </a:rPr>
              <a:t>2. Powdery </a:t>
            </a:r>
            <a:r>
              <a:rPr lang="en-GB" sz="1600" b="1" dirty="0">
                <a:solidFill>
                  <a:srgbClr val="FF0000"/>
                </a:solidFill>
                <a:latin typeface="Times New Roman" panose="02020603050405020304" pitchFamily="18" charset="0"/>
                <a:cs typeface="Times New Roman" panose="02020603050405020304" pitchFamily="18" charset="0"/>
              </a:rPr>
              <a:t>mildew </a:t>
            </a:r>
            <a:r>
              <a:rPr lang="en-GB" sz="1600" dirty="0">
                <a:latin typeface="Times New Roman" panose="02020603050405020304" pitchFamily="18" charset="0"/>
                <a:cs typeface="Times New Roman" panose="02020603050405020304" pitchFamily="18" charset="0"/>
              </a:rPr>
              <a:t>:prominently noticed on newly formed tender flush during </a:t>
            </a:r>
            <a:r>
              <a:rPr lang="en-GB" sz="1600" dirty="0" smtClean="0">
                <a:latin typeface="Times New Roman" panose="02020603050405020304" pitchFamily="18" charset="0"/>
                <a:cs typeface="Times New Roman" panose="02020603050405020304" pitchFamily="18" charset="0"/>
              </a:rPr>
              <a:t>the </a:t>
            </a:r>
            <a:r>
              <a:rPr lang="en-GB" sz="1600" dirty="0">
                <a:latin typeface="Times New Roman" panose="02020603050405020304" pitchFamily="18" charset="0"/>
                <a:cs typeface="Times New Roman" panose="02020603050405020304" pitchFamily="18" charset="0"/>
              </a:rPr>
              <a:t>defoliation period of January-march</a:t>
            </a:r>
            <a:r>
              <a:rPr lang="en-GB" sz="1600" dirty="0" smtClean="0">
                <a:latin typeface="Times New Roman" panose="02020603050405020304" pitchFamily="18" charset="0"/>
                <a:cs typeface="Times New Roman" panose="02020603050405020304" pitchFamily="18" charset="0"/>
              </a:rPr>
              <a:t>.</a:t>
            </a:r>
          </a:p>
          <a:p>
            <a:r>
              <a:rPr lang="en-GB" sz="1600" dirty="0" smtClean="0">
                <a:latin typeface="Times New Roman" panose="02020603050405020304" pitchFamily="18" charset="0"/>
                <a:cs typeface="Times New Roman" panose="02020603050405020304" pitchFamily="18" charset="0"/>
              </a:rPr>
              <a:t>Tender </a:t>
            </a:r>
            <a:r>
              <a:rPr lang="en-GB" sz="1600" dirty="0">
                <a:latin typeface="Times New Roman" panose="02020603050405020304" pitchFamily="18" charset="0"/>
                <a:cs typeface="Times New Roman" panose="02020603050405020304" pitchFamily="18" charset="0"/>
              </a:rPr>
              <a:t>leaves with ashy coating curl, crinkle, edges  roll inwards and fall off leaving the petioles attached to the twigs giving a broom stick appearance.</a:t>
            </a:r>
          </a:p>
          <a:p>
            <a:pPr marL="0" indent="0">
              <a:buNone/>
            </a:pPr>
            <a:r>
              <a:rPr lang="en-GB" sz="1600" b="1" dirty="0">
                <a:latin typeface="Times New Roman" panose="02020603050405020304" pitchFamily="18" charset="0"/>
                <a:cs typeface="Times New Roman" panose="02020603050405020304" pitchFamily="18" charset="0"/>
              </a:rPr>
              <a:t>Control: </a:t>
            </a:r>
            <a:r>
              <a:rPr lang="en-GB" sz="1600" dirty="0">
                <a:latin typeface="Times New Roman" panose="02020603050405020304" pitchFamily="18" charset="0"/>
                <a:cs typeface="Times New Roman" panose="02020603050405020304" pitchFamily="18" charset="0"/>
              </a:rPr>
              <a:t>for young plants , spray wettable sulphur (0.2%) at fortnightly intervals</a:t>
            </a:r>
          </a:p>
          <a:p>
            <a:pPr marL="0" indent="0">
              <a:buNone/>
            </a:pPr>
            <a:endParaRPr lang="en-GB" sz="1600" dirty="0">
              <a:latin typeface="Times New Roman" panose="02020603050405020304" pitchFamily="18" charset="0"/>
              <a:cs typeface="Times New Roman" panose="02020603050405020304" pitchFamily="18" charset="0"/>
            </a:endParaRPr>
          </a:p>
          <a:p>
            <a:pPr marL="0" indent="0">
              <a:buNone/>
            </a:pPr>
            <a:endParaRPr lang="en-GB" sz="1600" dirty="0">
              <a:latin typeface="Times New Roman" panose="02020603050405020304" pitchFamily="18" charset="0"/>
              <a:cs typeface="Times New Roman" panose="02020603050405020304" pitchFamily="18" charset="0"/>
            </a:endParaRPr>
          </a:p>
          <a:p>
            <a:pPr marL="0" indent="0">
              <a:buNone/>
            </a:pPr>
            <a:endParaRPr lang="en-GB" sz="1600" dirty="0">
              <a:latin typeface="Times New Roman" panose="02020603050405020304" pitchFamily="18" charset="0"/>
              <a:cs typeface="Times New Roman" panose="02020603050405020304" pitchFamily="18" charset="0"/>
            </a:endParaRPr>
          </a:p>
          <a:p>
            <a:pPr marL="0" indent="0">
              <a:buNone/>
            </a:pPr>
            <a:endParaRPr lang="en-GB" sz="1600" dirty="0">
              <a:latin typeface="Times New Roman" panose="02020603050405020304" pitchFamily="18" charset="0"/>
              <a:cs typeface="Times New Roman" panose="02020603050405020304" pitchFamily="18" charset="0"/>
            </a:endParaRPr>
          </a:p>
          <a:p>
            <a:pPr marL="0" indent="0">
              <a:buNone/>
            </a:pPr>
            <a:endParaRPr lang="en-GB" sz="1600" dirty="0">
              <a:latin typeface="Times New Roman" panose="02020603050405020304" pitchFamily="18" charset="0"/>
              <a:cs typeface="Times New Roman" panose="02020603050405020304" pitchFamily="18" charset="0"/>
            </a:endParaRPr>
          </a:p>
          <a:p>
            <a:pPr marL="0" indent="0">
              <a:buNone/>
            </a:pPr>
            <a:endParaRPr lang="en-GB" sz="1600" dirty="0">
              <a:latin typeface="Times New Roman" panose="02020603050405020304" pitchFamily="18" charset="0"/>
              <a:cs typeface="Times New Roman" panose="02020603050405020304" pitchFamily="18" charset="0"/>
            </a:endParaRPr>
          </a:p>
          <a:p>
            <a:pPr marL="0" indent="0">
              <a:buNone/>
            </a:pPr>
            <a:endParaRPr lang="en-GB" sz="1600" dirty="0">
              <a:solidFill>
                <a:srgbClr val="FF0000"/>
              </a:solidFill>
              <a:latin typeface="Times New Roman" panose="02020603050405020304" pitchFamily="18" charset="0"/>
              <a:cs typeface="Times New Roman" panose="02020603050405020304" pitchFamily="18" charset="0"/>
            </a:endParaRPr>
          </a:p>
          <a:p>
            <a:pPr marL="0" indent="0">
              <a:buNone/>
            </a:pPr>
            <a:r>
              <a:rPr lang="en-GB" sz="1600" b="1" dirty="0" smtClean="0">
                <a:solidFill>
                  <a:srgbClr val="FF0000"/>
                </a:solidFill>
                <a:latin typeface="Times New Roman" panose="02020603050405020304" pitchFamily="18" charset="0"/>
                <a:cs typeface="Times New Roman" panose="02020603050405020304" pitchFamily="18" charset="0"/>
              </a:rPr>
              <a:t>3. Pink </a:t>
            </a:r>
            <a:r>
              <a:rPr lang="en-GB" sz="1600" b="1" dirty="0">
                <a:solidFill>
                  <a:srgbClr val="FF0000"/>
                </a:solidFill>
                <a:latin typeface="Times New Roman" panose="02020603050405020304" pitchFamily="18" charset="0"/>
                <a:cs typeface="Times New Roman" panose="02020603050405020304" pitchFamily="18" charset="0"/>
              </a:rPr>
              <a:t>disease: </a:t>
            </a:r>
            <a:r>
              <a:rPr lang="en-GB" sz="1600" dirty="0">
                <a:latin typeface="Times New Roman" panose="02020603050405020304" pitchFamily="18" charset="0"/>
                <a:cs typeface="Times New Roman" panose="02020603050405020304" pitchFamily="18" charset="0"/>
              </a:rPr>
              <a:t>the seat of infection is usually at the fork region. </a:t>
            </a:r>
            <a:endParaRPr lang="en-GB" sz="1600" dirty="0" smtClean="0">
              <a:latin typeface="Times New Roman" panose="02020603050405020304" pitchFamily="18" charset="0"/>
              <a:cs typeface="Times New Roman" panose="02020603050405020304" pitchFamily="18" charset="0"/>
            </a:endParaRPr>
          </a:p>
          <a:p>
            <a:pPr marL="0" indent="0">
              <a:buNone/>
            </a:pPr>
            <a:r>
              <a:rPr lang="en-GB" sz="1600" dirty="0" smtClean="0">
                <a:latin typeface="Times New Roman" panose="02020603050405020304" pitchFamily="18" charset="0"/>
                <a:cs typeface="Times New Roman" panose="02020603050405020304" pitchFamily="18" charset="0"/>
              </a:rPr>
              <a:t>White </a:t>
            </a:r>
            <a:r>
              <a:rPr lang="en-GB" sz="1600" dirty="0">
                <a:latin typeface="Times New Roman" panose="02020603050405020304" pitchFamily="18" charset="0"/>
                <a:cs typeface="Times New Roman" panose="02020603050405020304" pitchFamily="18" charset="0"/>
              </a:rPr>
              <a:t>or pink coloured cobweb mycelial growths from on the surface of the bark with streaks of latex oozing out from lesion, resulting in rotting drying up and cracking up of the affected bark.</a:t>
            </a:r>
          </a:p>
          <a:p>
            <a:pPr marL="0" indent="0">
              <a:buNone/>
            </a:pPr>
            <a:r>
              <a:rPr lang="en-GB" sz="1600" b="1" dirty="0">
                <a:latin typeface="Times New Roman" panose="02020603050405020304" pitchFamily="18" charset="0"/>
                <a:cs typeface="Times New Roman" panose="02020603050405020304" pitchFamily="18" charset="0"/>
              </a:rPr>
              <a:t>Control</a:t>
            </a:r>
          </a:p>
          <a:p>
            <a:pPr marL="0" indent="0">
              <a:buNone/>
            </a:pPr>
            <a:r>
              <a:rPr lang="en-GB" sz="1600" dirty="0">
                <a:latin typeface="Times New Roman" panose="02020603050405020304" pitchFamily="18" charset="0"/>
                <a:cs typeface="Times New Roman" panose="02020603050405020304" pitchFamily="18" charset="0"/>
              </a:rPr>
              <a:t>In the early stages of infection </a:t>
            </a:r>
            <a:r>
              <a:rPr lang="en-GB" sz="1600" dirty="0" smtClean="0">
                <a:latin typeface="Times New Roman" panose="02020603050405020304" pitchFamily="18" charset="0"/>
                <a:cs typeface="Times New Roman" panose="02020603050405020304" pitchFamily="18" charset="0"/>
              </a:rPr>
              <a:t>,</a:t>
            </a:r>
          </a:p>
          <a:p>
            <a:pPr marL="0" indent="0">
              <a:buNone/>
            </a:pPr>
            <a:r>
              <a:rPr lang="en-GB" sz="1600" dirty="0" smtClean="0">
                <a:latin typeface="Times New Roman" panose="02020603050405020304" pitchFamily="18" charset="0"/>
                <a:cs typeface="Times New Roman" panose="02020603050405020304" pitchFamily="18" charset="0"/>
              </a:rPr>
              <a:t>apply </a:t>
            </a:r>
            <a:r>
              <a:rPr lang="en-GB" sz="1600" dirty="0">
                <a:latin typeface="Times New Roman" panose="02020603050405020304" pitchFamily="18" charset="0"/>
                <a:cs typeface="Times New Roman" panose="02020603050405020304" pitchFamily="18" charset="0"/>
              </a:rPr>
              <a:t>Bordeaux paste up to 30 cm </a:t>
            </a:r>
            <a:endParaRPr lang="en-GB" sz="1600" dirty="0" smtClean="0">
              <a:latin typeface="Times New Roman" panose="02020603050405020304" pitchFamily="18" charset="0"/>
              <a:cs typeface="Times New Roman" panose="02020603050405020304" pitchFamily="18" charset="0"/>
            </a:endParaRPr>
          </a:p>
          <a:p>
            <a:pPr marL="0" indent="0">
              <a:buNone/>
            </a:pPr>
            <a:r>
              <a:rPr lang="en-GB" sz="1600" dirty="0" smtClean="0">
                <a:latin typeface="Times New Roman" panose="02020603050405020304" pitchFamily="18" charset="0"/>
                <a:cs typeface="Times New Roman" panose="02020603050405020304" pitchFamily="18" charset="0"/>
              </a:rPr>
              <a:t>above </a:t>
            </a:r>
            <a:r>
              <a:rPr lang="en-GB" sz="1600" dirty="0">
                <a:latin typeface="Times New Roman" panose="02020603050405020304" pitchFamily="18" charset="0"/>
                <a:cs typeface="Times New Roman" panose="02020603050405020304" pitchFamily="18" charset="0"/>
              </a:rPr>
              <a:t>and below the affected region.</a:t>
            </a:r>
          </a:p>
          <a:p>
            <a:pPr marL="0" indent="0">
              <a:buNone/>
            </a:pPr>
            <a:endParaRPr lang="en-GB" sz="1600" dirty="0">
              <a:latin typeface="Times New Roman" panose="02020603050405020304" pitchFamily="18" charset="0"/>
              <a:cs typeface="Times New Roman" panose="02020603050405020304" pitchFamily="18" charset="0"/>
            </a:endParaRPr>
          </a:p>
          <a:p>
            <a:pPr marL="0" indent="0">
              <a:buNone/>
            </a:pPr>
            <a:endParaRPr lang="en-GB" sz="1600" dirty="0">
              <a:latin typeface="Times New Roman" panose="02020603050405020304" pitchFamily="18" charset="0"/>
              <a:cs typeface="Times New Roman" panose="02020603050405020304" pitchFamily="18" charset="0"/>
            </a:endParaRPr>
          </a:p>
          <a:p>
            <a:pPr marL="0" indent="0">
              <a:buNone/>
            </a:pPr>
            <a:endParaRPr lang="en-GB"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67A114D-D537-CD1C-8C47-97694727E3A1}"/>
              </a:ext>
            </a:extLst>
          </p:cNvPr>
          <p:cNvPicPr>
            <a:picLocks noChangeAspect="1"/>
          </p:cNvPicPr>
          <p:nvPr/>
        </p:nvPicPr>
        <p:blipFill rotWithShape="1">
          <a:blip r:embed="rId2">
            <a:extLst>
              <a:ext uri="{28A0092B-C50C-407E-A947-70E740481C1C}">
                <a14:useLocalDpi xmlns:a14="http://schemas.microsoft.com/office/drawing/2010/main" val="0"/>
              </a:ext>
            </a:extLst>
          </a:blip>
          <a:srcRect l="50000" t="21281" r="22096" b="1"/>
          <a:stretch/>
        </p:blipFill>
        <p:spPr>
          <a:xfrm>
            <a:off x="1908979" y="1757548"/>
            <a:ext cx="4453203" cy="1852552"/>
          </a:xfrm>
          <a:prstGeom prst="rect">
            <a:avLst/>
          </a:prstGeom>
        </p:spPr>
      </p:pic>
      <p:pic>
        <p:nvPicPr>
          <p:cNvPr id="7" name="Picture 6">
            <a:extLst>
              <a:ext uri="{FF2B5EF4-FFF2-40B4-BE49-F238E27FC236}">
                <a16:creationId xmlns:a16="http://schemas.microsoft.com/office/drawing/2014/main" id="{AADA4DB6-9756-85EE-E9C0-73E1C63E5432}"/>
              </a:ext>
            </a:extLst>
          </p:cNvPr>
          <p:cNvPicPr>
            <a:picLocks noChangeAspect="1"/>
          </p:cNvPicPr>
          <p:nvPr/>
        </p:nvPicPr>
        <p:blipFill rotWithShape="1">
          <a:blip r:embed="rId3">
            <a:extLst>
              <a:ext uri="{28A0092B-C50C-407E-A947-70E740481C1C}">
                <a14:useLocalDpi xmlns:a14="http://schemas.microsoft.com/office/drawing/2010/main" val="0"/>
              </a:ext>
            </a:extLst>
          </a:blip>
          <a:srcRect l="53320" t="22412" r="8957"/>
          <a:stretch/>
        </p:blipFill>
        <p:spPr>
          <a:xfrm>
            <a:off x="4706112" y="4852417"/>
            <a:ext cx="2555032" cy="1754444"/>
          </a:xfrm>
          <a:prstGeom prst="rect">
            <a:avLst/>
          </a:prstGeom>
        </p:spPr>
      </p:pic>
    </p:spTree>
    <p:extLst>
      <p:ext uri="{BB962C8B-B14F-4D97-AF65-F5344CB8AC3E}">
        <p14:creationId xmlns:p14="http://schemas.microsoft.com/office/powerpoint/2010/main" val="1043443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13E45E-8787-ECD2-BD9D-940673A79FE9}"/>
              </a:ext>
            </a:extLst>
          </p:cNvPr>
          <p:cNvSpPr>
            <a:spLocks noGrp="1"/>
          </p:cNvSpPr>
          <p:nvPr>
            <p:ph idx="1"/>
          </p:nvPr>
        </p:nvSpPr>
        <p:spPr>
          <a:xfrm>
            <a:off x="805149" y="437500"/>
            <a:ext cx="10515600" cy="5654828"/>
          </a:xfrm>
        </p:spPr>
        <p:txBody>
          <a:bodyPr/>
          <a:lstStyle/>
          <a:p>
            <a:pPr marL="0" indent="0">
              <a:buNone/>
            </a:pPr>
            <a:r>
              <a:rPr lang="en-GB" b="1" dirty="0"/>
              <a:t>Bark rot; </a:t>
            </a:r>
            <a:r>
              <a:rPr lang="en-GB" dirty="0"/>
              <a:t>during rainy season , when trees are tapped ,depressions are formed in the tapping panel due to localised rotting and drying bark.</a:t>
            </a:r>
          </a:p>
          <a:p>
            <a:pPr marL="0" indent="0">
              <a:buNone/>
            </a:pPr>
            <a:r>
              <a:rPr lang="en-GB" b="1" dirty="0"/>
              <a:t>Control: </a:t>
            </a:r>
            <a:r>
              <a:rPr lang="en-GB" dirty="0"/>
              <a:t>the tapping cut and nearby bark should  be washed with phosphorous acid (0.08) at weekly intervals.</a:t>
            </a:r>
          </a:p>
          <a:p>
            <a:pPr marL="0" indent="0">
              <a:buNone/>
            </a:pPr>
            <a:endParaRPr lang="en-GB" dirty="0"/>
          </a:p>
        </p:txBody>
      </p:sp>
      <p:pic>
        <p:nvPicPr>
          <p:cNvPr id="5" name="Picture 4">
            <a:extLst>
              <a:ext uri="{FF2B5EF4-FFF2-40B4-BE49-F238E27FC236}">
                <a16:creationId xmlns:a16="http://schemas.microsoft.com/office/drawing/2014/main" id="{A1190874-9280-FF64-4FBA-E66E9C70C2D7}"/>
              </a:ext>
            </a:extLst>
          </p:cNvPr>
          <p:cNvPicPr>
            <a:picLocks noChangeAspect="1"/>
          </p:cNvPicPr>
          <p:nvPr/>
        </p:nvPicPr>
        <p:blipFill rotWithShape="1">
          <a:blip r:embed="rId2">
            <a:extLst>
              <a:ext uri="{28A0092B-C50C-407E-A947-70E740481C1C}">
                <a14:useLocalDpi xmlns:a14="http://schemas.microsoft.com/office/drawing/2010/main" val="0"/>
              </a:ext>
            </a:extLst>
          </a:blip>
          <a:srcRect l="52096" t="19877" r="4560"/>
          <a:stretch/>
        </p:blipFill>
        <p:spPr>
          <a:xfrm>
            <a:off x="1710082" y="2882754"/>
            <a:ext cx="6523630" cy="2739789"/>
          </a:xfrm>
          <a:prstGeom prst="rect">
            <a:avLst/>
          </a:prstGeom>
        </p:spPr>
      </p:pic>
    </p:spTree>
    <p:extLst>
      <p:ext uri="{BB962C8B-B14F-4D97-AF65-F5344CB8AC3E}">
        <p14:creationId xmlns:p14="http://schemas.microsoft.com/office/powerpoint/2010/main" val="2601152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A46312-052B-79DD-81D4-2A20579A218C}"/>
              </a:ext>
            </a:extLst>
          </p:cNvPr>
          <p:cNvSpPr>
            <a:spLocks noGrp="1"/>
          </p:cNvSpPr>
          <p:nvPr>
            <p:ph idx="1"/>
          </p:nvPr>
        </p:nvSpPr>
        <p:spPr>
          <a:xfrm>
            <a:off x="163773" y="90152"/>
            <a:ext cx="11190027" cy="7020332"/>
          </a:xfrm>
        </p:spPr>
        <p:txBody>
          <a:bodyPr>
            <a:normAutofit/>
          </a:bodyPr>
          <a:lstStyle/>
          <a:p>
            <a:pPr marL="0" indent="0">
              <a:buNone/>
            </a:pPr>
            <a:r>
              <a:rPr lang="en-GB" b="1" dirty="0"/>
              <a:t>Insects</a:t>
            </a:r>
            <a:r>
              <a:rPr lang="en-GB" dirty="0"/>
              <a:t> </a:t>
            </a:r>
          </a:p>
          <a:p>
            <a:pPr marL="0" indent="0">
              <a:buNone/>
            </a:pPr>
            <a:r>
              <a:rPr lang="en-GB" b="1" dirty="0"/>
              <a:t>Termite</a:t>
            </a:r>
          </a:p>
          <a:p>
            <a:r>
              <a:rPr lang="en-GB" dirty="0"/>
              <a:t>Practice good sanitation in plantation</a:t>
            </a:r>
          </a:p>
          <a:p>
            <a:r>
              <a:rPr lang="en-GB" dirty="0"/>
              <a:t> destroy early colonies of termites</a:t>
            </a:r>
          </a:p>
          <a:p>
            <a:r>
              <a:rPr lang="en-GB" dirty="0"/>
              <a:t>Regularly inspect termite tunnel sand and destroy them</a:t>
            </a:r>
          </a:p>
          <a:p>
            <a:endParaRPr lang="en-GB" dirty="0"/>
          </a:p>
          <a:p>
            <a:pPr marL="0" indent="0">
              <a:buNone/>
            </a:pPr>
            <a:endParaRPr lang="en-GB" dirty="0"/>
          </a:p>
          <a:p>
            <a:pPr marL="0" indent="0">
              <a:buNone/>
            </a:pPr>
            <a:endParaRPr lang="en-GB" dirty="0"/>
          </a:p>
          <a:p>
            <a:pPr marL="0" indent="0">
              <a:buNone/>
            </a:pPr>
            <a:r>
              <a:rPr lang="en-GB" b="1" dirty="0"/>
              <a:t>Root feeding grubs</a:t>
            </a:r>
          </a:p>
          <a:p>
            <a:r>
              <a:rPr lang="en-GB" dirty="0"/>
              <a:t>Do not apply insecticides since the grubs have many natural enemies</a:t>
            </a:r>
          </a:p>
          <a:p>
            <a:r>
              <a:rPr lang="en-GB" dirty="0"/>
              <a:t>Use polybags in raising rubber seedling to prevent grub attack</a:t>
            </a:r>
          </a:p>
          <a:p>
            <a:pPr marL="0" indent="0">
              <a:buNone/>
            </a:pPr>
            <a:endParaRPr lang="en-GB" dirty="0"/>
          </a:p>
          <a:p>
            <a:endParaRPr lang="en-GB" dirty="0"/>
          </a:p>
          <a:p>
            <a:endParaRPr lang="en-GB" dirty="0"/>
          </a:p>
          <a:p>
            <a:endParaRPr lang="en-GB" dirty="0"/>
          </a:p>
          <a:p>
            <a:endParaRPr lang="en-GB" dirty="0"/>
          </a:p>
          <a:p>
            <a:endParaRPr lang="en-GB" dirty="0"/>
          </a:p>
        </p:txBody>
      </p:sp>
      <p:pic>
        <p:nvPicPr>
          <p:cNvPr id="5" name="Picture 4">
            <a:extLst>
              <a:ext uri="{FF2B5EF4-FFF2-40B4-BE49-F238E27FC236}">
                <a16:creationId xmlns:a16="http://schemas.microsoft.com/office/drawing/2014/main" id="{CF0EB574-6DCA-2067-B92B-08219F9AD179}"/>
              </a:ext>
            </a:extLst>
          </p:cNvPr>
          <p:cNvPicPr>
            <a:picLocks noChangeAspect="1"/>
          </p:cNvPicPr>
          <p:nvPr/>
        </p:nvPicPr>
        <p:blipFill rotWithShape="1">
          <a:blip r:embed="rId2">
            <a:extLst>
              <a:ext uri="{28A0092B-C50C-407E-A947-70E740481C1C}">
                <a14:useLocalDpi xmlns:a14="http://schemas.microsoft.com/office/drawing/2010/main" val="0"/>
              </a:ext>
            </a:extLst>
          </a:blip>
          <a:srcRect l="30761" t="46707" r="4559" b="8990"/>
          <a:stretch/>
        </p:blipFill>
        <p:spPr>
          <a:xfrm>
            <a:off x="838200" y="2716865"/>
            <a:ext cx="4585647" cy="1392071"/>
          </a:xfrm>
          <a:prstGeom prst="rect">
            <a:avLst/>
          </a:prstGeom>
        </p:spPr>
      </p:pic>
      <p:pic>
        <p:nvPicPr>
          <p:cNvPr id="7" name="Picture 6">
            <a:extLst>
              <a:ext uri="{FF2B5EF4-FFF2-40B4-BE49-F238E27FC236}">
                <a16:creationId xmlns:a16="http://schemas.microsoft.com/office/drawing/2014/main" id="{B9EF6A6E-78FE-92C1-1F49-505CA8BBE5DA}"/>
              </a:ext>
            </a:extLst>
          </p:cNvPr>
          <p:cNvPicPr>
            <a:picLocks noChangeAspect="1"/>
          </p:cNvPicPr>
          <p:nvPr/>
        </p:nvPicPr>
        <p:blipFill rotWithShape="1">
          <a:blip r:embed="rId3">
            <a:extLst>
              <a:ext uri="{28A0092B-C50C-407E-A947-70E740481C1C}">
                <a14:useLocalDpi xmlns:a14="http://schemas.microsoft.com/office/drawing/2010/main" val="0"/>
              </a:ext>
            </a:extLst>
          </a:blip>
          <a:srcRect l="26044" t="50000" r="43188" b="4600"/>
          <a:stretch/>
        </p:blipFill>
        <p:spPr>
          <a:xfrm>
            <a:off x="1419367" y="5718413"/>
            <a:ext cx="3248167" cy="1392071"/>
          </a:xfrm>
          <a:prstGeom prst="rect">
            <a:avLst/>
          </a:prstGeom>
        </p:spPr>
      </p:pic>
    </p:spTree>
    <p:extLst>
      <p:ext uri="{BB962C8B-B14F-4D97-AF65-F5344CB8AC3E}">
        <p14:creationId xmlns:p14="http://schemas.microsoft.com/office/powerpoint/2010/main" val="2857565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5EE888-F917-2A4C-56AE-54E1F3409B7E}"/>
              </a:ext>
            </a:extLst>
          </p:cNvPr>
          <p:cNvSpPr>
            <a:spLocks noGrp="1"/>
          </p:cNvSpPr>
          <p:nvPr>
            <p:ph idx="1"/>
          </p:nvPr>
        </p:nvSpPr>
        <p:spPr>
          <a:xfrm>
            <a:off x="838200" y="300251"/>
            <a:ext cx="10515600" cy="6878471"/>
          </a:xfrm>
        </p:spPr>
        <p:txBody>
          <a:bodyPr/>
          <a:lstStyle/>
          <a:p>
            <a:pPr marL="0" indent="0">
              <a:buNone/>
            </a:pPr>
            <a:r>
              <a:rPr lang="en-GB" b="1" dirty="0"/>
              <a:t>Mealybugs</a:t>
            </a:r>
          </a:p>
          <a:p>
            <a:r>
              <a:rPr lang="en-GB" dirty="0"/>
              <a:t>Mealy bugs are hosts to many parasitic wasps of the family encyrtide</a:t>
            </a:r>
          </a:p>
          <a:p>
            <a:r>
              <a:rPr lang="en-GB" dirty="0"/>
              <a:t>The parasitic wasps have to be conserved </a:t>
            </a:r>
            <a:r>
              <a:rPr lang="en-GB" dirty="0" smtClean="0"/>
              <a:t>in order </a:t>
            </a:r>
            <a:r>
              <a:rPr lang="en-GB" dirty="0"/>
              <a:t>to optimize their role in checking the population of mealybugs</a:t>
            </a:r>
          </a:p>
          <a:p>
            <a:r>
              <a:rPr lang="en-GB" dirty="0"/>
              <a:t>Newly established population of mealybugs may be sprayed with soap solution to suffocate them to death(insecticidal soap, used to control soft bodied insects)</a:t>
            </a:r>
          </a:p>
          <a:p>
            <a:r>
              <a:rPr lang="en-GB" dirty="0"/>
              <a:t>During severe infestation, dimethoate may be sprayed</a:t>
            </a:r>
          </a:p>
          <a:p>
            <a:endParaRPr lang="en-GB" dirty="0"/>
          </a:p>
          <a:p>
            <a:pPr marL="0" indent="0">
              <a:buNone/>
            </a:pPr>
            <a:endParaRPr lang="en-GB" dirty="0"/>
          </a:p>
        </p:txBody>
      </p:sp>
      <p:pic>
        <p:nvPicPr>
          <p:cNvPr id="5" name="Picture 4">
            <a:extLst>
              <a:ext uri="{FF2B5EF4-FFF2-40B4-BE49-F238E27FC236}">
                <a16:creationId xmlns:a16="http://schemas.microsoft.com/office/drawing/2014/main" id="{C314EF97-993B-C3A2-39F5-B45E81D4C9B4}"/>
              </a:ext>
            </a:extLst>
          </p:cNvPr>
          <p:cNvPicPr>
            <a:picLocks noChangeAspect="1"/>
          </p:cNvPicPr>
          <p:nvPr/>
        </p:nvPicPr>
        <p:blipFill rotWithShape="1">
          <a:blip r:embed="rId2">
            <a:extLst>
              <a:ext uri="{28A0092B-C50C-407E-A947-70E740481C1C}">
                <a14:useLocalDpi xmlns:a14="http://schemas.microsoft.com/office/drawing/2010/main" val="0"/>
              </a:ext>
            </a:extLst>
          </a:blip>
          <a:srcRect l="51871" t="25155" r="6357" b="4600"/>
          <a:stretch/>
        </p:blipFill>
        <p:spPr>
          <a:xfrm>
            <a:off x="996286" y="4155743"/>
            <a:ext cx="4585647" cy="2402006"/>
          </a:xfrm>
          <a:prstGeom prst="rect">
            <a:avLst/>
          </a:prstGeom>
        </p:spPr>
      </p:pic>
    </p:spTree>
    <p:extLst>
      <p:ext uri="{BB962C8B-B14F-4D97-AF65-F5344CB8AC3E}">
        <p14:creationId xmlns:p14="http://schemas.microsoft.com/office/powerpoint/2010/main" val="2051366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DC725A-B417-B453-CB74-E94B6D811EB8}"/>
              </a:ext>
            </a:extLst>
          </p:cNvPr>
          <p:cNvSpPr>
            <a:spLocks noGrp="1"/>
          </p:cNvSpPr>
          <p:nvPr>
            <p:ph idx="1"/>
          </p:nvPr>
        </p:nvSpPr>
        <p:spPr>
          <a:xfrm>
            <a:off x="838200" y="296214"/>
            <a:ext cx="10515600" cy="5880749"/>
          </a:xfrm>
        </p:spPr>
        <p:txBody>
          <a:bodyPr>
            <a:normAutofit/>
          </a:bodyPr>
          <a:lstStyle/>
          <a:p>
            <a:pPr marL="0" indent="0">
              <a:buNone/>
            </a:pPr>
            <a:r>
              <a:rPr lang="en-GB" b="1" dirty="0"/>
              <a:t>Whitefly</a:t>
            </a:r>
          </a:p>
          <a:p>
            <a:r>
              <a:rPr lang="en-GB" dirty="0"/>
              <a:t>Tiny wasps</a:t>
            </a:r>
          </a:p>
          <a:p>
            <a:r>
              <a:rPr lang="en-GB" dirty="0"/>
              <a:t>If the </a:t>
            </a:r>
            <a:r>
              <a:rPr lang="en-GB" dirty="0" smtClean="0"/>
              <a:t>population </a:t>
            </a:r>
            <a:r>
              <a:rPr lang="en-GB" dirty="0"/>
              <a:t>of whitefly is newly established, soap solution may be sprayed underneath rubber leaves.</a:t>
            </a:r>
          </a:p>
          <a:p>
            <a:r>
              <a:rPr lang="en-GB" dirty="0"/>
              <a:t>During heavy infestation deltamethrin may be used.</a:t>
            </a:r>
          </a:p>
          <a:p>
            <a:pPr marL="0" indent="0">
              <a:buNone/>
            </a:pPr>
            <a:endParaRPr lang="en-GB" dirty="0"/>
          </a:p>
          <a:p>
            <a:pPr marL="0" indent="0">
              <a:buNone/>
            </a:pPr>
            <a:r>
              <a:rPr lang="en-GB" dirty="0"/>
              <a:t>.</a:t>
            </a:r>
          </a:p>
        </p:txBody>
      </p:sp>
      <p:pic>
        <p:nvPicPr>
          <p:cNvPr id="5" name="Picture 4">
            <a:extLst>
              <a:ext uri="{FF2B5EF4-FFF2-40B4-BE49-F238E27FC236}">
                <a16:creationId xmlns:a16="http://schemas.microsoft.com/office/drawing/2014/main" id="{98424B54-DF50-9E2E-3055-D41C5EDB92D1}"/>
              </a:ext>
            </a:extLst>
          </p:cNvPr>
          <p:cNvPicPr>
            <a:picLocks noChangeAspect="1"/>
          </p:cNvPicPr>
          <p:nvPr/>
        </p:nvPicPr>
        <p:blipFill rotWithShape="1">
          <a:blip r:embed="rId2">
            <a:extLst>
              <a:ext uri="{28A0092B-C50C-407E-A947-70E740481C1C}">
                <a14:useLocalDpi xmlns:a14="http://schemas.microsoft.com/office/drawing/2010/main" val="0"/>
              </a:ext>
            </a:extLst>
          </a:blip>
          <a:srcRect l="50000" t="31541" r="4110" b="8192"/>
          <a:stretch/>
        </p:blipFill>
        <p:spPr>
          <a:xfrm>
            <a:off x="1528549" y="3657600"/>
            <a:ext cx="5240742" cy="2060812"/>
          </a:xfrm>
          <a:prstGeom prst="rect">
            <a:avLst/>
          </a:prstGeom>
        </p:spPr>
      </p:pic>
    </p:spTree>
    <p:extLst>
      <p:ext uri="{BB962C8B-B14F-4D97-AF65-F5344CB8AC3E}">
        <p14:creationId xmlns:p14="http://schemas.microsoft.com/office/powerpoint/2010/main" val="4293962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6F29E9-E9CB-A3EE-E883-755B28F0572C}"/>
              </a:ext>
            </a:extLst>
          </p:cNvPr>
          <p:cNvSpPr>
            <a:spLocks noGrp="1"/>
          </p:cNvSpPr>
          <p:nvPr>
            <p:ph idx="1"/>
          </p:nvPr>
        </p:nvSpPr>
        <p:spPr>
          <a:xfrm>
            <a:off x="838200" y="982639"/>
            <a:ext cx="10515600" cy="5194324"/>
          </a:xfrm>
        </p:spPr>
        <p:txBody>
          <a:bodyPr/>
          <a:lstStyle/>
          <a:p>
            <a:pPr marL="0" indent="0">
              <a:buNone/>
            </a:pPr>
            <a:r>
              <a:rPr lang="en-GB" b="1" dirty="0"/>
              <a:t>RUBBER  HARVESTING</a:t>
            </a:r>
          </a:p>
          <a:p>
            <a:r>
              <a:rPr lang="en-GB" dirty="0"/>
              <a:t>Latex is obtained from the bark of the rubber tree by tapping. The technique is also called as ridley.</a:t>
            </a:r>
          </a:p>
          <a:p>
            <a:r>
              <a:rPr lang="en-GB" dirty="0"/>
              <a:t>During the 6</a:t>
            </a:r>
            <a:r>
              <a:rPr lang="en-GB" baseline="30000" dirty="0"/>
              <a:t>th</a:t>
            </a:r>
            <a:r>
              <a:rPr lang="en-GB" dirty="0"/>
              <a:t> year the trunk is about 50 cm . At this stage the tree is ready for tapping  and the yield increases gradually </a:t>
            </a:r>
            <a:r>
              <a:rPr lang="en-GB" dirty="0" smtClean="0"/>
              <a:t>up to </a:t>
            </a:r>
            <a:r>
              <a:rPr lang="en-GB" dirty="0"/>
              <a:t>11</a:t>
            </a:r>
            <a:r>
              <a:rPr lang="en-GB" baseline="30000" dirty="0"/>
              <a:t>th</a:t>
            </a:r>
            <a:r>
              <a:rPr lang="en-GB" dirty="0"/>
              <a:t> year when they will stabilise</a:t>
            </a:r>
          </a:p>
          <a:p>
            <a:r>
              <a:rPr lang="en-GB" dirty="0"/>
              <a:t>The year wise yield parameters considered from the 6</a:t>
            </a:r>
            <a:r>
              <a:rPr lang="en-GB" baseline="30000" dirty="0"/>
              <a:t>th</a:t>
            </a:r>
            <a:r>
              <a:rPr lang="en-GB" dirty="0"/>
              <a:t> year to the 11</a:t>
            </a:r>
            <a:r>
              <a:rPr lang="en-GB" baseline="30000" dirty="0"/>
              <a:t>th</a:t>
            </a:r>
            <a:r>
              <a:rPr lang="en-GB" dirty="0"/>
              <a:t> year is  900,1300,1500,1800 and 2000 kg per ha respectively beyond which the yield is the same. </a:t>
            </a:r>
            <a:endParaRPr lang="en-GB" dirty="0" smtClean="0"/>
          </a:p>
          <a:p>
            <a:r>
              <a:rPr lang="en-GB" dirty="0" smtClean="0"/>
              <a:t>The </a:t>
            </a:r>
            <a:r>
              <a:rPr lang="en-GB" dirty="0"/>
              <a:t>economic life of rubber is considered as 25 years</a:t>
            </a:r>
          </a:p>
        </p:txBody>
      </p:sp>
    </p:spTree>
    <p:extLst>
      <p:ext uri="{BB962C8B-B14F-4D97-AF65-F5344CB8AC3E}">
        <p14:creationId xmlns:p14="http://schemas.microsoft.com/office/powerpoint/2010/main" val="2069830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BC1FF1-4AA9-BBC4-CBB1-D73A5C678119}"/>
              </a:ext>
            </a:extLst>
          </p:cNvPr>
          <p:cNvSpPr>
            <a:spLocks noGrp="1"/>
          </p:cNvSpPr>
          <p:nvPr>
            <p:ph idx="1"/>
          </p:nvPr>
        </p:nvSpPr>
        <p:spPr>
          <a:xfrm>
            <a:off x="838200" y="115910"/>
            <a:ext cx="10515600" cy="6061053"/>
          </a:xfrm>
        </p:spPr>
        <p:txBody>
          <a:bodyPr>
            <a:normAutofit/>
          </a:bodyPr>
          <a:lstStyle/>
          <a:p>
            <a:r>
              <a:rPr lang="en-GB" dirty="0"/>
              <a:t>Tapping direction</a:t>
            </a:r>
          </a:p>
          <a:p>
            <a:pPr marL="0" indent="0">
              <a:buNone/>
            </a:pPr>
            <a:endParaRPr lang="en-GB" dirty="0"/>
          </a:p>
          <a:p>
            <a:pPr marL="0" indent="0">
              <a:buNone/>
            </a:pPr>
            <a:endParaRPr lang="en-GB" dirty="0"/>
          </a:p>
          <a:p>
            <a:endParaRPr lang="en-GB" dirty="0"/>
          </a:p>
          <a:p>
            <a:endParaRPr lang="en-GB" dirty="0" smtClean="0"/>
          </a:p>
          <a:p>
            <a:endParaRPr lang="en-GB" dirty="0"/>
          </a:p>
          <a:p>
            <a:endParaRPr lang="en-GB" dirty="0" smtClean="0"/>
          </a:p>
          <a:p>
            <a:endParaRPr lang="en-GB" dirty="0"/>
          </a:p>
          <a:p>
            <a:r>
              <a:rPr lang="en-GB" dirty="0" smtClean="0"/>
              <a:t>The </a:t>
            </a:r>
            <a:r>
              <a:rPr lang="en-GB" dirty="0"/>
              <a:t>slope cut is recommended at an angle of 30 </a:t>
            </a:r>
            <a:r>
              <a:rPr lang="en-GB" dirty="0" smtClean="0"/>
              <a:t>degrees</a:t>
            </a:r>
          </a:p>
          <a:p>
            <a:pPr marL="0" indent="0">
              <a:buNone/>
            </a:pPr>
            <a:endParaRPr lang="en-GB" dirty="0"/>
          </a:p>
        </p:txBody>
      </p:sp>
      <p:pic>
        <p:nvPicPr>
          <p:cNvPr id="5" name="Picture 4">
            <a:extLst>
              <a:ext uri="{FF2B5EF4-FFF2-40B4-BE49-F238E27FC236}">
                <a16:creationId xmlns:a16="http://schemas.microsoft.com/office/drawing/2014/main" id="{9CD31AA0-5D18-C5E3-B02B-5B0921839572}"/>
              </a:ext>
            </a:extLst>
          </p:cNvPr>
          <p:cNvPicPr>
            <a:picLocks noChangeAspect="1"/>
          </p:cNvPicPr>
          <p:nvPr/>
        </p:nvPicPr>
        <p:blipFill rotWithShape="1">
          <a:blip r:embed="rId2">
            <a:extLst>
              <a:ext uri="{28A0092B-C50C-407E-A947-70E740481C1C}">
                <a14:useLocalDpi xmlns:a14="http://schemas.microsoft.com/office/drawing/2010/main" val="0"/>
              </a:ext>
            </a:extLst>
          </a:blip>
          <a:srcRect l="5383" t="54690" r="5907"/>
          <a:stretch/>
        </p:blipFill>
        <p:spPr>
          <a:xfrm>
            <a:off x="1317914" y="738130"/>
            <a:ext cx="8200659" cy="2952521"/>
          </a:xfrm>
          <a:prstGeom prst="rect">
            <a:avLst/>
          </a:prstGeom>
        </p:spPr>
      </p:pic>
    </p:spTree>
    <p:extLst>
      <p:ext uri="{BB962C8B-B14F-4D97-AF65-F5344CB8AC3E}">
        <p14:creationId xmlns:p14="http://schemas.microsoft.com/office/powerpoint/2010/main" val="1845447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9B7D13-6B44-2DBD-5F90-94ED5ECC032F}"/>
              </a:ext>
            </a:extLst>
          </p:cNvPr>
          <p:cNvSpPr>
            <a:spLocks noGrp="1"/>
          </p:cNvSpPr>
          <p:nvPr>
            <p:ph idx="1"/>
          </p:nvPr>
        </p:nvSpPr>
        <p:spPr>
          <a:xfrm>
            <a:off x="661930" y="525633"/>
            <a:ext cx="10515600" cy="4696361"/>
          </a:xfrm>
        </p:spPr>
        <p:txBody>
          <a:bodyPr>
            <a:normAutofit fontScale="77500" lnSpcReduction="20000"/>
          </a:bodyPr>
          <a:lstStyle/>
          <a:p>
            <a:pPr marL="0" indent="0">
              <a:buNone/>
            </a:pPr>
            <a:r>
              <a:rPr lang="en-GB" b="1" dirty="0"/>
              <a:t>Processing</a:t>
            </a:r>
          </a:p>
          <a:p>
            <a:pPr marL="514350" indent="-514350">
              <a:buAutoNum type="arabicPeriod"/>
            </a:pPr>
            <a:r>
              <a:rPr lang="en-GB" dirty="0"/>
              <a:t>The separation of fine sand particles and dirty from the field latex by stirring alone is found impractical due to high viscosity, there is need to dilute with water ,the fluidity of latex increases and separation of fine sand and dirty will be facilitated</a:t>
            </a:r>
          </a:p>
          <a:p>
            <a:pPr marL="514350" indent="-514350">
              <a:buAutoNum type="arabicPeriod"/>
            </a:pPr>
            <a:r>
              <a:rPr lang="en-GB" dirty="0"/>
              <a:t>Coagulation, the latex is coagulated in metal pans using dilute acid. This pan is filled with a soft cake of coagulated latex.</a:t>
            </a:r>
          </a:p>
          <a:p>
            <a:pPr marL="514350" indent="-514350">
              <a:buAutoNum type="arabicPeriod"/>
            </a:pPr>
            <a:endParaRPr lang="en-GB" dirty="0" smtClean="0"/>
          </a:p>
          <a:p>
            <a:pPr marL="514350" indent="-514350">
              <a:buAutoNum type="arabicPeriod"/>
            </a:pPr>
            <a:r>
              <a:rPr lang="en-GB" dirty="0" smtClean="0"/>
              <a:t>Rolling </a:t>
            </a:r>
            <a:r>
              <a:rPr lang="en-GB" dirty="0"/>
              <a:t>, after coagulation the cake of raw rubber is rolled to remove the water and washed to remove the acid</a:t>
            </a:r>
          </a:p>
          <a:p>
            <a:pPr marL="514350" indent="-514350">
              <a:buAutoNum type="arabicPeriod"/>
            </a:pPr>
            <a:r>
              <a:rPr lang="en-GB" dirty="0"/>
              <a:t>Drying , after rolling the sheet of raw rubber is dried on a rack and smoked (40-60)degrees. Smoking </a:t>
            </a:r>
            <a:r>
              <a:rPr lang="en-GB" dirty="0" err="1"/>
              <a:t>stabillies</a:t>
            </a:r>
            <a:r>
              <a:rPr lang="en-GB" dirty="0"/>
              <a:t> the rubber and in this form it is sold and </a:t>
            </a:r>
            <a:r>
              <a:rPr lang="en-GB" dirty="0" err="1"/>
              <a:t>trasported</a:t>
            </a:r>
            <a:r>
              <a:rPr lang="en-GB" dirty="0"/>
              <a:t>  to manufactures of rubber products.        </a:t>
            </a:r>
          </a:p>
          <a:p>
            <a:pPr marL="0" indent="0">
              <a:buNone/>
            </a:pPr>
            <a:r>
              <a:rPr lang="en-GB" dirty="0"/>
              <a:t>End - products include;</a:t>
            </a:r>
          </a:p>
          <a:p>
            <a:pPr marL="0" indent="0">
              <a:buNone/>
            </a:pPr>
            <a:r>
              <a:rPr lang="en-GB" dirty="0"/>
              <a:t>Ballons , gloves, condoms ETC</a:t>
            </a:r>
          </a:p>
        </p:txBody>
      </p:sp>
    </p:spTree>
    <p:extLst>
      <p:ext uri="{BB962C8B-B14F-4D97-AF65-F5344CB8AC3E}">
        <p14:creationId xmlns:p14="http://schemas.microsoft.com/office/powerpoint/2010/main" val="8292930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12188</TotalTime>
  <Words>878</Words>
  <Application>Microsoft Office PowerPoint</Application>
  <PresentationFormat>Widescreen</PresentationFormat>
  <Paragraphs>107</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Rubber plantation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Rubber plantation </dc:title>
  <dc:creator>Milcah Kalinga</dc:creator>
  <cp:lastModifiedBy>hp</cp:lastModifiedBy>
  <cp:revision>38</cp:revision>
  <dcterms:created xsi:type="dcterms:W3CDTF">2024-09-01T19:34:44Z</dcterms:created>
  <dcterms:modified xsi:type="dcterms:W3CDTF">2025-08-17T05:39:07Z</dcterms:modified>
</cp:coreProperties>
</file>