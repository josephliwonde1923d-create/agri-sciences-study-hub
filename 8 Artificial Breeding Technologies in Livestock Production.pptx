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tmp" ContentType="image/png"/>
  <Default Extension="vml" ContentType="application/vnd.openxmlformats-officedocument.vmlDrawi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3"/>
  </p:notesMasterIdLst>
  <p:sldIdLst>
    <p:sldId id="256" r:id="rId2"/>
    <p:sldId id="501" r:id="rId3"/>
    <p:sldId id="516" r:id="rId4"/>
    <p:sldId id="378" r:id="rId5"/>
    <p:sldId id="505" r:id="rId6"/>
    <p:sldId id="500" r:id="rId7"/>
    <p:sldId id="506" r:id="rId8"/>
    <p:sldId id="502" r:id="rId9"/>
    <p:sldId id="507" r:id="rId10"/>
    <p:sldId id="508" r:id="rId11"/>
    <p:sldId id="504" r:id="rId12"/>
    <p:sldId id="510" r:id="rId13"/>
    <p:sldId id="499" r:id="rId14"/>
    <p:sldId id="511" r:id="rId15"/>
    <p:sldId id="512" r:id="rId16"/>
    <p:sldId id="513" r:id="rId17"/>
    <p:sldId id="514" r:id="rId18"/>
    <p:sldId id="450" r:id="rId19"/>
    <p:sldId id="518" r:id="rId20"/>
    <p:sldId id="517" r:id="rId21"/>
    <p:sldId id="519" r:id="rId2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954" autoAdjust="0"/>
    <p:restoredTop sz="94622" autoAdjust="0"/>
  </p:normalViewPr>
  <p:slideViewPr>
    <p:cSldViewPr snapToGrid="0">
      <p:cViewPr varScale="1">
        <p:scale>
          <a:sx n="73" d="100"/>
          <a:sy n="73" d="100"/>
        </p:scale>
        <p:origin x="1236" y="66"/>
      </p:cViewPr>
      <p:guideLst>
        <p:guide orient="horz" pos="2160"/>
        <p:guide pos="2880"/>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5.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74C18B1-72DE-48AA-BFD7-0D5A7F933011}" type="datetimeFigureOut">
              <a:rPr lang="en-GB" smtClean="0"/>
              <a:t>14/01/2026</a:t>
            </a:fld>
            <a:endParaRPr lang="en-GB"/>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D71D7C1-5A09-4F0A-AD83-58B77AAF2BC1}" type="slidenum">
              <a:rPr lang="en-GB" smtClean="0"/>
              <a:t>‹#›</a:t>
            </a:fld>
            <a:endParaRPr lang="en-GB"/>
          </a:p>
        </p:txBody>
      </p:sp>
    </p:spTree>
    <p:extLst>
      <p:ext uri="{BB962C8B-B14F-4D97-AF65-F5344CB8AC3E}">
        <p14:creationId xmlns:p14="http://schemas.microsoft.com/office/powerpoint/2010/main" val="28204618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AD71D7C1-5A09-4F0A-AD83-58B77AAF2BC1}" type="slidenum">
              <a:rPr lang="en-GB" smtClean="0"/>
              <a:t>4</a:t>
            </a:fld>
            <a:endParaRPr lang="en-GB" dirty="0"/>
          </a:p>
        </p:txBody>
      </p:sp>
    </p:spTree>
    <p:extLst>
      <p:ext uri="{BB962C8B-B14F-4D97-AF65-F5344CB8AC3E}">
        <p14:creationId xmlns:p14="http://schemas.microsoft.com/office/powerpoint/2010/main" val="30798036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aseline="0" dirty="0"/>
              <a:t> a single straw may contain 20 x 10^6 spermatozoa</a:t>
            </a:r>
            <a:endParaRPr lang="en-GB" dirty="0"/>
          </a:p>
        </p:txBody>
      </p:sp>
      <p:sp>
        <p:nvSpPr>
          <p:cNvPr id="4" name="Slide Number Placeholder 3"/>
          <p:cNvSpPr>
            <a:spLocks noGrp="1"/>
          </p:cNvSpPr>
          <p:nvPr>
            <p:ph type="sldNum" sz="quarter" idx="10"/>
          </p:nvPr>
        </p:nvSpPr>
        <p:spPr/>
        <p:txBody>
          <a:bodyPr/>
          <a:lstStyle/>
          <a:p>
            <a:fld id="{AD71D7C1-5A09-4F0A-AD83-58B77AAF2BC1}" type="slidenum">
              <a:rPr lang="en-GB" smtClean="0"/>
              <a:t>6</a:t>
            </a:fld>
            <a:endParaRPr lang="en-GB" dirty="0"/>
          </a:p>
        </p:txBody>
      </p:sp>
    </p:spTree>
    <p:extLst>
      <p:ext uri="{BB962C8B-B14F-4D97-AF65-F5344CB8AC3E}">
        <p14:creationId xmlns:p14="http://schemas.microsoft.com/office/powerpoint/2010/main" val="30798036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a:t>Thawing of the semen needs to be rapid; slow thawing allows </a:t>
            </a:r>
            <a:r>
              <a:rPr lang="en-US" sz="1200" dirty="0" err="1"/>
              <a:t>recrystallisation</a:t>
            </a:r>
            <a:r>
              <a:rPr lang="en-US" sz="1200" dirty="0"/>
              <a:t> of ice within the </a:t>
            </a:r>
            <a:r>
              <a:rPr lang="en-GB" sz="1200" dirty="0"/>
              <a:t>cells, causing membrane damage.</a:t>
            </a:r>
          </a:p>
          <a:p>
            <a:endParaRPr lang="en-GB" dirty="0"/>
          </a:p>
        </p:txBody>
      </p:sp>
      <p:sp>
        <p:nvSpPr>
          <p:cNvPr id="4" name="Slide Number Placeholder 3"/>
          <p:cNvSpPr>
            <a:spLocks noGrp="1"/>
          </p:cNvSpPr>
          <p:nvPr>
            <p:ph type="sldNum" sz="quarter" idx="10"/>
          </p:nvPr>
        </p:nvSpPr>
        <p:spPr/>
        <p:txBody>
          <a:bodyPr/>
          <a:lstStyle/>
          <a:p>
            <a:fld id="{AD71D7C1-5A09-4F0A-AD83-58B77AAF2BC1}" type="slidenum">
              <a:rPr lang="en-GB" smtClean="0"/>
              <a:t>7</a:t>
            </a:fld>
            <a:endParaRPr lang="en-GB" dirty="0"/>
          </a:p>
        </p:txBody>
      </p:sp>
    </p:spTree>
    <p:extLst>
      <p:ext uri="{BB962C8B-B14F-4D97-AF65-F5344CB8AC3E}">
        <p14:creationId xmlns:p14="http://schemas.microsoft.com/office/powerpoint/2010/main" val="30798036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AD71D7C1-5A09-4F0A-AD83-58B77AAF2BC1}" type="slidenum">
              <a:rPr lang="en-GB" smtClean="0"/>
              <a:t>8</a:t>
            </a:fld>
            <a:endParaRPr lang="en-GB" dirty="0"/>
          </a:p>
        </p:txBody>
      </p:sp>
    </p:spTree>
    <p:extLst>
      <p:ext uri="{BB962C8B-B14F-4D97-AF65-F5344CB8AC3E}">
        <p14:creationId xmlns:p14="http://schemas.microsoft.com/office/powerpoint/2010/main" val="30798036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AD71D7C1-5A09-4F0A-AD83-58B77AAF2BC1}" type="slidenum">
              <a:rPr lang="en-GB" smtClean="0"/>
              <a:t>9</a:t>
            </a:fld>
            <a:endParaRPr lang="en-GB" dirty="0"/>
          </a:p>
        </p:txBody>
      </p:sp>
    </p:spTree>
    <p:extLst>
      <p:ext uri="{BB962C8B-B14F-4D97-AF65-F5344CB8AC3E}">
        <p14:creationId xmlns:p14="http://schemas.microsoft.com/office/powerpoint/2010/main" val="307980366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AD71D7C1-5A09-4F0A-AD83-58B77AAF2BC1}" type="slidenum">
              <a:rPr lang="en-GB" smtClean="0"/>
              <a:t>10</a:t>
            </a:fld>
            <a:endParaRPr lang="en-GB" dirty="0"/>
          </a:p>
        </p:txBody>
      </p:sp>
    </p:spTree>
    <p:extLst>
      <p:ext uri="{BB962C8B-B14F-4D97-AF65-F5344CB8AC3E}">
        <p14:creationId xmlns:p14="http://schemas.microsoft.com/office/powerpoint/2010/main" val="307980366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AD71D7C1-5A09-4F0A-AD83-58B77AAF2BC1}" type="slidenum">
              <a:rPr lang="en-GB" smtClean="0"/>
              <a:t>12</a:t>
            </a:fld>
            <a:endParaRPr lang="en-GB" dirty="0"/>
          </a:p>
        </p:txBody>
      </p:sp>
    </p:spTree>
    <p:extLst>
      <p:ext uri="{BB962C8B-B14F-4D97-AF65-F5344CB8AC3E}">
        <p14:creationId xmlns:p14="http://schemas.microsoft.com/office/powerpoint/2010/main" val="307980366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AD71D7C1-5A09-4F0A-AD83-58B77AAF2BC1}" type="slidenum">
              <a:rPr lang="en-GB" smtClean="0"/>
              <a:t>13</a:t>
            </a:fld>
            <a:endParaRPr lang="en-GB" dirty="0"/>
          </a:p>
        </p:txBody>
      </p:sp>
    </p:spTree>
    <p:extLst>
      <p:ext uri="{BB962C8B-B14F-4D97-AF65-F5344CB8AC3E}">
        <p14:creationId xmlns:p14="http://schemas.microsoft.com/office/powerpoint/2010/main" val="307980366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AD71D7C1-5A09-4F0A-AD83-58B77AAF2BC1}" type="slidenum">
              <a:rPr lang="en-GB" smtClean="0"/>
              <a:t>14</a:t>
            </a:fld>
            <a:endParaRPr lang="en-GB" dirty="0"/>
          </a:p>
        </p:txBody>
      </p:sp>
    </p:spTree>
    <p:extLst>
      <p:ext uri="{BB962C8B-B14F-4D97-AF65-F5344CB8AC3E}">
        <p14:creationId xmlns:p14="http://schemas.microsoft.com/office/powerpoint/2010/main" val="307980366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AD71D7C1-5A09-4F0A-AD83-58B77AAF2BC1}" type="slidenum">
              <a:rPr lang="en-GB" smtClean="0"/>
              <a:t>15</a:t>
            </a:fld>
            <a:endParaRPr lang="en-GB" dirty="0"/>
          </a:p>
        </p:txBody>
      </p:sp>
    </p:spTree>
    <p:extLst>
      <p:ext uri="{BB962C8B-B14F-4D97-AF65-F5344CB8AC3E}">
        <p14:creationId xmlns:p14="http://schemas.microsoft.com/office/powerpoint/2010/main" val="307980366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AD71D7C1-5A09-4F0A-AD83-58B77AAF2BC1}" type="slidenum">
              <a:rPr lang="en-GB" smtClean="0"/>
              <a:t>16</a:t>
            </a:fld>
            <a:endParaRPr lang="en-GB" dirty="0"/>
          </a:p>
        </p:txBody>
      </p:sp>
    </p:spTree>
    <p:extLst>
      <p:ext uri="{BB962C8B-B14F-4D97-AF65-F5344CB8AC3E}">
        <p14:creationId xmlns:p14="http://schemas.microsoft.com/office/powerpoint/2010/main" val="307980366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AD71D7C1-5A09-4F0A-AD83-58B77AAF2BC1}" type="slidenum">
              <a:rPr lang="en-GB" smtClean="0"/>
              <a:t>17</a:t>
            </a:fld>
            <a:endParaRPr lang="en-GB" dirty="0"/>
          </a:p>
        </p:txBody>
      </p:sp>
    </p:spTree>
    <p:extLst>
      <p:ext uri="{BB962C8B-B14F-4D97-AF65-F5344CB8AC3E}">
        <p14:creationId xmlns:p14="http://schemas.microsoft.com/office/powerpoint/2010/main" val="307980366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AD71D7C1-5A09-4F0A-AD83-58B77AAF2BC1}" type="slidenum">
              <a:rPr lang="en-GB" smtClean="0"/>
              <a:t>18</a:t>
            </a:fld>
            <a:endParaRPr lang="en-GB" dirty="0"/>
          </a:p>
        </p:txBody>
      </p:sp>
    </p:spTree>
    <p:extLst>
      <p:ext uri="{BB962C8B-B14F-4D97-AF65-F5344CB8AC3E}">
        <p14:creationId xmlns:p14="http://schemas.microsoft.com/office/powerpoint/2010/main" val="307980366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AD71D7C1-5A09-4F0A-AD83-58B77AAF2BC1}" type="slidenum">
              <a:rPr lang="en-GB" smtClean="0"/>
              <a:t>19</a:t>
            </a:fld>
            <a:endParaRPr lang="en-GB" dirty="0"/>
          </a:p>
        </p:txBody>
      </p:sp>
    </p:spTree>
    <p:extLst>
      <p:ext uri="{BB962C8B-B14F-4D97-AF65-F5344CB8AC3E}">
        <p14:creationId xmlns:p14="http://schemas.microsoft.com/office/powerpoint/2010/main" val="307980366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AD71D7C1-5A09-4F0A-AD83-58B77AAF2BC1}" type="slidenum">
              <a:rPr lang="en-GB" smtClean="0"/>
              <a:t>20</a:t>
            </a:fld>
            <a:endParaRPr lang="en-GB" dirty="0"/>
          </a:p>
        </p:txBody>
      </p:sp>
    </p:spTree>
    <p:extLst>
      <p:ext uri="{BB962C8B-B14F-4D97-AF65-F5344CB8AC3E}">
        <p14:creationId xmlns:p14="http://schemas.microsoft.com/office/powerpoint/2010/main" val="307980366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AD71D7C1-5A09-4F0A-AD83-58B77AAF2BC1}" type="slidenum">
              <a:rPr lang="en-GB" smtClean="0"/>
              <a:t>21</a:t>
            </a:fld>
            <a:endParaRPr lang="en-GB" dirty="0"/>
          </a:p>
        </p:txBody>
      </p:sp>
    </p:spTree>
    <p:extLst>
      <p:ext uri="{BB962C8B-B14F-4D97-AF65-F5344CB8AC3E}">
        <p14:creationId xmlns:p14="http://schemas.microsoft.com/office/powerpoint/2010/main" val="30798036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DACF3B9-C39F-47CA-9493-2CE341F9200B}" type="datetimeFigureOut">
              <a:rPr lang="en-GB" smtClean="0"/>
              <a:t>14/01/2026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0E2BB90-863B-4217-96DC-A8B9EB50A318}" type="slidenum">
              <a:rPr lang="en-GB" smtClean="0"/>
              <a:t>‹#›</a:t>
            </a:fld>
            <a:endParaRPr lang="en-GB"/>
          </a:p>
        </p:txBody>
      </p:sp>
    </p:spTree>
    <p:extLst>
      <p:ext uri="{BB962C8B-B14F-4D97-AF65-F5344CB8AC3E}">
        <p14:creationId xmlns:p14="http://schemas.microsoft.com/office/powerpoint/2010/main" val="9060666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ACF3B9-C39F-47CA-9493-2CE341F9200B}" type="datetimeFigureOut">
              <a:rPr lang="en-GB" smtClean="0"/>
              <a:t>14/01/2026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0E2BB90-863B-4217-96DC-A8B9EB50A318}" type="slidenum">
              <a:rPr lang="en-GB" smtClean="0"/>
              <a:t>‹#›</a:t>
            </a:fld>
            <a:endParaRPr lang="en-GB"/>
          </a:p>
        </p:txBody>
      </p:sp>
    </p:spTree>
    <p:extLst>
      <p:ext uri="{BB962C8B-B14F-4D97-AF65-F5344CB8AC3E}">
        <p14:creationId xmlns:p14="http://schemas.microsoft.com/office/powerpoint/2010/main" val="35895279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ACF3B9-C39F-47CA-9493-2CE341F9200B}" type="datetimeFigureOut">
              <a:rPr lang="en-GB" smtClean="0"/>
              <a:t>14/01/2026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0E2BB90-863B-4217-96DC-A8B9EB50A318}" type="slidenum">
              <a:rPr lang="en-GB" smtClean="0"/>
              <a:t>‹#›</a:t>
            </a:fld>
            <a:endParaRPr lang="en-GB"/>
          </a:p>
        </p:txBody>
      </p:sp>
    </p:spTree>
    <p:extLst>
      <p:ext uri="{BB962C8B-B14F-4D97-AF65-F5344CB8AC3E}">
        <p14:creationId xmlns:p14="http://schemas.microsoft.com/office/powerpoint/2010/main" val="7105670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DACF3B9-C39F-47CA-9493-2CE341F9200B}" type="datetimeFigureOut">
              <a:rPr lang="en-GB" smtClean="0"/>
              <a:t>14/01/2026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A0E2BB90-863B-4217-96DC-A8B9EB50A318}" type="slidenum">
              <a:rPr lang="en-GB" smtClean="0"/>
              <a:t>‹#›</a:t>
            </a:fld>
            <a:endParaRPr lang="en-GB"/>
          </a:p>
        </p:txBody>
      </p:sp>
    </p:spTree>
    <p:extLst>
      <p:ext uri="{BB962C8B-B14F-4D97-AF65-F5344CB8AC3E}">
        <p14:creationId xmlns:p14="http://schemas.microsoft.com/office/powerpoint/2010/main" val="24325311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DACF3B9-C39F-47CA-9493-2CE341F9200B}" type="datetimeFigureOut">
              <a:rPr lang="en-GB" smtClean="0"/>
              <a:t>14/01/2026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A0E2BB90-863B-4217-96DC-A8B9EB50A318}" type="slidenum">
              <a:rPr lang="en-GB" smtClean="0"/>
              <a:t>‹#›</a:t>
            </a:fld>
            <a:endParaRPr lang="en-GB"/>
          </a:p>
        </p:txBody>
      </p:sp>
    </p:spTree>
    <p:extLst>
      <p:ext uri="{BB962C8B-B14F-4D97-AF65-F5344CB8AC3E}">
        <p14:creationId xmlns:p14="http://schemas.microsoft.com/office/powerpoint/2010/main" val="42328419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DACF3B9-C39F-47CA-9493-2CE341F9200B}" type="datetimeFigureOut">
              <a:rPr lang="en-GB" smtClean="0"/>
              <a:t>14/01/2026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A0E2BB90-863B-4217-96DC-A8B9EB50A318}" type="slidenum">
              <a:rPr lang="en-GB" smtClean="0"/>
              <a:t>‹#›</a:t>
            </a:fld>
            <a:endParaRPr lang="en-GB"/>
          </a:p>
        </p:txBody>
      </p:sp>
    </p:spTree>
    <p:extLst>
      <p:ext uri="{BB962C8B-B14F-4D97-AF65-F5344CB8AC3E}">
        <p14:creationId xmlns:p14="http://schemas.microsoft.com/office/powerpoint/2010/main" val="24714075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ACF3B9-C39F-47CA-9493-2CE341F9200B}" type="datetimeFigureOut">
              <a:rPr lang="en-GB" smtClean="0"/>
              <a:t>14/01/2026</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A0E2BB90-863B-4217-96DC-A8B9EB50A318}" type="slidenum">
              <a:rPr lang="en-GB" smtClean="0"/>
              <a:t>‹#›</a:t>
            </a:fld>
            <a:endParaRPr lang="en-GB"/>
          </a:p>
        </p:txBody>
      </p:sp>
    </p:spTree>
    <p:extLst>
      <p:ext uri="{BB962C8B-B14F-4D97-AF65-F5344CB8AC3E}">
        <p14:creationId xmlns:p14="http://schemas.microsoft.com/office/powerpoint/2010/main" val="33614685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DACF3B9-C39F-47CA-9493-2CE341F9200B}" type="datetimeFigureOut">
              <a:rPr lang="en-GB" smtClean="0"/>
              <a:t>14/01/2026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A0E2BB90-863B-4217-96DC-A8B9EB50A318}" type="slidenum">
              <a:rPr lang="en-GB" smtClean="0"/>
              <a:t>‹#›</a:t>
            </a:fld>
            <a:endParaRPr lang="en-GB"/>
          </a:p>
        </p:txBody>
      </p:sp>
    </p:spTree>
    <p:extLst>
      <p:ext uri="{BB962C8B-B14F-4D97-AF65-F5344CB8AC3E}">
        <p14:creationId xmlns:p14="http://schemas.microsoft.com/office/powerpoint/2010/main" val="12467728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DACF3B9-C39F-47CA-9493-2CE341F9200B}" type="datetimeFigureOut">
              <a:rPr lang="en-GB" smtClean="0"/>
              <a:t>14/01/2026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A0E2BB90-863B-4217-96DC-A8B9EB50A318}" type="slidenum">
              <a:rPr lang="en-GB" smtClean="0"/>
              <a:t>‹#›</a:t>
            </a:fld>
            <a:endParaRPr lang="en-GB"/>
          </a:p>
        </p:txBody>
      </p:sp>
    </p:spTree>
    <p:extLst>
      <p:ext uri="{BB962C8B-B14F-4D97-AF65-F5344CB8AC3E}">
        <p14:creationId xmlns:p14="http://schemas.microsoft.com/office/powerpoint/2010/main" val="11659770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ACF3B9-C39F-47CA-9493-2CE341F9200B}" type="datetimeFigureOut">
              <a:rPr lang="en-GB" smtClean="0"/>
              <a:t>14/01/2026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0E2BB90-863B-4217-96DC-A8B9EB50A318}" type="slidenum">
              <a:rPr lang="en-GB" smtClean="0"/>
              <a:t>‹#›</a:t>
            </a:fld>
            <a:endParaRPr lang="en-GB"/>
          </a:p>
        </p:txBody>
      </p:sp>
    </p:spTree>
    <p:extLst>
      <p:ext uri="{BB962C8B-B14F-4D97-AF65-F5344CB8AC3E}">
        <p14:creationId xmlns:p14="http://schemas.microsoft.com/office/powerpoint/2010/main" val="30023735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ACF3B9-C39F-47CA-9493-2CE341F9200B}" type="datetimeFigureOut">
              <a:rPr lang="en-GB" smtClean="0"/>
              <a:t>14/01/2026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0E2BB90-863B-4217-96DC-A8B9EB50A318}" type="slidenum">
              <a:rPr lang="en-GB" smtClean="0"/>
              <a:t>‹#›</a:t>
            </a:fld>
            <a:endParaRPr lang="en-GB"/>
          </a:p>
        </p:txBody>
      </p:sp>
    </p:spTree>
    <p:extLst>
      <p:ext uri="{BB962C8B-B14F-4D97-AF65-F5344CB8AC3E}">
        <p14:creationId xmlns:p14="http://schemas.microsoft.com/office/powerpoint/2010/main" val="32549078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ACF3B9-C39F-47CA-9493-2CE341F9200B}" type="datetimeFigureOut">
              <a:rPr lang="en-GB" smtClean="0"/>
              <a:t>14/01/2026</a:t>
            </a:fld>
            <a:endParaRPr lang="en-GB"/>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0E2BB90-863B-4217-96DC-A8B9EB50A318}" type="slidenum">
              <a:rPr lang="en-GB" smtClean="0"/>
              <a:t>‹#›</a:t>
            </a:fld>
            <a:endParaRPr lang="en-GB"/>
          </a:p>
        </p:txBody>
      </p:sp>
    </p:spTree>
    <p:extLst>
      <p:ext uri="{BB962C8B-B14F-4D97-AF65-F5344CB8AC3E}">
        <p14:creationId xmlns:p14="http://schemas.microsoft.com/office/powerpoint/2010/main" val="275690539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tmp"/><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tmp"/><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oleObject" Target="../embeddings/oleObject1.bin"/></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9.tmp"/><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ctrTitle"/>
          </p:nvPr>
        </p:nvSpPr>
        <p:spPr>
          <a:xfrm>
            <a:off x="389745" y="1791115"/>
            <a:ext cx="8475648" cy="2726306"/>
          </a:xfrm>
        </p:spPr>
        <p:txBody>
          <a:bodyPr>
            <a:normAutofit/>
          </a:bodyPr>
          <a:lstStyle/>
          <a:p>
            <a:r>
              <a:rPr lang="en-GB" b="1" dirty="0"/>
              <a:t>Artificial Breeding Technologies in Livestock Production</a:t>
            </a:r>
          </a:p>
        </p:txBody>
      </p:sp>
      <p:pic>
        <p:nvPicPr>
          <p:cNvPr id="5" name="Picture 4" descr="1 Principles of Livestock Production 1 BTCD 2303.pptx [Autosaved] - Microsoft PowerPoint"/>
          <p:cNvPicPr>
            <a:picLocks noChangeAspect="1"/>
          </p:cNvPicPr>
          <p:nvPr/>
        </p:nvPicPr>
        <p:blipFill rotWithShape="1">
          <a:blip r:embed="rId2">
            <a:extLst>
              <a:ext uri="{28A0092B-C50C-407E-A947-70E740481C1C}">
                <a14:useLocalDpi xmlns:a14="http://schemas.microsoft.com/office/drawing/2010/main" val="0"/>
              </a:ext>
            </a:extLst>
          </a:blip>
          <a:srcRect l="45591" t="28367" r="21406" b="65887"/>
          <a:stretch/>
        </p:blipFill>
        <p:spPr>
          <a:xfrm>
            <a:off x="389744" y="284813"/>
            <a:ext cx="8475649" cy="794479"/>
          </a:xfrm>
          <a:prstGeom prst="rect">
            <a:avLst/>
          </a:prstGeom>
        </p:spPr>
      </p:pic>
      <p:sp>
        <p:nvSpPr>
          <p:cNvPr id="6" name="Subtitle 2"/>
          <p:cNvSpPr>
            <a:spLocks noGrp="1"/>
          </p:cNvSpPr>
          <p:nvPr>
            <p:ph type="subTitle" idx="1"/>
          </p:nvPr>
        </p:nvSpPr>
        <p:spPr>
          <a:xfrm>
            <a:off x="971550" y="4987925"/>
            <a:ext cx="6858000" cy="1655762"/>
          </a:xfrm>
        </p:spPr>
        <p:txBody>
          <a:bodyPr>
            <a:normAutofit/>
          </a:bodyPr>
          <a:lstStyle/>
          <a:p>
            <a:r>
              <a:rPr lang="en-GB" b="1" dirty="0">
                <a:solidFill>
                  <a:srgbClr val="0070C0"/>
                </a:solidFill>
              </a:rPr>
              <a:t>Michael Luwe</a:t>
            </a:r>
          </a:p>
          <a:p>
            <a:r>
              <a:rPr lang="en-GB" b="1" dirty="0">
                <a:solidFill>
                  <a:srgbClr val="0070C0"/>
                </a:solidFill>
              </a:rPr>
              <a:t>Department of Animal Health and Livestock Development</a:t>
            </a:r>
          </a:p>
        </p:txBody>
      </p:sp>
    </p:spTree>
    <p:extLst>
      <p:ext uri="{BB962C8B-B14F-4D97-AF65-F5344CB8AC3E}">
        <p14:creationId xmlns:p14="http://schemas.microsoft.com/office/powerpoint/2010/main" val="28957183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ormAutofit/>
          </a:bodyPr>
          <a:lstStyle/>
          <a:p>
            <a:r>
              <a:rPr lang="en-US" sz="3200" b="1" dirty="0">
                <a:solidFill>
                  <a:srgbClr val="00B0F0"/>
                </a:solidFill>
                <a:latin typeface="Century Gothic" panose="020B0502020202020204" pitchFamily="34" charset="0"/>
              </a:rPr>
              <a:t>Anatomy of the female Reproductive Tract</a:t>
            </a:r>
            <a:endParaRPr lang="en-GB" sz="3200" b="1" dirty="0">
              <a:solidFill>
                <a:srgbClr val="00B0F0"/>
              </a:solidFill>
              <a:latin typeface="Century Gothic" panose="020B0502020202020204" pitchFamily="34" charset="0"/>
            </a:endParaRPr>
          </a:p>
        </p:txBody>
      </p:sp>
      <p:pic>
        <p:nvPicPr>
          <p:cNvPr id="1026"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2298" t="3230" b="2527"/>
          <a:stretch/>
        </p:blipFill>
        <p:spPr bwMode="auto">
          <a:xfrm>
            <a:off x="668740" y="1978925"/>
            <a:ext cx="4640244" cy="438093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7"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447616" y="2165987"/>
            <a:ext cx="3204443" cy="240064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8311347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ormAutofit/>
          </a:bodyPr>
          <a:lstStyle/>
          <a:p>
            <a:r>
              <a:rPr lang="en-GB" sz="3200" b="1" dirty="0">
                <a:solidFill>
                  <a:srgbClr val="00B0F0"/>
                </a:solidFill>
                <a:latin typeface="Century Gothic" panose="020B0502020202020204" pitchFamily="34" charset="0"/>
              </a:rPr>
              <a:t>Reproductive Endocrinology</a:t>
            </a:r>
          </a:p>
        </p:txBody>
      </p:sp>
      <p:pic>
        <p:nvPicPr>
          <p:cNvPr id="5" name="Afbeelding 4" descr="lec9_06b.ppt [Compatibiliteitsmodus] - Microsoft PowerPoint (Productactivering is mislukt)"/>
          <p:cNvPicPr>
            <a:picLocks noChangeAspect="1"/>
          </p:cNvPicPr>
          <p:nvPr/>
        </p:nvPicPr>
        <p:blipFill rotWithShape="1">
          <a:blip r:embed="rId2">
            <a:extLst>
              <a:ext uri="{28A0092B-C50C-407E-A947-70E740481C1C}">
                <a14:useLocalDpi xmlns:a14="http://schemas.microsoft.com/office/drawing/2010/main" val="0"/>
              </a:ext>
            </a:extLst>
          </a:blip>
          <a:srcRect l="23433" t="30744" r="40448" b="11675"/>
          <a:stretch/>
        </p:blipFill>
        <p:spPr>
          <a:xfrm>
            <a:off x="764273" y="1518640"/>
            <a:ext cx="7724633" cy="4950416"/>
          </a:xfrm>
          <a:prstGeom prst="rect">
            <a:avLst/>
          </a:prstGeom>
        </p:spPr>
      </p:pic>
    </p:spTree>
    <p:extLst>
      <p:ext uri="{BB962C8B-B14F-4D97-AF65-F5344CB8AC3E}">
        <p14:creationId xmlns:p14="http://schemas.microsoft.com/office/powerpoint/2010/main" val="19337354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2137" y="1280160"/>
            <a:ext cx="8475260" cy="5323839"/>
          </a:xfrm>
        </p:spPr>
        <p:txBody>
          <a:bodyPr>
            <a:noAutofit/>
          </a:bodyPr>
          <a:lstStyle/>
          <a:p>
            <a:pPr algn="just"/>
            <a:r>
              <a:rPr lang="en-US" sz="2400" dirty="0">
                <a:latin typeface="Times New Roman" panose="02020603050405020304" pitchFamily="18" charset="0"/>
                <a:cs typeface="Times New Roman" panose="02020603050405020304" pitchFamily="18" charset="0"/>
              </a:rPr>
              <a:t>Artificial insemination (AI) has many advantages to offer the dairy farmer, but problems of </a:t>
            </a:r>
            <a:r>
              <a:rPr lang="en-US" sz="2400" dirty="0" err="1">
                <a:latin typeface="Times New Roman" panose="02020603050405020304" pitchFamily="18" charset="0"/>
                <a:cs typeface="Times New Roman" panose="02020603050405020304" pitchFamily="18" charset="0"/>
              </a:rPr>
              <a:t>oestrus</a:t>
            </a:r>
            <a:r>
              <a:rPr lang="en-US" sz="2400" dirty="0">
                <a:latin typeface="Times New Roman" panose="02020603050405020304" pitchFamily="18" charset="0"/>
                <a:cs typeface="Times New Roman" panose="02020603050405020304" pitchFamily="18" charset="0"/>
              </a:rPr>
              <a:t> detection limit the value of AI in beef herds. </a:t>
            </a:r>
          </a:p>
          <a:p>
            <a:pPr algn="just"/>
            <a:r>
              <a:rPr lang="en-US" sz="2400" dirty="0">
                <a:latin typeface="Times New Roman" panose="02020603050405020304" pitchFamily="18" charset="0"/>
                <a:cs typeface="Times New Roman" panose="02020603050405020304" pitchFamily="18" charset="0"/>
              </a:rPr>
              <a:t>Some of the most important advantages of AI include:</a:t>
            </a:r>
            <a:endParaRPr lang="en-GB" sz="2400" dirty="0">
              <a:latin typeface="Times New Roman" panose="02020603050405020304" pitchFamily="18" charset="0"/>
              <a:cs typeface="Times New Roman" panose="02020603050405020304" pitchFamily="18" charset="0"/>
            </a:endParaRPr>
          </a:p>
          <a:p>
            <a:pPr lvl="1" algn="just">
              <a:buFont typeface="Wingdings" panose="05000000000000000000" pitchFamily="2" charset="2"/>
              <a:buChar char="Ø"/>
            </a:pPr>
            <a:r>
              <a:rPr lang="en-GB" dirty="0">
                <a:latin typeface="Times New Roman" panose="02020603050405020304" pitchFamily="18" charset="0"/>
                <a:cs typeface="Times New Roman" panose="02020603050405020304" pitchFamily="18" charset="0"/>
              </a:rPr>
              <a:t>Genetic gain – access to genetic material from superior bulls that can be carefully tested.</a:t>
            </a:r>
          </a:p>
          <a:p>
            <a:pPr lvl="1" algn="just">
              <a:buFont typeface="Wingdings" panose="05000000000000000000" pitchFamily="2" charset="2"/>
              <a:buChar char="Ø"/>
            </a:pPr>
            <a:r>
              <a:rPr lang="en-GB" dirty="0">
                <a:latin typeface="Times New Roman" panose="02020603050405020304" pitchFamily="18" charset="0"/>
                <a:cs typeface="Times New Roman" panose="02020603050405020304" pitchFamily="18" charset="0"/>
              </a:rPr>
              <a:t>Cost effectiveness – no need to maintain a bull</a:t>
            </a:r>
          </a:p>
          <a:p>
            <a:pPr lvl="1" algn="just">
              <a:buFont typeface="Wingdings" panose="05000000000000000000" pitchFamily="2" charset="2"/>
              <a:buChar char="Ø"/>
            </a:pPr>
            <a:r>
              <a:rPr lang="en-GB" dirty="0">
                <a:latin typeface="Times New Roman" panose="02020603050405020304" pitchFamily="18" charset="0"/>
                <a:cs typeface="Times New Roman" panose="02020603050405020304" pitchFamily="18" charset="0"/>
              </a:rPr>
              <a:t>Disease control – reduced risk of venereal diseases.</a:t>
            </a:r>
          </a:p>
          <a:p>
            <a:pPr lvl="1" algn="just">
              <a:buFont typeface="Wingdings" panose="05000000000000000000" pitchFamily="2" charset="2"/>
              <a:buChar char="Ø"/>
            </a:pPr>
            <a:r>
              <a:rPr lang="en-GB" dirty="0">
                <a:latin typeface="Times New Roman" panose="02020603050405020304" pitchFamily="18" charset="0"/>
                <a:cs typeface="Times New Roman" panose="02020603050405020304" pitchFamily="18" charset="0"/>
              </a:rPr>
              <a:t>Safety – bulls are potentially dangerous</a:t>
            </a:r>
          </a:p>
          <a:p>
            <a:pPr lvl="1" algn="just">
              <a:buFont typeface="Wingdings" panose="05000000000000000000" pitchFamily="2" charset="2"/>
              <a:buChar char="Ø"/>
            </a:pPr>
            <a:r>
              <a:rPr lang="en-GB" dirty="0">
                <a:latin typeface="Times New Roman" panose="02020603050405020304" pitchFamily="18" charset="0"/>
                <a:cs typeface="Times New Roman" panose="02020603050405020304" pitchFamily="18" charset="0"/>
              </a:rPr>
              <a:t>Flexibility – </a:t>
            </a:r>
            <a:r>
              <a:rPr lang="en-US" dirty="0">
                <a:latin typeface="Times New Roman" panose="02020603050405020304" pitchFamily="18" charset="0"/>
                <a:cs typeface="Times New Roman" panose="02020603050405020304" pitchFamily="18" charset="0"/>
              </a:rPr>
              <a:t>impracticable to keep enough bulls to cover all possible requirements</a:t>
            </a:r>
            <a:endParaRPr lang="en-GB" dirty="0">
              <a:latin typeface="Times New Roman" panose="02020603050405020304" pitchFamily="18" charset="0"/>
              <a:cs typeface="Times New Roman" panose="02020603050405020304" pitchFamily="18" charset="0"/>
            </a:endParaRPr>
          </a:p>
          <a:p>
            <a:pPr lvl="1" algn="just">
              <a:buFont typeface="Wingdings" panose="05000000000000000000" pitchFamily="2" charset="2"/>
              <a:buChar char="Ø"/>
            </a:pPr>
            <a:r>
              <a:rPr lang="en-GB" dirty="0">
                <a:latin typeface="Times New Roman" panose="02020603050405020304" pitchFamily="18" charset="0"/>
                <a:cs typeface="Times New Roman" panose="02020603050405020304" pitchFamily="18" charset="0"/>
              </a:rPr>
              <a:t>Fertility management – inseminations controlled and recorded.</a:t>
            </a:r>
          </a:p>
        </p:txBody>
      </p:sp>
      <p:sp>
        <p:nvSpPr>
          <p:cNvPr id="6" name="Title 1"/>
          <p:cNvSpPr>
            <a:spLocks noGrp="1"/>
          </p:cNvSpPr>
          <p:nvPr>
            <p:ph type="title"/>
          </p:nvPr>
        </p:nvSpPr>
        <p:spPr>
          <a:xfrm>
            <a:off x="628650" y="350838"/>
            <a:ext cx="8187804" cy="668065"/>
          </a:xfrm>
        </p:spPr>
        <p:txBody>
          <a:bodyPr>
            <a:normAutofit/>
          </a:bodyPr>
          <a:lstStyle/>
          <a:p>
            <a:r>
              <a:rPr lang="en-US" sz="3200" b="1" dirty="0">
                <a:solidFill>
                  <a:srgbClr val="00B0F0"/>
                </a:solidFill>
                <a:latin typeface="Century Gothic" panose="020B0502020202020204" pitchFamily="34" charset="0"/>
              </a:rPr>
              <a:t>Artificial Insemination</a:t>
            </a:r>
            <a:endParaRPr lang="en-GB" sz="3200" b="1" dirty="0">
              <a:solidFill>
                <a:srgbClr val="00B0F0"/>
              </a:solidFill>
              <a:latin typeface="Century Gothic" panose="020B0502020202020204" pitchFamily="34" charset="0"/>
            </a:endParaRPr>
          </a:p>
        </p:txBody>
      </p:sp>
    </p:spTree>
    <p:extLst>
      <p:ext uri="{BB962C8B-B14F-4D97-AF65-F5344CB8AC3E}">
        <p14:creationId xmlns:p14="http://schemas.microsoft.com/office/powerpoint/2010/main" val="32580451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ormAutofit/>
          </a:bodyPr>
          <a:lstStyle/>
          <a:p>
            <a:r>
              <a:rPr lang="en-US" sz="3200" b="1" dirty="0">
                <a:solidFill>
                  <a:srgbClr val="00B0F0"/>
                </a:solidFill>
                <a:latin typeface="Century Gothic" panose="020B0502020202020204" pitchFamily="34" charset="0"/>
              </a:rPr>
              <a:t>Artificial Insemination</a:t>
            </a:r>
            <a:endParaRPr lang="en-GB" sz="3200" dirty="0"/>
          </a:p>
        </p:txBody>
      </p:sp>
      <p:sp>
        <p:nvSpPr>
          <p:cNvPr id="3" name="Tijdelijke aanduiding voor inhoud 2"/>
          <p:cNvSpPr>
            <a:spLocks noGrp="1"/>
          </p:cNvSpPr>
          <p:nvPr>
            <p:ph idx="1"/>
          </p:nvPr>
        </p:nvSpPr>
        <p:spPr>
          <a:xfrm>
            <a:off x="628650" y="1552665"/>
            <a:ext cx="7886700" cy="4351338"/>
          </a:xfrm>
        </p:spPr>
        <p:txBody>
          <a:bodyPr>
            <a:noAutofit/>
          </a:bodyPr>
          <a:lstStyle/>
          <a:p>
            <a:r>
              <a:rPr lang="en-US" sz="2400" dirty="0">
                <a:latin typeface="Century Gothic" panose="020B0502020202020204" pitchFamily="34" charset="0"/>
              </a:rPr>
              <a:t>Insemination should not be done earlier than 40 – 60 days in high producing cows.  </a:t>
            </a:r>
          </a:p>
          <a:p>
            <a:r>
              <a:rPr lang="en-US" sz="2400" dirty="0">
                <a:latin typeface="Century Gothic" panose="020B0502020202020204" pitchFamily="34" charset="0"/>
              </a:rPr>
              <a:t>Insemination done at an earlier date will reduce high breeding efficiency.  </a:t>
            </a:r>
          </a:p>
          <a:p>
            <a:r>
              <a:rPr lang="en-US" sz="2400" dirty="0">
                <a:latin typeface="Century Gothic" panose="020B0502020202020204" pitchFamily="34" charset="0"/>
              </a:rPr>
              <a:t>The cow is in </a:t>
            </a:r>
            <a:r>
              <a:rPr lang="en-US" sz="2400" dirty="0" err="1">
                <a:latin typeface="Century Gothic" panose="020B0502020202020204" pitchFamily="34" charset="0"/>
              </a:rPr>
              <a:t>oestrus</a:t>
            </a:r>
            <a:r>
              <a:rPr lang="en-US" sz="2400" dirty="0">
                <a:latin typeface="Century Gothic" panose="020B0502020202020204" pitchFamily="34" charset="0"/>
              </a:rPr>
              <a:t> for about 18 hours and ovulation occur about 12 hours after the end of </a:t>
            </a:r>
            <a:r>
              <a:rPr lang="en-US" sz="2400" dirty="0" err="1">
                <a:latin typeface="Century Gothic" panose="020B0502020202020204" pitchFamily="34" charset="0"/>
              </a:rPr>
              <a:t>oestrus</a:t>
            </a:r>
            <a:r>
              <a:rPr lang="en-US" sz="2400" dirty="0">
                <a:latin typeface="Century Gothic" panose="020B0502020202020204" pitchFamily="34" charset="0"/>
              </a:rPr>
              <a:t>.  Therefore timing of insemination becomes essential in relation to ovulation.  </a:t>
            </a:r>
          </a:p>
          <a:p>
            <a:r>
              <a:rPr lang="en-US" sz="2400" dirty="0">
                <a:latin typeface="Century Gothic" panose="020B0502020202020204" pitchFamily="34" charset="0"/>
              </a:rPr>
              <a:t>This practically means that insemination of cows in heat in the morning, should be done in the afternoon of the same day.  Cows coming on heat in the afternoon must be bred in the morning of the following day</a:t>
            </a:r>
            <a:endParaRPr lang="en-GB" sz="2400" dirty="0">
              <a:latin typeface="Century Gothic" panose="020B0502020202020204" pitchFamily="34" charset="0"/>
            </a:endParaRPr>
          </a:p>
        </p:txBody>
      </p:sp>
    </p:spTree>
    <p:extLst>
      <p:ext uri="{BB962C8B-B14F-4D97-AF65-F5344CB8AC3E}">
        <p14:creationId xmlns:p14="http://schemas.microsoft.com/office/powerpoint/2010/main" val="15383817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68037" y="1576243"/>
            <a:ext cx="8146472" cy="4351338"/>
          </a:xfrm>
        </p:spPr>
        <p:txBody>
          <a:bodyPr>
            <a:noAutofit/>
          </a:bodyPr>
          <a:lstStyle/>
          <a:p>
            <a:r>
              <a:rPr lang="en-US" sz="2400" dirty="0">
                <a:latin typeface="Century Gothic" panose="020B0502020202020204" pitchFamily="34" charset="0"/>
              </a:rPr>
              <a:t>The artificial breeding program depends on the inherent fertility, health, nutrition, and management of both the cows and the bulls, as well as on the ability of the handlers to preserve, store, and deliver an adequate dose of viable semen to the cow at the proper time during </a:t>
            </a:r>
            <a:r>
              <a:rPr lang="en-GB" sz="2400" dirty="0">
                <a:latin typeface="Century Gothic" panose="020B0502020202020204" pitchFamily="34" charset="0"/>
              </a:rPr>
              <a:t>the </a:t>
            </a:r>
            <a:r>
              <a:rPr lang="en-GB" sz="2400" dirty="0" err="1">
                <a:latin typeface="Century Gothic" panose="020B0502020202020204" pitchFamily="34" charset="0"/>
              </a:rPr>
              <a:t>estrous</a:t>
            </a:r>
            <a:r>
              <a:rPr lang="en-GB" sz="2400" dirty="0">
                <a:latin typeface="Century Gothic" panose="020B0502020202020204" pitchFamily="34" charset="0"/>
              </a:rPr>
              <a:t> cycle.</a:t>
            </a:r>
            <a:endParaRPr lang="en-US" sz="2400" b="1" dirty="0">
              <a:latin typeface="Century Gothic" pitchFamily="34" charset="0"/>
            </a:endParaRPr>
          </a:p>
          <a:p>
            <a:r>
              <a:rPr lang="en-US" sz="2400" dirty="0">
                <a:latin typeface="Century Gothic" pitchFamily="34" charset="0"/>
              </a:rPr>
              <a:t>Processed semen can be stored in liquid Nitrogen at -196 </a:t>
            </a:r>
            <a:r>
              <a:rPr lang="en-US" sz="2400" baseline="30000" dirty="0" err="1">
                <a:latin typeface="Century Gothic" pitchFamily="34" charset="0"/>
              </a:rPr>
              <a:t>o</a:t>
            </a:r>
            <a:r>
              <a:rPr lang="en-US" sz="2400" dirty="0" err="1">
                <a:latin typeface="Century Gothic" pitchFamily="34" charset="0"/>
              </a:rPr>
              <a:t>C</a:t>
            </a:r>
            <a:r>
              <a:rPr lang="en-US" sz="2400" dirty="0">
                <a:latin typeface="Century Gothic" pitchFamily="34" charset="0"/>
              </a:rPr>
              <a:t> for  long-term storage. </a:t>
            </a:r>
          </a:p>
          <a:p>
            <a:r>
              <a:rPr lang="en-US" sz="2400" dirty="0">
                <a:latin typeface="Century Gothic" panose="020B0502020202020204" pitchFamily="34" charset="0"/>
              </a:rPr>
              <a:t>Maintenance of low temperatures is important to the successful </a:t>
            </a:r>
            <a:r>
              <a:rPr lang="en-GB" sz="2400" dirty="0">
                <a:latin typeface="Century Gothic" panose="020B0502020202020204" pitchFamily="34" charset="0"/>
              </a:rPr>
              <a:t>storage of frozen semen.</a:t>
            </a:r>
          </a:p>
          <a:p>
            <a:r>
              <a:rPr lang="en-US" sz="2400" dirty="0">
                <a:latin typeface="Century Gothic" pitchFamily="34" charset="0"/>
              </a:rPr>
              <a:t>Diluted semen is packed into thin, plastic tubes of 0.25 or 0.5 ml capacity.</a:t>
            </a:r>
          </a:p>
          <a:p>
            <a:endParaRPr lang="en-GB" sz="2400" dirty="0">
              <a:latin typeface="Century Gothic" pitchFamily="34" charset="0"/>
            </a:endParaRPr>
          </a:p>
        </p:txBody>
      </p:sp>
      <p:sp>
        <p:nvSpPr>
          <p:cNvPr id="6" name="Title 1"/>
          <p:cNvSpPr>
            <a:spLocks noGrp="1"/>
          </p:cNvSpPr>
          <p:nvPr>
            <p:ph type="title"/>
          </p:nvPr>
        </p:nvSpPr>
        <p:spPr>
          <a:xfrm>
            <a:off x="628650" y="350838"/>
            <a:ext cx="8187804" cy="1325563"/>
          </a:xfrm>
        </p:spPr>
        <p:txBody>
          <a:bodyPr>
            <a:normAutofit/>
          </a:bodyPr>
          <a:lstStyle/>
          <a:p>
            <a:r>
              <a:rPr lang="en-US" sz="3200" b="1" dirty="0">
                <a:solidFill>
                  <a:srgbClr val="00B0F0"/>
                </a:solidFill>
                <a:latin typeface="Century Gothic" panose="020B0502020202020204" pitchFamily="34" charset="0"/>
              </a:rPr>
              <a:t>Artificial Insemination</a:t>
            </a:r>
            <a:endParaRPr lang="en-GB" sz="3200" b="1" dirty="0">
              <a:solidFill>
                <a:srgbClr val="00B0F0"/>
              </a:solidFill>
              <a:latin typeface="Century Gothic" panose="020B0502020202020204" pitchFamily="34" charset="0"/>
            </a:endParaRPr>
          </a:p>
        </p:txBody>
      </p:sp>
    </p:spTree>
    <p:extLst>
      <p:ext uri="{BB962C8B-B14F-4D97-AF65-F5344CB8AC3E}">
        <p14:creationId xmlns:p14="http://schemas.microsoft.com/office/powerpoint/2010/main" val="2975458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68037" y="1576243"/>
            <a:ext cx="8146472" cy="4351338"/>
          </a:xfrm>
        </p:spPr>
        <p:txBody>
          <a:bodyPr>
            <a:noAutofit/>
          </a:bodyPr>
          <a:lstStyle/>
          <a:p>
            <a:r>
              <a:rPr lang="en-US" sz="2400" dirty="0">
                <a:latin typeface="Century Gothic" panose="020B0502020202020204" pitchFamily="34" charset="0"/>
              </a:rPr>
              <a:t>The cow to be inseminated must be in </a:t>
            </a:r>
            <a:r>
              <a:rPr lang="en-US" sz="2400" dirty="0" err="1">
                <a:latin typeface="Century Gothic" panose="020B0502020202020204" pitchFamily="34" charset="0"/>
              </a:rPr>
              <a:t>oestrus</a:t>
            </a:r>
            <a:r>
              <a:rPr lang="en-US" sz="2400" dirty="0">
                <a:latin typeface="Century Gothic" panose="020B0502020202020204" pitchFamily="34" charset="0"/>
              </a:rPr>
              <a:t> without any doubt and should be properly prepared for the insemination.</a:t>
            </a:r>
          </a:p>
          <a:p>
            <a:r>
              <a:rPr lang="en-GB" sz="2400" dirty="0">
                <a:latin typeface="Century Gothic" panose="020B0502020202020204" pitchFamily="34" charset="0"/>
              </a:rPr>
              <a:t>The usual procedure </a:t>
            </a:r>
            <a:r>
              <a:rPr lang="en-US" sz="2400" dirty="0">
                <a:latin typeface="Century Gothic" panose="020B0502020202020204" pitchFamily="34" charset="0"/>
              </a:rPr>
              <a:t>is to immerse the straws in water at 35°C for 20 – 30 seconds when using 0.25ml straws or 40 – 60 seconds for 0.5ml straws.</a:t>
            </a:r>
          </a:p>
          <a:p>
            <a:pPr>
              <a:lnSpc>
                <a:spcPct val="100000"/>
              </a:lnSpc>
            </a:pPr>
            <a:r>
              <a:rPr lang="en-US" sz="2400" dirty="0">
                <a:latin typeface="Century Gothic" pitchFamily="34" charset="0"/>
              </a:rPr>
              <a:t>Cold shock is the irreversible injury to sperm caused by a rapid decrease in semen temperature above freezing after thawing. </a:t>
            </a:r>
          </a:p>
          <a:p>
            <a:pPr>
              <a:lnSpc>
                <a:spcPct val="100000"/>
              </a:lnSpc>
            </a:pPr>
            <a:r>
              <a:rPr lang="en-US" sz="2400" dirty="0">
                <a:latin typeface="Century Gothic" pitchFamily="34" charset="0"/>
              </a:rPr>
              <a:t>Cold shock occurs when semen is thawed and then subjected to cold environmental temperatures before insemination.</a:t>
            </a:r>
          </a:p>
          <a:p>
            <a:endParaRPr lang="en-GB" sz="2400" dirty="0">
              <a:latin typeface="Century Gothic" pitchFamily="34" charset="0"/>
            </a:endParaRPr>
          </a:p>
        </p:txBody>
      </p:sp>
      <p:sp>
        <p:nvSpPr>
          <p:cNvPr id="6" name="Title 1"/>
          <p:cNvSpPr>
            <a:spLocks noGrp="1"/>
          </p:cNvSpPr>
          <p:nvPr>
            <p:ph type="title"/>
          </p:nvPr>
        </p:nvSpPr>
        <p:spPr>
          <a:xfrm>
            <a:off x="628650" y="350838"/>
            <a:ext cx="8187804" cy="1325563"/>
          </a:xfrm>
        </p:spPr>
        <p:txBody>
          <a:bodyPr>
            <a:normAutofit/>
          </a:bodyPr>
          <a:lstStyle/>
          <a:p>
            <a:r>
              <a:rPr lang="en-US" sz="3200" b="1" dirty="0">
                <a:solidFill>
                  <a:srgbClr val="00B0F0"/>
                </a:solidFill>
                <a:latin typeface="Century Gothic" panose="020B0502020202020204" pitchFamily="34" charset="0"/>
              </a:rPr>
              <a:t>Artificial Insemination</a:t>
            </a:r>
            <a:endParaRPr lang="en-GB" sz="3200" b="1" dirty="0">
              <a:solidFill>
                <a:srgbClr val="00B0F0"/>
              </a:solidFill>
              <a:latin typeface="Century Gothic" panose="020B0502020202020204" pitchFamily="34" charset="0"/>
            </a:endParaRPr>
          </a:p>
        </p:txBody>
      </p:sp>
    </p:spTree>
    <p:extLst>
      <p:ext uri="{BB962C8B-B14F-4D97-AF65-F5344CB8AC3E}">
        <p14:creationId xmlns:p14="http://schemas.microsoft.com/office/powerpoint/2010/main" val="15082952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68037" y="1576243"/>
            <a:ext cx="5368739" cy="4351338"/>
          </a:xfrm>
        </p:spPr>
        <p:txBody>
          <a:bodyPr>
            <a:noAutofit/>
          </a:bodyPr>
          <a:lstStyle/>
          <a:p>
            <a:pPr>
              <a:buFont typeface="Wingdings" panose="05000000000000000000" pitchFamily="2" charset="2"/>
              <a:buChar char="§"/>
            </a:pPr>
            <a:r>
              <a:rPr lang="en-US" sz="2400" dirty="0">
                <a:latin typeface="Century Gothic" panose="020B0502020202020204" pitchFamily="34" charset="0"/>
              </a:rPr>
              <a:t>Remove the straws using tweezers as quickly as possible (recommended time is between 3-5 sec.); thaw only the straws you will use within 10 to 15 min. NEVER ALLOW SEMEN TO REFREEZE</a:t>
            </a:r>
          </a:p>
          <a:p>
            <a:pPr>
              <a:buFont typeface="Wingdings" panose="05000000000000000000" pitchFamily="2" charset="2"/>
              <a:buChar char="§"/>
            </a:pPr>
            <a:r>
              <a:rPr lang="en-GB" sz="2400" dirty="0">
                <a:latin typeface="Century Gothic" panose="020B0502020202020204" pitchFamily="34" charset="0"/>
              </a:rPr>
              <a:t>Shake straw to remove excess Nitrogen and quickly plunge into the thawing unit for not less than 30 seconds. Do not thaw more than one straw at any (one)time.</a:t>
            </a:r>
          </a:p>
          <a:p>
            <a:pPr>
              <a:buFont typeface="Wingdings" panose="05000000000000000000" pitchFamily="2" charset="2"/>
              <a:buChar char="§"/>
            </a:pPr>
            <a:endParaRPr lang="en-GB" sz="2400" dirty="0">
              <a:latin typeface="Century Gothic" pitchFamily="34" charset="0"/>
            </a:endParaRPr>
          </a:p>
        </p:txBody>
      </p:sp>
      <p:sp>
        <p:nvSpPr>
          <p:cNvPr id="6" name="Title 1"/>
          <p:cNvSpPr>
            <a:spLocks noGrp="1"/>
          </p:cNvSpPr>
          <p:nvPr>
            <p:ph type="title"/>
          </p:nvPr>
        </p:nvSpPr>
        <p:spPr>
          <a:xfrm>
            <a:off x="628650" y="350838"/>
            <a:ext cx="8187804" cy="1325563"/>
          </a:xfrm>
        </p:spPr>
        <p:txBody>
          <a:bodyPr>
            <a:normAutofit/>
          </a:bodyPr>
          <a:lstStyle/>
          <a:p>
            <a:r>
              <a:rPr lang="en-US" sz="3200" b="1" dirty="0">
                <a:solidFill>
                  <a:srgbClr val="00B0F0"/>
                </a:solidFill>
                <a:latin typeface="Century Gothic" panose="020B0502020202020204" pitchFamily="34" charset="0"/>
              </a:rPr>
              <a:t>Artificial Insemination Procedure</a:t>
            </a:r>
            <a:endParaRPr lang="en-GB" sz="3200" b="1" dirty="0">
              <a:solidFill>
                <a:srgbClr val="00B0F0"/>
              </a:solidFill>
              <a:latin typeface="Century Gothic" panose="020B0502020202020204" pitchFamily="34" charset="0"/>
            </a:endParaRPr>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graphicFrame>
        <p:nvGraphicFramePr>
          <p:cNvPr id="4" name="Object 3"/>
          <p:cNvGraphicFramePr>
            <a:graphicFrameLocks noChangeAspect="1"/>
          </p:cNvGraphicFramePr>
          <p:nvPr>
            <p:extLst>
              <p:ext uri="{D42A27DB-BD31-4B8C-83A1-F6EECF244321}">
                <p14:modId xmlns:p14="http://schemas.microsoft.com/office/powerpoint/2010/main" val="1523303151"/>
              </p:ext>
            </p:extLst>
          </p:nvPr>
        </p:nvGraphicFramePr>
        <p:xfrm>
          <a:off x="6127845" y="1583137"/>
          <a:ext cx="2265667" cy="2033519"/>
        </p:xfrm>
        <a:graphic>
          <a:graphicData uri="http://schemas.openxmlformats.org/presentationml/2006/ole">
            <mc:AlternateContent xmlns:mc="http://schemas.openxmlformats.org/markup-compatibility/2006">
              <mc:Choice xmlns:v="urn:schemas-microsoft-com:vml" Requires="v">
                <p:oleObj spid="_x0000_s3087" r:id="rId4" imgW="2238687" imgH="1828571" progId="PhotoDeluxe.Image.2">
                  <p:embed/>
                </p:oleObj>
              </mc:Choice>
              <mc:Fallback>
                <p:oleObj r:id="rId4" imgW="2238687" imgH="1828571" progId="PhotoDeluxe.Image.2">
                  <p:embed/>
                  <p:pic>
                    <p:nvPicPr>
                      <p:cNvPr id="0" name="Object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127845" y="1583137"/>
                        <a:ext cx="2265667" cy="2033519"/>
                      </a:xfrm>
                      <a:prstGeom prst="rect">
                        <a:avLst/>
                      </a:prstGeom>
                      <a:noFill/>
                    </p:spPr>
                  </p:pic>
                </p:oleObj>
              </mc:Fallback>
            </mc:AlternateContent>
          </a:graphicData>
        </a:graphic>
      </p:graphicFrame>
      <p:pic>
        <p:nvPicPr>
          <p:cNvPr id="3075"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127845" y="3944203"/>
            <a:ext cx="2333767" cy="25380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402704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68037" y="1576243"/>
            <a:ext cx="5368739" cy="4351338"/>
          </a:xfrm>
        </p:spPr>
        <p:txBody>
          <a:bodyPr>
            <a:noAutofit/>
          </a:bodyPr>
          <a:lstStyle/>
          <a:p>
            <a:pPr>
              <a:buFont typeface="Wingdings" panose="05000000000000000000" pitchFamily="2" charset="2"/>
              <a:buChar char="§"/>
            </a:pPr>
            <a:r>
              <a:rPr lang="en-US" sz="2400" dirty="0">
                <a:latin typeface="Century Gothic" panose="020B0502020202020204" pitchFamily="34" charset="0"/>
              </a:rPr>
              <a:t>During the thawing period pre-warm the gun by stroking it vigorously with a paper towel five or six times; During HOT WEATHER, before loading the straw, make sure the gun is not too hot as it will heat the semen.</a:t>
            </a:r>
          </a:p>
          <a:p>
            <a:pPr>
              <a:buFont typeface="Wingdings" panose="05000000000000000000" pitchFamily="2" charset="2"/>
              <a:buChar char="§"/>
            </a:pPr>
            <a:r>
              <a:rPr lang="en-US" sz="2400" dirty="0">
                <a:latin typeface="Century Gothic" panose="020B0502020202020204" pitchFamily="34" charset="0"/>
              </a:rPr>
              <a:t>After the thawing period remove the straw from the water and dry it completely. WATER IS LETHAL TO SPERMATOZOA</a:t>
            </a:r>
            <a:endParaRPr lang="en-GB" sz="2400" dirty="0">
              <a:latin typeface="Century Gothic" pitchFamily="34" charset="0"/>
            </a:endParaRPr>
          </a:p>
        </p:txBody>
      </p:sp>
      <p:sp>
        <p:nvSpPr>
          <p:cNvPr id="6" name="Title 1"/>
          <p:cNvSpPr>
            <a:spLocks noGrp="1"/>
          </p:cNvSpPr>
          <p:nvPr>
            <p:ph type="title"/>
          </p:nvPr>
        </p:nvSpPr>
        <p:spPr>
          <a:xfrm>
            <a:off x="628650" y="350838"/>
            <a:ext cx="8187804" cy="1325563"/>
          </a:xfrm>
        </p:spPr>
        <p:txBody>
          <a:bodyPr>
            <a:normAutofit/>
          </a:bodyPr>
          <a:lstStyle/>
          <a:p>
            <a:r>
              <a:rPr lang="en-US" sz="3200" b="1" dirty="0">
                <a:solidFill>
                  <a:srgbClr val="00B0F0"/>
                </a:solidFill>
                <a:latin typeface="Century Gothic" panose="020B0502020202020204" pitchFamily="34" charset="0"/>
              </a:rPr>
              <a:t>Artificial Insemination Procedure</a:t>
            </a:r>
            <a:endParaRPr lang="en-GB" sz="3200" b="1" dirty="0">
              <a:solidFill>
                <a:srgbClr val="00B0F0"/>
              </a:solidFill>
              <a:latin typeface="Century Gothic" panose="020B0502020202020204" pitchFamily="34" charset="0"/>
            </a:endParaRPr>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pic>
        <p:nvPicPr>
          <p:cNvPr id="409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05015" y="1603374"/>
            <a:ext cx="2483892" cy="26274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173648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68037" y="1576243"/>
            <a:ext cx="5368739" cy="3609906"/>
          </a:xfrm>
        </p:spPr>
        <p:txBody>
          <a:bodyPr>
            <a:noAutofit/>
          </a:bodyPr>
          <a:lstStyle/>
          <a:p>
            <a:pPr>
              <a:buFont typeface="Wingdings" panose="05000000000000000000" pitchFamily="2" charset="2"/>
              <a:buChar char="§"/>
            </a:pPr>
            <a:r>
              <a:rPr lang="en-US" sz="2400" dirty="0">
                <a:latin typeface="Century Gothic" panose="020B0502020202020204" pitchFamily="34" charset="0"/>
              </a:rPr>
              <a:t>Cut the end of the straw with a pair of scissors. Care must be taken so that the end of the straw is not crimped, thus preventing a secure fit into the inseminating sheath. After cutting, wipe the scissors with a clean paper towel.</a:t>
            </a:r>
          </a:p>
          <a:p>
            <a:pPr>
              <a:buFont typeface="Wingdings" panose="05000000000000000000" pitchFamily="2" charset="2"/>
              <a:buChar char="§"/>
            </a:pPr>
            <a:r>
              <a:rPr lang="en-US" sz="2400" dirty="0">
                <a:latin typeface="Century Gothic" panose="020B0502020202020204" pitchFamily="34" charset="0"/>
              </a:rPr>
              <a:t>Carefully place the straw into the insemination sheath</a:t>
            </a:r>
          </a:p>
        </p:txBody>
      </p:sp>
      <p:sp>
        <p:nvSpPr>
          <p:cNvPr id="6" name="Title 1"/>
          <p:cNvSpPr>
            <a:spLocks noGrp="1"/>
          </p:cNvSpPr>
          <p:nvPr>
            <p:ph type="title"/>
          </p:nvPr>
        </p:nvSpPr>
        <p:spPr>
          <a:xfrm>
            <a:off x="628650" y="350838"/>
            <a:ext cx="8187804" cy="1325563"/>
          </a:xfrm>
        </p:spPr>
        <p:txBody>
          <a:bodyPr>
            <a:normAutofit/>
          </a:bodyPr>
          <a:lstStyle/>
          <a:p>
            <a:r>
              <a:rPr lang="en-US" sz="3200" b="1" dirty="0">
                <a:solidFill>
                  <a:srgbClr val="00B0F0"/>
                </a:solidFill>
                <a:latin typeface="Century Gothic" panose="020B0502020202020204" pitchFamily="34" charset="0"/>
              </a:rPr>
              <a:t>Artificial Insemination Procedure</a:t>
            </a:r>
            <a:endParaRPr lang="en-GB" sz="3200" b="1" dirty="0">
              <a:solidFill>
                <a:srgbClr val="00B0F0"/>
              </a:solidFill>
              <a:latin typeface="Century Gothic" panose="020B0502020202020204" pitchFamily="34" charset="0"/>
            </a:endParaRPr>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pic>
        <p:nvPicPr>
          <p:cNvPr id="512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17369" y="1672281"/>
            <a:ext cx="2885186" cy="2503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Content Placeholder 2"/>
          <p:cNvSpPr txBox="1">
            <a:spLocks/>
          </p:cNvSpPr>
          <p:nvPr/>
        </p:nvSpPr>
        <p:spPr>
          <a:xfrm>
            <a:off x="556661" y="5090615"/>
            <a:ext cx="7945894" cy="139436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
            </a:pPr>
            <a:endParaRPr lang="en-US" sz="2400" dirty="0">
              <a:latin typeface="Century Gothic" pitchFamily="34" charset="0"/>
            </a:endParaRPr>
          </a:p>
        </p:txBody>
      </p:sp>
      <p:sp>
        <p:nvSpPr>
          <p:cNvPr id="4" name="Rechthoek 3"/>
          <p:cNvSpPr/>
          <p:nvPr/>
        </p:nvSpPr>
        <p:spPr>
          <a:xfrm>
            <a:off x="543013" y="5049133"/>
            <a:ext cx="7945894" cy="1569660"/>
          </a:xfrm>
          <a:prstGeom prst="rect">
            <a:avLst/>
          </a:prstGeom>
        </p:spPr>
        <p:txBody>
          <a:bodyPr wrap="square">
            <a:spAutoFit/>
          </a:bodyPr>
          <a:lstStyle/>
          <a:p>
            <a:pPr marL="285750" indent="-285750">
              <a:buFont typeface="Wingdings" panose="05000000000000000000" pitchFamily="2" charset="2"/>
              <a:buChar char="§"/>
            </a:pPr>
            <a:r>
              <a:rPr lang="en-US" sz="2400" dirty="0">
                <a:latin typeface="Century Gothic" panose="020B0502020202020204" pitchFamily="34" charset="0"/>
              </a:rPr>
              <a:t>Place the stainless inseminating gun over the straw and slide the gun between the sheath and the straw. Gently push the gun and the straw toward the end of the plastic sheath. </a:t>
            </a:r>
            <a:endParaRPr lang="en-GB" sz="2400" dirty="0">
              <a:latin typeface="Century Gothic" panose="020B0502020202020204" pitchFamily="34" charset="0"/>
            </a:endParaRPr>
          </a:p>
        </p:txBody>
      </p:sp>
    </p:spTree>
    <p:extLst>
      <p:ext uri="{BB962C8B-B14F-4D97-AF65-F5344CB8AC3E}">
        <p14:creationId xmlns:p14="http://schemas.microsoft.com/office/powerpoint/2010/main" val="19331740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ormAutofit/>
          </a:bodyPr>
          <a:lstStyle/>
          <a:p>
            <a:r>
              <a:rPr lang="en-GB" sz="3200" b="1" dirty="0">
                <a:solidFill>
                  <a:srgbClr val="00B0F0"/>
                </a:solidFill>
                <a:latin typeface="Century Gothic" panose="020B0502020202020204" pitchFamily="34" charset="0"/>
              </a:rPr>
              <a:t>Artificial Insemination Procedure</a:t>
            </a:r>
          </a:p>
        </p:txBody>
      </p:sp>
      <p:sp>
        <p:nvSpPr>
          <p:cNvPr id="3" name="Tijdelijke aanduiding voor inhoud 2"/>
          <p:cNvSpPr>
            <a:spLocks noGrp="1"/>
          </p:cNvSpPr>
          <p:nvPr>
            <p:ph idx="1"/>
          </p:nvPr>
        </p:nvSpPr>
        <p:spPr/>
        <p:txBody>
          <a:bodyPr>
            <a:normAutofit/>
          </a:bodyPr>
          <a:lstStyle/>
          <a:p>
            <a:r>
              <a:rPr lang="en-GB" sz="2400" dirty="0">
                <a:latin typeface="Century Gothic" panose="020B0502020202020204" pitchFamily="34" charset="0"/>
              </a:rPr>
              <a:t>Locate the cervix through the rectal wall by using a gloved hand. </a:t>
            </a:r>
          </a:p>
          <a:p>
            <a:r>
              <a:rPr lang="en-GB" sz="2400" dirty="0">
                <a:latin typeface="Century Gothic" panose="020B0502020202020204" pitchFamily="34" charset="0"/>
              </a:rPr>
              <a:t>Clean the vulva thoroughly prior to insertion of the breeding gun with a dry paper towel. </a:t>
            </a:r>
          </a:p>
          <a:p>
            <a:r>
              <a:rPr lang="en-GB" sz="2400" dirty="0">
                <a:latin typeface="Century Gothic" panose="020B0502020202020204" pitchFamily="34" charset="0"/>
              </a:rPr>
              <a:t>Insert the insemination gun at a 30° angle to avoid the urethral opening.</a:t>
            </a:r>
          </a:p>
          <a:p>
            <a:r>
              <a:rPr lang="en-GB" sz="2400" dirty="0">
                <a:latin typeface="Century Gothic" panose="020B0502020202020204" pitchFamily="34" charset="0"/>
              </a:rPr>
              <a:t>Pass rod through cervix, check location (uterine body) with the tip of index finger and slowly deposit the semen. </a:t>
            </a:r>
            <a:endParaRPr lang="nl-BE" sz="2400" dirty="0">
              <a:latin typeface="Century Gothic" panose="020B0502020202020204" pitchFamily="34" charset="0"/>
            </a:endParaRPr>
          </a:p>
        </p:txBody>
      </p:sp>
    </p:spTree>
    <p:extLst>
      <p:ext uri="{BB962C8B-B14F-4D97-AF65-F5344CB8AC3E}">
        <p14:creationId xmlns:p14="http://schemas.microsoft.com/office/powerpoint/2010/main" val="21417273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50838"/>
            <a:ext cx="7886700" cy="1325563"/>
          </a:xfrm>
        </p:spPr>
        <p:txBody>
          <a:bodyPr>
            <a:normAutofit/>
          </a:bodyPr>
          <a:lstStyle/>
          <a:p>
            <a:r>
              <a:rPr lang="en-US" sz="3200" b="1" dirty="0">
                <a:solidFill>
                  <a:srgbClr val="00B0F0"/>
                </a:solidFill>
                <a:latin typeface="Century Gothic" panose="020B0502020202020204" pitchFamily="34" charset="0"/>
              </a:rPr>
              <a:t>Embryo transfer and multiple ovulation technology </a:t>
            </a:r>
            <a:endParaRPr lang="en-GB" sz="3200" b="1" dirty="0">
              <a:solidFill>
                <a:srgbClr val="00B0F0"/>
              </a:solidFill>
            </a:endParaRPr>
          </a:p>
        </p:txBody>
      </p:sp>
      <p:sp>
        <p:nvSpPr>
          <p:cNvPr id="5" name="Rectangle 3"/>
          <p:cNvSpPr>
            <a:spLocks noGrp="1" noChangeArrowheads="1"/>
          </p:cNvSpPr>
          <p:nvPr>
            <p:ph idx="1"/>
          </p:nvPr>
        </p:nvSpPr>
        <p:spPr/>
        <p:txBody>
          <a:bodyPr>
            <a:noAutofit/>
          </a:bodyPr>
          <a:lstStyle/>
          <a:p>
            <a:pPr>
              <a:lnSpc>
                <a:spcPct val="100000"/>
              </a:lnSpc>
            </a:pPr>
            <a:r>
              <a:rPr lang="en-US" altLang="ja-JP" sz="2400" dirty="0">
                <a:latin typeface="Century Gothic" panose="020B0502020202020204" pitchFamily="34" charset="0"/>
                <a:ea typeface="MS PGothic" pitchFamily="34" charset="-128"/>
              </a:rPr>
              <a:t>The first viable mammalian embryo transfer was performed  by </a:t>
            </a:r>
            <a:r>
              <a:rPr lang="en-US" altLang="ja-JP" sz="2400" dirty="0" err="1">
                <a:latin typeface="Century Gothic" panose="020B0502020202020204" pitchFamily="34" charset="0"/>
                <a:ea typeface="MS PGothic" pitchFamily="34" charset="-128"/>
              </a:rPr>
              <a:t>Heape</a:t>
            </a:r>
            <a:r>
              <a:rPr lang="en-US" altLang="ja-JP" sz="2400" dirty="0">
                <a:latin typeface="Century Gothic" panose="020B0502020202020204" pitchFamily="34" charset="0"/>
                <a:ea typeface="MS PGothic" pitchFamily="34" charset="-128"/>
              </a:rPr>
              <a:t> (1890) in a rabbit. </a:t>
            </a:r>
          </a:p>
          <a:p>
            <a:pPr>
              <a:lnSpc>
                <a:spcPct val="100000"/>
              </a:lnSpc>
            </a:pPr>
            <a:r>
              <a:rPr lang="en-US" sz="2400" dirty="0">
                <a:latin typeface="Century Gothic" panose="020B0502020202020204" pitchFamily="34" charset="0"/>
                <a:ea typeface="MS PGothic" pitchFamily="34" charset="-128"/>
              </a:rPr>
              <a:t>The </a:t>
            </a:r>
            <a:r>
              <a:rPr lang="en-US" sz="2400" dirty="0">
                <a:latin typeface="Century Gothic" panose="020B0502020202020204" pitchFamily="34" charset="0"/>
              </a:rPr>
              <a:t>development of embryo transfer in cattle was to further the increase in genetic progress made possible by the adoption of AI.</a:t>
            </a:r>
          </a:p>
          <a:p>
            <a:pPr>
              <a:lnSpc>
                <a:spcPct val="100000"/>
              </a:lnSpc>
            </a:pPr>
            <a:r>
              <a:rPr lang="en-US" sz="2400" dirty="0">
                <a:latin typeface="Century Gothic" panose="020B0502020202020204" pitchFamily="34" charset="0"/>
              </a:rPr>
              <a:t>It offers a means of transporting livestock between countries at less expense and without the trauma associated with the transport of adult </a:t>
            </a:r>
            <a:r>
              <a:rPr lang="en-GB" sz="2400" dirty="0">
                <a:latin typeface="Century Gothic" panose="020B0502020202020204" pitchFamily="34" charset="0"/>
              </a:rPr>
              <a:t>animals.</a:t>
            </a:r>
          </a:p>
          <a:p>
            <a:pPr>
              <a:lnSpc>
                <a:spcPct val="100000"/>
              </a:lnSpc>
            </a:pPr>
            <a:r>
              <a:rPr lang="en-US" sz="2400" dirty="0">
                <a:latin typeface="Century Gothic" panose="020B0502020202020204" pitchFamily="34" charset="0"/>
              </a:rPr>
              <a:t>It also helps in obtaining fertilized embryos from superior old cows that can no longer breed normally.</a:t>
            </a:r>
            <a:endParaRPr lang="ja-JP" altLang="en-US" sz="2400" dirty="0">
              <a:latin typeface="Century Gothic" panose="020B0502020202020204" pitchFamily="34" charset="0"/>
              <a:ea typeface="MS PGothic" pitchFamily="34" charset="-128"/>
            </a:endParaRPr>
          </a:p>
        </p:txBody>
      </p:sp>
    </p:spTree>
    <p:extLst>
      <p:ext uri="{BB962C8B-B14F-4D97-AF65-F5344CB8AC3E}">
        <p14:creationId xmlns:p14="http://schemas.microsoft.com/office/powerpoint/2010/main" val="2947026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50838"/>
            <a:ext cx="7886700" cy="1325563"/>
          </a:xfrm>
        </p:spPr>
        <p:txBody>
          <a:bodyPr>
            <a:normAutofit/>
          </a:bodyPr>
          <a:lstStyle/>
          <a:p>
            <a:r>
              <a:rPr lang="en-US" sz="3200" b="1" dirty="0">
                <a:solidFill>
                  <a:srgbClr val="00B0F0"/>
                </a:solidFill>
                <a:latin typeface="Century Gothic" panose="020B0502020202020204" pitchFamily="34" charset="0"/>
              </a:rPr>
              <a:t>Embryo transfer and multiple ovulation technology </a:t>
            </a:r>
            <a:endParaRPr lang="en-GB" sz="3200" b="1" dirty="0">
              <a:solidFill>
                <a:srgbClr val="00B0F0"/>
              </a:solidFill>
            </a:endParaRPr>
          </a:p>
        </p:txBody>
      </p:sp>
      <p:sp>
        <p:nvSpPr>
          <p:cNvPr id="5" name="Rectangle 3"/>
          <p:cNvSpPr>
            <a:spLocks noGrp="1" noChangeArrowheads="1"/>
          </p:cNvSpPr>
          <p:nvPr>
            <p:ph idx="1"/>
          </p:nvPr>
        </p:nvSpPr>
        <p:spPr/>
        <p:txBody>
          <a:bodyPr>
            <a:noAutofit/>
          </a:bodyPr>
          <a:lstStyle/>
          <a:p>
            <a:pPr marL="0" indent="0">
              <a:lnSpc>
                <a:spcPct val="80000"/>
              </a:lnSpc>
              <a:buNone/>
            </a:pPr>
            <a:r>
              <a:rPr lang="en-US" altLang="ja-JP" sz="2400" b="1" dirty="0">
                <a:latin typeface="Century Gothic" panose="020B0502020202020204" pitchFamily="34" charset="0"/>
                <a:ea typeface="MS PGothic" pitchFamily="34" charset="-128"/>
              </a:rPr>
              <a:t>Procedure:</a:t>
            </a:r>
          </a:p>
          <a:p>
            <a:pPr marL="355600" indent="-355600">
              <a:lnSpc>
                <a:spcPct val="80000"/>
              </a:lnSpc>
              <a:buFont typeface="Wingdings" pitchFamily="2" charset="2"/>
              <a:buNone/>
            </a:pPr>
            <a:r>
              <a:rPr lang="en-US" altLang="ja-JP" sz="2400" dirty="0">
                <a:latin typeface="Century Gothic" panose="020B0502020202020204" pitchFamily="34" charset="0"/>
                <a:ea typeface="MS PGothic" pitchFamily="34" charset="-128"/>
              </a:rPr>
              <a:t>1.  Selection of donor cow</a:t>
            </a:r>
          </a:p>
          <a:p>
            <a:pPr marL="450850" indent="-450850">
              <a:lnSpc>
                <a:spcPct val="80000"/>
              </a:lnSpc>
              <a:buFont typeface="Wingdings" pitchFamily="2" charset="2"/>
              <a:buAutoNum type="arabicPeriod" startAt="2"/>
            </a:pPr>
            <a:r>
              <a:rPr lang="en-US" altLang="ja-JP" sz="2400" dirty="0">
                <a:latin typeface="Century Gothic" panose="020B0502020202020204" pitchFamily="34" charset="0"/>
                <a:ea typeface="MS PGothic" pitchFamily="34" charset="-128"/>
              </a:rPr>
              <a:t>Super ovulation: Hormonal treatment to enable a cow to ovulate several ova, as opposed to the normal single egg, in an estrus cycle.  </a:t>
            </a:r>
          </a:p>
          <a:p>
            <a:pPr lvl="1">
              <a:lnSpc>
                <a:spcPct val="80000"/>
              </a:lnSpc>
              <a:buFont typeface="Wingdings" panose="05000000000000000000" pitchFamily="2" charset="2"/>
              <a:buChar char="§"/>
            </a:pPr>
            <a:r>
              <a:rPr lang="en-US" altLang="ja-JP" dirty="0">
                <a:latin typeface="Century Gothic" panose="020B0502020202020204" pitchFamily="34" charset="0"/>
                <a:ea typeface="MS PGothic" pitchFamily="34" charset="-128"/>
              </a:rPr>
              <a:t>Hormones: PMSG, FSH (from sheep and swine) the treatment to start on day 9 – 14 of the cycle.</a:t>
            </a:r>
          </a:p>
          <a:p>
            <a:pPr lvl="1">
              <a:lnSpc>
                <a:spcPct val="80000"/>
              </a:lnSpc>
              <a:buFont typeface="Wingdings" panose="05000000000000000000" pitchFamily="2" charset="2"/>
              <a:buChar char="§"/>
            </a:pPr>
            <a:r>
              <a:rPr lang="en-US" altLang="ja-JP" dirty="0">
                <a:latin typeface="Century Gothic" panose="020B0502020202020204" pitchFamily="34" charset="0"/>
                <a:ea typeface="MS PGothic" pitchFamily="34" charset="-128"/>
              </a:rPr>
              <a:t>48hrs after PMSG injection, prostaglandin f2</a:t>
            </a:r>
            <a:r>
              <a:rPr lang="en-US" altLang="ja-JP" dirty="0">
                <a:latin typeface="Century Gothic" panose="020B0502020202020204" pitchFamily="34" charset="0"/>
                <a:ea typeface="MS PGothic" pitchFamily="34" charset="-128"/>
                <a:sym typeface="Symbol" pitchFamily="18" charset="2"/>
              </a:rPr>
              <a:t> or analogue</a:t>
            </a:r>
            <a:r>
              <a:rPr lang="en-US" altLang="ja-JP" dirty="0">
                <a:latin typeface="Century Gothic" panose="020B0502020202020204" pitchFamily="34" charset="0"/>
                <a:ea typeface="MS PGothic" pitchFamily="34" charset="-128"/>
              </a:rPr>
              <a:t> </a:t>
            </a:r>
          </a:p>
          <a:p>
            <a:pPr marL="450850" indent="-450850">
              <a:lnSpc>
                <a:spcPct val="80000"/>
              </a:lnSpc>
              <a:buFont typeface="Wingdings" pitchFamily="2" charset="2"/>
              <a:buNone/>
              <a:tabLst>
                <a:tab pos="450850" algn="l"/>
              </a:tabLst>
            </a:pPr>
            <a:r>
              <a:rPr lang="en-US" altLang="ja-JP" sz="2400" dirty="0">
                <a:latin typeface="Century Gothic" panose="020B0502020202020204" pitchFamily="34" charset="0"/>
                <a:ea typeface="MS PGothic" pitchFamily="34" charset="-128"/>
              </a:rPr>
              <a:t>3.  Recipient cows must be synchronous with a donor</a:t>
            </a:r>
          </a:p>
          <a:p>
            <a:pPr marL="533400" indent="-533400">
              <a:lnSpc>
                <a:spcPct val="80000"/>
              </a:lnSpc>
            </a:pPr>
            <a:endParaRPr lang="ja-JP" altLang="en-US" sz="2400" dirty="0">
              <a:latin typeface="Century Gothic" panose="020B0502020202020204" pitchFamily="34" charset="0"/>
              <a:ea typeface="MS PGothic" pitchFamily="34" charset="-128"/>
            </a:endParaRPr>
          </a:p>
        </p:txBody>
      </p:sp>
    </p:spTree>
    <p:extLst>
      <p:ext uri="{BB962C8B-B14F-4D97-AF65-F5344CB8AC3E}">
        <p14:creationId xmlns:p14="http://schemas.microsoft.com/office/powerpoint/2010/main" val="15603020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50838"/>
            <a:ext cx="7886700" cy="1325563"/>
          </a:xfrm>
        </p:spPr>
        <p:txBody>
          <a:bodyPr>
            <a:normAutofit/>
          </a:bodyPr>
          <a:lstStyle/>
          <a:p>
            <a:r>
              <a:rPr lang="en-US" sz="3200" b="1" dirty="0">
                <a:solidFill>
                  <a:srgbClr val="00B0F0"/>
                </a:solidFill>
                <a:latin typeface="Century Gothic" panose="020B0502020202020204" pitchFamily="34" charset="0"/>
              </a:rPr>
              <a:t>Embryo transfer and multiple ovulation technology </a:t>
            </a:r>
            <a:endParaRPr lang="en-GB" sz="3200" b="1" dirty="0">
              <a:solidFill>
                <a:srgbClr val="00B0F0"/>
              </a:solidFill>
            </a:endParaRPr>
          </a:p>
        </p:txBody>
      </p:sp>
      <p:sp>
        <p:nvSpPr>
          <p:cNvPr id="5" name="Rectangle 3"/>
          <p:cNvSpPr>
            <a:spLocks noGrp="1" noChangeArrowheads="1"/>
          </p:cNvSpPr>
          <p:nvPr>
            <p:ph idx="1"/>
          </p:nvPr>
        </p:nvSpPr>
        <p:spPr/>
        <p:txBody>
          <a:bodyPr>
            <a:noAutofit/>
          </a:bodyPr>
          <a:lstStyle/>
          <a:p>
            <a:pPr lvl="1">
              <a:lnSpc>
                <a:spcPct val="100000"/>
              </a:lnSpc>
              <a:buFont typeface="Wingdings" panose="05000000000000000000" pitchFamily="2" charset="2"/>
              <a:buChar char="§"/>
            </a:pPr>
            <a:r>
              <a:rPr lang="en-US" altLang="ja-JP" dirty="0">
                <a:latin typeface="Century Gothic" panose="020B0502020202020204" pitchFamily="34" charset="0"/>
                <a:ea typeface="MS PGothic" pitchFamily="34" charset="-128"/>
              </a:rPr>
              <a:t>Synchronizing recipient cows artificially with prostaglandin F2</a:t>
            </a:r>
            <a:r>
              <a:rPr lang="en-US" altLang="ja-JP" dirty="0">
                <a:latin typeface="Century Gothic" panose="020B0502020202020204" pitchFamily="34" charset="0"/>
                <a:ea typeface="MS PGothic" pitchFamily="34" charset="-128"/>
                <a:sym typeface="Symbol" pitchFamily="18" charset="2"/>
              </a:rPr>
              <a:t> </a:t>
            </a:r>
            <a:r>
              <a:rPr lang="en-US" altLang="ja-JP" dirty="0">
                <a:latin typeface="Century Gothic" panose="020B0502020202020204" pitchFamily="34" charset="0"/>
                <a:ea typeface="MS PGothic" pitchFamily="34" charset="-128"/>
              </a:rPr>
              <a:t> 12 </a:t>
            </a:r>
            <a:r>
              <a:rPr lang="en-US" altLang="ja-JP" dirty="0" err="1">
                <a:latin typeface="Century Gothic" panose="020B0502020202020204" pitchFamily="34" charset="0"/>
                <a:ea typeface="MS PGothic" pitchFamily="34" charset="-128"/>
              </a:rPr>
              <a:t>hrs</a:t>
            </a:r>
            <a:r>
              <a:rPr lang="en-US" altLang="ja-JP" dirty="0">
                <a:latin typeface="Century Gothic" panose="020B0502020202020204" pitchFamily="34" charset="0"/>
                <a:ea typeface="MS PGothic" pitchFamily="34" charset="-128"/>
              </a:rPr>
              <a:t> before the donor cow is injected for estrus induction. Apart from prostaglandin can also use; </a:t>
            </a:r>
          </a:p>
          <a:p>
            <a:pPr lvl="1">
              <a:lnSpc>
                <a:spcPct val="100000"/>
              </a:lnSpc>
              <a:buFont typeface="Wingdings" panose="05000000000000000000" pitchFamily="2" charset="2"/>
              <a:buChar char="§"/>
            </a:pPr>
            <a:r>
              <a:rPr lang="en-US" altLang="ja-JP" dirty="0">
                <a:latin typeface="Century Gothic" panose="020B0502020202020204" pitchFamily="34" charset="0"/>
                <a:ea typeface="MS PGothic" pitchFamily="34" charset="-128"/>
              </a:rPr>
              <a:t>Artificial corpus luteum (Progesterone Releasing Intra-vaginal Device {PRID});</a:t>
            </a:r>
          </a:p>
          <a:p>
            <a:pPr lvl="1">
              <a:lnSpc>
                <a:spcPct val="100000"/>
              </a:lnSpc>
              <a:buFont typeface="Wingdings" panose="05000000000000000000" pitchFamily="2" charset="2"/>
              <a:buChar char="§"/>
            </a:pPr>
            <a:r>
              <a:rPr lang="en-US" altLang="ja-JP" dirty="0">
                <a:latin typeface="Century Gothic" panose="020B0502020202020204" pitchFamily="34" charset="0"/>
                <a:ea typeface="MS PGothic" pitchFamily="34" charset="-128"/>
              </a:rPr>
              <a:t>Ear implants (for ten days)</a:t>
            </a:r>
          </a:p>
          <a:p>
            <a:pPr marL="457200" lvl="1" indent="0">
              <a:lnSpc>
                <a:spcPct val="100000"/>
              </a:lnSpc>
              <a:buNone/>
            </a:pPr>
            <a:endParaRPr lang="en-US" altLang="ja-JP" dirty="0">
              <a:latin typeface="Century Gothic" panose="020B0502020202020204" pitchFamily="34" charset="0"/>
              <a:ea typeface="MS PGothic" pitchFamily="34" charset="-128"/>
            </a:endParaRPr>
          </a:p>
          <a:p>
            <a:pPr marL="457200" indent="-457200">
              <a:lnSpc>
                <a:spcPct val="100000"/>
              </a:lnSpc>
              <a:buFont typeface="+mj-lt"/>
              <a:buAutoNum type="arabicPeriod" startAt="4"/>
            </a:pPr>
            <a:r>
              <a:rPr lang="en-US" altLang="ja-JP" sz="2400" dirty="0">
                <a:latin typeface="Century Gothic" panose="020B0502020202020204" pitchFamily="34" charset="0"/>
                <a:ea typeface="MS PGothic" pitchFamily="34" charset="-128"/>
              </a:rPr>
              <a:t>Donor cow is inseminated 12 </a:t>
            </a:r>
            <a:r>
              <a:rPr lang="en-US" altLang="ja-JP" sz="2400" dirty="0" err="1">
                <a:latin typeface="Century Gothic" panose="020B0502020202020204" pitchFamily="34" charset="0"/>
                <a:ea typeface="MS PGothic" pitchFamily="34" charset="-128"/>
              </a:rPr>
              <a:t>hrs</a:t>
            </a:r>
            <a:r>
              <a:rPr lang="en-US" altLang="ja-JP" sz="2400" dirty="0">
                <a:latin typeface="Century Gothic" panose="020B0502020202020204" pitchFamily="34" charset="0"/>
                <a:ea typeface="MS PGothic" pitchFamily="34" charset="-128"/>
              </a:rPr>
              <a:t> after the start of standing heat. Repeat 12 </a:t>
            </a:r>
            <a:r>
              <a:rPr lang="en-US" altLang="ja-JP" sz="2400" dirty="0" err="1">
                <a:latin typeface="Century Gothic" panose="020B0502020202020204" pitchFamily="34" charset="0"/>
                <a:ea typeface="MS PGothic" pitchFamily="34" charset="-128"/>
              </a:rPr>
              <a:t>hrs</a:t>
            </a:r>
            <a:r>
              <a:rPr lang="en-US" altLang="ja-JP" sz="2400" dirty="0">
                <a:latin typeface="Century Gothic" panose="020B0502020202020204" pitchFamily="34" charset="0"/>
                <a:ea typeface="MS PGothic" pitchFamily="34" charset="-128"/>
              </a:rPr>
              <a:t> later if estrus has not stopped.</a:t>
            </a:r>
          </a:p>
          <a:p>
            <a:pPr>
              <a:lnSpc>
                <a:spcPct val="100000"/>
              </a:lnSpc>
              <a:buFont typeface="Wingdings" panose="05000000000000000000" pitchFamily="2" charset="2"/>
              <a:buChar char="§"/>
            </a:pPr>
            <a:endParaRPr lang="en-US" altLang="ja-JP" sz="2400" dirty="0">
              <a:latin typeface="Century Gothic" panose="020B0502020202020204" pitchFamily="34" charset="0"/>
              <a:ea typeface="MS PGothic" pitchFamily="34" charset="-128"/>
            </a:endParaRPr>
          </a:p>
        </p:txBody>
      </p:sp>
    </p:spTree>
    <p:extLst>
      <p:ext uri="{BB962C8B-B14F-4D97-AF65-F5344CB8AC3E}">
        <p14:creationId xmlns:p14="http://schemas.microsoft.com/office/powerpoint/2010/main" val="18793194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50838"/>
            <a:ext cx="7886700" cy="1325563"/>
          </a:xfrm>
        </p:spPr>
        <p:txBody>
          <a:bodyPr>
            <a:normAutofit/>
          </a:bodyPr>
          <a:lstStyle/>
          <a:p>
            <a:r>
              <a:rPr lang="en-US" sz="3200" b="1" dirty="0">
                <a:solidFill>
                  <a:srgbClr val="00B0F0"/>
                </a:solidFill>
                <a:latin typeface="Century Gothic" panose="020B0502020202020204" pitchFamily="34" charset="0"/>
              </a:rPr>
              <a:t>Embryo transfer and multiple ovulation technology </a:t>
            </a:r>
            <a:endParaRPr lang="en-GB" sz="3200" b="1" dirty="0">
              <a:solidFill>
                <a:srgbClr val="00B0F0"/>
              </a:solidFill>
            </a:endParaRPr>
          </a:p>
        </p:txBody>
      </p:sp>
      <p:sp>
        <p:nvSpPr>
          <p:cNvPr id="5" name="Rectangle 3"/>
          <p:cNvSpPr>
            <a:spLocks noGrp="1" noChangeArrowheads="1"/>
          </p:cNvSpPr>
          <p:nvPr>
            <p:ph idx="1"/>
          </p:nvPr>
        </p:nvSpPr>
        <p:spPr/>
        <p:txBody>
          <a:bodyPr>
            <a:noAutofit/>
          </a:bodyPr>
          <a:lstStyle/>
          <a:p>
            <a:pPr lvl="1">
              <a:buFont typeface="Wingdings" panose="05000000000000000000" pitchFamily="2" charset="2"/>
              <a:buChar char="§"/>
            </a:pPr>
            <a:r>
              <a:rPr lang="en-US" altLang="ja-JP" dirty="0">
                <a:latin typeface="Century Gothic" panose="020B0502020202020204" pitchFamily="34" charset="0"/>
                <a:ea typeface="MS PGothic" pitchFamily="34" charset="-128"/>
              </a:rPr>
              <a:t>Embryos are collected non-surgically after 5 days (arrival of embryos in the uterine horn)</a:t>
            </a:r>
          </a:p>
          <a:p>
            <a:pPr lvl="1">
              <a:buFont typeface="Wingdings" panose="05000000000000000000" pitchFamily="2" charset="2"/>
              <a:buChar char="§"/>
            </a:pPr>
            <a:r>
              <a:rPr lang="en-US" altLang="ja-JP" dirty="0">
                <a:latin typeface="Century Gothic" panose="020B0502020202020204" pitchFamily="34" charset="0"/>
                <a:ea typeface="MS PGothic" pitchFamily="34" charset="-128"/>
              </a:rPr>
              <a:t>Or before day 8 (hatching from the zona </a:t>
            </a:r>
            <a:r>
              <a:rPr lang="en-US" altLang="ja-JP" dirty="0" err="1">
                <a:latin typeface="Century Gothic" panose="020B0502020202020204" pitchFamily="34" charset="0"/>
                <a:ea typeface="MS PGothic" pitchFamily="34" charset="-128"/>
              </a:rPr>
              <a:t>pellucida</a:t>
            </a:r>
            <a:r>
              <a:rPr lang="en-US" altLang="ja-JP" dirty="0">
                <a:latin typeface="Century Gothic" panose="020B0502020202020204" pitchFamily="34" charset="0"/>
                <a:ea typeface="MS PGothic" pitchFamily="34" charset="-128"/>
              </a:rPr>
              <a:t>)</a:t>
            </a:r>
          </a:p>
          <a:p>
            <a:pPr lvl="1">
              <a:buFont typeface="Wingdings" panose="05000000000000000000" pitchFamily="2" charset="2"/>
              <a:buChar char="§"/>
            </a:pPr>
            <a:r>
              <a:rPr lang="en-US" altLang="ja-JP" dirty="0">
                <a:latin typeface="Century Gothic" panose="020B0502020202020204" pitchFamily="34" charset="0"/>
                <a:ea typeface="MS PGothic" pitchFamily="34" charset="-128"/>
              </a:rPr>
              <a:t>Between day 8 and 11 (after hatching) embryos are difficult to find.</a:t>
            </a:r>
          </a:p>
          <a:p>
            <a:pPr lvl="1">
              <a:buFont typeface="Wingdings" panose="05000000000000000000" pitchFamily="2" charset="2"/>
              <a:buChar char="§"/>
            </a:pPr>
            <a:r>
              <a:rPr lang="en-US" altLang="ja-JP" dirty="0">
                <a:latin typeface="Century Gothic" panose="020B0502020202020204" pitchFamily="34" charset="0"/>
                <a:ea typeface="MS PGothic" pitchFamily="34" charset="-128"/>
              </a:rPr>
              <a:t>Day 11 – 14 embryo collection is again possible. </a:t>
            </a:r>
          </a:p>
        </p:txBody>
      </p:sp>
      <p:pic>
        <p:nvPicPr>
          <p:cNvPr id="3" name="Afbeelding 2" descr="NEW TECHNOLOGIES.ppt [Compatibiliteitsmodus] - Microsoft PowerPoint (Productactivering is mislukt)"/>
          <p:cNvPicPr>
            <a:picLocks noChangeAspect="1"/>
          </p:cNvPicPr>
          <p:nvPr/>
        </p:nvPicPr>
        <p:blipFill rotWithShape="1">
          <a:blip r:embed="rId3">
            <a:extLst>
              <a:ext uri="{28A0092B-C50C-407E-A947-70E740481C1C}">
                <a14:useLocalDpi xmlns:a14="http://schemas.microsoft.com/office/drawing/2010/main" val="0"/>
              </a:ext>
            </a:extLst>
          </a:blip>
          <a:srcRect l="38892" t="66888" r="18776" b="11924"/>
          <a:stretch/>
        </p:blipFill>
        <p:spPr>
          <a:xfrm>
            <a:off x="832513" y="4421869"/>
            <a:ext cx="7806520" cy="2047166"/>
          </a:xfrm>
          <a:prstGeom prst="rect">
            <a:avLst/>
          </a:prstGeom>
        </p:spPr>
      </p:pic>
    </p:spTree>
    <p:extLst>
      <p:ext uri="{BB962C8B-B14F-4D97-AF65-F5344CB8AC3E}">
        <p14:creationId xmlns:p14="http://schemas.microsoft.com/office/powerpoint/2010/main" val="1168166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50838"/>
            <a:ext cx="7886700" cy="1325563"/>
          </a:xfrm>
        </p:spPr>
        <p:txBody>
          <a:bodyPr>
            <a:normAutofit/>
          </a:bodyPr>
          <a:lstStyle/>
          <a:p>
            <a:r>
              <a:rPr lang="en-US" sz="3200" b="1" dirty="0">
                <a:solidFill>
                  <a:srgbClr val="00B0F0"/>
                </a:solidFill>
                <a:latin typeface="Century Gothic" panose="020B0502020202020204" pitchFamily="34" charset="0"/>
              </a:rPr>
              <a:t>Embryo transfer and multiple ovulation technology </a:t>
            </a:r>
            <a:endParaRPr lang="en-GB" sz="3200" b="1" dirty="0">
              <a:solidFill>
                <a:srgbClr val="00B0F0"/>
              </a:solidFill>
            </a:endParaRPr>
          </a:p>
        </p:txBody>
      </p:sp>
      <p:sp>
        <p:nvSpPr>
          <p:cNvPr id="5" name="Rectangle 3"/>
          <p:cNvSpPr>
            <a:spLocks noGrp="1" noChangeArrowheads="1"/>
          </p:cNvSpPr>
          <p:nvPr>
            <p:ph idx="1"/>
          </p:nvPr>
        </p:nvSpPr>
        <p:spPr/>
        <p:txBody>
          <a:bodyPr>
            <a:noAutofit/>
          </a:bodyPr>
          <a:lstStyle/>
          <a:p>
            <a:pPr lvl="1">
              <a:lnSpc>
                <a:spcPct val="100000"/>
              </a:lnSpc>
              <a:buFont typeface="Wingdings" panose="05000000000000000000" pitchFamily="2" charset="2"/>
              <a:buChar char="§"/>
            </a:pPr>
            <a:r>
              <a:rPr lang="en-GB" altLang="ja-JP" dirty="0">
                <a:latin typeface="Century Gothic" panose="020B0502020202020204" pitchFamily="34" charset="0"/>
                <a:ea typeface="MS PGothic" pitchFamily="34" charset="-128"/>
              </a:rPr>
              <a:t>Check donors </a:t>
            </a:r>
            <a:r>
              <a:rPr lang="en-GB" altLang="ja-JP" i="1" dirty="0" err="1">
                <a:latin typeface="Century Gothic" panose="020B0502020202020204" pitchFamily="34" charset="0"/>
                <a:ea typeface="MS PGothic" pitchFamily="34" charset="-128"/>
              </a:rPr>
              <a:t>corpura</a:t>
            </a:r>
            <a:r>
              <a:rPr lang="en-GB" altLang="ja-JP" i="1" dirty="0">
                <a:latin typeface="Century Gothic" panose="020B0502020202020204" pitchFamily="34" charset="0"/>
                <a:ea typeface="MS PGothic" pitchFamily="34" charset="-128"/>
              </a:rPr>
              <a:t> </a:t>
            </a:r>
            <a:r>
              <a:rPr lang="en-GB" altLang="ja-JP" i="1" dirty="0" err="1">
                <a:latin typeface="Century Gothic" panose="020B0502020202020204" pitchFamily="34" charset="0"/>
                <a:ea typeface="MS PGothic" pitchFamily="34" charset="-128"/>
              </a:rPr>
              <a:t>lutea</a:t>
            </a:r>
            <a:r>
              <a:rPr lang="en-GB" altLang="ja-JP" dirty="0">
                <a:latin typeface="Century Gothic" panose="020B0502020202020204" pitchFamily="34" charset="0"/>
                <a:ea typeface="MS PGothic" pitchFamily="34" charset="-128"/>
              </a:rPr>
              <a:t> / follicles</a:t>
            </a:r>
          </a:p>
          <a:p>
            <a:pPr lvl="1">
              <a:lnSpc>
                <a:spcPct val="100000"/>
              </a:lnSpc>
              <a:buFont typeface="Wingdings" panose="05000000000000000000" pitchFamily="2" charset="2"/>
              <a:buChar char="§"/>
            </a:pPr>
            <a:r>
              <a:rPr lang="en-GB" altLang="ja-JP" dirty="0">
                <a:latin typeface="Century Gothic" panose="020B0502020202020204" pitchFamily="34" charset="0"/>
                <a:ea typeface="MS PGothic" pitchFamily="34" charset="-128"/>
              </a:rPr>
              <a:t>Rectum is emptied and local anaesthesia is injected around the spinal cord on the tail head</a:t>
            </a:r>
          </a:p>
          <a:p>
            <a:pPr lvl="1">
              <a:lnSpc>
                <a:spcPct val="100000"/>
              </a:lnSpc>
              <a:buFont typeface="Wingdings" panose="05000000000000000000" pitchFamily="2" charset="2"/>
              <a:buChar char="§"/>
            </a:pPr>
            <a:r>
              <a:rPr lang="en-GB" altLang="ja-JP" dirty="0">
                <a:latin typeface="Century Gothic" panose="020B0502020202020204" pitchFamily="34" charset="0"/>
                <a:ea typeface="MS PGothic" pitchFamily="34" charset="-128"/>
              </a:rPr>
              <a:t>Vulva cleaned</a:t>
            </a:r>
          </a:p>
          <a:p>
            <a:pPr lvl="1">
              <a:lnSpc>
                <a:spcPct val="100000"/>
              </a:lnSpc>
              <a:buFont typeface="Wingdings" panose="05000000000000000000" pitchFamily="2" charset="2"/>
              <a:buChar char="§"/>
            </a:pPr>
            <a:r>
              <a:rPr lang="en-GB" altLang="ja-JP" dirty="0">
                <a:latin typeface="Century Gothic" panose="020B0502020202020204" pitchFamily="34" charset="0"/>
                <a:ea typeface="MS PGothic" pitchFamily="34" charset="-128"/>
              </a:rPr>
              <a:t>Using a special catheter with a </a:t>
            </a:r>
            <a:r>
              <a:rPr lang="en-GB" altLang="ja-JP" dirty="0" err="1">
                <a:latin typeface="Century Gothic" panose="020B0502020202020204" pitchFamily="34" charset="0"/>
                <a:ea typeface="MS PGothic" pitchFamily="34" charset="-128"/>
              </a:rPr>
              <a:t>Folley</a:t>
            </a:r>
            <a:r>
              <a:rPr lang="en-GB" altLang="ja-JP" dirty="0">
                <a:latin typeface="Century Gothic" panose="020B0502020202020204" pitchFamily="34" charset="0"/>
                <a:ea typeface="MS PGothic" pitchFamily="34" charset="-128"/>
              </a:rPr>
              <a:t> balloon, </a:t>
            </a:r>
            <a:r>
              <a:rPr lang="en-GB" altLang="ja-JP" dirty="0" err="1">
                <a:latin typeface="Century Gothic" panose="020B0502020202020204" pitchFamily="34" charset="0"/>
                <a:ea typeface="MS PGothic" pitchFamily="34" charset="-128"/>
              </a:rPr>
              <a:t>embyos</a:t>
            </a:r>
            <a:r>
              <a:rPr lang="en-GB" altLang="ja-JP" dirty="0">
                <a:latin typeface="Century Gothic" panose="020B0502020202020204" pitchFamily="34" charset="0"/>
                <a:ea typeface="MS PGothic" pitchFamily="34" charset="-128"/>
              </a:rPr>
              <a:t> are flushed several times with 25 – 100ml fluid (Phosphate buffer saline solution) supplemented with 1% heat-treated foetal calf serum (56 degree Celsius, 30 min)</a:t>
            </a:r>
          </a:p>
          <a:p>
            <a:pPr lvl="1">
              <a:lnSpc>
                <a:spcPct val="100000"/>
              </a:lnSpc>
              <a:buFont typeface="Wingdings" panose="05000000000000000000" pitchFamily="2" charset="2"/>
              <a:buChar char="§"/>
            </a:pPr>
            <a:r>
              <a:rPr lang="en-GB" altLang="ja-JP" dirty="0">
                <a:latin typeface="Century Gothic" panose="020B0502020202020204" pitchFamily="34" charset="0"/>
                <a:ea typeface="MS PGothic" pitchFamily="34" charset="-128"/>
              </a:rPr>
              <a:t>Embryo are sucked into semen straws or special embryo transfer straws. </a:t>
            </a:r>
          </a:p>
        </p:txBody>
      </p:sp>
    </p:spTree>
    <p:extLst>
      <p:ext uri="{BB962C8B-B14F-4D97-AF65-F5344CB8AC3E}">
        <p14:creationId xmlns:p14="http://schemas.microsoft.com/office/powerpoint/2010/main" val="26280921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50838"/>
            <a:ext cx="7886700" cy="1325563"/>
          </a:xfrm>
        </p:spPr>
        <p:txBody>
          <a:bodyPr>
            <a:normAutofit/>
          </a:bodyPr>
          <a:lstStyle/>
          <a:p>
            <a:r>
              <a:rPr lang="en-US" sz="3200" b="1" dirty="0">
                <a:solidFill>
                  <a:srgbClr val="00B0F0"/>
                </a:solidFill>
                <a:latin typeface="Century Gothic" panose="020B0502020202020204" pitchFamily="34" charset="0"/>
              </a:rPr>
              <a:t>Embryo transfer and multiple ovulation technology </a:t>
            </a:r>
            <a:endParaRPr lang="en-GB" sz="3200" b="1" dirty="0">
              <a:solidFill>
                <a:srgbClr val="00B0F0"/>
              </a:solidFill>
            </a:endParaRPr>
          </a:p>
        </p:txBody>
      </p:sp>
      <p:sp>
        <p:nvSpPr>
          <p:cNvPr id="5" name="Rectangle 3"/>
          <p:cNvSpPr>
            <a:spLocks noGrp="1" noChangeArrowheads="1"/>
          </p:cNvSpPr>
          <p:nvPr>
            <p:ph idx="1"/>
          </p:nvPr>
        </p:nvSpPr>
        <p:spPr/>
        <p:txBody>
          <a:bodyPr>
            <a:noAutofit/>
          </a:bodyPr>
          <a:lstStyle/>
          <a:p>
            <a:pPr lvl="1">
              <a:lnSpc>
                <a:spcPct val="100000"/>
              </a:lnSpc>
              <a:buFont typeface="Wingdings" panose="05000000000000000000" pitchFamily="2" charset="2"/>
              <a:buChar char="§"/>
            </a:pPr>
            <a:r>
              <a:rPr lang="en-US" altLang="ja-JP" dirty="0">
                <a:latin typeface="Century Gothic" panose="020B0502020202020204" pitchFamily="34" charset="0"/>
                <a:ea typeface="MS PGothic" pitchFamily="34" charset="-128"/>
              </a:rPr>
              <a:t>Embryos are placed as deeply as possible in the uterine of recipients on the side of CL containing horn using an enlarged A.I gun.</a:t>
            </a:r>
          </a:p>
          <a:p>
            <a:pPr marL="457200" lvl="1" indent="0">
              <a:lnSpc>
                <a:spcPct val="100000"/>
              </a:lnSpc>
              <a:buNone/>
            </a:pPr>
            <a:endParaRPr lang="en-US" altLang="ja-JP" dirty="0">
              <a:latin typeface="Century Gothic" panose="020B0502020202020204" pitchFamily="34" charset="0"/>
              <a:ea typeface="MS PGothic" pitchFamily="34" charset="-128"/>
            </a:endParaRPr>
          </a:p>
          <a:p>
            <a:pPr marL="0" indent="0">
              <a:lnSpc>
                <a:spcPct val="100000"/>
              </a:lnSpc>
              <a:buNone/>
            </a:pPr>
            <a:r>
              <a:rPr lang="en-US" altLang="ja-JP" sz="2400" b="1" dirty="0">
                <a:latin typeface="Century Gothic" panose="020B0502020202020204" pitchFamily="34" charset="0"/>
                <a:ea typeface="MS PGothic" pitchFamily="34" charset="-128"/>
              </a:rPr>
              <a:t>Embryo splitting</a:t>
            </a:r>
          </a:p>
          <a:p>
            <a:pPr lvl="1">
              <a:lnSpc>
                <a:spcPct val="100000"/>
              </a:lnSpc>
              <a:buFont typeface="Wingdings" panose="05000000000000000000" pitchFamily="2" charset="2"/>
              <a:buChar char="§"/>
            </a:pPr>
            <a:r>
              <a:rPr lang="en-US" altLang="ja-JP" dirty="0">
                <a:latin typeface="Century Gothic" panose="020B0502020202020204" pitchFamily="34" charset="0"/>
                <a:ea typeface="MS PGothic" pitchFamily="34" charset="-128"/>
              </a:rPr>
              <a:t>It is possible to split the embryos into halves, triplets or quadruplets in order to calves per donor cow.</a:t>
            </a:r>
          </a:p>
          <a:p>
            <a:pPr>
              <a:lnSpc>
                <a:spcPct val="100000"/>
              </a:lnSpc>
              <a:buFont typeface="Wingdings" panose="05000000000000000000" pitchFamily="2" charset="2"/>
              <a:buChar char="§"/>
            </a:pPr>
            <a:endParaRPr lang="en-US" altLang="ja-JP" sz="2400" b="1" dirty="0">
              <a:latin typeface="Century Gothic" panose="020B0502020202020204" pitchFamily="34" charset="0"/>
              <a:ea typeface="MS PGothic" pitchFamily="34" charset="-128"/>
            </a:endParaRPr>
          </a:p>
          <a:p>
            <a:pPr>
              <a:lnSpc>
                <a:spcPct val="100000"/>
              </a:lnSpc>
              <a:buFont typeface="Wingdings" panose="05000000000000000000" pitchFamily="2" charset="2"/>
              <a:buChar char="§"/>
            </a:pPr>
            <a:r>
              <a:rPr lang="en-US" altLang="ja-JP" sz="2400" b="1" dirty="0">
                <a:latin typeface="Century Gothic" panose="020B0502020202020204" pitchFamily="34" charset="0"/>
                <a:ea typeface="MS PGothic" pitchFamily="34" charset="-128"/>
              </a:rPr>
              <a:t>Cloning</a:t>
            </a:r>
            <a:r>
              <a:rPr lang="en-US" altLang="ja-JP" sz="2400" dirty="0">
                <a:latin typeface="Century Gothic" panose="020B0502020202020204" pitchFamily="34" charset="0"/>
                <a:ea typeface="MS PGothic" pitchFamily="34" charset="-128"/>
              </a:rPr>
              <a:t>: </a:t>
            </a:r>
            <a:r>
              <a:rPr lang="en-US" altLang="ja-JP" sz="2400" dirty="0">
                <a:latin typeface="Century Gothic" panose="020B0502020202020204" pitchFamily="34" charset="0"/>
                <a:ea typeface="MS PGothic" pitchFamily="34" charset="-128"/>
                <a:cs typeface="Times New Roman" pitchFamily="18" charset="0"/>
              </a:rPr>
              <a:t>Cloning is defined as the production of identical animals</a:t>
            </a:r>
            <a:r>
              <a:rPr lang="en-US" altLang="ja-JP" sz="2400" dirty="0">
                <a:latin typeface="Century Gothic" panose="020B0502020202020204" pitchFamily="34" charset="0"/>
                <a:ea typeface="MS PGothic" pitchFamily="34" charset="-128"/>
              </a:rPr>
              <a:t> </a:t>
            </a:r>
          </a:p>
          <a:p>
            <a:pPr lvl="1">
              <a:lnSpc>
                <a:spcPct val="100000"/>
              </a:lnSpc>
              <a:buFont typeface="Wingdings" panose="05000000000000000000" pitchFamily="2" charset="2"/>
              <a:buChar char="§"/>
            </a:pPr>
            <a:endParaRPr lang="en-US" altLang="ja-JP" dirty="0">
              <a:latin typeface="Century Gothic" panose="020B0502020202020204" pitchFamily="34" charset="0"/>
              <a:ea typeface="MS PGothic" pitchFamily="34" charset="-128"/>
            </a:endParaRPr>
          </a:p>
        </p:txBody>
      </p:sp>
    </p:spTree>
    <p:extLst>
      <p:ext uri="{BB962C8B-B14F-4D97-AF65-F5344CB8AC3E}">
        <p14:creationId xmlns:p14="http://schemas.microsoft.com/office/powerpoint/2010/main" val="23041301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50838"/>
            <a:ext cx="7886700" cy="1325563"/>
          </a:xfrm>
        </p:spPr>
        <p:txBody>
          <a:bodyPr>
            <a:normAutofit/>
          </a:bodyPr>
          <a:lstStyle/>
          <a:p>
            <a:r>
              <a:rPr lang="en-GB" sz="3200" b="1" dirty="0">
                <a:solidFill>
                  <a:srgbClr val="00B0F0"/>
                </a:solidFill>
                <a:latin typeface="Century Gothic" panose="020B0502020202020204" pitchFamily="34" charset="0"/>
              </a:rPr>
              <a:t>Oestrous synchronization technology</a:t>
            </a:r>
            <a:endParaRPr lang="en-GB" sz="3200" b="1" dirty="0">
              <a:solidFill>
                <a:srgbClr val="00B0F0"/>
              </a:solidFill>
            </a:endParaRPr>
          </a:p>
        </p:txBody>
      </p:sp>
      <p:sp>
        <p:nvSpPr>
          <p:cNvPr id="3" name="Content Placeholder 2"/>
          <p:cNvSpPr>
            <a:spLocks noGrp="1"/>
          </p:cNvSpPr>
          <p:nvPr>
            <p:ph idx="1"/>
          </p:nvPr>
        </p:nvSpPr>
        <p:spPr>
          <a:xfrm>
            <a:off x="568037" y="1576243"/>
            <a:ext cx="8146472" cy="4351338"/>
          </a:xfrm>
        </p:spPr>
        <p:txBody>
          <a:bodyPr>
            <a:noAutofit/>
          </a:bodyPr>
          <a:lstStyle/>
          <a:p>
            <a:r>
              <a:rPr lang="en-US" sz="2400" dirty="0">
                <a:latin typeface="Century Gothic" panose="020B0502020202020204" pitchFamily="34" charset="0"/>
              </a:rPr>
              <a:t>It involves the use exogenous hormone treatments to control </a:t>
            </a:r>
            <a:r>
              <a:rPr lang="en-US" sz="2400" dirty="0" err="1">
                <a:latin typeface="Century Gothic" panose="020B0502020202020204" pitchFamily="34" charset="0"/>
              </a:rPr>
              <a:t>oestrus</a:t>
            </a:r>
            <a:r>
              <a:rPr lang="en-US" sz="2400" dirty="0">
                <a:latin typeface="Century Gothic" panose="020B0502020202020204" pitchFamily="34" charset="0"/>
              </a:rPr>
              <a:t> and ovulation for the benefit and convenience of the cattle breeder.</a:t>
            </a:r>
          </a:p>
          <a:p>
            <a:r>
              <a:rPr lang="en-US" sz="2400" dirty="0">
                <a:latin typeface="Century Gothic" panose="020B0502020202020204" pitchFamily="34" charset="0"/>
              </a:rPr>
              <a:t>Synchronization of </a:t>
            </a:r>
            <a:r>
              <a:rPr lang="en-US" sz="2400" dirty="0" err="1">
                <a:latin typeface="Century Gothic" panose="020B0502020202020204" pitchFamily="34" charset="0"/>
              </a:rPr>
              <a:t>oestrus</a:t>
            </a:r>
            <a:r>
              <a:rPr lang="en-US" sz="2400" dirty="0">
                <a:latin typeface="Century Gothic" panose="020B0502020202020204" pitchFamily="34" charset="0"/>
              </a:rPr>
              <a:t> allows the batch management of inseminations and </a:t>
            </a:r>
            <a:r>
              <a:rPr lang="en-US" sz="2400" dirty="0" err="1">
                <a:latin typeface="Century Gothic" panose="020B0502020202020204" pitchFamily="34" charset="0"/>
              </a:rPr>
              <a:t>calvings</a:t>
            </a:r>
            <a:r>
              <a:rPr lang="en-US" sz="2400" dirty="0">
                <a:latin typeface="Century Gothic" panose="020B0502020202020204" pitchFamily="34" charset="0"/>
              </a:rPr>
              <a:t> which in some circumstances would improve the efficiency of management.</a:t>
            </a:r>
          </a:p>
          <a:p>
            <a:r>
              <a:rPr lang="en-US" sz="2400" dirty="0">
                <a:latin typeface="Century Gothic" panose="020B0502020202020204" pitchFamily="34" charset="0"/>
              </a:rPr>
              <a:t>It may shorten the calving to conception interval, and thus the calving interval and possibly the calving season, particularly in beef herds.</a:t>
            </a:r>
          </a:p>
          <a:p>
            <a:endParaRPr lang="en-US" sz="2400" dirty="0">
              <a:latin typeface="Century Gothic" panose="020B0502020202020204" pitchFamily="34" charset="0"/>
            </a:endParaRPr>
          </a:p>
          <a:p>
            <a:pPr marL="0" indent="0">
              <a:buNone/>
            </a:pPr>
            <a:r>
              <a:rPr lang="en-US" sz="2400" b="1" dirty="0">
                <a:latin typeface="Century Gothic" panose="020B0502020202020204" pitchFamily="34" charset="0"/>
              </a:rPr>
              <a:t>ASSIGNMENT: DISADVANTAGES OF SYNCHRONIZATION</a:t>
            </a:r>
            <a:endParaRPr lang="en-GB" sz="2400" b="1" dirty="0">
              <a:latin typeface="Century Gothic" panose="020B0502020202020204" pitchFamily="34" charset="0"/>
            </a:endParaRPr>
          </a:p>
        </p:txBody>
      </p:sp>
    </p:spTree>
    <p:extLst>
      <p:ext uri="{BB962C8B-B14F-4D97-AF65-F5344CB8AC3E}">
        <p14:creationId xmlns:p14="http://schemas.microsoft.com/office/powerpoint/2010/main" val="14497833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50838"/>
            <a:ext cx="7886700" cy="1325563"/>
          </a:xfrm>
        </p:spPr>
        <p:txBody>
          <a:bodyPr>
            <a:normAutofit/>
          </a:bodyPr>
          <a:lstStyle/>
          <a:p>
            <a:r>
              <a:rPr lang="en-US" sz="3200" b="1" dirty="0">
                <a:solidFill>
                  <a:srgbClr val="00B0F0"/>
                </a:solidFill>
                <a:latin typeface="Century Gothic" panose="020B0502020202020204" pitchFamily="34" charset="0"/>
              </a:rPr>
              <a:t>Principles and methods of cycle control</a:t>
            </a:r>
            <a:endParaRPr lang="en-GB" sz="3200" b="1" dirty="0">
              <a:solidFill>
                <a:srgbClr val="00B0F0"/>
              </a:solidFill>
              <a:latin typeface="Century Gothic" panose="020B0502020202020204" pitchFamily="34" charset="0"/>
            </a:endParaRPr>
          </a:p>
        </p:txBody>
      </p:sp>
      <p:sp>
        <p:nvSpPr>
          <p:cNvPr id="3" name="Content Placeholder 2"/>
          <p:cNvSpPr>
            <a:spLocks noGrp="1"/>
          </p:cNvSpPr>
          <p:nvPr>
            <p:ph idx="1"/>
          </p:nvPr>
        </p:nvSpPr>
        <p:spPr>
          <a:xfrm>
            <a:off x="568037" y="1576243"/>
            <a:ext cx="8146472" cy="4351338"/>
          </a:xfrm>
        </p:spPr>
        <p:txBody>
          <a:bodyPr>
            <a:noAutofit/>
          </a:bodyPr>
          <a:lstStyle/>
          <a:p>
            <a:r>
              <a:rPr lang="en-US" sz="2400" dirty="0">
                <a:latin typeface="Century Gothic" panose="020B0502020202020204" pitchFamily="34" charset="0"/>
              </a:rPr>
              <a:t>The control of the </a:t>
            </a:r>
            <a:r>
              <a:rPr lang="en-US" sz="2400" dirty="0" err="1">
                <a:latin typeface="Century Gothic" panose="020B0502020202020204" pitchFamily="34" charset="0"/>
              </a:rPr>
              <a:t>oestrous</a:t>
            </a:r>
            <a:r>
              <a:rPr lang="en-US" sz="2400" dirty="0">
                <a:latin typeface="Century Gothic" panose="020B0502020202020204" pitchFamily="34" charset="0"/>
              </a:rPr>
              <a:t> cycle is dependent on manipulation of hormonal changes in order to cause ovulation at a predetermined, convenient time, rather than when it would have occurred naturally. </a:t>
            </a:r>
          </a:p>
          <a:p>
            <a:r>
              <a:rPr lang="en-US" sz="2400" dirty="0">
                <a:latin typeface="Century Gothic" panose="020B0502020202020204" pitchFamily="34" charset="0"/>
              </a:rPr>
              <a:t>There are three main approaches:</a:t>
            </a:r>
          </a:p>
          <a:p>
            <a:pPr marL="514350" indent="-514350">
              <a:buFont typeface="+mj-lt"/>
              <a:buAutoNum type="romanLcPeriod"/>
            </a:pPr>
            <a:r>
              <a:rPr lang="en-US" sz="2400" dirty="0">
                <a:latin typeface="Century Gothic" panose="020B0502020202020204" pitchFamily="34" charset="0"/>
              </a:rPr>
              <a:t>The artificial induction of premature </a:t>
            </a:r>
            <a:r>
              <a:rPr lang="en-US" sz="2400" dirty="0" err="1">
                <a:latin typeface="Century Gothic" panose="020B0502020202020204" pitchFamily="34" charset="0"/>
              </a:rPr>
              <a:t>luteolysis</a:t>
            </a:r>
            <a:r>
              <a:rPr lang="en-US" sz="2400" dirty="0">
                <a:latin typeface="Century Gothic" panose="020B0502020202020204" pitchFamily="34" charset="0"/>
              </a:rPr>
              <a:t> using </a:t>
            </a:r>
            <a:r>
              <a:rPr lang="en-US" sz="2400" dirty="0" err="1">
                <a:latin typeface="Century Gothic" panose="020B0502020202020204" pitchFamily="34" charset="0"/>
              </a:rPr>
              <a:t>luteolytic</a:t>
            </a:r>
            <a:r>
              <a:rPr lang="en-US" sz="2400" dirty="0">
                <a:latin typeface="Century Gothic" panose="020B0502020202020204" pitchFamily="34" charset="0"/>
              </a:rPr>
              <a:t> agents such as prostaglandin F2a (PGF2a). This will obviously only be effective in cycling cows with an active corpus luteum.</a:t>
            </a:r>
          </a:p>
        </p:txBody>
      </p:sp>
    </p:spTree>
    <p:extLst>
      <p:ext uri="{BB962C8B-B14F-4D97-AF65-F5344CB8AC3E}">
        <p14:creationId xmlns:p14="http://schemas.microsoft.com/office/powerpoint/2010/main" val="427395465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50838"/>
            <a:ext cx="7886700" cy="1325563"/>
          </a:xfrm>
        </p:spPr>
        <p:txBody>
          <a:bodyPr>
            <a:normAutofit/>
          </a:bodyPr>
          <a:lstStyle/>
          <a:p>
            <a:r>
              <a:rPr lang="en-US" sz="3200" b="1" dirty="0">
                <a:solidFill>
                  <a:srgbClr val="00B0F0"/>
                </a:solidFill>
                <a:latin typeface="Century Gothic" panose="020B0502020202020204" pitchFamily="34" charset="0"/>
              </a:rPr>
              <a:t>Principles and methods of cycle control</a:t>
            </a:r>
            <a:endParaRPr lang="en-GB" sz="3200" b="1" dirty="0">
              <a:solidFill>
                <a:srgbClr val="00B0F0"/>
              </a:solidFill>
            </a:endParaRPr>
          </a:p>
        </p:txBody>
      </p:sp>
      <p:sp>
        <p:nvSpPr>
          <p:cNvPr id="3" name="Content Placeholder 2"/>
          <p:cNvSpPr>
            <a:spLocks noGrp="1"/>
          </p:cNvSpPr>
          <p:nvPr>
            <p:ph idx="1"/>
          </p:nvPr>
        </p:nvSpPr>
        <p:spPr>
          <a:xfrm>
            <a:off x="568037" y="1576243"/>
            <a:ext cx="8146472" cy="4351338"/>
          </a:xfrm>
        </p:spPr>
        <p:txBody>
          <a:bodyPr>
            <a:noAutofit/>
          </a:bodyPr>
          <a:lstStyle/>
          <a:p>
            <a:pPr marL="514350" indent="-514350">
              <a:buFont typeface="+mj-lt"/>
              <a:buAutoNum type="romanLcPeriod" startAt="2"/>
            </a:pPr>
            <a:r>
              <a:rPr lang="en-US" sz="2400" dirty="0">
                <a:latin typeface="Century Gothic" panose="020B0502020202020204" pitchFamily="34" charset="0"/>
              </a:rPr>
              <a:t>Prostaglandin-induced </a:t>
            </a:r>
            <a:r>
              <a:rPr lang="en-US" sz="2400" dirty="0" err="1">
                <a:latin typeface="Century Gothic" panose="020B0502020202020204" pitchFamily="34" charset="0"/>
              </a:rPr>
              <a:t>luteolysis</a:t>
            </a:r>
            <a:r>
              <a:rPr lang="en-US" sz="2400" dirty="0">
                <a:latin typeface="Century Gothic" panose="020B0502020202020204" pitchFamily="34" charset="0"/>
              </a:rPr>
              <a:t> in association with </a:t>
            </a:r>
            <a:r>
              <a:rPr lang="en-US" sz="2400" dirty="0" err="1">
                <a:latin typeface="Century Gothic" panose="020B0502020202020204" pitchFamily="34" charset="0"/>
              </a:rPr>
              <a:t>GnRH</a:t>
            </a:r>
            <a:r>
              <a:rPr lang="en-US" sz="2400" dirty="0">
                <a:latin typeface="Century Gothic" panose="020B0502020202020204" pitchFamily="34" charset="0"/>
              </a:rPr>
              <a:t> to manipulate follicular and luteal function. This procedure could potentially be used for the induction of ovulation in acyclic as well as cyclic cows.</a:t>
            </a:r>
          </a:p>
          <a:p>
            <a:pPr marL="514350" indent="-514350">
              <a:buFont typeface="+mj-lt"/>
              <a:buAutoNum type="romanLcPeriod" startAt="2"/>
            </a:pPr>
            <a:r>
              <a:rPr lang="en-US" sz="2400" dirty="0">
                <a:latin typeface="Century Gothic" panose="020B0502020202020204" pitchFamily="34" charset="0"/>
              </a:rPr>
              <a:t>The simulation of corpus luteum function, by administration of progesterone (or one of its synthetic derivatives) for a number of days, followed by abrupt withdrawal. This procedure is also effective for the induction of ovulation in acyclic cows. E.g. PRID, </a:t>
            </a:r>
            <a:r>
              <a:rPr lang="en-US" sz="2400" dirty="0" err="1">
                <a:latin typeface="Century Gothic" panose="020B0502020202020204" pitchFamily="34" charset="0"/>
              </a:rPr>
              <a:t>Melengestrol</a:t>
            </a:r>
            <a:r>
              <a:rPr lang="en-US" sz="2400" dirty="0">
                <a:latin typeface="Century Gothic" panose="020B0502020202020204" pitchFamily="34" charset="0"/>
              </a:rPr>
              <a:t> acetate (MGA)</a:t>
            </a:r>
            <a:endParaRPr lang="en-GB" sz="2400" dirty="0">
              <a:latin typeface="Century Gothic" panose="020B0502020202020204" pitchFamily="34" charset="0"/>
            </a:endParaRPr>
          </a:p>
        </p:txBody>
      </p:sp>
    </p:spTree>
    <p:extLst>
      <p:ext uri="{BB962C8B-B14F-4D97-AF65-F5344CB8AC3E}">
        <p14:creationId xmlns:p14="http://schemas.microsoft.com/office/powerpoint/2010/main" val="27809405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50838"/>
            <a:ext cx="7886700" cy="1325563"/>
          </a:xfrm>
        </p:spPr>
        <p:txBody>
          <a:bodyPr>
            <a:normAutofit/>
          </a:bodyPr>
          <a:lstStyle/>
          <a:p>
            <a:r>
              <a:rPr lang="en-GB" sz="3200" b="1" dirty="0">
                <a:solidFill>
                  <a:srgbClr val="00B0F0"/>
                </a:solidFill>
                <a:latin typeface="Century Gothic" panose="020B0502020202020204" pitchFamily="34" charset="0"/>
              </a:rPr>
              <a:t>Examples on oestrus synchronization protocols</a:t>
            </a:r>
            <a:endParaRPr lang="en-GB" sz="3200" b="1" dirty="0">
              <a:solidFill>
                <a:srgbClr val="00B0F0"/>
              </a:solidFill>
            </a:endParaRPr>
          </a:p>
        </p:txBody>
      </p:sp>
      <p:pic>
        <p:nvPicPr>
          <p:cNvPr id="614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3919" y="1883383"/>
            <a:ext cx="8296071" cy="216288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14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8704" y="4707554"/>
            <a:ext cx="6224233" cy="191161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Tekstvak 4"/>
          <p:cNvSpPr txBox="1"/>
          <p:nvPr/>
        </p:nvSpPr>
        <p:spPr>
          <a:xfrm>
            <a:off x="655093" y="1637731"/>
            <a:ext cx="4162567" cy="461665"/>
          </a:xfrm>
          <a:prstGeom prst="rect">
            <a:avLst/>
          </a:prstGeom>
          <a:noFill/>
        </p:spPr>
        <p:txBody>
          <a:bodyPr wrap="square" rtlCol="0">
            <a:spAutoFit/>
          </a:bodyPr>
          <a:lstStyle/>
          <a:p>
            <a:r>
              <a:rPr lang="en-GB" sz="2400" b="1" dirty="0" err="1"/>
              <a:t>i</a:t>
            </a:r>
            <a:r>
              <a:rPr lang="en-GB" sz="2400" b="1" dirty="0"/>
              <a:t>. Using PGF and </a:t>
            </a:r>
            <a:r>
              <a:rPr lang="en-GB" sz="2400" b="1" dirty="0" err="1"/>
              <a:t>GnRH</a:t>
            </a:r>
            <a:endParaRPr lang="en-GB" sz="2400" b="1" dirty="0"/>
          </a:p>
        </p:txBody>
      </p:sp>
      <p:sp>
        <p:nvSpPr>
          <p:cNvPr id="8" name="Tekstvak 7"/>
          <p:cNvSpPr txBox="1"/>
          <p:nvPr/>
        </p:nvSpPr>
        <p:spPr>
          <a:xfrm>
            <a:off x="657365" y="4355955"/>
            <a:ext cx="4162567" cy="461665"/>
          </a:xfrm>
          <a:prstGeom prst="rect">
            <a:avLst/>
          </a:prstGeom>
          <a:noFill/>
        </p:spPr>
        <p:txBody>
          <a:bodyPr wrap="square" rtlCol="0">
            <a:spAutoFit/>
          </a:bodyPr>
          <a:lstStyle/>
          <a:p>
            <a:r>
              <a:rPr lang="en-GB" sz="2400" b="1" dirty="0"/>
              <a:t>ii. Using MGA</a:t>
            </a:r>
          </a:p>
        </p:txBody>
      </p:sp>
    </p:spTree>
    <p:extLst>
      <p:ext uri="{BB962C8B-B14F-4D97-AF65-F5344CB8AC3E}">
        <p14:creationId xmlns:p14="http://schemas.microsoft.com/office/powerpoint/2010/main" val="65772988"/>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39197</TotalTime>
  <Words>1495</Words>
  <Application>Microsoft Office PowerPoint</Application>
  <PresentationFormat>On-screen Show (4:3)</PresentationFormat>
  <Paragraphs>114</Paragraphs>
  <Slides>21</Slides>
  <Notes>16</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21</vt:i4>
      </vt:variant>
    </vt:vector>
  </HeadingPairs>
  <TitlesOfParts>
    <vt:vector size="29" baseType="lpstr">
      <vt:lpstr>Arial</vt:lpstr>
      <vt:lpstr>Calibri</vt:lpstr>
      <vt:lpstr>Calibri Light</vt:lpstr>
      <vt:lpstr>Century Gothic</vt:lpstr>
      <vt:lpstr>Times New Roman</vt:lpstr>
      <vt:lpstr>Wingdings</vt:lpstr>
      <vt:lpstr>Office Theme</vt:lpstr>
      <vt:lpstr>PhotoDeluxe.Image.2</vt:lpstr>
      <vt:lpstr>Artificial Breeding Technologies in Livestock Production</vt:lpstr>
      <vt:lpstr>Anatomy of the female Reproductive Tract</vt:lpstr>
      <vt:lpstr>Reproductive Endocrinology</vt:lpstr>
      <vt:lpstr>Artificial Insemination</vt:lpstr>
      <vt:lpstr>Artificial Insemination</vt:lpstr>
      <vt:lpstr>Artificial Insemination</vt:lpstr>
      <vt:lpstr>Artificial Insemination</vt:lpstr>
      <vt:lpstr>Artificial Insemination Procedure</vt:lpstr>
      <vt:lpstr>Artificial Insemination Procedure</vt:lpstr>
      <vt:lpstr>Artificial Insemination Procedure</vt:lpstr>
      <vt:lpstr>Artificial Insemination Procedure</vt:lpstr>
      <vt:lpstr>Embryo transfer and multiple ovulation technology </vt:lpstr>
      <vt:lpstr>Embryo transfer and multiple ovulation technology </vt:lpstr>
      <vt:lpstr>Embryo transfer and multiple ovulation technology </vt:lpstr>
      <vt:lpstr>Embryo transfer and multiple ovulation technology </vt:lpstr>
      <vt:lpstr>Embryo transfer and multiple ovulation technology </vt:lpstr>
      <vt:lpstr>Embryo transfer and multiple ovulation technology </vt:lpstr>
      <vt:lpstr>Oestrous synchronization technology</vt:lpstr>
      <vt:lpstr>Principles and methods of cycle control</vt:lpstr>
      <vt:lpstr>Principles and methods of cycle control</vt:lpstr>
      <vt:lpstr>Examples on oestrus synchronization protocols</vt:lpstr>
    </vt:vector>
  </TitlesOfParts>
  <Company>Hewlett-Packard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Mike Luwe</dc:creator>
  <cp:lastModifiedBy>JOSEPH D. LIWONDE</cp:lastModifiedBy>
  <cp:revision>641</cp:revision>
  <dcterms:created xsi:type="dcterms:W3CDTF">2018-04-27T21:44:57Z</dcterms:created>
  <dcterms:modified xsi:type="dcterms:W3CDTF">2026-01-14T06:20:37Z</dcterms:modified>
</cp:coreProperties>
</file>