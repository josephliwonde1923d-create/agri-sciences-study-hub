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405" r:id="rId2"/>
    <p:sldId id="423" r:id="rId3"/>
    <p:sldId id="406" r:id="rId4"/>
    <p:sldId id="422" r:id="rId5"/>
    <p:sldId id="427" r:id="rId6"/>
    <p:sldId id="440" r:id="rId7"/>
    <p:sldId id="434" r:id="rId8"/>
    <p:sldId id="425" r:id="rId9"/>
    <p:sldId id="426" r:id="rId10"/>
    <p:sldId id="433" r:id="rId11"/>
    <p:sldId id="435" r:id="rId12"/>
    <p:sldId id="436" r:id="rId13"/>
    <p:sldId id="44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7" d="100"/>
          <a:sy n="87" d="100"/>
        </p:scale>
        <p:origin x="9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2467A-0723-4372-891C-32658A72A4B0}" type="datetimeFigureOut">
              <a:rPr lang="en-US" smtClean="0"/>
              <a:t>10-Feb-26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F4C42F-9F9E-4292-AE26-92BEA2E7AA56}" type="slidenum">
              <a:rPr lang="en-US" smtClean="0"/>
              <a:t>‹#›</a:t>
            </a:fld>
            <a:endParaRPr lang="en-US"/>
          </a:p>
        </p:txBody>
      </p:sp>
    </p:spTree>
    <p:extLst>
      <p:ext uri="{BB962C8B-B14F-4D97-AF65-F5344CB8AC3E}">
        <p14:creationId xmlns:p14="http://schemas.microsoft.com/office/powerpoint/2010/main" val="2705470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2</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Floor eggs are not regarded as good hatching eggs. It is very likely that they have already been contaminated by manure contact, before they can be collected, </a:t>
            </a:r>
            <a:r>
              <a:rPr lang="en-GB" sz="1200" b="0" i="0" u="none" strike="noStrike" kern="1200" baseline="0" dirty="0">
                <a:solidFill>
                  <a:schemeClr val="tx1"/>
                </a:solidFill>
                <a:latin typeface="+mn-lt"/>
                <a:ea typeface="+mn-ea"/>
                <a:cs typeface="+mn-cs"/>
              </a:rPr>
              <a:t>cleaned and disinfected.</a:t>
            </a:r>
          </a:p>
          <a:p>
            <a:r>
              <a:rPr lang="en-US" sz="1200" b="0" i="0" u="none" strike="noStrike" kern="1200" baseline="0" dirty="0">
                <a:solidFill>
                  <a:schemeClr val="tx1"/>
                </a:solidFill>
                <a:latin typeface="+mn-lt"/>
                <a:ea typeface="+mn-ea"/>
                <a:cs typeface="+mn-cs"/>
              </a:rPr>
              <a:t>The freshly laid egg has the temperature of the hen’s body (41 °C) and the egg surface is slightly wet. Cooling down to </a:t>
            </a:r>
            <a:r>
              <a:rPr lang="en-GB" sz="1200" b="0" i="0" u="none" strike="noStrike" kern="1200" baseline="0" dirty="0">
                <a:solidFill>
                  <a:schemeClr val="tx1"/>
                </a:solidFill>
                <a:latin typeface="+mn-lt"/>
                <a:ea typeface="+mn-ea"/>
                <a:cs typeface="+mn-cs"/>
              </a:rPr>
              <a:t>house temperature causes a contraction </a:t>
            </a:r>
            <a:r>
              <a:rPr lang="en-US" sz="1200" b="0" i="0" u="none" strike="noStrike" kern="1200" baseline="0" dirty="0">
                <a:solidFill>
                  <a:schemeClr val="tx1"/>
                </a:solidFill>
                <a:latin typeface="+mn-lt"/>
                <a:ea typeface="+mn-ea"/>
                <a:cs typeface="+mn-cs"/>
              </a:rPr>
              <a:t>of the egg contents leading to air entering the egg which creates the air cell.</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3</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 storage beyond 10 days we do not recommend a temperature far below of 16 °C. </a:t>
            </a:r>
          </a:p>
          <a:p>
            <a:r>
              <a:rPr lang="en-US" sz="1200" b="0" i="0" u="none" strike="noStrike" kern="1200" baseline="0" dirty="0">
                <a:solidFill>
                  <a:schemeClr val="tx1"/>
                </a:solidFill>
                <a:latin typeface="+mn-lt"/>
                <a:ea typeface="+mn-ea"/>
                <a:cs typeface="+mn-cs"/>
              </a:rPr>
              <a:t>In most situations this is not cost efficient and creates other problems when it comes to egg setting (egg sweating, long pre-warming time).</a:t>
            </a:r>
          </a:p>
          <a:p>
            <a:r>
              <a:rPr lang="en-US" sz="1200" b="0" i="0" u="none" strike="noStrike" kern="1200" baseline="0" dirty="0">
                <a:solidFill>
                  <a:schemeClr val="tx1"/>
                </a:solidFill>
                <a:latin typeface="+mn-lt"/>
                <a:ea typeface="+mn-ea"/>
                <a:cs typeface="+mn-cs"/>
              </a:rPr>
              <a:t>Condensation on the eggs should be avoided by any means. It allows microorganism to multiply on the wet surface, penetrate the shell and contaminate the </a:t>
            </a:r>
            <a:r>
              <a:rPr lang="en-GB" sz="1200" b="0" i="0" u="none" strike="noStrike" kern="1200" baseline="0" dirty="0">
                <a:solidFill>
                  <a:schemeClr val="tx1"/>
                </a:solidFill>
                <a:latin typeface="+mn-lt"/>
                <a:ea typeface="+mn-ea"/>
                <a:cs typeface="+mn-cs"/>
              </a:rPr>
              <a:t>egg.</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4</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5</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To avoid temperature shock to the embryo and consequent condensation on the shell, eggs should be removed from the egg room and pre-warmed before setting.</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6</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7</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8</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9</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Egg transfer allows the egg to be laid on their sides to allow free movement of the chick out of the shell at hatching. Egg transfer also helps to keep the large quantity of fluff generated during hatching away from the clean areas of the hatchery.</a:t>
            </a:r>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10</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11</a:t>
            </a:fld>
            <a:endParaRPr lang="en-GB" dirty="0"/>
          </a:p>
        </p:txBody>
      </p:sp>
    </p:spTree>
    <p:extLst>
      <p:ext uri="{BB962C8B-B14F-4D97-AF65-F5344CB8AC3E}">
        <p14:creationId xmlns:p14="http://schemas.microsoft.com/office/powerpoint/2010/main" val="3079803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71D7C1-5A09-4F0A-AD83-58B77AAF2BC1}" type="slidenum">
              <a:rPr lang="en-GB" smtClean="0"/>
              <a:t>12</a:t>
            </a:fld>
            <a:endParaRPr lang="en-GB" dirty="0"/>
          </a:p>
        </p:txBody>
      </p:sp>
    </p:spTree>
    <p:extLst>
      <p:ext uri="{BB962C8B-B14F-4D97-AF65-F5344CB8AC3E}">
        <p14:creationId xmlns:p14="http://schemas.microsoft.com/office/powerpoint/2010/main" val="30798036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3649082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Times New Roman" panose="02020603050405020304" pitchFamily="18" charset="0"/>
                <a:cs typeface="Times New Roman" panose="02020603050405020304" pitchFamily="18" charset="0"/>
              </a:defRPr>
            </a:lvl1pPr>
            <a:lvl2pPr>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602073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47007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DA484A-EB5B-4E01-ACF5-1C1649F41FFC}"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907020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DA484A-EB5B-4E01-ACF5-1C1649F41FFC}" type="datetimeFigureOut">
              <a:rPr lang="en-US" smtClean="0"/>
              <a:t>10-Feb-26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3444009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2030310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117318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1517009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DA484A-EB5B-4E01-ACF5-1C1649F41FFC}"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4187535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DA484A-EB5B-4E01-ACF5-1C1649F41FFC}" type="datetimeFigureOut">
              <a:rPr lang="en-US" smtClean="0"/>
              <a:t>10-Feb-26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2546543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42923623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771108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15834326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1093023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3383683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505559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DA484A-EB5B-4E01-ACF5-1C1649F41FFC}" type="datetimeFigureOut">
              <a:rPr lang="en-US" smtClean="0"/>
              <a:t>10-Feb-26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322DFF-F849-4873-844A-1CEE008CD98A}" type="slidenum">
              <a:rPr lang="en-US" smtClean="0"/>
              <a:t>‹#›</a:t>
            </a:fld>
            <a:endParaRPr lang="en-US"/>
          </a:p>
        </p:txBody>
      </p:sp>
    </p:spTree>
    <p:extLst>
      <p:ext uri="{BB962C8B-B14F-4D97-AF65-F5344CB8AC3E}">
        <p14:creationId xmlns:p14="http://schemas.microsoft.com/office/powerpoint/2010/main" val="239094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4DA484A-EB5B-4E01-ACF5-1C1649F41FFC}" type="datetimeFigureOut">
              <a:rPr lang="en-US" smtClean="0"/>
              <a:t>10-Feb-26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B322DFF-F849-4873-844A-1CEE008CD98A}" type="slidenum">
              <a:rPr lang="en-US" smtClean="0"/>
              <a:t>‹#›</a:t>
            </a:fld>
            <a:endParaRPr lang="en-US"/>
          </a:p>
        </p:txBody>
      </p:sp>
    </p:spTree>
    <p:extLst>
      <p:ext uri="{BB962C8B-B14F-4D97-AF65-F5344CB8AC3E}">
        <p14:creationId xmlns:p14="http://schemas.microsoft.com/office/powerpoint/2010/main" val="4621732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913745" y="1867135"/>
            <a:ext cx="8825658" cy="2134389"/>
          </a:xfrm>
        </p:spPr>
        <p:txBody>
          <a:bodyPr>
            <a:normAutofit fontScale="90000"/>
          </a:bodyPr>
          <a:lstStyle/>
          <a:p>
            <a:pPr algn="ctr"/>
            <a:r>
              <a:rPr lang="en-GB" b="1" dirty="0"/>
              <a:t>Hatchery Management</a:t>
            </a:r>
          </a:p>
        </p:txBody>
      </p:sp>
      <p:sp>
        <p:nvSpPr>
          <p:cNvPr id="6" name="Subtitle 2"/>
          <p:cNvSpPr>
            <a:spLocks noGrp="1"/>
          </p:cNvSpPr>
          <p:nvPr>
            <p:ph type="subTitle" idx="1"/>
          </p:nvPr>
        </p:nvSpPr>
        <p:spPr>
          <a:xfrm>
            <a:off x="2138053" y="4531832"/>
            <a:ext cx="8377042" cy="1655762"/>
          </a:xfrm>
        </p:spPr>
        <p:txBody>
          <a:bodyPr>
            <a:normAutofit/>
          </a:bodyPr>
          <a:lstStyle/>
          <a:p>
            <a:pPr algn="ctr"/>
            <a:r>
              <a:rPr lang="en-GB" b="1" dirty="0">
                <a:solidFill>
                  <a:srgbClr val="FFFF00"/>
                </a:solidFill>
              </a:rPr>
              <a:t>Michael Luwe</a:t>
            </a:r>
          </a:p>
          <a:p>
            <a:pPr algn="ctr"/>
            <a:r>
              <a:rPr lang="en-GB" b="1" dirty="0">
                <a:solidFill>
                  <a:srgbClr val="FFFF00"/>
                </a:solidFill>
              </a:rPr>
              <a:t>Veterinarian</a:t>
            </a:r>
          </a:p>
          <a:p>
            <a:pPr algn="ctr"/>
            <a:r>
              <a:rPr lang="en-GB" b="1" dirty="0">
                <a:solidFill>
                  <a:srgbClr val="FFFF00"/>
                </a:solidFill>
              </a:rPr>
              <a:t>Department of Animal Health and Livestock Development</a:t>
            </a:r>
          </a:p>
        </p:txBody>
      </p:sp>
      <p:pic>
        <p:nvPicPr>
          <p:cNvPr id="5" name="Picture 4" descr="1 Principles of Livestock Production 1 BTCD 2303.pptx [Autosaved] - Microsoft PowerPoint"/>
          <p:cNvPicPr>
            <a:picLocks noChangeAspect="1"/>
          </p:cNvPicPr>
          <p:nvPr/>
        </p:nvPicPr>
        <p:blipFill rotWithShape="1">
          <a:blip r:embed="rId2">
            <a:extLst>
              <a:ext uri="{28A0092B-C50C-407E-A947-70E740481C1C}">
                <a14:useLocalDpi xmlns:a14="http://schemas.microsoft.com/office/drawing/2010/main" val="0"/>
              </a:ext>
            </a:extLst>
          </a:blip>
          <a:srcRect l="45591" t="28367" r="21406" b="65887"/>
          <a:stretch/>
        </p:blipFill>
        <p:spPr>
          <a:xfrm>
            <a:off x="511025" y="153327"/>
            <a:ext cx="11281089" cy="1713808"/>
          </a:xfrm>
          <a:prstGeom prst="rect">
            <a:avLst/>
          </a:prstGeom>
        </p:spPr>
      </p:pic>
    </p:spTree>
    <p:extLst>
      <p:ext uri="{BB962C8B-B14F-4D97-AF65-F5344CB8AC3E}">
        <p14:creationId xmlns:p14="http://schemas.microsoft.com/office/powerpoint/2010/main" val="2811235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7758" y="441766"/>
            <a:ext cx="4014024" cy="625697"/>
          </a:xfrm>
        </p:spPr>
        <p:txBody>
          <a:bodyPr>
            <a:normAutofit/>
          </a:bodyPr>
          <a:lstStyle/>
          <a:p>
            <a:r>
              <a:rPr lang="en-GB" sz="2800" b="1" dirty="0">
                <a:solidFill>
                  <a:srgbClr val="FFFF00"/>
                </a:solidFill>
                <a:latin typeface="Times New Roman" panose="02020603050405020304" pitchFamily="18" charset="0"/>
                <a:cs typeface="Times New Roman" panose="02020603050405020304" pitchFamily="18" charset="0"/>
              </a:rPr>
              <a:t>1. Hatchery Design</a:t>
            </a:r>
          </a:p>
        </p:txBody>
      </p:sp>
      <p:sp>
        <p:nvSpPr>
          <p:cNvPr id="4" name="Content Placeholder 3">
            <a:extLst>
              <a:ext uri="{FF2B5EF4-FFF2-40B4-BE49-F238E27FC236}">
                <a16:creationId xmlns:a16="http://schemas.microsoft.com/office/drawing/2014/main" id="{05BE085A-8F84-4C6D-9073-5CC954B451B0}"/>
              </a:ext>
            </a:extLst>
          </p:cNvPr>
          <p:cNvSpPr>
            <a:spLocks noGrp="1"/>
          </p:cNvSpPr>
          <p:nvPr>
            <p:ph sz="half" idx="2"/>
          </p:nvPr>
        </p:nvSpPr>
        <p:spPr>
          <a:xfrm>
            <a:off x="6087758" y="1199121"/>
            <a:ext cx="5572701" cy="5239693"/>
          </a:xfrm>
        </p:spPr>
        <p:txBody>
          <a:bodyPr>
            <a:normAutofit fontScale="92500" lnSpcReduction="10000"/>
          </a:bodyPr>
          <a:lstStyle/>
          <a:p>
            <a:r>
              <a:rPr lang="en-GB" sz="2200" dirty="0">
                <a:latin typeface="Times New Roman" panose="02020603050405020304" pitchFamily="18" charset="0"/>
                <a:cs typeface="Times New Roman" panose="02020603050405020304" pitchFamily="18" charset="0"/>
              </a:rPr>
              <a:t>Siting – well isolated from poultry houses.</a:t>
            </a:r>
          </a:p>
          <a:p>
            <a:r>
              <a:rPr lang="en-GB" sz="2200" dirty="0">
                <a:latin typeface="Times New Roman" panose="02020603050405020304" pitchFamily="18" charset="0"/>
                <a:cs typeface="Times New Roman" panose="02020603050405020304" pitchFamily="18" charset="0"/>
              </a:rPr>
              <a:t>Allow one-way flow of work and traffic.</a:t>
            </a:r>
          </a:p>
          <a:p>
            <a:r>
              <a:rPr lang="en-GB" sz="2200" dirty="0">
                <a:latin typeface="Times New Roman" panose="02020603050405020304" pitchFamily="18" charset="0"/>
                <a:cs typeface="Times New Roman" panose="02020603050405020304" pitchFamily="18" charset="0"/>
              </a:rPr>
              <a:t>Easy to clean</a:t>
            </a:r>
          </a:p>
          <a:p>
            <a:r>
              <a:rPr lang="en-GB" sz="2200" dirty="0">
                <a:latin typeface="Times New Roman" panose="02020603050405020304" pitchFamily="18" charset="0"/>
                <a:cs typeface="Times New Roman" panose="02020603050405020304" pitchFamily="18" charset="0"/>
              </a:rPr>
              <a:t>Good insulation</a:t>
            </a:r>
          </a:p>
          <a:p>
            <a:r>
              <a:rPr lang="en-GB" sz="2200" dirty="0">
                <a:latin typeface="Times New Roman" panose="02020603050405020304" pitchFamily="18" charset="0"/>
                <a:cs typeface="Times New Roman" panose="02020603050405020304" pitchFamily="18" charset="0"/>
              </a:rPr>
              <a:t>Serviced with:</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Receiving area</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Egg store</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Fumigation facilities</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Candling room and facilities</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Chick holding area and packaging facilities</a:t>
            </a:r>
          </a:p>
          <a:p>
            <a:pPr lvl="1">
              <a:buFont typeface="Wingdings" panose="05000000000000000000" pitchFamily="2" charset="2"/>
              <a:buChar char="ü"/>
            </a:pPr>
            <a:r>
              <a:rPr lang="en-GB" sz="2200" dirty="0">
                <a:latin typeface="Times New Roman" panose="02020603050405020304" pitchFamily="18" charset="0"/>
                <a:cs typeface="Times New Roman" panose="02020603050405020304" pitchFamily="18" charset="0"/>
              </a:rPr>
              <a:t>Disposal area</a:t>
            </a:r>
            <a:endParaRPr lang="en-US"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547AD92D-F53C-4A4B-AF57-2D8FAFF5FD98}"/>
              </a:ext>
            </a:extLst>
          </p:cNvPr>
          <p:cNvSpPr txBox="1">
            <a:spLocks/>
          </p:cNvSpPr>
          <p:nvPr/>
        </p:nvSpPr>
        <p:spPr>
          <a:xfrm>
            <a:off x="388320" y="288814"/>
            <a:ext cx="5266174" cy="62569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pPr marL="0" indent="0">
              <a:buNone/>
            </a:pPr>
            <a:r>
              <a:rPr lang="en-GB" sz="3200" b="1" dirty="0">
                <a:solidFill>
                  <a:srgbClr val="FFFF00"/>
                </a:solidFill>
                <a:latin typeface="Times New Roman" panose="02020603050405020304" pitchFamily="18" charset="0"/>
                <a:cs typeface="Times New Roman" panose="02020603050405020304" pitchFamily="18" charset="0"/>
              </a:rPr>
              <a:t>Activities done in hatchery</a:t>
            </a:r>
          </a:p>
        </p:txBody>
      </p:sp>
      <p:sp>
        <p:nvSpPr>
          <p:cNvPr id="6" name="Content Placeholder 2">
            <a:extLst>
              <a:ext uri="{FF2B5EF4-FFF2-40B4-BE49-F238E27FC236}">
                <a16:creationId xmlns:a16="http://schemas.microsoft.com/office/drawing/2014/main" id="{73559A7A-AE07-4271-A3E5-40030C3372B4}"/>
              </a:ext>
            </a:extLst>
          </p:cNvPr>
          <p:cNvSpPr>
            <a:spLocks noGrp="1"/>
          </p:cNvSpPr>
          <p:nvPr>
            <p:ph idx="1"/>
          </p:nvPr>
        </p:nvSpPr>
        <p:spPr>
          <a:xfrm>
            <a:off x="388320" y="1122002"/>
            <a:ext cx="5266174" cy="4329628"/>
          </a:xfrm>
        </p:spPr>
        <p:txBody>
          <a:bodyPr>
            <a:normAutofit fontScale="92500" lnSpcReduction="10000"/>
          </a:bodyPr>
          <a:lstStyle/>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Hatchery design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selection for hatching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Storage of hatching eggs</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Hatchery sanitation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setting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Incubation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Candling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transfer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Chick pull and processing</a:t>
            </a:r>
          </a:p>
        </p:txBody>
      </p:sp>
    </p:spTree>
    <p:extLst>
      <p:ext uri="{BB962C8B-B14F-4D97-AF65-F5344CB8AC3E}">
        <p14:creationId xmlns:p14="http://schemas.microsoft.com/office/powerpoint/2010/main" val="22081371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0975" y="476099"/>
            <a:ext cx="7886700" cy="856919"/>
          </a:xfrm>
        </p:spPr>
        <p:txBody>
          <a:bodyPr>
            <a:normAutofit/>
          </a:bodyPr>
          <a:lstStyle/>
          <a:p>
            <a:r>
              <a:rPr lang="en-GB" sz="3600" b="1" dirty="0">
                <a:solidFill>
                  <a:srgbClr val="FFFF00"/>
                </a:solidFill>
                <a:latin typeface="Century Gothic" panose="020B0502020202020204" pitchFamily="34" charset="0"/>
              </a:rPr>
              <a:t>2. Selecting Eggs for Hatching</a:t>
            </a:r>
          </a:p>
        </p:txBody>
      </p:sp>
      <p:sp>
        <p:nvSpPr>
          <p:cNvPr id="3" name="Content Placeholder 2"/>
          <p:cNvSpPr>
            <a:spLocks noGrp="1"/>
          </p:cNvSpPr>
          <p:nvPr>
            <p:ph idx="1"/>
          </p:nvPr>
        </p:nvSpPr>
        <p:spPr>
          <a:xfrm>
            <a:off x="838940" y="1460495"/>
            <a:ext cx="8571261" cy="2395409"/>
          </a:xfrm>
        </p:spPr>
        <p:txBody>
          <a:bodyPr>
            <a:noAutofit/>
          </a:bodyPr>
          <a:lstStyle/>
          <a:p>
            <a:pPr>
              <a:lnSpc>
                <a:spcPct val="100000"/>
              </a:lnSpc>
            </a:pPr>
            <a:r>
              <a:rPr lang="en-GB" sz="2200" dirty="0"/>
              <a:t>Good quality eggs should match the following:</a:t>
            </a:r>
          </a:p>
          <a:p>
            <a:pPr lvl="1">
              <a:lnSpc>
                <a:spcPct val="100000"/>
              </a:lnSpc>
              <a:buFont typeface="Wingdings" panose="05000000000000000000" pitchFamily="2" charset="2"/>
              <a:buChar char="ü"/>
            </a:pPr>
            <a:r>
              <a:rPr lang="en-GB" sz="2200" dirty="0"/>
              <a:t>uniform size (ideal size is 50 – 70g).</a:t>
            </a:r>
          </a:p>
          <a:p>
            <a:pPr lvl="1">
              <a:lnSpc>
                <a:spcPct val="100000"/>
              </a:lnSpc>
              <a:buFont typeface="Wingdings" panose="05000000000000000000" pitchFamily="2" charset="2"/>
              <a:buChar char="ü"/>
            </a:pPr>
            <a:r>
              <a:rPr lang="en-GB" sz="2200" dirty="0"/>
              <a:t>Clean dry eggs with shells which are not cracked.</a:t>
            </a:r>
          </a:p>
          <a:p>
            <a:pPr lvl="1">
              <a:lnSpc>
                <a:spcPct val="100000"/>
              </a:lnSpc>
              <a:buFont typeface="Wingdings" panose="05000000000000000000" pitchFamily="2" charset="2"/>
              <a:buChar char="ü"/>
            </a:pPr>
            <a:r>
              <a:rPr lang="en-GB" sz="2200" dirty="0"/>
              <a:t>Well shaped</a:t>
            </a:r>
          </a:p>
          <a:p>
            <a:pPr lvl="1">
              <a:lnSpc>
                <a:spcPct val="100000"/>
              </a:lnSpc>
              <a:buFont typeface="Wingdings" panose="05000000000000000000" pitchFamily="2" charset="2"/>
              <a:buChar char="ü"/>
            </a:pPr>
            <a:r>
              <a:rPr lang="en-GB" sz="2200" dirty="0"/>
              <a:t>No double yolk or very large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861" y="4081959"/>
            <a:ext cx="2729605" cy="20770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2372" y="4081958"/>
            <a:ext cx="2722818" cy="20770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89394" y="4081957"/>
            <a:ext cx="2757730" cy="20770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196422" y="4081957"/>
            <a:ext cx="2757731" cy="20770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5833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4296" y="350839"/>
            <a:ext cx="7886700" cy="751451"/>
          </a:xfrm>
        </p:spPr>
        <p:txBody>
          <a:bodyPr>
            <a:normAutofit/>
          </a:bodyPr>
          <a:lstStyle/>
          <a:p>
            <a:r>
              <a:rPr lang="en-GB" sz="3600" b="1" dirty="0">
                <a:solidFill>
                  <a:srgbClr val="FFFF00"/>
                </a:solidFill>
                <a:latin typeface="Century Gothic" panose="020B0502020202020204" pitchFamily="34" charset="0"/>
              </a:rPr>
              <a:t>3. Storage of Hatching Eggs</a:t>
            </a:r>
          </a:p>
        </p:txBody>
      </p:sp>
      <p:sp>
        <p:nvSpPr>
          <p:cNvPr id="3" name="Content Placeholder 2"/>
          <p:cNvSpPr>
            <a:spLocks noGrp="1"/>
          </p:cNvSpPr>
          <p:nvPr>
            <p:ph idx="1"/>
          </p:nvPr>
        </p:nvSpPr>
        <p:spPr>
          <a:xfrm>
            <a:off x="330507" y="1102290"/>
            <a:ext cx="11600760" cy="4703599"/>
          </a:xfrm>
        </p:spPr>
        <p:txBody>
          <a:bodyPr>
            <a:noAutofit/>
          </a:bodyPr>
          <a:lstStyle/>
          <a:p>
            <a:pPr>
              <a:lnSpc>
                <a:spcPct val="100000"/>
              </a:lnSpc>
            </a:pPr>
            <a:r>
              <a:rPr lang="en-GB" sz="2800" dirty="0"/>
              <a:t>Egg collection </a:t>
            </a:r>
            <a:r>
              <a:rPr lang="en-US" sz="2800" dirty="0"/>
              <a:t>has to be done more frequently to avoid the embryo remaining at a temperature between 27 °C and 37 °C for too long a </a:t>
            </a:r>
            <a:r>
              <a:rPr lang="en-GB" sz="2800" dirty="0"/>
              <a:t>time.</a:t>
            </a:r>
          </a:p>
          <a:p>
            <a:pPr>
              <a:lnSpc>
                <a:spcPct val="100000"/>
              </a:lnSpc>
            </a:pPr>
            <a:r>
              <a:rPr lang="en-GB" sz="2800" dirty="0"/>
              <a:t>Store hatching eggs on shelves at temperatures of about 16 – 21 </a:t>
            </a:r>
            <a:r>
              <a:rPr lang="en-GB" sz="2800" baseline="30000" dirty="0"/>
              <a:t>o </a:t>
            </a:r>
            <a:r>
              <a:rPr lang="en-GB" sz="2800" dirty="0"/>
              <a:t>C. </a:t>
            </a:r>
          </a:p>
          <a:p>
            <a:pPr>
              <a:lnSpc>
                <a:spcPct val="100000"/>
              </a:lnSpc>
            </a:pPr>
            <a:r>
              <a:rPr lang="en-US" sz="2800" dirty="0"/>
              <a:t>The longer eggs are to be stored, the lower the storage temperature and vice versa.</a:t>
            </a:r>
          </a:p>
          <a:p>
            <a:pPr>
              <a:lnSpc>
                <a:spcPct val="100000"/>
              </a:lnSpc>
            </a:pPr>
            <a:r>
              <a:rPr lang="en-GB" sz="2800" dirty="0"/>
              <a:t>In most </a:t>
            </a:r>
            <a:r>
              <a:rPr lang="en-US" sz="2800" dirty="0"/>
              <a:t>layer hatcheries, it is common practice to store the eggs up to 10 days. For this </a:t>
            </a:r>
            <a:r>
              <a:rPr lang="en-GB" sz="2800" dirty="0"/>
              <a:t>storage length, the recommended temperature  is 16 – 18 °C.</a:t>
            </a:r>
          </a:p>
          <a:p>
            <a:pPr>
              <a:lnSpc>
                <a:spcPct val="100000"/>
              </a:lnSpc>
            </a:pPr>
            <a:r>
              <a:rPr lang="en-GB" sz="2800" dirty="0"/>
              <a:t>Eggs should be stored with their pointed end downwards.</a:t>
            </a:r>
          </a:p>
          <a:p>
            <a:pPr>
              <a:lnSpc>
                <a:spcPct val="100000"/>
              </a:lnSpc>
            </a:pPr>
            <a:r>
              <a:rPr lang="en-GB" sz="2800" dirty="0"/>
              <a:t>Relative humidity should be 70 – 80%. </a:t>
            </a:r>
          </a:p>
        </p:txBody>
      </p:sp>
    </p:spTree>
    <p:extLst>
      <p:ext uri="{BB962C8B-B14F-4D97-AF65-F5344CB8AC3E}">
        <p14:creationId xmlns:p14="http://schemas.microsoft.com/office/powerpoint/2010/main" val="533254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3775" y="350840"/>
            <a:ext cx="5010411" cy="747320"/>
          </a:xfrm>
        </p:spPr>
        <p:txBody>
          <a:bodyPr>
            <a:normAutofit fontScale="90000"/>
          </a:bodyPr>
          <a:lstStyle/>
          <a:p>
            <a:r>
              <a:rPr lang="en-GB" sz="3600" b="1" dirty="0">
                <a:solidFill>
                  <a:srgbClr val="FFFF00"/>
                </a:solidFill>
                <a:latin typeface="Century Gothic" panose="020B0502020202020204" pitchFamily="34" charset="0"/>
              </a:rPr>
              <a:t>4. Hatchery Sanitation</a:t>
            </a:r>
          </a:p>
        </p:txBody>
      </p:sp>
      <p:sp>
        <p:nvSpPr>
          <p:cNvPr id="3" name="Content Placeholder 2"/>
          <p:cNvSpPr>
            <a:spLocks noGrp="1"/>
          </p:cNvSpPr>
          <p:nvPr>
            <p:ph idx="1"/>
          </p:nvPr>
        </p:nvSpPr>
        <p:spPr>
          <a:xfrm>
            <a:off x="613775" y="1098159"/>
            <a:ext cx="10684702" cy="4661682"/>
          </a:xfrm>
        </p:spPr>
        <p:txBody>
          <a:bodyPr>
            <a:noAutofit/>
          </a:bodyPr>
          <a:lstStyle/>
          <a:p>
            <a:pPr>
              <a:lnSpc>
                <a:spcPct val="150000"/>
              </a:lnSpc>
            </a:pPr>
            <a:r>
              <a:rPr lang="en-US" sz="2200" dirty="0">
                <a:latin typeface="Times New Roman" panose="02020603050405020304" pitchFamily="18" charset="0"/>
                <a:cs typeface="Times New Roman" panose="02020603050405020304" pitchFamily="18" charset="0"/>
              </a:rPr>
              <a:t>Hatching eggs need to be disinfected, as micro organisms multiply rapidly in the warm and humid climate of a hatchery.</a:t>
            </a:r>
          </a:p>
          <a:p>
            <a:pPr>
              <a:lnSpc>
                <a:spcPct val="150000"/>
              </a:lnSpc>
            </a:pPr>
            <a:r>
              <a:rPr lang="en-GB" sz="2200" dirty="0">
                <a:latin typeface="Times New Roman" panose="02020603050405020304" pitchFamily="18" charset="0"/>
                <a:cs typeface="Times New Roman" panose="02020603050405020304" pitchFamily="18" charset="0"/>
              </a:rPr>
              <a:t>Devise a sanitation program to control contamination.</a:t>
            </a:r>
          </a:p>
          <a:p>
            <a:pPr>
              <a:lnSpc>
                <a:spcPct val="150000"/>
              </a:lnSpc>
            </a:pPr>
            <a:r>
              <a:rPr lang="en-GB" sz="2200" dirty="0">
                <a:latin typeface="Times New Roman" panose="02020603050405020304" pitchFamily="18" charset="0"/>
                <a:cs typeface="Times New Roman" panose="02020603050405020304" pitchFamily="18" charset="0"/>
              </a:rPr>
              <a:t>Fumigation </a:t>
            </a:r>
            <a:r>
              <a:rPr lang="en-US" sz="2200" dirty="0">
                <a:latin typeface="Times New Roman" panose="02020603050405020304" pitchFamily="18" charset="0"/>
                <a:cs typeface="Times New Roman" panose="02020603050405020304" pitchFamily="18" charset="0"/>
              </a:rPr>
              <a:t>with formalin is no longer recommended as it is harmful to the embryo, increasing early embryonic death, and it is hazardous to human </a:t>
            </a:r>
            <a:r>
              <a:rPr lang="en-GB" sz="2200" dirty="0">
                <a:latin typeface="Times New Roman" panose="02020603050405020304" pitchFamily="18" charset="0"/>
                <a:cs typeface="Times New Roman" panose="02020603050405020304" pitchFamily="18" charset="0"/>
              </a:rPr>
              <a:t>health.</a:t>
            </a:r>
          </a:p>
          <a:p>
            <a:pPr>
              <a:lnSpc>
                <a:spcPct val="150000"/>
              </a:lnSpc>
            </a:pPr>
            <a:r>
              <a:rPr lang="en-GB" sz="2200" dirty="0">
                <a:latin typeface="Times New Roman" panose="02020603050405020304" pitchFamily="18" charset="0"/>
                <a:cs typeface="Times New Roman" panose="02020603050405020304" pitchFamily="18" charset="0"/>
              </a:rPr>
              <a:t>Use glutaraldehyde or quaternary ammonia compounds on </a:t>
            </a:r>
            <a:r>
              <a:rPr lang="en-US" sz="2200" dirty="0">
                <a:latin typeface="Times New Roman" panose="02020603050405020304" pitchFamily="18" charset="0"/>
                <a:cs typeface="Times New Roman" panose="02020603050405020304" pitchFamily="18" charset="0"/>
              </a:rPr>
              <a:t>stabilized hydrogen peroxide and peracetic acid or just hydrogen peroxide that have the </a:t>
            </a:r>
            <a:r>
              <a:rPr lang="en-GB" sz="2200" dirty="0">
                <a:latin typeface="Times New Roman" panose="02020603050405020304" pitchFamily="18" charset="0"/>
                <a:cs typeface="Times New Roman" panose="02020603050405020304" pitchFamily="18" charset="0"/>
              </a:rPr>
              <a:t>same effectiveness.</a:t>
            </a:r>
          </a:p>
        </p:txBody>
      </p:sp>
    </p:spTree>
    <p:extLst>
      <p:ext uri="{BB962C8B-B14F-4D97-AF65-F5344CB8AC3E}">
        <p14:creationId xmlns:p14="http://schemas.microsoft.com/office/powerpoint/2010/main" val="1826953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6570" y="350839"/>
            <a:ext cx="7886700" cy="779490"/>
          </a:xfrm>
        </p:spPr>
        <p:txBody>
          <a:bodyPr>
            <a:normAutofit/>
          </a:bodyPr>
          <a:lstStyle/>
          <a:p>
            <a:r>
              <a:rPr lang="en-GB" sz="3600" b="1" dirty="0">
                <a:solidFill>
                  <a:srgbClr val="FFFF00"/>
                </a:solidFill>
                <a:latin typeface="Century Gothic" panose="020B0502020202020204" pitchFamily="34" charset="0"/>
              </a:rPr>
              <a:t>5. Egg Setting</a:t>
            </a:r>
          </a:p>
        </p:txBody>
      </p:sp>
      <p:sp>
        <p:nvSpPr>
          <p:cNvPr id="3" name="Content Placeholder 2"/>
          <p:cNvSpPr>
            <a:spLocks noGrp="1"/>
          </p:cNvSpPr>
          <p:nvPr>
            <p:ph idx="1"/>
          </p:nvPr>
        </p:nvSpPr>
        <p:spPr>
          <a:xfrm>
            <a:off x="851770" y="1130329"/>
            <a:ext cx="10183660" cy="5520992"/>
          </a:xfrm>
        </p:spPr>
        <p:txBody>
          <a:bodyPr>
            <a:noAutofit/>
          </a:bodyPr>
          <a:lstStyle/>
          <a:p>
            <a:pPr algn="just">
              <a:lnSpc>
                <a:spcPct val="100000"/>
              </a:lnSpc>
            </a:pPr>
            <a:r>
              <a:rPr lang="en-US" sz="2800" dirty="0"/>
              <a:t>Pre-warming, often also called pre-heating, is a procedure after storage and before setting during which the egg temperature is slowly increased to approximately </a:t>
            </a:r>
            <a:r>
              <a:rPr lang="en-GB" sz="2800" dirty="0"/>
              <a:t>25 °C.</a:t>
            </a:r>
          </a:p>
          <a:p>
            <a:pPr algn="just">
              <a:lnSpc>
                <a:spcPct val="100000"/>
              </a:lnSpc>
            </a:pPr>
            <a:r>
              <a:rPr lang="en-GB" sz="2800" dirty="0"/>
              <a:t>Provide good air circulation and allow 6 to 12 hours for pre-warming.</a:t>
            </a:r>
          </a:p>
          <a:p>
            <a:pPr algn="just">
              <a:lnSpc>
                <a:spcPct val="100000"/>
              </a:lnSpc>
            </a:pPr>
            <a:r>
              <a:rPr lang="en-GB" sz="2800" dirty="0"/>
              <a:t>Incubation time influenced by:</a:t>
            </a:r>
          </a:p>
          <a:p>
            <a:pPr lvl="1" algn="just">
              <a:lnSpc>
                <a:spcPct val="100000"/>
              </a:lnSpc>
              <a:buFont typeface="Wingdings" panose="05000000000000000000" pitchFamily="2" charset="2"/>
              <a:buChar char="q"/>
            </a:pPr>
            <a:r>
              <a:rPr lang="en-GB" sz="2800" dirty="0"/>
              <a:t>Temperature of incubation – modified according to temperature and size.</a:t>
            </a:r>
          </a:p>
          <a:p>
            <a:pPr lvl="1" algn="just">
              <a:lnSpc>
                <a:spcPct val="100000"/>
              </a:lnSpc>
              <a:buFont typeface="Wingdings" panose="05000000000000000000" pitchFamily="2" charset="2"/>
              <a:buChar char="q"/>
            </a:pPr>
            <a:r>
              <a:rPr lang="en-GB" sz="2800" dirty="0"/>
              <a:t>Age of the eggs – for eggs stored over 6days, allow 1hr/day of storage</a:t>
            </a:r>
          </a:p>
          <a:p>
            <a:pPr lvl="1" algn="just">
              <a:lnSpc>
                <a:spcPct val="100000"/>
              </a:lnSpc>
              <a:buFont typeface="Wingdings" panose="05000000000000000000" pitchFamily="2" charset="2"/>
              <a:buChar char="q"/>
            </a:pPr>
            <a:r>
              <a:rPr lang="en-GB" sz="2800" dirty="0"/>
              <a:t>Size of the eggs – the larger the egg the longer the time</a:t>
            </a:r>
          </a:p>
        </p:txBody>
      </p:sp>
    </p:spTree>
    <p:extLst>
      <p:ext uri="{BB962C8B-B14F-4D97-AF65-F5344CB8AC3E}">
        <p14:creationId xmlns:p14="http://schemas.microsoft.com/office/powerpoint/2010/main" val="390127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645" y="140348"/>
            <a:ext cx="3471536" cy="630454"/>
          </a:xfrm>
        </p:spPr>
        <p:txBody>
          <a:bodyPr>
            <a:normAutofit fontScale="90000"/>
          </a:bodyPr>
          <a:lstStyle/>
          <a:p>
            <a:r>
              <a:rPr lang="en-GB" sz="3600" b="1" dirty="0">
                <a:solidFill>
                  <a:srgbClr val="FFFF00"/>
                </a:solidFill>
                <a:latin typeface="Century Gothic" panose="020B0502020202020204" pitchFamily="34" charset="0"/>
              </a:rPr>
              <a:t>6. Incubation</a:t>
            </a:r>
          </a:p>
        </p:txBody>
      </p:sp>
      <p:sp>
        <p:nvSpPr>
          <p:cNvPr id="3" name="Content Placeholder 2"/>
          <p:cNvSpPr>
            <a:spLocks noGrp="1"/>
          </p:cNvSpPr>
          <p:nvPr>
            <p:ph idx="1"/>
          </p:nvPr>
        </p:nvSpPr>
        <p:spPr>
          <a:xfrm>
            <a:off x="348904" y="861489"/>
            <a:ext cx="10060226" cy="5614467"/>
          </a:xfrm>
        </p:spPr>
        <p:txBody>
          <a:bodyPr>
            <a:noAutofit/>
          </a:bodyPr>
          <a:lstStyle/>
          <a:p>
            <a:pPr marL="0" indent="0" algn="just">
              <a:buNone/>
            </a:pPr>
            <a:r>
              <a:rPr lang="en-GB" sz="2400" b="1" dirty="0">
                <a:solidFill>
                  <a:srgbClr val="FFC000"/>
                </a:solidFill>
                <a:latin typeface="Times New Roman" panose="02020603050405020304" pitchFamily="18" charset="0"/>
                <a:cs typeface="Times New Roman" panose="02020603050405020304" pitchFamily="18" charset="0"/>
              </a:rPr>
              <a:t>Types of Incubators</a:t>
            </a:r>
          </a:p>
          <a:p>
            <a:pPr marL="457200" indent="-457200" algn="just">
              <a:lnSpc>
                <a:spcPct val="100000"/>
              </a:lnSpc>
              <a:buFont typeface="+mj-lt"/>
              <a:buAutoNum type="alphaLcParenR"/>
            </a:pPr>
            <a:r>
              <a:rPr lang="en-US" sz="2400" dirty="0">
                <a:latin typeface="Times New Roman" panose="02020603050405020304" pitchFamily="18" charset="0"/>
                <a:cs typeface="Times New Roman" panose="02020603050405020304" pitchFamily="18" charset="0"/>
              </a:rPr>
              <a:t>Automated incubators</a:t>
            </a:r>
          </a:p>
          <a:p>
            <a:pPr marL="457200" indent="-457200" algn="just">
              <a:lnSpc>
                <a:spcPct val="100000"/>
              </a:lnSpc>
              <a:buFont typeface="+mj-lt"/>
              <a:buAutoNum type="alphaLcParenR"/>
            </a:pPr>
            <a:r>
              <a:rPr lang="en-US" sz="2400" dirty="0">
                <a:latin typeface="Times New Roman" panose="02020603050405020304" pitchFamily="18" charset="0"/>
                <a:cs typeface="Times New Roman" panose="02020603050405020304" pitchFamily="18" charset="0"/>
              </a:rPr>
              <a:t>Manual incubators</a:t>
            </a:r>
            <a:endParaRPr lang="en-GB" sz="2400" dirty="0">
              <a:latin typeface="Times New Roman" panose="02020603050405020304" pitchFamily="18" charset="0"/>
              <a:cs typeface="Times New Roman" panose="02020603050405020304" pitchFamily="18" charset="0"/>
            </a:endParaRPr>
          </a:p>
          <a:p>
            <a:pPr marL="0" indent="0" algn="just">
              <a:lnSpc>
                <a:spcPct val="100000"/>
              </a:lnSpc>
              <a:buNone/>
            </a:pPr>
            <a:endParaRPr lang="en-GB" sz="24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Pack the eggs on setters with the tip pointing downwards</a:t>
            </a:r>
          </a:p>
          <a:p>
            <a:pPr algn="just"/>
            <a:r>
              <a:rPr lang="en-US" sz="2200" dirty="0">
                <a:latin typeface="Times New Roman" panose="02020603050405020304" pitchFamily="18" charset="0"/>
                <a:cs typeface="Times New Roman" panose="02020603050405020304" pitchFamily="18" charset="0"/>
              </a:rPr>
              <a:t>Eggs must be turned 3 – 5days daily from first day to </a:t>
            </a:r>
          </a:p>
          <a:p>
            <a:pPr marL="0" indent="0" algn="just">
              <a:buNone/>
            </a:pPr>
            <a:r>
              <a:rPr lang="en-US" sz="2200" dirty="0">
                <a:latin typeface="Times New Roman" panose="02020603050405020304" pitchFamily="18" charset="0"/>
                <a:cs typeface="Times New Roman" panose="02020603050405020304" pitchFamily="18" charset="0"/>
              </a:rPr>
              <a:t>	18</a:t>
            </a:r>
            <a:r>
              <a:rPr lang="en-US" sz="2200" baseline="30000" dirty="0">
                <a:latin typeface="Times New Roman" panose="02020603050405020304" pitchFamily="18" charset="0"/>
                <a:cs typeface="Times New Roman" panose="02020603050405020304" pitchFamily="18" charset="0"/>
              </a:rPr>
              <a:t>th</a:t>
            </a:r>
            <a:r>
              <a:rPr lang="en-US" sz="2200" dirty="0">
                <a:latin typeface="Times New Roman" panose="02020603050405020304" pitchFamily="18" charset="0"/>
                <a:cs typeface="Times New Roman" panose="02020603050405020304" pitchFamily="18" charset="0"/>
              </a:rPr>
              <a:t> day of incubation – to prevent them from sticking.</a:t>
            </a:r>
          </a:p>
          <a:p>
            <a:pPr algn="just"/>
            <a:r>
              <a:rPr lang="en-US" sz="2200" dirty="0">
                <a:latin typeface="Times New Roman" panose="02020603050405020304" pitchFamily="18" charset="0"/>
                <a:cs typeface="Times New Roman" panose="02020603050405020304" pitchFamily="18" charset="0"/>
              </a:rPr>
              <a:t>Turning can be automated or done manually.</a:t>
            </a:r>
          </a:p>
          <a:p>
            <a:pPr algn="just"/>
            <a:r>
              <a:rPr lang="en-US" sz="2200" dirty="0">
                <a:latin typeface="Times New Roman" panose="02020603050405020304" pitchFamily="18" charset="0"/>
                <a:cs typeface="Times New Roman" panose="02020603050405020304" pitchFamily="18" charset="0"/>
              </a:rPr>
              <a:t>Eggs normally titled at an angle of 45</a:t>
            </a:r>
            <a:r>
              <a:rPr lang="en-US" sz="2200" baseline="30000" dirty="0">
                <a:latin typeface="Times New Roman" panose="02020603050405020304" pitchFamily="18" charset="0"/>
                <a:cs typeface="Times New Roman" panose="02020603050405020304" pitchFamily="18" charset="0"/>
              </a:rPr>
              <a:t>o </a:t>
            </a:r>
            <a:r>
              <a:rPr lang="en-US" sz="2200" dirty="0">
                <a:latin typeface="Times New Roman" panose="02020603050405020304" pitchFamily="18" charset="0"/>
                <a:cs typeface="Times New Roman" panose="02020603050405020304" pitchFamily="18" charset="0"/>
              </a:rPr>
              <a:t>from the surface.</a:t>
            </a:r>
            <a:endParaRPr lang="en-US" sz="2200" baseline="300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Put an X sign with a pencil on one side of the broad end of the egg for ease of identification during turning. </a:t>
            </a:r>
          </a:p>
          <a:p>
            <a:pPr algn="just"/>
            <a:r>
              <a:rPr lang="en-US" sz="2200" dirty="0">
                <a:latin typeface="Times New Roman" panose="02020603050405020304" pitchFamily="18" charset="0"/>
                <a:cs typeface="Times New Roman" panose="02020603050405020304" pitchFamily="18" charset="0"/>
              </a:rPr>
              <a:t>High mortalities experienced between 3</a:t>
            </a:r>
            <a:r>
              <a:rPr lang="en-US" sz="2200" baseline="30000" dirty="0">
                <a:latin typeface="Times New Roman" panose="02020603050405020304" pitchFamily="18" charset="0"/>
                <a:cs typeface="Times New Roman" panose="02020603050405020304" pitchFamily="18" charset="0"/>
              </a:rPr>
              <a:t>rd</a:t>
            </a:r>
            <a:r>
              <a:rPr lang="en-US" sz="2200" dirty="0">
                <a:latin typeface="Times New Roman" panose="02020603050405020304" pitchFamily="18" charset="0"/>
                <a:cs typeface="Times New Roman" panose="02020603050405020304" pitchFamily="18" charset="0"/>
              </a:rPr>
              <a:t> and 5</a:t>
            </a:r>
            <a:r>
              <a:rPr lang="en-US" sz="2200" baseline="30000" dirty="0">
                <a:latin typeface="Times New Roman" panose="02020603050405020304" pitchFamily="18" charset="0"/>
                <a:cs typeface="Times New Roman" panose="02020603050405020304" pitchFamily="18" charset="0"/>
              </a:rPr>
              <a:t>th</a:t>
            </a:r>
            <a:r>
              <a:rPr lang="en-US" sz="2200" dirty="0">
                <a:latin typeface="Times New Roman" panose="02020603050405020304" pitchFamily="18" charset="0"/>
                <a:cs typeface="Times New Roman" panose="02020603050405020304" pitchFamily="18" charset="0"/>
              </a:rPr>
              <a:t> days due to poor egg handling and poor nutrition of the parent stock.</a:t>
            </a:r>
          </a:p>
        </p:txBody>
      </p:sp>
      <p:graphicFrame>
        <p:nvGraphicFramePr>
          <p:cNvPr id="6" name="Tijdelijke aanduiding voor inhoud 3">
            <a:extLst>
              <a:ext uri="{FF2B5EF4-FFF2-40B4-BE49-F238E27FC236}">
                <a16:creationId xmlns:a16="http://schemas.microsoft.com/office/drawing/2014/main" id="{4C2EDEE5-9BB9-4AEB-A9F2-E694B77E7D8C}"/>
              </a:ext>
            </a:extLst>
          </p:cNvPr>
          <p:cNvGraphicFramePr>
            <a:graphicFrameLocks/>
          </p:cNvGraphicFramePr>
          <p:nvPr>
            <p:extLst>
              <p:ext uri="{D42A27DB-BD31-4B8C-83A1-F6EECF244321}">
                <p14:modId xmlns:p14="http://schemas.microsoft.com/office/powerpoint/2010/main" val="491669060"/>
              </p:ext>
            </p:extLst>
          </p:nvPr>
        </p:nvGraphicFramePr>
        <p:xfrm>
          <a:off x="7533457" y="770801"/>
          <a:ext cx="4368928" cy="4202034"/>
        </p:xfrm>
        <a:graphic>
          <a:graphicData uri="http://schemas.openxmlformats.org/drawingml/2006/table">
            <a:tbl>
              <a:tblPr firstRow="1" bandRow="1">
                <a:tableStyleId>{7DF18680-E054-41AD-8BC1-D1AEF772440D}</a:tableStyleId>
              </a:tblPr>
              <a:tblGrid>
                <a:gridCol w="2184464">
                  <a:extLst>
                    <a:ext uri="{9D8B030D-6E8A-4147-A177-3AD203B41FA5}">
                      <a16:colId xmlns:a16="http://schemas.microsoft.com/office/drawing/2014/main" val="20000"/>
                    </a:ext>
                  </a:extLst>
                </a:gridCol>
                <a:gridCol w="2184464">
                  <a:extLst>
                    <a:ext uri="{9D8B030D-6E8A-4147-A177-3AD203B41FA5}">
                      <a16:colId xmlns:a16="http://schemas.microsoft.com/office/drawing/2014/main" val="20001"/>
                    </a:ext>
                  </a:extLst>
                </a:gridCol>
              </a:tblGrid>
              <a:tr h="700339">
                <a:tc>
                  <a:txBody>
                    <a:bodyPr/>
                    <a:lstStyle/>
                    <a:p>
                      <a:pPr algn="ctr"/>
                      <a:r>
                        <a:rPr lang="en-GB" sz="2000" dirty="0">
                          <a:latin typeface="Times New Roman" panose="02020603050405020304" pitchFamily="18" charset="0"/>
                          <a:cs typeface="Times New Roman" panose="02020603050405020304" pitchFamily="18" charset="0"/>
                        </a:rPr>
                        <a:t>Species</a:t>
                      </a:r>
                    </a:p>
                  </a:txBody>
                  <a:tcPr/>
                </a:tc>
                <a:tc>
                  <a:txBody>
                    <a:bodyPr/>
                    <a:lstStyle/>
                    <a:p>
                      <a:pPr algn="ctr"/>
                      <a:r>
                        <a:rPr lang="en-GB" sz="2000" dirty="0">
                          <a:latin typeface="Times New Roman" panose="02020603050405020304" pitchFamily="18" charset="0"/>
                          <a:cs typeface="Times New Roman" panose="02020603050405020304" pitchFamily="18" charset="0"/>
                        </a:rPr>
                        <a:t>Time</a:t>
                      </a:r>
                    </a:p>
                  </a:txBody>
                  <a:tcPr/>
                </a:tc>
                <a:extLst>
                  <a:ext uri="{0D108BD9-81ED-4DB2-BD59-A6C34878D82A}">
                    <a16:rowId xmlns:a16="http://schemas.microsoft.com/office/drawing/2014/main" val="10000"/>
                  </a:ext>
                </a:extLst>
              </a:tr>
              <a:tr h="700339">
                <a:tc>
                  <a:txBody>
                    <a:bodyPr/>
                    <a:lstStyle/>
                    <a:p>
                      <a:pPr algn="ctr"/>
                      <a:r>
                        <a:rPr lang="en-GB" sz="2000" dirty="0">
                          <a:latin typeface="Times New Roman" panose="02020603050405020304" pitchFamily="18" charset="0"/>
                          <a:cs typeface="Times New Roman" panose="02020603050405020304" pitchFamily="18" charset="0"/>
                        </a:rPr>
                        <a:t>Chicken</a:t>
                      </a:r>
                    </a:p>
                  </a:txBody>
                  <a:tcPr/>
                </a:tc>
                <a:tc>
                  <a:txBody>
                    <a:bodyPr/>
                    <a:lstStyle/>
                    <a:p>
                      <a:pPr algn="ctr"/>
                      <a:r>
                        <a:rPr lang="en-GB" sz="2000">
                          <a:latin typeface="Times New Roman" panose="02020603050405020304" pitchFamily="18" charset="0"/>
                          <a:cs typeface="Times New Roman" panose="02020603050405020304" pitchFamily="18" charset="0"/>
                        </a:rPr>
                        <a:t>21 days</a:t>
                      </a:r>
                      <a:endParaRPr lang="en-GB"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700339">
                <a:tc>
                  <a:txBody>
                    <a:bodyPr/>
                    <a:lstStyle/>
                    <a:p>
                      <a:pPr algn="ctr"/>
                      <a:r>
                        <a:rPr lang="en-GB" sz="2000">
                          <a:latin typeface="Times New Roman" panose="02020603050405020304" pitchFamily="18" charset="0"/>
                          <a:cs typeface="Times New Roman" panose="02020603050405020304" pitchFamily="18" charset="0"/>
                        </a:rPr>
                        <a:t>Quails (Coturnix)</a:t>
                      </a:r>
                      <a:endParaRPr lang="en-GB" sz="2000" dirty="0">
                        <a:latin typeface="Times New Roman" panose="02020603050405020304" pitchFamily="18" charset="0"/>
                        <a:cs typeface="Times New Roman" panose="02020603050405020304" pitchFamily="18" charset="0"/>
                      </a:endParaRPr>
                    </a:p>
                  </a:txBody>
                  <a:tcPr/>
                </a:tc>
                <a:tc>
                  <a:txBody>
                    <a:bodyPr/>
                    <a:lstStyle/>
                    <a:p>
                      <a:pPr algn="ctr"/>
                      <a:r>
                        <a:rPr lang="en-GB" sz="2000" dirty="0">
                          <a:latin typeface="Times New Roman" panose="02020603050405020304" pitchFamily="18" charset="0"/>
                          <a:cs typeface="Times New Roman" panose="02020603050405020304" pitchFamily="18" charset="0"/>
                        </a:rPr>
                        <a:t>17 days</a:t>
                      </a:r>
                    </a:p>
                  </a:txBody>
                  <a:tcPr/>
                </a:tc>
                <a:extLst>
                  <a:ext uri="{0D108BD9-81ED-4DB2-BD59-A6C34878D82A}">
                    <a16:rowId xmlns:a16="http://schemas.microsoft.com/office/drawing/2014/main" val="10003"/>
                  </a:ext>
                </a:extLst>
              </a:tr>
              <a:tr h="700339">
                <a:tc>
                  <a:txBody>
                    <a:bodyPr/>
                    <a:lstStyle/>
                    <a:p>
                      <a:pPr algn="ctr"/>
                      <a:r>
                        <a:rPr lang="en-GB" sz="2000" dirty="0">
                          <a:latin typeface="Times New Roman" panose="02020603050405020304" pitchFamily="18" charset="0"/>
                          <a:cs typeface="Times New Roman" panose="02020603050405020304" pitchFamily="18" charset="0"/>
                        </a:rPr>
                        <a:t>Turkeys</a:t>
                      </a:r>
                    </a:p>
                  </a:txBody>
                  <a:tcPr/>
                </a:tc>
                <a:tc>
                  <a:txBody>
                    <a:bodyPr/>
                    <a:lstStyle/>
                    <a:p>
                      <a:pPr algn="ctr"/>
                      <a:r>
                        <a:rPr lang="en-GB" sz="2000">
                          <a:latin typeface="Times New Roman" panose="02020603050405020304" pitchFamily="18" charset="0"/>
                          <a:cs typeface="Times New Roman" panose="02020603050405020304" pitchFamily="18" charset="0"/>
                        </a:rPr>
                        <a:t>28 days</a:t>
                      </a:r>
                      <a:endParaRPr lang="en-GB"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r h="700339">
                <a:tc>
                  <a:txBody>
                    <a:bodyPr/>
                    <a:lstStyle/>
                    <a:p>
                      <a:pPr algn="ctr"/>
                      <a:r>
                        <a:rPr lang="en-GB" sz="2000">
                          <a:latin typeface="Times New Roman" panose="02020603050405020304" pitchFamily="18" charset="0"/>
                          <a:cs typeface="Times New Roman" panose="02020603050405020304" pitchFamily="18" charset="0"/>
                        </a:rPr>
                        <a:t>Guinea fowls</a:t>
                      </a:r>
                      <a:endParaRPr lang="en-GB" sz="2000" dirty="0">
                        <a:latin typeface="Times New Roman" panose="02020603050405020304" pitchFamily="18" charset="0"/>
                        <a:cs typeface="Times New Roman" panose="02020603050405020304" pitchFamily="18" charset="0"/>
                      </a:endParaRPr>
                    </a:p>
                  </a:txBody>
                  <a:tcPr/>
                </a:tc>
                <a:tc>
                  <a:txBody>
                    <a:bodyPr/>
                    <a:lstStyle/>
                    <a:p>
                      <a:pPr algn="ctr"/>
                      <a:r>
                        <a:rPr lang="en-GB" sz="2000" dirty="0">
                          <a:latin typeface="Times New Roman" panose="02020603050405020304" pitchFamily="18" charset="0"/>
                          <a:cs typeface="Times New Roman" panose="02020603050405020304" pitchFamily="18" charset="0"/>
                        </a:rPr>
                        <a:t>28 days</a:t>
                      </a:r>
                    </a:p>
                  </a:txBody>
                  <a:tcPr/>
                </a:tc>
                <a:extLst>
                  <a:ext uri="{0D108BD9-81ED-4DB2-BD59-A6C34878D82A}">
                    <a16:rowId xmlns:a16="http://schemas.microsoft.com/office/drawing/2014/main" val="2363535894"/>
                  </a:ext>
                </a:extLst>
              </a:tr>
              <a:tr h="700339">
                <a:tc>
                  <a:txBody>
                    <a:bodyPr/>
                    <a:lstStyle/>
                    <a:p>
                      <a:pPr algn="ctr"/>
                      <a:r>
                        <a:rPr lang="en-GB" sz="2000" dirty="0">
                          <a:latin typeface="Times New Roman" panose="02020603050405020304" pitchFamily="18" charset="0"/>
                          <a:cs typeface="Times New Roman" panose="02020603050405020304" pitchFamily="18" charset="0"/>
                        </a:rPr>
                        <a:t>Ducks</a:t>
                      </a:r>
                    </a:p>
                  </a:txBody>
                  <a:tcPr/>
                </a:tc>
                <a:tc>
                  <a:txBody>
                    <a:bodyPr/>
                    <a:lstStyle/>
                    <a:p>
                      <a:pPr algn="ctr"/>
                      <a:r>
                        <a:rPr lang="en-GB" sz="2000" dirty="0">
                          <a:latin typeface="Times New Roman" panose="02020603050405020304" pitchFamily="18" charset="0"/>
                          <a:cs typeface="Times New Roman" panose="02020603050405020304" pitchFamily="18" charset="0"/>
                        </a:rPr>
                        <a:t>28 days</a:t>
                      </a:r>
                    </a:p>
                  </a:txBody>
                  <a:tcPr/>
                </a:tc>
                <a:extLst>
                  <a:ext uri="{0D108BD9-81ED-4DB2-BD59-A6C34878D82A}">
                    <a16:rowId xmlns:a16="http://schemas.microsoft.com/office/drawing/2014/main" val="10005"/>
                  </a:ext>
                </a:extLst>
              </a:tr>
            </a:tbl>
          </a:graphicData>
        </a:graphic>
      </p:graphicFrame>
      <p:sp>
        <p:nvSpPr>
          <p:cNvPr id="7" name="Title 1">
            <a:extLst>
              <a:ext uri="{FF2B5EF4-FFF2-40B4-BE49-F238E27FC236}">
                <a16:creationId xmlns:a16="http://schemas.microsoft.com/office/drawing/2014/main" id="{FE177B02-C875-47F8-A974-A20BF8E5CC9E}"/>
              </a:ext>
            </a:extLst>
          </p:cNvPr>
          <p:cNvSpPr txBox="1">
            <a:spLocks/>
          </p:cNvSpPr>
          <p:nvPr/>
        </p:nvSpPr>
        <p:spPr>
          <a:xfrm>
            <a:off x="7793847" y="260351"/>
            <a:ext cx="4108538" cy="601138"/>
          </a:xfrm>
          <a:prstGeom prst="rect">
            <a:avLst/>
          </a:prstGeom>
        </p:spPr>
        <p:txBody>
          <a:bodyPr vert="horz" lIns="91440" tIns="45720" rIns="91440" bIns="45720" rtlCol="0" anchor="t">
            <a:norm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800" b="1" dirty="0">
                <a:solidFill>
                  <a:srgbClr val="FFFF00"/>
                </a:solidFill>
                <a:latin typeface="Century Gothic" panose="020B0502020202020204" pitchFamily="34" charset="0"/>
              </a:rPr>
              <a:t>Incubation Periods</a:t>
            </a:r>
          </a:p>
        </p:txBody>
      </p:sp>
    </p:spTree>
    <p:extLst>
      <p:ext uri="{BB962C8B-B14F-4D97-AF65-F5344CB8AC3E}">
        <p14:creationId xmlns:p14="http://schemas.microsoft.com/office/powerpoint/2010/main" val="131357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9735" y="451047"/>
            <a:ext cx="7886700" cy="738925"/>
          </a:xfrm>
        </p:spPr>
        <p:txBody>
          <a:bodyPr>
            <a:normAutofit/>
          </a:bodyPr>
          <a:lstStyle/>
          <a:p>
            <a:r>
              <a:rPr lang="en-GB" sz="2800" b="1" dirty="0">
                <a:solidFill>
                  <a:srgbClr val="00B0F0"/>
                </a:solidFill>
                <a:latin typeface="Century Gothic" panose="020B0502020202020204" pitchFamily="34" charset="0"/>
              </a:rPr>
              <a:t>Incubation (Conti….)</a:t>
            </a:r>
          </a:p>
        </p:txBody>
      </p:sp>
      <p:sp>
        <p:nvSpPr>
          <p:cNvPr id="3" name="Content Placeholder 2"/>
          <p:cNvSpPr>
            <a:spLocks noGrp="1"/>
          </p:cNvSpPr>
          <p:nvPr>
            <p:ph idx="1"/>
          </p:nvPr>
        </p:nvSpPr>
        <p:spPr>
          <a:xfrm>
            <a:off x="749735" y="1487422"/>
            <a:ext cx="9596764" cy="4800644"/>
          </a:xfrm>
        </p:spPr>
        <p:txBody>
          <a:bodyPr>
            <a:noAutofit/>
          </a:bodyPr>
          <a:lstStyle/>
          <a:p>
            <a:pPr algn="just"/>
            <a:r>
              <a:rPr lang="en-GB" sz="2800" dirty="0"/>
              <a:t>Transfer eggs from setters to hatcher trays on 18</a:t>
            </a:r>
            <a:r>
              <a:rPr lang="en-GB" sz="2800" baseline="30000" dirty="0"/>
              <a:t>th</a:t>
            </a:r>
            <a:r>
              <a:rPr lang="en-GB" sz="2800" dirty="0"/>
              <a:t> day.</a:t>
            </a:r>
          </a:p>
          <a:p>
            <a:pPr algn="just"/>
            <a:r>
              <a:rPr lang="en-GB" sz="2800" dirty="0"/>
              <a:t>Never turn eggs after 18</a:t>
            </a:r>
            <a:r>
              <a:rPr lang="en-GB" sz="2800" baseline="30000" dirty="0"/>
              <a:t>th</a:t>
            </a:r>
            <a:r>
              <a:rPr lang="en-GB" sz="2800" dirty="0"/>
              <a:t> day of incubation. </a:t>
            </a:r>
          </a:p>
          <a:p>
            <a:pPr algn="just"/>
            <a:r>
              <a:rPr lang="en-GB" sz="2800" dirty="0"/>
              <a:t>Maintain humidity of 55 – 62% for the first 18 days, and then 65 – 75% in the last three days.</a:t>
            </a:r>
          </a:p>
          <a:p>
            <a:pPr algn="just"/>
            <a:r>
              <a:rPr lang="en-GB" sz="2800" dirty="0"/>
              <a:t>Optimum temperature for incubation is 37 – 38 </a:t>
            </a:r>
            <a:r>
              <a:rPr lang="en-GB" sz="2800" baseline="30000" dirty="0"/>
              <a:t>O</a:t>
            </a:r>
            <a:r>
              <a:rPr lang="en-GB" sz="2800" dirty="0"/>
              <a:t>C.</a:t>
            </a:r>
          </a:p>
          <a:p>
            <a:pPr algn="just"/>
            <a:r>
              <a:rPr lang="en-GB" sz="2800" dirty="0"/>
              <a:t>Short periods of low temperatures are not harmful to embryo – longer periods will slow down embryo development.</a:t>
            </a:r>
          </a:p>
          <a:p>
            <a:pPr algn="just"/>
            <a:r>
              <a:rPr lang="en-GB" sz="2800" dirty="0"/>
              <a:t>Good ventilation should be ensured since embryos use oxygen and release carbon dioxide.</a:t>
            </a:r>
          </a:p>
        </p:txBody>
      </p:sp>
    </p:spTree>
    <p:extLst>
      <p:ext uri="{BB962C8B-B14F-4D97-AF65-F5344CB8AC3E}">
        <p14:creationId xmlns:p14="http://schemas.microsoft.com/office/powerpoint/2010/main" val="2822206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256" y="350840"/>
            <a:ext cx="4122890" cy="801556"/>
          </a:xfrm>
        </p:spPr>
        <p:txBody>
          <a:bodyPr>
            <a:normAutofit/>
          </a:bodyPr>
          <a:lstStyle/>
          <a:p>
            <a:r>
              <a:rPr lang="en-GB" sz="3600" b="1" dirty="0">
                <a:solidFill>
                  <a:srgbClr val="FFFF00"/>
                </a:solidFill>
                <a:latin typeface="Century Gothic" panose="020B0502020202020204" pitchFamily="34" charset="0"/>
              </a:rPr>
              <a:t>7. Candling</a:t>
            </a:r>
          </a:p>
        </p:txBody>
      </p:sp>
      <p:sp>
        <p:nvSpPr>
          <p:cNvPr id="3" name="Content Placeholder 2"/>
          <p:cNvSpPr>
            <a:spLocks noGrp="1"/>
          </p:cNvSpPr>
          <p:nvPr>
            <p:ph idx="1"/>
          </p:nvPr>
        </p:nvSpPr>
        <p:spPr>
          <a:xfrm>
            <a:off x="890522" y="1253330"/>
            <a:ext cx="10410956" cy="5084839"/>
          </a:xfrm>
        </p:spPr>
        <p:txBody>
          <a:bodyPr>
            <a:noAutofit/>
          </a:bodyPr>
          <a:lstStyle/>
          <a:p>
            <a:r>
              <a:rPr lang="en-US" sz="2800" dirty="0"/>
              <a:t>Candling is a means of identifying infertile and early dead embryos. </a:t>
            </a:r>
          </a:p>
          <a:p>
            <a:r>
              <a:rPr lang="en-US" sz="2800" dirty="0"/>
              <a:t>Trays of eggs are passed over a strong light source which clearly shows infertile and early </a:t>
            </a:r>
            <a:r>
              <a:rPr lang="en-GB" sz="2800" dirty="0"/>
              <a:t>dead embryos.</a:t>
            </a:r>
          </a:p>
          <a:p>
            <a:r>
              <a:rPr lang="en-GB" sz="2800" dirty="0"/>
              <a:t>It can be done on 5 – 6</a:t>
            </a:r>
            <a:r>
              <a:rPr lang="en-GB" sz="2800" baseline="30000" dirty="0"/>
              <a:t>th</a:t>
            </a:r>
            <a:r>
              <a:rPr lang="en-GB" sz="2800" dirty="0"/>
              <a:t> day and then 18</a:t>
            </a:r>
            <a:r>
              <a:rPr lang="en-GB" sz="2800" baseline="30000" dirty="0"/>
              <a:t>th</a:t>
            </a:r>
            <a:r>
              <a:rPr lang="en-GB" sz="2800" dirty="0"/>
              <a:t> day of incubation or once during egg transfer.</a:t>
            </a:r>
            <a:endParaRPr lang="en-US" sz="2800" dirty="0"/>
          </a:p>
          <a:p>
            <a:r>
              <a:rPr lang="en-US" sz="2800" dirty="0"/>
              <a:t>Egg candling and transfer should not last longer than 30 minutes per </a:t>
            </a:r>
            <a:r>
              <a:rPr lang="en-GB" sz="2800" dirty="0"/>
              <a:t>trolley.</a:t>
            </a:r>
          </a:p>
          <a:p>
            <a:r>
              <a:rPr lang="en-GB" sz="2800" dirty="0"/>
              <a:t>Sample each flock and if candling percentage </a:t>
            </a:r>
            <a:r>
              <a:rPr lang="en-US" sz="2800" dirty="0"/>
              <a:t>exceeds 10 %, then all eggs should be candled, the clear eggs removed and hatcher trays refilled to 95 – 100 %.</a:t>
            </a:r>
            <a:endParaRPr lang="en-GB" sz="2800" dirty="0"/>
          </a:p>
        </p:txBody>
      </p:sp>
    </p:spTree>
    <p:extLst>
      <p:ext uri="{BB962C8B-B14F-4D97-AF65-F5344CB8AC3E}">
        <p14:creationId xmlns:p14="http://schemas.microsoft.com/office/powerpoint/2010/main" val="1242750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9110" y="397658"/>
            <a:ext cx="10736632" cy="2433224"/>
          </a:xfrm>
        </p:spPr>
        <p:txBody>
          <a:bodyPr>
            <a:noAutofit/>
          </a:bodyPr>
          <a:lstStyle/>
          <a:p>
            <a:pPr marL="0" indent="0">
              <a:buNone/>
            </a:pPr>
            <a:r>
              <a:rPr lang="en-GB" sz="2800" b="1" dirty="0">
                <a:solidFill>
                  <a:srgbClr val="FFFF00"/>
                </a:solidFill>
              </a:rPr>
              <a:t>8. Egg Transfer</a:t>
            </a:r>
          </a:p>
          <a:p>
            <a:r>
              <a:rPr lang="en-US" sz="2400" dirty="0"/>
              <a:t>Eggs are removed from the setter on 18</a:t>
            </a:r>
            <a:r>
              <a:rPr lang="en-US" sz="2400" baseline="30000" dirty="0"/>
              <a:t>th</a:t>
            </a:r>
            <a:r>
              <a:rPr lang="en-US" sz="2400" dirty="0"/>
              <a:t> day of incubation and transferred to the hatcher trays.</a:t>
            </a:r>
            <a:endParaRPr lang="en-GB" sz="2400" dirty="0"/>
          </a:p>
          <a:p>
            <a:r>
              <a:rPr lang="en-GB" sz="2400" dirty="0"/>
              <a:t>Eggs can be candled at transfer in order to remove clears.</a:t>
            </a:r>
          </a:p>
          <a:p>
            <a:r>
              <a:rPr lang="en-GB" sz="2400" dirty="0"/>
              <a:t>Poor handling may result in haemorrhages and ruptures.</a:t>
            </a:r>
          </a:p>
        </p:txBody>
      </p:sp>
      <p:sp>
        <p:nvSpPr>
          <p:cNvPr id="4" name="Content Placeholder 2">
            <a:extLst>
              <a:ext uri="{FF2B5EF4-FFF2-40B4-BE49-F238E27FC236}">
                <a16:creationId xmlns:a16="http://schemas.microsoft.com/office/drawing/2014/main" id="{FDE958F3-8102-4D68-A594-E7BF93259880}"/>
              </a:ext>
            </a:extLst>
          </p:cNvPr>
          <p:cNvSpPr txBox="1">
            <a:spLocks/>
          </p:cNvSpPr>
          <p:nvPr/>
        </p:nvSpPr>
        <p:spPr>
          <a:xfrm>
            <a:off x="536793" y="2830882"/>
            <a:ext cx="10736632" cy="385801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GB" sz="2800" b="1" dirty="0">
                <a:solidFill>
                  <a:srgbClr val="FFFF00"/>
                </a:solidFill>
                <a:latin typeface="Times New Roman" panose="02020603050405020304" pitchFamily="18" charset="0"/>
                <a:cs typeface="Times New Roman" panose="02020603050405020304" pitchFamily="18" charset="0"/>
              </a:rPr>
              <a:t>9. Chick Pull and Processing</a:t>
            </a:r>
          </a:p>
          <a:p>
            <a:r>
              <a:rPr lang="en-US" sz="2400" dirty="0">
                <a:latin typeface="Times New Roman" panose="02020603050405020304" pitchFamily="18" charset="0"/>
                <a:cs typeface="Times New Roman" panose="02020603050405020304" pitchFamily="18" charset="0"/>
              </a:rPr>
              <a:t>Take them off when most of them are dry and fluffed up.</a:t>
            </a:r>
          </a:p>
          <a:p>
            <a:r>
              <a:rPr lang="en-US" sz="2400" dirty="0">
                <a:latin typeface="Times New Roman" panose="02020603050405020304" pitchFamily="18" charset="0"/>
                <a:cs typeface="Times New Roman" panose="02020603050405020304" pitchFamily="18" charset="0"/>
              </a:rPr>
              <a:t>Do not allow chicks to spend too long in the hatchers which may result in dehydration.</a:t>
            </a:r>
          </a:p>
          <a:p>
            <a:r>
              <a:rPr lang="en-GB" sz="2400" dirty="0">
                <a:latin typeface="Times New Roman" panose="02020603050405020304" pitchFamily="18" charset="0"/>
                <a:cs typeface="Times New Roman" panose="02020603050405020304" pitchFamily="18" charset="0"/>
              </a:rPr>
              <a:t>Upon pulling, separate chicks from debris, grade them into first quality and culls, and count into boxes.</a:t>
            </a:r>
          </a:p>
          <a:p>
            <a:r>
              <a:rPr lang="en-GB" sz="2400" dirty="0">
                <a:latin typeface="Times New Roman" panose="02020603050405020304" pitchFamily="18" charset="0"/>
                <a:cs typeface="Times New Roman" panose="02020603050405020304" pitchFamily="18" charset="0"/>
              </a:rPr>
              <a:t>Other activities which may also be done include:</a:t>
            </a:r>
          </a:p>
          <a:p>
            <a:pPr marL="457200" lvl="1" indent="0">
              <a:buNone/>
            </a:pPr>
            <a:r>
              <a:rPr lang="en-US" sz="2400"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Sexing			</a:t>
            </a:r>
            <a:r>
              <a:rPr lang="en-US" sz="2400" dirty="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vaccination</a:t>
            </a:r>
          </a:p>
        </p:txBody>
      </p:sp>
    </p:spTree>
    <p:extLst>
      <p:ext uri="{BB962C8B-B14F-4D97-AF65-F5344CB8AC3E}">
        <p14:creationId xmlns:p14="http://schemas.microsoft.com/office/powerpoint/2010/main" val="10734488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2781" y="488625"/>
            <a:ext cx="7886700" cy="801556"/>
          </a:xfrm>
        </p:spPr>
        <p:txBody>
          <a:bodyPr>
            <a:normAutofit/>
          </a:bodyPr>
          <a:lstStyle/>
          <a:p>
            <a:r>
              <a:rPr lang="en-GB" sz="3600" b="1" dirty="0">
                <a:solidFill>
                  <a:srgbClr val="FFFF00"/>
                </a:solidFill>
                <a:latin typeface="Century Gothic" panose="020B0502020202020204" pitchFamily="34" charset="0"/>
              </a:rPr>
              <a:t>Common Causes of Hatch Failure</a:t>
            </a:r>
          </a:p>
        </p:txBody>
      </p:sp>
      <p:sp>
        <p:nvSpPr>
          <p:cNvPr id="3" name="Content Placeholder 2"/>
          <p:cNvSpPr>
            <a:spLocks noGrp="1"/>
          </p:cNvSpPr>
          <p:nvPr>
            <p:ph idx="1"/>
          </p:nvPr>
        </p:nvSpPr>
        <p:spPr>
          <a:xfrm>
            <a:off x="1102290" y="1290181"/>
            <a:ext cx="9322823" cy="4886782"/>
          </a:xfrm>
        </p:spPr>
        <p:txBody>
          <a:bodyPr>
            <a:noAutofit/>
          </a:bodyPr>
          <a:lstStyle/>
          <a:p>
            <a:r>
              <a:rPr lang="en-GB" sz="2800" dirty="0"/>
              <a:t>Egg storage</a:t>
            </a:r>
          </a:p>
          <a:p>
            <a:r>
              <a:rPr lang="en-US" sz="2800" dirty="0"/>
              <a:t>Egg faults and shell damage</a:t>
            </a:r>
          </a:p>
          <a:p>
            <a:r>
              <a:rPr lang="en-GB" sz="2800" dirty="0"/>
              <a:t>Incubation faults</a:t>
            </a:r>
          </a:p>
          <a:p>
            <a:r>
              <a:rPr lang="en-GB" sz="2800" dirty="0"/>
              <a:t>Breeder nutrition</a:t>
            </a:r>
          </a:p>
          <a:p>
            <a:r>
              <a:rPr lang="en-GB" sz="2800" dirty="0"/>
              <a:t>True infertility (flock age)</a:t>
            </a:r>
          </a:p>
          <a:p>
            <a:r>
              <a:rPr lang="en-GB" sz="2800" dirty="0"/>
              <a:t>Diseases</a:t>
            </a:r>
          </a:p>
          <a:p>
            <a:r>
              <a:rPr lang="en-GB" sz="2800" dirty="0"/>
              <a:t>Bacterial and mould contamination</a:t>
            </a:r>
          </a:p>
          <a:p>
            <a:r>
              <a:rPr lang="en-GB" sz="2800" dirty="0"/>
              <a:t>Genetics</a:t>
            </a:r>
          </a:p>
        </p:txBody>
      </p:sp>
    </p:spTree>
    <p:extLst>
      <p:ext uri="{BB962C8B-B14F-4D97-AF65-F5344CB8AC3E}">
        <p14:creationId xmlns:p14="http://schemas.microsoft.com/office/powerpoint/2010/main" val="18836849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9228" y="104950"/>
            <a:ext cx="8310634" cy="576087"/>
          </a:xfrm>
        </p:spPr>
        <p:txBody>
          <a:bodyPr>
            <a:normAutofit/>
          </a:bodyPr>
          <a:lstStyle/>
          <a:p>
            <a:r>
              <a:rPr lang="en-GB" sz="2800" b="1" dirty="0">
                <a:solidFill>
                  <a:srgbClr val="FFFF00"/>
                </a:solidFill>
                <a:latin typeface="Century Gothic" panose="020B0502020202020204" pitchFamily="34" charset="0"/>
              </a:rPr>
              <a:t>Some Hatching Problems and Possible Causes</a:t>
            </a:r>
          </a:p>
        </p:txBody>
      </p:sp>
      <p:sp>
        <p:nvSpPr>
          <p:cNvPr id="3" name="Content Placeholder 2"/>
          <p:cNvSpPr>
            <a:spLocks noGrp="1"/>
          </p:cNvSpPr>
          <p:nvPr>
            <p:ph idx="1"/>
          </p:nvPr>
        </p:nvSpPr>
        <p:spPr>
          <a:xfrm>
            <a:off x="2152650" y="1825625"/>
            <a:ext cx="8272463" cy="4351338"/>
          </a:xfrm>
        </p:spPr>
        <p:txBody>
          <a:bodyPr>
            <a:noAutofit/>
          </a:bodyPr>
          <a:lstStyle/>
          <a:p>
            <a:endParaRPr lang="en-GB" sz="2200" dirty="0">
              <a:latin typeface="Century Gothic" panose="020B0502020202020204" pitchFamily="34" charset="0"/>
            </a:endParaRPr>
          </a:p>
          <a:p>
            <a:endParaRPr lang="en-GB" sz="2200" dirty="0">
              <a:latin typeface="Century Gothic" panose="020B0502020202020204" pitchFamily="34" charset="0"/>
            </a:endParaRPr>
          </a:p>
        </p:txBody>
      </p:sp>
      <p:graphicFrame>
        <p:nvGraphicFramePr>
          <p:cNvPr id="4" name="Tabel 3"/>
          <p:cNvGraphicFramePr>
            <a:graphicFrameLocks noGrp="1"/>
          </p:cNvGraphicFramePr>
          <p:nvPr>
            <p:extLst>
              <p:ext uri="{D42A27DB-BD31-4B8C-83A1-F6EECF244321}">
                <p14:modId xmlns:p14="http://schemas.microsoft.com/office/powerpoint/2010/main" val="2800955857"/>
              </p:ext>
            </p:extLst>
          </p:nvPr>
        </p:nvGraphicFramePr>
        <p:xfrm>
          <a:off x="736605" y="681038"/>
          <a:ext cx="10308920" cy="6026935"/>
        </p:xfrm>
        <a:graphic>
          <a:graphicData uri="http://schemas.openxmlformats.org/drawingml/2006/table">
            <a:tbl>
              <a:tblPr firstRow="1" bandRow="1">
                <a:tableStyleId>{35758FB7-9AC5-4552-8A53-C91805E547FA}</a:tableStyleId>
              </a:tblPr>
              <a:tblGrid>
                <a:gridCol w="2181959">
                  <a:extLst>
                    <a:ext uri="{9D8B030D-6E8A-4147-A177-3AD203B41FA5}">
                      <a16:colId xmlns:a16="http://schemas.microsoft.com/office/drawing/2014/main" val="20000"/>
                    </a:ext>
                  </a:extLst>
                </a:gridCol>
                <a:gridCol w="8126961">
                  <a:extLst>
                    <a:ext uri="{9D8B030D-6E8A-4147-A177-3AD203B41FA5}">
                      <a16:colId xmlns:a16="http://schemas.microsoft.com/office/drawing/2014/main" val="20001"/>
                    </a:ext>
                  </a:extLst>
                </a:gridCol>
              </a:tblGrid>
              <a:tr h="422325">
                <a:tc>
                  <a:txBody>
                    <a:bodyPr/>
                    <a:lstStyle/>
                    <a:p>
                      <a:r>
                        <a:rPr lang="en-GB" sz="1800" b="1" dirty="0">
                          <a:solidFill>
                            <a:srgbClr val="FFFF00"/>
                          </a:solidFill>
                          <a:latin typeface="Times New Roman" panose="02020603050405020304" pitchFamily="18" charset="0"/>
                          <a:cs typeface="Times New Roman" panose="02020603050405020304" pitchFamily="18" charset="0"/>
                        </a:rPr>
                        <a:t>Problem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800" b="1" dirty="0">
                          <a:solidFill>
                            <a:srgbClr val="FFFF00"/>
                          </a:solidFill>
                          <a:latin typeface="Times New Roman" panose="02020603050405020304" pitchFamily="18" charset="0"/>
                          <a:cs typeface="Times New Roman" panose="02020603050405020304" pitchFamily="18" charset="0"/>
                        </a:rPr>
                        <a:t>Cause(s)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657179">
                <a:tc>
                  <a:txBody>
                    <a:bodyPr/>
                    <a:lstStyle/>
                    <a:p>
                      <a:r>
                        <a:rPr lang="en-GB" sz="1800" b="0" dirty="0">
                          <a:latin typeface="Times New Roman" panose="02020603050405020304" pitchFamily="18" charset="0"/>
                          <a:cs typeface="Times New Roman" panose="02020603050405020304" pitchFamily="18" charset="0"/>
                        </a:rPr>
                        <a:t>Hatching early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High temperature - 1 to 19 days</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Small eggs</a:t>
                      </a:r>
                      <a:endParaRPr lang="en-GB"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45179">
                <a:tc>
                  <a:txBody>
                    <a:bodyPr/>
                    <a:lstStyle/>
                    <a:p>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Hatching late</a:t>
                      </a:r>
                      <a:endParaRPr lang="en-GB"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Low temperatures or humidity - 1 to 19 days</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Egg storage</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Large eggs</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Low hatcher temperature</a:t>
                      </a:r>
                      <a:endParaRPr lang="en-GB"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4784">
                <a:tc>
                  <a:txBody>
                    <a:bodyPr/>
                    <a:lstStyle/>
                    <a:p>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Sticky chicks</a:t>
                      </a:r>
                      <a:endParaRPr lang="en-GB"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Temperature too high - 20 to 21 days</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Egg storage</a:t>
                      </a:r>
                    </a:p>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Broken eggs in the tray</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Inadequate turning</a:t>
                      </a:r>
                      <a:endParaRPr lang="en-GB"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88432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Unhealed navels</a:t>
                      </a:r>
                      <a:endParaRPr lang="en-GB" sz="1800" b="0" dirty="0">
                        <a:latin typeface="Times New Roman" panose="02020603050405020304" pitchFamily="18" charset="0"/>
                        <a:cs typeface="Times New Roman" panose="02020603050405020304" pitchFamily="18" charset="0"/>
                      </a:endParaRPr>
                    </a:p>
                    <a:p>
                      <a:endParaRPr lang="en-GB"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High temperatures - 1 to 19 days</a:t>
                      </a:r>
                    </a:p>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High humidity - 20 to 21 days</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Egg storage</a:t>
                      </a:r>
                      <a:endParaRPr lang="en-GB"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979012"/>
                  </a:ext>
                </a:extLst>
              </a:tr>
              <a:tr h="1599132">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Abnormal chicks</a:t>
                      </a:r>
                      <a:endParaRPr lang="en-GB" sz="1800" b="0" dirty="0">
                        <a:latin typeface="Times New Roman" panose="02020603050405020304" pitchFamily="18" charset="0"/>
                        <a:cs typeface="Times New Roman" panose="02020603050405020304" pitchFamily="18" charset="0"/>
                      </a:endParaRPr>
                    </a:p>
                    <a:p>
                      <a:endParaRPr lang="en-GB" sz="18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Crossed beak: Hereditary or virus infection</a:t>
                      </a:r>
                    </a:p>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Missing eyes: High temperatures or handling</a:t>
                      </a:r>
                    </a:p>
                    <a:p>
                      <a:pPr marL="285750" indent="-285750">
                        <a:buFont typeface="Arial" panose="020B0604020202020204" pitchFamily="34" charset="0"/>
                        <a:buChar char="•"/>
                      </a:pPr>
                      <a:r>
                        <a:rPr lang="en-GB" sz="1800" b="0" u="none" strike="noStrike" kern="1200" baseline="0" dirty="0">
                          <a:solidFill>
                            <a:schemeClr val="dk1"/>
                          </a:solidFill>
                          <a:latin typeface="Times New Roman" panose="02020603050405020304" pitchFamily="18" charset="0"/>
                          <a:cs typeface="Times New Roman" panose="02020603050405020304" pitchFamily="18" charset="0"/>
                        </a:rPr>
                        <a:t>Wry neck: Nutrition</a:t>
                      </a:r>
                    </a:p>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Crooked toes: Temperature and nutrition</a:t>
                      </a:r>
                    </a:p>
                    <a:p>
                      <a:pPr marL="285750" indent="-285750">
                        <a:buFont typeface="Arial" panose="020B0604020202020204" pitchFamily="34" charset="0"/>
                        <a:buChar char="•"/>
                      </a:pPr>
                      <a:r>
                        <a:rPr lang="en-US" sz="1800" b="0" u="none" strike="noStrike" kern="1200" baseline="0" dirty="0">
                          <a:solidFill>
                            <a:schemeClr val="dk1"/>
                          </a:solidFill>
                          <a:latin typeface="Times New Roman" panose="02020603050405020304" pitchFamily="18" charset="0"/>
                          <a:cs typeface="Times New Roman" panose="02020603050405020304" pitchFamily="18" charset="0"/>
                        </a:rPr>
                        <a:t>Spraddle legs: Smooth hatcher trays</a:t>
                      </a:r>
                      <a:endParaRPr lang="en-GB" sz="18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336969"/>
                  </a:ext>
                </a:extLst>
              </a:tr>
            </a:tbl>
          </a:graphicData>
        </a:graphic>
      </p:graphicFrame>
    </p:spTree>
    <p:extLst>
      <p:ext uri="{BB962C8B-B14F-4D97-AF65-F5344CB8AC3E}">
        <p14:creationId xmlns:p14="http://schemas.microsoft.com/office/powerpoint/2010/main" val="2490160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C963F-A909-480E-8869-55C245761D5F}"/>
              </a:ext>
            </a:extLst>
          </p:cNvPr>
          <p:cNvSpPr>
            <a:spLocks noGrp="1"/>
          </p:cNvSpPr>
          <p:nvPr>
            <p:ph type="title"/>
          </p:nvPr>
        </p:nvSpPr>
        <p:spPr>
          <a:xfrm>
            <a:off x="646111" y="452718"/>
            <a:ext cx="9404723" cy="837463"/>
          </a:xfrm>
        </p:spPr>
        <p:txBody>
          <a:bodyPr/>
          <a:lstStyle/>
          <a:p>
            <a:r>
              <a:rPr lang="en-US" b="1" dirty="0">
                <a:solidFill>
                  <a:srgbClr val="FFFF00"/>
                </a:solidFill>
              </a:rPr>
              <a:t>Summary of activities done in hatchery </a:t>
            </a:r>
            <a:br>
              <a:rPr lang="en-US" b="1" dirty="0">
                <a:solidFill>
                  <a:srgbClr val="FFFF00"/>
                </a:solidFill>
              </a:rPr>
            </a:br>
            <a:endParaRPr lang="en-US" b="1" dirty="0">
              <a:solidFill>
                <a:srgbClr val="FFFF00"/>
              </a:solidFill>
            </a:endParaRPr>
          </a:p>
        </p:txBody>
      </p:sp>
      <p:sp>
        <p:nvSpPr>
          <p:cNvPr id="3" name="Content Placeholder 2">
            <a:extLst>
              <a:ext uri="{FF2B5EF4-FFF2-40B4-BE49-F238E27FC236}">
                <a16:creationId xmlns:a16="http://schemas.microsoft.com/office/drawing/2014/main" id="{0D117384-7C49-4508-95A1-D91D4DD72E57}"/>
              </a:ext>
            </a:extLst>
          </p:cNvPr>
          <p:cNvSpPr>
            <a:spLocks noGrp="1"/>
          </p:cNvSpPr>
          <p:nvPr>
            <p:ph idx="1"/>
          </p:nvPr>
        </p:nvSpPr>
        <p:spPr>
          <a:xfrm>
            <a:off x="1172205" y="1290181"/>
            <a:ext cx="5266174" cy="4736189"/>
          </a:xfrm>
        </p:spPr>
        <p:txBody>
          <a:bodyPr>
            <a:normAutofit lnSpcReduction="10000"/>
          </a:bodyPr>
          <a:lstStyle/>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Hatchery design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selection for hatching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Storage of hatching eggs</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Hatchery sanitation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setting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Incubation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Candling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Egg transfer </a:t>
            </a:r>
          </a:p>
          <a:p>
            <a:pPr marL="514350" indent="-514350">
              <a:buFont typeface="+mj-lt"/>
              <a:buAutoNum type="arabicParenR"/>
            </a:pPr>
            <a:r>
              <a:rPr lang="en-US" sz="2800" dirty="0">
                <a:latin typeface="Times New Roman" panose="02020603050405020304" pitchFamily="18" charset="0"/>
                <a:cs typeface="Times New Roman" panose="02020603050405020304" pitchFamily="18" charset="0"/>
              </a:rPr>
              <a:t>Chick pull and processing</a:t>
            </a:r>
          </a:p>
        </p:txBody>
      </p:sp>
    </p:spTree>
    <p:extLst>
      <p:ext uri="{BB962C8B-B14F-4D97-AF65-F5344CB8AC3E}">
        <p14:creationId xmlns:p14="http://schemas.microsoft.com/office/powerpoint/2010/main" val="23643819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1736</TotalTime>
  <Words>1268</Words>
  <Application>Microsoft Office PowerPoint</Application>
  <PresentationFormat>Widescreen</PresentationFormat>
  <Paragraphs>162</Paragraphs>
  <Slides>13</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Century Gothic</vt:lpstr>
      <vt:lpstr>Times New Roman</vt:lpstr>
      <vt:lpstr>Wingdings</vt:lpstr>
      <vt:lpstr>Wingdings 3</vt:lpstr>
      <vt:lpstr>Ion</vt:lpstr>
      <vt:lpstr>Hatchery Management</vt:lpstr>
      <vt:lpstr>1. Hatchery Design</vt:lpstr>
      <vt:lpstr>2. Selecting Eggs for Hatching</vt:lpstr>
      <vt:lpstr>3. Storage of Hatching Eggs</vt:lpstr>
      <vt:lpstr>4. Hatchery Sanitation</vt:lpstr>
      <vt:lpstr>5. Egg Setting</vt:lpstr>
      <vt:lpstr>6. Incubation</vt:lpstr>
      <vt:lpstr>Incubation (Conti….)</vt:lpstr>
      <vt:lpstr>7. Candling</vt:lpstr>
      <vt:lpstr>PowerPoint Presentation</vt:lpstr>
      <vt:lpstr>Common Causes of Hatch Failure</vt:lpstr>
      <vt:lpstr>Some Hatching Problems and Possible Causes</vt:lpstr>
      <vt:lpstr>Summary of activities done in hatchery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Hatchery Management</dc:title>
  <dc:creator>JOSEPH D. LIWONDE</dc:creator>
  <cp:lastModifiedBy>JOSEPH D. LIWONDE</cp:lastModifiedBy>
  <cp:revision>74</cp:revision>
  <dcterms:created xsi:type="dcterms:W3CDTF">2025-12-30T05:17:04Z</dcterms:created>
  <dcterms:modified xsi:type="dcterms:W3CDTF">2026-02-11T15:24:11Z</dcterms:modified>
</cp:coreProperties>
</file>