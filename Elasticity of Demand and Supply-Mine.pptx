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5"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80" r:id="rId21"/>
    <p:sldId id="276" r:id="rId22"/>
    <p:sldId id="281" r:id="rId23"/>
    <p:sldId id="277" r:id="rId24"/>
    <p:sldId id="282" r:id="rId25"/>
    <p:sldId id="283" r:id="rId26"/>
    <p:sldId id="284"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DA417-DF99-4B6B-82FC-14B5EA53DC4F}" type="datetimeFigureOut">
              <a:rPr lang="en-US" smtClean="0"/>
              <a:t>10/12/2022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6A804-0EB5-4E0A-87EC-747B3259AC2D}" type="slidenum">
              <a:rPr lang="en-US" smtClean="0"/>
              <a:t>‹#›</a:t>
            </a:fld>
            <a:endParaRPr lang="en-US"/>
          </a:p>
        </p:txBody>
      </p:sp>
    </p:spTree>
    <p:extLst>
      <p:ext uri="{BB962C8B-B14F-4D97-AF65-F5344CB8AC3E}">
        <p14:creationId xmlns:p14="http://schemas.microsoft.com/office/powerpoint/2010/main" val="328490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Grp="1" noChangeArrowheads="1"/>
          </p:cNvSpPr>
          <p:nvPr>
            <p:ph type="sldNum" sz="quarter" idx="5"/>
          </p:nvPr>
        </p:nvSpPr>
        <p:spPr>
          <a:ln/>
        </p:spPr>
        <p:txBody>
          <a:bodyPr/>
          <a:lstStyle/>
          <a:p>
            <a:fld id="{009C2618-86DA-475F-BBCC-5D2BFFF3CDEB}" type="slidenum">
              <a:rPr lang="en-US" altLang="en-US"/>
              <a:pPr/>
              <a:t>14</a:t>
            </a:fld>
            <a:endParaRPr lang="en-US" altLang="en-US"/>
          </a:p>
        </p:txBody>
      </p:sp>
      <p:sp>
        <p:nvSpPr>
          <p:cNvPr id="58370" name="Rectangle 2"/>
          <p:cNvSpPr>
            <a:spLocks noChangeArrowheads="1"/>
          </p:cNvSpPr>
          <p:nvPr/>
        </p:nvSpPr>
        <p:spPr bwMode="auto">
          <a:xfrm>
            <a:off x="3963988"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1" name="Rectangle 3"/>
          <p:cNvSpPr>
            <a:spLocks noChangeArrowheads="1"/>
          </p:cNvSpPr>
          <p:nvPr/>
        </p:nvSpPr>
        <p:spPr bwMode="auto">
          <a:xfrm>
            <a:off x="3963988"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29</a:t>
            </a:r>
          </a:p>
        </p:txBody>
      </p:sp>
      <p:sp>
        <p:nvSpPr>
          <p:cNvPr id="58372" name="Rectangle 4"/>
          <p:cNvSpPr>
            <a:spLocks noChangeArrowheads="1"/>
          </p:cNvSpPr>
          <p:nvPr/>
        </p:nvSpPr>
        <p:spPr bwMode="auto">
          <a:xfrm>
            <a:off x="0"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3" name="Rectangle 5"/>
          <p:cNvSpPr>
            <a:spLocks noChangeArrowheads="1"/>
          </p:cNvSpP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4" name="Rectangle 6"/>
          <p:cNvSpPr>
            <a:spLocks noChangeArrowheads="1"/>
          </p:cNvSpPr>
          <p:nvPr/>
        </p:nvSpPr>
        <p:spPr bwMode="auto">
          <a:xfrm>
            <a:off x="3962400" y="0"/>
            <a:ext cx="30337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5" name="Rectangle 7"/>
          <p:cNvSpPr>
            <a:spLocks noChangeArrowheads="1"/>
          </p:cNvSpPr>
          <p:nvPr/>
        </p:nvSpPr>
        <p:spPr bwMode="auto">
          <a:xfrm>
            <a:off x="3962400" y="8818563"/>
            <a:ext cx="30337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19</a:t>
            </a:r>
          </a:p>
        </p:txBody>
      </p:sp>
      <p:sp>
        <p:nvSpPr>
          <p:cNvPr id="58376" name="Rectangle 8"/>
          <p:cNvSpPr>
            <a:spLocks noChangeArrowheads="1"/>
          </p:cNvSpPr>
          <p:nvPr/>
        </p:nvSpPr>
        <p:spPr bwMode="auto">
          <a:xfrm>
            <a:off x="-1588" y="8818563"/>
            <a:ext cx="3032126"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7" name="Rectangle 9"/>
          <p:cNvSpPr>
            <a:spLocks noChangeArrowheads="1"/>
          </p:cNvSpPr>
          <p:nvPr/>
        </p:nvSpPr>
        <p:spPr bwMode="auto">
          <a:xfrm>
            <a:off x="-1588" y="0"/>
            <a:ext cx="303212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8" name="Rectangle 10"/>
          <p:cNvSpPr>
            <a:spLocks noChangeArrowheads="1" noTextEdit="1"/>
          </p:cNvSpPr>
          <p:nvPr>
            <p:ph type="sldImg"/>
          </p:nvPr>
        </p:nvSpPr>
        <p:spPr>
          <a:ln cap="flat"/>
        </p:spPr>
      </p:sp>
      <p:sp>
        <p:nvSpPr>
          <p:cNvPr id="58379" name="Rectangle 11"/>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248275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Grp="1" noChangeArrowheads="1"/>
          </p:cNvSpPr>
          <p:nvPr>
            <p:ph type="sldNum" sz="quarter" idx="5"/>
          </p:nvPr>
        </p:nvSpPr>
        <p:spPr>
          <a:ln/>
        </p:spPr>
        <p:txBody>
          <a:bodyPr/>
          <a:lstStyle/>
          <a:p>
            <a:fld id="{A3DFAD0C-FFF4-4574-8163-8FF469173A12}" type="slidenum">
              <a:rPr lang="en-US" altLang="en-US"/>
              <a:pPr/>
              <a:t>15</a:t>
            </a:fld>
            <a:endParaRPr lang="en-US" altLang="en-US"/>
          </a:p>
        </p:txBody>
      </p:sp>
      <p:sp>
        <p:nvSpPr>
          <p:cNvPr id="62466" name="Rectangle 2"/>
          <p:cNvSpPr>
            <a:spLocks noChangeArrowheads="1"/>
          </p:cNvSpPr>
          <p:nvPr/>
        </p:nvSpPr>
        <p:spPr bwMode="auto">
          <a:xfrm>
            <a:off x="3963988"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67" name="Rectangle 3"/>
          <p:cNvSpPr>
            <a:spLocks noChangeArrowheads="1"/>
          </p:cNvSpPr>
          <p:nvPr/>
        </p:nvSpPr>
        <p:spPr bwMode="auto">
          <a:xfrm>
            <a:off x="3963988"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31</a:t>
            </a:r>
          </a:p>
        </p:txBody>
      </p:sp>
      <p:sp>
        <p:nvSpPr>
          <p:cNvPr id="62468" name="Rectangle 4"/>
          <p:cNvSpPr>
            <a:spLocks noChangeArrowheads="1"/>
          </p:cNvSpPr>
          <p:nvPr/>
        </p:nvSpPr>
        <p:spPr bwMode="auto">
          <a:xfrm>
            <a:off x="0"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69" name="Rectangle 5"/>
          <p:cNvSpPr>
            <a:spLocks noChangeArrowheads="1"/>
          </p:cNvSpP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0" name="Rectangle 6"/>
          <p:cNvSpPr>
            <a:spLocks noChangeArrowheads="1"/>
          </p:cNvSpPr>
          <p:nvPr/>
        </p:nvSpPr>
        <p:spPr bwMode="auto">
          <a:xfrm>
            <a:off x="3962400" y="0"/>
            <a:ext cx="30337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1" name="Rectangle 7"/>
          <p:cNvSpPr>
            <a:spLocks noChangeArrowheads="1"/>
          </p:cNvSpPr>
          <p:nvPr/>
        </p:nvSpPr>
        <p:spPr bwMode="auto">
          <a:xfrm>
            <a:off x="3962400" y="8818563"/>
            <a:ext cx="30337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20</a:t>
            </a:r>
          </a:p>
        </p:txBody>
      </p:sp>
      <p:sp>
        <p:nvSpPr>
          <p:cNvPr id="62472" name="Rectangle 8"/>
          <p:cNvSpPr>
            <a:spLocks noChangeArrowheads="1"/>
          </p:cNvSpPr>
          <p:nvPr/>
        </p:nvSpPr>
        <p:spPr bwMode="auto">
          <a:xfrm>
            <a:off x="-1588" y="8818563"/>
            <a:ext cx="3032126"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3" name="Rectangle 9"/>
          <p:cNvSpPr>
            <a:spLocks noChangeArrowheads="1"/>
          </p:cNvSpPr>
          <p:nvPr/>
        </p:nvSpPr>
        <p:spPr bwMode="auto">
          <a:xfrm>
            <a:off x="-1588" y="0"/>
            <a:ext cx="303212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4" name="Rectangle 10"/>
          <p:cNvSpPr>
            <a:spLocks noChangeArrowheads="1" noTextEdit="1"/>
          </p:cNvSpPr>
          <p:nvPr>
            <p:ph type="sldImg"/>
          </p:nvPr>
        </p:nvSpPr>
        <p:spPr>
          <a:ln cap="flat"/>
        </p:spPr>
      </p:sp>
      <p:sp>
        <p:nvSpPr>
          <p:cNvPr id="62475" name="Rectangle 11"/>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303533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Grp="1" noChangeArrowheads="1"/>
          </p:cNvSpPr>
          <p:nvPr>
            <p:ph type="sldNum" sz="quarter" idx="5"/>
          </p:nvPr>
        </p:nvSpPr>
        <p:spPr>
          <a:ln/>
        </p:spPr>
        <p:txBody>
          <a:bodyPr/>
          <a:lstStyle/>
          <a:p>
            <a:fld id="{05C69B31-D396-44AD-9C1B-CA13B5906504}" type="slidenum">
              <a:rPr lang="en-US" altLang="en-US"/>
              <a:pPr/>
              <a:t>16</a:t>
            </a:fld>
            <a:endParaRPr lang="en-US" altLang="en-US"/>
          </a:p>
        </p:txBody>
      </p:sp>
      <p:sp>
        <p:nvSpPr>
          <p:cNvPr id="64514" name="Rectangle 2"/>
          <p:cNvSpPr>
            <a:spLocks noChangeArrowheads="1"/>
          </p:cNvSpPr>
          <p:nvPr/>
        </p:nvSpPr>
        <p:spPr bwMode="auto">
          <a:xfrm>
            <a:off x="3963988"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5" name="Rectangle 3"/>
          <p:cNvSpPr>
            <a:spLocks noChangeArrowheads="1"/>
          </p:cNvSpPr>
          <p:nvPr/>
        </p:nvSpPr>
        <p:spPr bwMode="auto">
          <a:xfrm>
            <a:off x="3963988"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32</a:t>
            </a:r>
          </a:p>
        </p:txBody>
      </p:sp>
      <p:sp>
        <p:nvSpPr>
          <p:cNvPr id="64516" name="Rectangle 4"/>
          <p:cNvSpPr>
            <a:spLocks noChangeArrowheads="1"/>
          </p:cNvSpPr>
          <p:nvPr/>
        </p:nvSpPr>
        <p:spPr bwMode="auto">
          <a:xfrm>
            <a:off x="0"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7" name="Rectangle 5"/>
          <p:cNvSpPr>
            <a:spLocks noChangeArrowheads="1"/>
          </p:cNvSpP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8" name="Rectangle 6"/>
          <p:cNvSpPr>
            <a:spLocks noChangeArrowheads="1"/>
          </p:cNvSpPr>
          <p:nvPr/>
        </p:nvSpPr>
        <p:spPr bwMode="auto">
          <a:xfrm>
            <a:off x="3962400" y="0"/>
            <a:ext cx="30337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19" name="Rectangle 7"/>
          <p:cNvSpPr>
            <a:spLocks noChangeArrowheads="1"/>
          </p:cNvSpPr>
          <p:nvPr/>
        </p:nvSpPr>
        <p:spPr bwMode="auto">
          <a:xfrm>
            <a:off x="3962400" y="8818563"/>
            <a:ext cx="30337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380" tIns="0" rIns="19380" bIns="0" anchor="b"/>
          <a:lstStyle>
            <a:lvl1pPr defTabSz="930275">
              <a:defRPr sz="2400">
                <a:solidFill>
                  <a:schemeClr val="tx1"/>
                </a:solidFill>
                <a:latin typeface="Times New Roman" panose="02020603050405020304" pitchFamily="18" charset="0"/>
              </a:defRPr>
            </a:lvl1pPr>
            <a:lvl2pPr marL="465138" defTabSz="930275">
              <a:defRPr sz="2400">
                <a:solidFill>
                  <a:schemeClr val="tx1"/>
                </a:solidFill>
                <a:latin typeface="Times New Roman" panose="02020603050405020304" pitchFamily="18" charset="0"/>
              </a:defRPr>
            </a:lvl2pPr>
            <a:lvl3pPr marL="930275" defTabSz="930275">
              <a:defRPr sz="2400">
                <a:solidFill>
                  <a:schemeClr val="tx1"/>
                </a:solidFill>
                <a:latin typeface="Times New Roman" panose="02020603050405020304" pitchFamily="18" charset="0"/>
              </a:defRPr>
            </a:lvl3pPr>
            <a:lvl4pPr marL="1395413" defTabSz="930275">
              <a:defRPr sz="2400">
                <a:solidFill>
                  <a:schemeClr val="tx1"/>
                </a:solidFill>
                <a:latin typeface="Times New Roman" panose="02020603050405020304" pitchFamily="18" charset="0"/>
              </a:defRPr>
            </a:lvl4pPr>
            <a:lvl5pPr marL="1860550" defTabSz="930275">
              <a:defRPr sz="2400">
                <a:solidFill>
                  <a:schemeClr val="tx1"/>
                </a:solidFill>
                <a:latin typeface="Times New Roman" panose="02020603050405020304" pitchFamily="18" charset="0"/>
              </a:defRPr>
            </a:lvl5pPr>
            <a:lvl6pPr marL="2317750" defTabSz="930275" eaLnBrk="0" fontAlgn="base" hangingPunct="0">
              <a:spcBef>
                <a:spcPct val="0"/>
              </a:spcBef>
              <a:spcAft>
                <a:spcPct val="0"/>
              </a:spcAft>
              <a:defRPr sz="2400">
                <a:solidFill>
                  <a:schemeClr val="tx1"/>
                </a:solidFill>
                <a:latin typeface="Times New Roman" panose="02020603050405020304" pitchFamily="18" charset="0"/>
              </a:defRPr>
            </a:lvl6pPr>
            <a:lvl7pPr marL="2774950" defTabSz="930275" eaLnBrk="0" fontAlgn="base" hangingPunct="0">
              <a:spcBef>
                <a:spcPct val="0"/>
              </a:spcBef>
              <a:spcAft>
                <a:spcPct val="0"/>
              </a:spcAft>
              <a:defRPr sz="2400">
                <a:solidFill>
                  <a:schemeClr val="tx1"/>
                </a:solidFill>
                <a:latin typeface="Times New Roman" panose="02020603050405020304" pitchFamily="18" charset="0"/>
              </a:defRPr>
            </a:lvl7pPr>
            <a:lvl8pPr marL="3232150" defTabSz="930275" eaLnBrk="0" fontAlgn="base" hangingPunct="0">
              <a:spcBef>
                <a:spcPct val="0"/>
              </a:spcBef>
              <a:spcAft>
                <a:spcPct val="0"/>
              </a:spcAft>
              <a:defRPr sz="2400">
                <a:solidFill>
                  <a:schemeClr val="tx1"/>
                </a:solidFill>
                <a:latin typeface="Times New Roman" panose="02020603050405020304" pitchFamily="18" charset="0"/>
              </a:defRPr>
            </a:lvl8pPr>
            <a:lvl9pPr marL="3689350" defTabSz="930275"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000" i="1"/>
              <a:t>21</a:t>
            </a:r>
          </a:p>
        </p:txBody>
      </p:sp>
      <p:sp>
        <p:nvSpPr>
          <p:cNvPr id="64520" name="Rectangle 8"/>
          <p:cNvSpPr>
            <a:spLocks noChangeArrowheads="1"/>
          </p:cNvSpPr>
          <p:nvPr/>
        </p:nvSpPr>
        <p:spPr bwMode="auto">
          <a:xfrm>
            <a:off x="-1588" y="8818563"/>
            <a:ext cx="3032126"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1" name="Rectangle 9"/>
          <p:cNvSpPr>
            <a:spLocks noChangeArrowheads="1"/>
          </p:cNvSpPr>
          <p:nvPr/>
        </p:nvSpPr>
        <p:spPr bwMode="auto">
          <a:xfrm>
            <a:off x="-1588" y="0"/>
            <a:ext cx="303212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522" name="Rectangle 10"/>
          <p:cNvSpPr>
            <a:spLocks noChangeArrowheads="1" noTextEdit="1"/>
          </p:cNvSpPr>
          <p:nvPr>
            <p:ph type="sldImg"/>
          </p:nvPr>
        </p:nvSpPr>
        <p:spPr>
          <a:ln cap="flat"/>
        </p:spPr>
      </p:sp>
      <p:sp>
        <p:nvSpPr>
          <p:cNvPr id="64523" name="Rectangle 11"/>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92887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475BDD4-70F3-43DD-AFC2-F9B7187EDD66}" type="slidenum">
              <a:rPr lang="en-US" altLang="en-US"/>
              <a:pPr/>
              <a:t>17</a:t>
            </a:fld>
            <a:endParaRPr lang="en-US" altLang="en-US"/>
          </a:p>
        </p:txBody>
      </p:sp>
      <p:sp>
        <p:nvSpPr>
          <p:cNvPr id="338946" name="Rectangle 2"/>
          <p:cNvSpPr>
            <a:spLocks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65607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475BDD4-70F3-43DD-AFC2-F9B7187EDD66}" type="slidenum">
              <a:rPr lang="en-US" altLang="en-US"/>
              <a:pPr/>
              <a:t>18</a:t>
            </a:fld>
            <a:endParaRPr lang="en-US" altLang="en-US"/>
          </a:p>
        </p:txBody>
      </p:sp>
      <p:sp>
        <p:nvSpPr>
          <p:cNvPr id="338946" name="Rectangle 2"/>
          <p:cNvSpPr>
            <a:spLocks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59859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038855-0ACE-4FCC-8F38-AE3904A2B072}"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76524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038855-0ACE-4FCC-8F38-AE3904A2B072}"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126589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038855-0ACE-4FCC-8F38-AE3904A2B072}"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733925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038855-0ACE-4FCC-8F38-AE3904A2B072}"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697216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038855-0ACE-4FCC-8F38-AE3904A2B072}" type="datetimeFigureOut">
              <a:rPr lang="en-US" smtClean="0"/>
              <a:t>10/12/2022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341392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038855-0ACE-4FCC-8F38-AE3904A2B072}" type="datetimeFigureOut">
              <a:rPr lang="en-US" smtClean="0"/>
              <a:t>10/12/2022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1061743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038855-0ACE-4FCC-8F38-AE3904A2B072}" type="datetimeFigureOut">
              <a:rPr lang="en-US" smtClean="0"/>
              <a:t>10/12/2022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2797982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0038855-0ACE-4FCC-8F38-AE3904A2B072}"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1107228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0038855-0ACE-4FCC-8F38-AE3904A2B072}"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3406335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038855-0ACE-4FCC-8F38-AE3904A2B072}"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41977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038855-0ACE-4FCC-8F38-AE3904A2B072}"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3AA408-2543-48AB-96F9-CF1E93F6C013}" type="slidenum">
              <a:rPr lang="en-US" smtClean="0"/>
              <a:t>‹#›</a:t>
            </a:fld>
            <a:endParaRPr lang="en-US"/>
          </a:p>
        </p:txBody>
      </p:sp>
    </p:spTree>
    <p:extLst>
      <p:ext uri="{BB962C8B-B14F-4D97-AF65-F5344CB8AC3E}">
        <p14:creationId xmlns:p14="http://schemas.microsoft.com/office/powerpoint/2010/main" val="2889949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038855-0ACE-4FCC-8F38-AE3904A2B072}" type="datetimeFigureOut">
              <a:rPr lang="en-US" smtClean="0"/>
              <a:t>10/12/2022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3AA408-2543-48AB-96F9-CF1E93F6C013}" type="slidenum">
              <a:rPr lang="en-US" smtClean="0"/>
              <a:t>‹#›</a:t>
            </a:fld>
            <a:endParaRPr lang="en-US"/>
          </a:p>
        </p:txBody>
      </p:sp>
    </p:spTree>
    <p:extLst>
      <p:ext uri="{BB962C8B-B14F-4D97-AF65-F5344CB8AC3E}">
        <p14:creationId xmlns:p14="http://schemas.microsoft.com/office/powerpoint/2010/main" val="2303897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chemeClr val="accent1"/>
                </a:solidFill>
                <a:latin typeface="Arial" panose="020B0604020202020204" pitchFamily="34" charset="0"/>
                <a:cs typeface="Arial" panose="020B0604020202020204" pitchFamily="34" charset="0"/>
              </a:rPr>
              <a:t>Elasticity of Demand and Supply</a:t>
            </a:r>
            <a:endParaRPr lang="en-US" b="1" dirty="0">
              <a:solidFill>
                <a:schemeClr val="accent1"/>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4110446"/>
            <a:ext cx="9144000" cy="1147354"/>
          </a:xfrm>
        </p:spPr>
        <p:txBody>
          <a:bodyPr>
            <a:normAutofit/>
          </a:bodyPr>
          <a:lstStyle/>
          <a:p>
            <a:r>
              <a:rPr lang="en-US" sz="2800" dirty="0" smtClean="0">
                <a:latin typeface="Arial" panose="020B0604020202020204" pitchFamily="34" charset="0"/>
                <a:cs typeface="Arial" panose="020B0604020202020204" pitchFamily="34" charset="0"/>
              </a:rPr>
              <a:t>By Chris Mbukwa</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11511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Price Elasticity of Demand</a:t>
            </a:r>
            <a:endParaRPr lang="en-US" dirty="0"/>
          </a:p>
        </p:txBody>
      </p:sp>
      <p:sp>
        <p:nvSpPr>
          <p:cNvPr id="3" name="Content Placeholder 2"/>
          <p:cNvSpPr>
            <a:spLocks noGrp="1"/>
          </p:cNvSpPr>
          <p:nvPr>
            <p:ph idx="1"/>
          </p:nvPr>
        </p:nvSpPr>
        <p:spPr>
          <a:xfrm>
            <a:off x="838200" y="1834334"/>
            <a:ext cx="10596154" cy="4618718"/>
          </a:xfrm>
        </p:spPr>
        <p:txBody>
          <a:bodyPr>
            <a:normAutofit/>
          </a:bodyPr>
          <a:lstStyle/>
          <a:p>
            <a:pPr lvl="0"/>
            <a:r>
              <a:rPr lang="en-US" dirty="0" smtClean="0">
                <a:latin typeface="Arial" panose="020B0604020202020204" pitchFamily="34" charset="0"/>
                <a:cs typeface="Arial" panose="020B0604020202020204" pitchFamily="34" charset="0"/>
              </a:rPr>
              <a:t>Measures </a:t>
            </a:r>
            <a:r>
              <a:rPr lang="en-US" dirty="0">
                <a:latin typeface="Arial" panose="020B0604020202020204" pitchFamily="34" charset="0"/>
                <a:cs typeface="Arial" panose="020B0604020202020204" pitchFamily="34" charset="0"/>
              </a:rPr>
              <a:t>the sensitivity of quantity demanded to price changes.</a:t>
            </a:r>
          </a:p>
          <a:p>
            <a:pPr lvl="0"/>
            <a:r>
              <a:rPr lang="en-US" dirty="0">
                <a:latin typeface="Arial" panose="020B0604020202020204" pitchFamily="34" charset="0"/>
                <a:cs typeface="Arial" panose="020B0604020202020204" pitchFamily="34" charset="0"/>
              </a:rPr>
              <a:t>It measures the percentage change in the quantity demanded for a good or service that results from a one percent change in the price</a:t>
            </a:r>
            <a:r>
              <a:rPr lang="en-US" dirty="0" smtClean="0">
                <a:latin typeface="Arial" panose="020B0604020202020204" pitchFamily="34" charset="0"/>
                <a:cs typeface="Arial" panose="020B0604020202020204" pitchFamily="34" charset="0"/>
              </a:rPr>
              <a:t>.</a:t>
            </a:r>
          </a:p>
          <a:p>
            <a:pPr lvl="0"/>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31" name="Rectangle 20"/>
          <p:cNvSpPr>
            <a:spLocks noChangeArrowheads="1"/>
          </p:cNvSpPr>
          <p:nvPr/>
        </p:nvSpPr>
        <p:spPr bwMode="auto">
          <a:xfrm>
            <a:off x="4223657" y="547729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2400">
              <a:latin typeface="Arial" panose="020B0604020202020204" pitchFamily="34" charset="0"/>
              <a:cs typeface="Arial" panose="020B0604020202020204" pitchFamily="34" charset="0"/>
            </a:endParaRPr>
          </a:p>
        </p:txBody>
      </p:sp>
      <p:graphicFrame>
        <p:nvGraphicFramePr>
          <p:cNvPr id="32" name="Object 31"/>
          <p:cNvGraphicFramePr>
            <a:graphicFrameLocks noChangeAspect="1"/>
          </p:cNvGraphicFramePr>
          <p:nvPr>
            <p:extLst>
              <p:ext uri="{D42A27DB-BD31-4B8C-83A1-F6EECF244321}">
                <p14:modId xmlns:p14="http://schemas.microsoft.com/office/powerpoint/2010/main" val="3890767364"/>
              </p:ext>
            </p:extLst>
          </p:nvPr>
        </p:nvGraphicFramePr>
        <p:xfrm>
          <a:off x="3863477" y="5477297"/>
          <a:ext cx="4501203" cy="766749"/>
        </p:xfrm>
        <a:graphic>
          <a:graphicData uri="http://schemas.openxmlformats.org/presentationml/2006/ole">
            <mc:AlternateContent xmlns:mc="http://schemas.openxmlformats.org/markup-compatibility/2006">
              <mc:Choice xmlns:v="urn:schemas-microsoft-com:vml" Requires="v">
                <p:oleObj spid="_x0000_s1109" name="Equation" r:id="rId3" imgW="2590800" imgH="444500" progId="Equation.3">
                  <p:embed/>
                </p:oleObj>
              </mc:Choice>
              <mc:Fallback>
                <p:oleObj name="Equation" r:id="rId3" imgW="2590800" imgH="4445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477" y="5477297"/>
                        <a:ext cx="4501203" cy="766749"/>
                      </a:xfrm>
                      <a:prstGeom prst="rect">
                        <a:avLst/>
                      </a:prstGeom>
                      <a:noFill/>
                    </p:spPr>
                  </p:pic>
                </p:oleObj>
              </mc:Fallback>
            </mc:AlternateContent>
          </a:graphicData>
        </a:graphic>
      </p:graphicFrame>
      <p:graphicFrame>
        <p:nvGraphicFramePr>
          <p:cNvPr id="33" name="Object 3"/>
          <p:cNvGraphicFramePr>
            <a:graphicFrameLocks noChangeAspect="1"/>
          </p:cNvGraphicFramePr>
          <p:nvPr>
            <p:extLst>
              <p:ext uri="{D42A27DB-BD31-4B8C-83A1-F6EECF244321}">
                <p14:modId xmlns:p14="http://schemas.microsoft.com/office/powerpoint/2010/main" val="1748745182"/>
              </p:ext>
            </p:extLst>
          </p:nvPr>
        </p:nvGraphicFramePr>
        <p:xfrm>
          <a:off x="1012372" y="3903617"/>
          <a:ext cx="8915400" cy="817563"/>
        </p:xfrm>
        <a:graphic>
          <a:graphicData uri="http://schemas.openxmlformats.org/presentationml/2006/ole">
            <mc:AlternateContent xmlns:mc="http://schemas.openxmlformats.org/markup-compatibility/2006">
              <mc:Choice xmlns:v="urn:schemas-microsoft-com:vml" Requires="v">
                <p:oleObj spid="_x0000_s1110" name="Equation" r:id="rId5" imgW="4419360" imgH="419040" progId="Equation.3">
                  <p:embed/>
                </p:oleObj>
              </mc:Choice>
              <mc:Fallback>
                <p:oleObj name="Equation" r:id="rId5" imgW="4419360" imgH="419040" progId="Equation.3">
                  <p:embed/>
                  <p:pic>
                    <p:nvPicPr>
                      <p:cNvPr id="1638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2372" y="3903617"/>
                        <a:ext cx="8915400"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8479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Kinds Of Price Elasticity Of Demand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US" sz="3200" dirty="0" smtClean="0">
                <a:latin typeface="Arial" panose="020B0604020202020204" pitchFamily="34" charset="0"/>
                <a:cs typeface="Arial" panose="020B0604020202020204" pitchFamily="34" charset="0"/>
              </a:rPr>
              <a:t>1) Perfectly elastic demand </a:t>
            </a:r>
          </a:p>
          <a:p>
            <a:pPr marL="0" indent="0">
              <a:buNone/>
            </a:pPr>
            <a:r>
              <a:rPr lang="en-US" sz="3200" dirty="0" smtClean="0">
                <a:latin typeface="Arial" panose="020B0604020202020204" pitchFamily="34" charset="0"/>
                <a:cs typeface="Arial" panose="020B0604020202020204" pitchFamily="34" charset="0"/>
              </a:rPr>
              <a:t>2) Elastic demand </a:t>
            </a:r>
          </a:p>
          <a:p>
            <a:pPr marL="0" indent="0">
              <a:buNone/>
            </a:pPr>
            <a:r>
              <a:rPr lang="en-US" sz="3200" dirty="0" smtClean="0">
                <a:latin typeface="Arial" panose="020B0604020202020204" pitchFamily="34" charset="0"/>
                <a:cs typeface="Arial" panose="020B0604020202020204" pitchFamily="34" charset="0"/>
              </a:rPr>
              <a:t>3) Elasticity of demand equal to utility </a:t>
            </a:r>
          </a:p>
          <a:p>
            <a:pPr marL="0" indent="0">
              <a:buNone/>
            </a:pPr>
            <a:r>
              <a:rPr lang="en-US" sz="3200" dirty="0" smtClean="0">
                <a:latin typeface="Arial" panose="020B0604020202020204" pitchFamily="34" charset="0"/>
                <a:cs typeface="Arial" panose="020B0604020202020204" pitchFamily="34" charset="0"/>
              </a:rPr>
              <a:t>4) Inelastic demand </a:t>
            </a:r>
          </a:p>
          <a:p>
            <a:pPr marL="0" indent="0">
              <a:buNone/>
            </a:pPr>
            <a:r>
              <a:rPr lang="en-US" sz="3200" dirty="0" smtClean="0">
                <a:latin typeface="Arial" panose="020B0604020202020204" pitchFamily="34" charset="0"/>
                <a:cs typeface="Arial" panose="020B0604020202020204" pitchFamily="34" charset="0"/>
              </a:rPr>
              <a:t>5) Perfectly inelastic demand</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67194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3474" y="365126"/>
            <a:ext cx="10770326" cy="778516"/>
          </a:xfrm>
        </p:spPr>
        <p:txBody>
          <a:bodyPr/>
          <a:lstStyle/>
          <a:p>
            <a:r>
              <a:rPr lang="en-US" dirty="0" smtClean="0">
                <a:latin typeface="Arial" panose="020B0604020202020204" pitchFamily="34" charset="0"/>
                <a:cs typeface="Arial" panose="020B0604020202020204" pitchFamily="34" charset="0"/>
              </a:rPr>
              <a:t>Elasticity of Demand Types-Graphical</a:t>
            </a:r>
            <a:endParaRPr lang="en-US" dirty="0">
              <a:latin typeface="Arial" panose="020B0604020202020204" pitchFamily="34" charset="0"/>
              <a:cs typeface="Arial" panose="020B0604020202020204" pitchFamily="34" charset="0"/>
            </a:endParaRPr>
          </a:p>
        </p:txBody>
      </p:sp>
      <p:sp>
        <p:nvSpPr>
          <p:cNvPr id="6" name="Content Placeholder 5"/>
          <p:cNvSpPr>
            <a:spLocks noGrp="1"/>
          </p:cNvSpPr>
          <p:nvPr>
            <p:ph sz="half" idx="2"/>
          </p:nvPr>
        </p:nvSpPr>
        <p:spPr>
          <a:xfrm>
            <a:off x="7636498" y="1410789"/>
            <a:ext cx="3717302" cy="4766175"/>
          </a:xfrm>
        </p:spPr>
        <p:txBody>
          <a:bodyPr>
            <a:normAutofit/>
          </a:bodyPr>
          <a:lstStyle/>
          <a:p>
            <a:pPr marL="0" indent="0">
              <a:buNone/>
            </a:pPr>
            <a:r>
              <a:rPr lang="en-US" sz="3200" dirty="0" smtClean="0">
                <a:latin typeface="Arial" panose="020B0604020202020204" pitchFamily="34" charset="0"/>
                <a:cs typeface="Arial" panose="020B0604020202020204" pitchFamily="34" charset="0"/>
              </a:rPr>
              <a:t>When the demand for a product changes –increases or decreases even when there is no change in price, it is known as perfect elastic demand. </a:t>
            </a:r>
            <a:endParaRPr lang="en-US" sz="3200" dirty="0">
              <a:latin typeface="Arial" panose="020B0604020202020204" pitchFamily="34" charset="0"/>
              <a:cs typeface="Arial" panose="020B0604020202020204" pitchFamily="34" charset="0"/>
            </a:endParaRPr>
          </a:p>
        </p:txBody>
      </p:sp>
      <p:grpSp>
        <p:nvGrpSpPr>
          <p:cNvPr id="7" name="Group 6"/>
          <p:cNvGrpSpPr/>
          <p:nvPr/>
        </p:nvGrpSpPr>
        <p:grpSpPr>
          <a:xfrm>
            <a:off x="670560" y="1480457"/>
            <a:ext cx="6008914" cy="4841966"/>
            <a:chOff x="0" y="0"/>
            <a:chExt cx="5028720" cy="4363963"/>
          </a:xfrm>
        </p:grpSpPr>
        <p:sp>
          <p:nvSpPr>
            <p:cNvPr id="8" name="Shape 53"/>
            <p:cNvSpPr/>
            <p:nvPr/>
          </p:nvSpPr>
          <p:spPr>
            <a:xfrm>
              <a:off x="1732610" y="914400"/>
              <a:ext cx="918845" cy="918845"/>
            </a:xfrm>
            <a:custGeom>
              <a:avLst/>
              <a:gdLst/>
              <a:ahLst/>
              <a:cxnLst/>
              <a:rect l="0" t="0" r="0" b="0"/>
              <a:pathLst>
                <a:path w="918845" h="918845">
                  <a:moveTo>
                    <a:pt x="918845" y="0"/>
                  </a:moveTo>
                  <a:lnTo>
                    <a:pt x="891921" y="80772"/>
                  </a:lnTo>
                  <a:lnTo>
                    <a:pt x="869505" y="58356"/>
                  </a:lnTo>
                  <a:lnTo>
                    <a:pt x="8890" y="918845"/>
                  </a:lnTo>
                  <a:lnTo>
                    <a:pt x="0" y="909955"/>
                  </a:lnTo>
                  <a:lnTo>
                    <a:pt x="860489" y="49340"/>
                  </a:lnTo>
                  <a:lnTo>
                    <a:pt x="838073" y="26924"/>
                  </a:lnTo>
                  <a:lnTo>
                    <a:pt x="918845"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9" name="Shape 54"/>
            <p:cNvSpPr/>
            <p:nvPr/>
          </p:nvSpPr>
          <p:spPr>
            <a:xfrm>
              <a:off x="594055" y="1828800"/>
              <a:ext cx="3048000" cy="0"/>
            </a:xfrm>
            <a:custGeom>
              <a:avLst/>
              <a:gdLst/>
              <a:ahLst/>
              <a:cxnLst/>
              <a:rect l="0" t="0" r="0" b="0"/>
              <a:pathLst>
                <a:path w="3048000">
                  <a:moveTo>
                    <a:pt x="0" y="0"/>
                  </a:moveTo>
                  <a:lnTo>
                    <a:pt x="3048000" y="0"/>
                  </a:lnTo>
                </a:path>
              </a:pathLst>
            </a:custGeom>
            <a:ln w="12700" cap="flat">
              <a:round/>
            </a:ln>
          </p:spPr>
          <p:style>
            <a:lnRef idx="1">
              <a:srgbClr val="000000"/>
            </a:lnRef>
            <a:fillRef idx="0">
              <a:srgbClr val="000000">
                <a:alpha val="0"/>
              </a:srgbClr>
            </a:fillRef>
            <a:effectRef idx="0">
              <a:scrgbClr r="0" g="0" b="0"/>
            </a:effectRef>
            <a:fontRef idx="none"/>
          </p:style>
          <p:txBody>
            <a:bodyPr/>
            <a:lstStyle/>
            <a:p>
              <a:endParaRPr lang="en-US" sz="2400"/>
            </a:p>
          </p:txBody>
        </p:sp>
        <p:sp>
          <p:nvSpPr>
            <p:cNvPr id="10" name="Shape 55"/>
            <p:cNvSpPr/>
            <p:nvPr/>
          </p:nvSpPr>
          <p:spPr>
            <a:xfrm>
              <a:off x="594055" y="4000500"/>
              <a:ext cx="4343400" cy="76200"/>
            </a:xfrm>
            <a:custGeom>
              <a:avLst/>
              <a:gdLst/>
              <a:ahLst/>
              <a:cxnLst/>
              <a:rect l="0" t="0" r="0" b="0"/>
              <a:pathLst>
                <a:path w="4343400" h="76200">
                  <a:moveTo>
                    <a:pt x="4267200" y="0"/>
                  </a:moveTo>
                  <a:lnTo>
                    <a:pt x="4343400" y="38100"/>
                  </a:lnTo>
                  <a:lnTo>
                    <a:pt x="4267200" y="76200"/>
                  </a:lnTo>
                  <a:lnTo>
                    <a:pt x="4267200" y="44450"/>
                  </a:lnTo>
                  <a:lnTo>
                    <a:pt x="0" y="44450"/>
                  </a:lnTo>
                  <a:lnTo>
                    <a:pt x="0" y="31750"/>
                  </a:lnTo>
                  <a:lnTo>
                    <a:pt x="4267200" y="31750"/>
                  </a:lnTo>
                  <a:lnTo>
                    <a:pt x="4267200"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11" name="Shape 56"/>
            <p:cNvSpPr/>
            <p:nvPr/>
          </p:nvSpPr>
          <p:spPr>
            <a:xfrm>
              <a:off x="555955" y="0"/>
              <a:ext cx="76200" cy="4038600"/>
            </a:xfrm>
            <a:custGeom>
              <a:avLst/>
              <a:gdLst/>
              <a:ahLst/>
              <a:cxnLst/>
              <a:rect l="0" t="0" r="0" b="0"/>
              <a:pathLst>
                <a:path w="76200" h="4038600">
                  <a:moveTo>
                    <a:pt x="38100" y="0"/>
                  </a:moveTo>
                  <a:lnTo>
                    <a:pt x="76200" y="76200"/>
                  </a:lnTo>
                  <a:lnTo>
                    <a:pt x="44450" y="76200"/>
                  </a:lnTo>
                  <a:lnTo>
                    <a:pt x="44450" y="4038600"/>
                  </a:lnTo>
                  <a:lnTo>
                    <a:pt x="31750" y="4038600"/>
                  </a:lnTo>
                  <a:lnTo>
                    <a:pt x="31750" y="76200"/>
                  </a:lnTo>
                  <a:lnTo>
                    <a:pt x="0" y="76200"/>
                  </a:lnTo>
                  <a:lnTo>
                    <a:pt x="38100"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12" name="Rectangle 11"/>
            <p:cNvSpPr/>
            <p:nvPr/>
          </p:nvSpPr>
          <p:spPr>
            <a:xfrm>
              <a:off x="0" y="747776"/>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P</a:t>
              </a:r>
              <a:endParaRPr lang="en-US" sz="2400">
                <a:solidFill>
                  <a:srgbClr val="000000"/>
                </a:solidFill>
                <a:effectLst/>
                <a:latin typeface="Calibri" panose="020F0502020204030204" pitchFamily="34" charset="0"/>
                <a:ea typeface="Calibri" panose="020F0502020204030204" pitchFamily="34" charset="0"/>
              </a:endParaRPr>
            </a:p>
          </p:txBody>
        </p:sp>
        <p:sp>
          <p:nvSpPr>
            <p:cNvPr id="13" name="Rectangle 12"/>
            <p:cNvSpPr/>
            <p:nvPr/>
          </p:nvSpPr>
          <p:spPr>
            <a:xfrm>
              <a:off x="0" y="115925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dirty="0">
                  <a:solidFill>
                    <a:srgbClr val="000000"/>
                  </a:solidFill>
                  <a:effectLst/>
                  <a:latin typeface="Arial" panose="020B0604020202020204" pitchFamily="34" charset="0"/>
                  <a:ea typeface="Arial" panose="020B0604020202020204" pitchFamily="34" charset="0"/>
                </a:rPr>
                <a:t>R</a:t>
              </a:r>
              <a:endParaRPr lang="en-US" sz="2400" dirty="0">
                <a:solidFill>
                  <a:srgbClr val="000000"/>
                </a:solidFill>
                <a:effectLst/>
                <a:latin typeface="Calibri" panose="020F0502020204030204" pitchFamily="34" charset="0"/>
                <a:ea typeface="Calibri" panose="020F0502020204030204" pitchFamily="34" charset="0"/>
              </a:endParaRPr>
            </a:p>
          </p:txBody>
        </p:sp>
        <p:sp>
          <p:nvSpPr>
            <p:cNvPr id="14" name="Rectangle 13"/>
            <p:cNvSpPr/>
            <p:nvPr/>
          </p:nvSpPr>
          <p:spPr>
            <a:xfrm>
              <a:off x="0" y="1570736"/>
              <a:ext cx="84472"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I</a:t>
              </a:r>
              <a:endParaRPr lang="en-US" sz="2400">
                <a:solidFill>
                  <a:srgbClr val="000000"/>
                </a:solidFill>
                <a:effectLst/>
                <a:latin typeface="Calibri" panose="020F0502020204030204" pitchFamily="34" charset="0"/>
                <a:ea typeface="Calibri" panose="020F0502020204030204" pitchFamily="34" charset="0"/>
              </a:endParaRPr>
            </a:p>
          </p:txBody>
        </p:sp>
        <p:sp>
          <p:nvSpPr>
            <p:cNvPr id="15" name="Rectangle 14"/>
            <p:cNvSpPr/>
            <p:nvPr/>
          </p:nvSpPr>
          <p:spPr>
            <a:xfrm>
              <a:off x="0" y="1982216"/>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C</a:t>
              </a:r>
              <a:endParaRPr lang="en-US" sz="2400">
                <a:solidFill>
                  <a:srgbClr val="000000"/>
                </a:solidFill>
                <a:effectLst/>
                <a:latin typeface="Calibri" panose="020F0502020204030204" pitchFamily="34" charset="0"/>
                <a:ea typeface="Calibri" panose="020F0502020204030204" pitchFamily="34" charset="0"/>
              </a:endParaRPr>
            </a:p>
          </p:txBody>
        </p:sp>
        <p:sp>
          <p:nvSpPr>
            <p:cNvPr id="16" name="Rectangle 15"/>
            <p:cNvSpPr/>
            <p:nvPr/>
          </p:nvSpPr>
          <p:spPr>
            <a:xfrm>
              <a:off x="0" y="2393950"/>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E</a:t>
              </a:r>
              <a:endParaRPr lang="en-US" sz="2400">
                <a:solidFill>
                  <a:srgbClr val="000000"/>
                </a:solidFill>
                <a:effectLst/>
                <a:latin typeface="Calibri" panose="020F0502020204030204" pitchFamily="34" charset="0"/>
                <a:ea typeface="Calibri" panose="020F0502020204030204" pitchFamily="34" charset="0"/>
              </a:endParaRPr>
            </a:p>
          </p:txBody>
        </p:sp>
        <p:sp>
          <p:nvSpPr>
            <p:cNvPr id="17" name="Rectangle 16"/>
            <p:cNvSpPr/>
            <p:nvPr/>
          </p:nvSpPr>
          <p:spPr>
            <a:xfrm>
              <a:off x="304749" y="61595"/>
              <a:ext cx="15201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y</a:t>
              </a:r>
              <a:endParaRPr lang="en-US" sz="2400">
                <a:solidFill>
                  <a:srgbClr val="000000"/>
                </a:solidFill>
                <a:effectLst/>
                <a:latin typeface="Calibri" panose="020F0502020204030204" pitchFamily="34" charset="0"/>
                <a:ea typeface="Calibri" panose="020F0502020204030204" pitchFamily="34" charset="0"/>
              </a:endParaRPr>
            </a:p>
          </p:txBody>
        </p:sp>
        <p:sp>
          <p:nvSpPr>
            <p:cNvPr id="18" name="Rectangle 17"/>
            <p:cNvSpPr/>
            <p:nvPr/>
          </p:nvSpPr>
          <p:spPr>
            <a:xfrm>
              <a:off x="304749" y="4024960"/>
              <a:ext cx="1690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0</a:t>
              </a:r>
              <a:endParaRPr lang="en-US" sz="2400">
                <a:solidFill>
                  <a:srgbClr val="000000"/>
                </a:solidFill>
                <a:effectLst/>
                <a:latin typeface="Calibri" panose="020F0502020204030204" pitchFamily="34" charset="0"/>
                <a:ea typeface="Calibri" panose="020F0502020204030204" pitchFamily="34" charset="0"/>
              </a:endParaRPr>
            </a:p>
          </p:txBody>
        </p:sp>
        <p:sp>
          <p:nvSpPr>
            <p:cNvPr id="19" name="Rectangle 18"/>
            <p:cNvSpPr/>
            <p:nvPr/>
          </p:nvSpPr>
          <p:spPr>
            <a:xfrm>
              <a:off x="2819730" y="518901"/>
              <a:ext cx="2208990"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1F497D"/>
                  </a:solidFill>
                  <a:effectLst/>
                  <a:latin typeface="Arial" panose="020B0604020202020204" pitchFamily="34" charset="0"/>
                  <a:ea typeface="Arial" panose="020B0604020202020204" pitchFamily="34" charset="0"/>
                </a:rPr>
                <a:t>Perfectly elastic </a:t>
              </a:r>
              <a:endParaRPr lang="en-US" sz="2400">
                <a:solidFill>
                  <a:srgbClr val="000000"/>
                </a:solidFill>
                <a:effectLst/>
                <a:latin typeface="Calibri" panose="020F0502020204030204" pitchFamily="34" charset="0"/>
                <a:ea typeface="Calibri" panose="020F0502020204030204" pitchFamily="34" charset="0"/>
              </a:endParaRPr>
            </a:p>
          </p:txBody>
        </p:sp>
        <p:sp>
          <p:nvSpPr>
            <p:cNvPr id="20" name="Rectangle 19"/>
            <p:cNvSpPr/>
            <p:nvPr/>
          </p:nvSpPr>
          <p:spPr>
            <a:xfrm>
              <a:off x="2819730" y="793496"/>
              <a:ext cx="192247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1F497D"/>
                  </a:solidFill>
                  <a:effectLst/>
                  <a:latin typeface="Arial" panose="020B0604020202020204" pitchFamily="34" charset="0"/>
                  <a:ea typeface="Arial" panose="020B0604020202020204" pitchFamily="34" charset="0"/>
                </a:rPr>
                <a:t>demand curve</a:t>
              </a:r>
              <a:endParaRPr lang="en-US" sz="2400">
                <a:solidFill>
                  <a:srgbClr val="000000"/>
                </a:solidFill>
                <a:effectLst/>
                <a:latin typeface="Calibri" panose="020F0502020204030204" pitchFamily="34" charset="0"/>
                <a:ea typeface="Calibri" panose="020F0502020204030204" pitchFamily="34" charset="0"/>
              </a:endParaRPr>
            </a:p>
          </p:txBody>
        </p:sp>
        <p:sp>
          <p:nvSpPr>
            <p:cNvPr id="21" name="Rectangle 20"/>
            <p:cNvSpPr/>
            <p:nvPr/>
          </p:nvSpPr>
          <p:spPr>
            <a:xfrm>
              <a:off x="380949" y="173837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sp>
          <p:nvSpPr>
            <p:cNvPr id="22" name="Rectangle 21"/>
            <p:cNvSpPr/>
            <p:nvPr/>
          </p:nvSpPr>
          <p:spPr>
            <a:xfrm>
              <a:off x="3810330" y="181457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3623646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7899796" y="1619795"/>
            <a:ext cx="3454004" cy="4516748"/>
          </a:xfrm>
        </p:spPr>
        <p:txBody>
          <a:bodyPr/>
          <a:lstStyle/>
          <a:p>
            <a:r>
              <a:rPr lang="en-US" dirty="0" smtClean="0">
                <a:latin typeface="Arial" panose="020B0604020202020204" pitchFamily="34" charset="0"/>
                <a:cs typeface="Arial" panose="020B0604020202020204" pitchFamily="34" charset="0"/>
              </a:rPr>
              <a:t>When the proportionate change in demand is more than the proportionate changes in price, it is known as relatively elastic demand. </a:t>
            </a:r>
            <a:endParaRPr lang="en-US" dirty="0">
              <a:latin typeface="Arial" panose="020B0604020202020204" pitchFamily="34" charset="0"/>
              <a:cs typeface="Arial" panose="020B0604020202020204" pitchFamily="34" charset="0"/>
            </a:endParaRPr>
          </a:p>
        </p:txBody>
      </p:sp>
      <p:grpSp>
        <p:nvGrpSpPr>
          <p:cNvPr id="5" name="Group 4"/>
          <p:cNvGrpSpPr/>
          <p:nvPr/>
        </p:nvGrpSpPr>
        <p:grpSpPr>
          <a:xfrm>
            <a:off x="661851" y="1915886"/>
            <a:ext cx="5991497" cy="4441371"/>
            <a:chOff x="0" y="0"/>
            <a:chExt cx="5393407" cy="3848100"/>
          </a:xfrm>
        </p:grpSpPr>
        <p:sp>
          <p:nvSpPr>
            <p:cNvPr id="6" name="Shape 84"/>
            <p:cNvSpPr/>
            <p:nvPr/>
          </p:nvSpPr>
          <p:spPr>
            <a:xfrm>
              <a:off x="708355" y="0"/>
              <a:ext cx="76200" cy="3810000"/>
            </a:xfrm>
            <a:custGeom>
              <a:avLst/>
              <a:gdLst/>
              <a:ahLst/>
              <a:cxnLst/>
              <a:rect l="0" t="0" r="0" b="0"/>
              <a:pathLst>
                <a:path w="76200" h="3810000">
                  <a:moveTo>
                    <a:pt x="38100" y="0"/>
                  </a:moveTo>
                  <a:lnTo>
                    <a:pt x="76200" y="76200"/>
                  </a:lnTo>
                  <a:lnTo>
                    <a:pt x="44450" y="76200"/>
                  </a:lnTo>
                  <a:lnTo>
                    <a:pt x="44450" y="3810000"/>
                  </a:lnTo>
                  <a:lnTo>
                    <a:pt x="31750" y="3810000"/>
                  </a:lnTo>
                  <a:lnTo>
                    <a:pt x="31750"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7" name="Shape 85"/>
            <p:cNvSpPr/>
            <p:nvPr/>
          </p:nvSpPr>
          <p:spPr>
            <a:xfrm>
              <a:off x="746455" y="3771900"/>
              <a:ext cx="3962400" cy="76200"/>
            </a:xfrm>
            <a:custGeom>
              <a:avLst/>
              <a:gdLst/>
              <a:ahLst/>
              <a:cxnLst/>
              <a:rect l="0" t="0" r="0" b="0"/>
              <a:pathLst>
                <a:path w="3962400" h="76200">
                  <a:moveTo>
                    <a:pt x="3886200" y="0"/>
                  </a:moveTo>
                  <a:lnTo>
                    <a:pt x="3962400" y="38100"/>
                  </a:lnTo>
                  <a:lnTo>
                    <a:pt x="3886200" y="76200"/>
                  </a:lnTo>
                  <a:lnTo>
                    <a:pt x="3886200" y="44450"/>
                  </a:lnTo>
                  <a:lnTo>
                    <a:pt x="0" y="44450"/>
                  </a:lnTo>
                  <a:lnTo>
                    <a:pt x="0" y="31750"/>
                  </a:lnTo>
                  <a:lnTo>
                    <a:pt x="3886200" y="31750"/>
                  </a:lnTo>
                  <a:lnTo>
                    <a:pt x="38862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8" name="Shape 86"/>
            <p:cNvSpPr/>
            <p:nvPr/>
          </p:nvSpPr>
          <p:spPr>
            <a:xfrm>
              <a:off x="1203655" y="1371600"/>
              <a:ext cx="3048000" cy="1219200"/>
            </a:xfrm>
            <a:custGeom>
              <a:avLst/>
              <a:gdLst/>
              <a:ahLst/>
              <a:cxnLst/>
              <a:rect l="0" t="0" r="0" b="0"/>
              <a:pathLst>
                <a:path w="3048000" h="1219200">
                  <a:moveTo>
                    <a:pt x="0" y="0"/>
                  </a:moveTo>
                  <a:lnTo>
                    <a:pt x="3048000" y="1219200"/>
                  </a:lnTo>
                </a:path>
              </a:pathLst>
            </a:custGeom>
            <a:ln w="12700" cap="flat">
              <a:round/>
            </a:ln>
          </p:spPr>
          <p:style>
            <a:lnRef idx="1">
              <a:srgbClr val="000000"/>
            </a:lnRef>
            <a:fillRef idx="0">
              <a:srgbClr val="000000">
                <a:alpha val="0"/>
              </a:srgbClr>
            </a:fillRef>
            <a:effectRef idx="0">
              <a:scrgbClr r="0" g="0" b="0"/>
            </a:effectRef>
            <a:fontRef idx="none"/>
          </p:style>
          <p:txBody>
            <a:bodyPr/>
            <a:lstStyle/>
            <a:p>
              <a:endParaRPr lang="en-US" sz="2400"/>
            </a:p>
          </p:txBody>
        </p:sp>
        <p:sp>
          <p:nvSpPr>
            <p:cNvPr id="9" name="Shape 87"/>
            <p:cNvSpPr/>
            <p:nvPr/>
          </p:nvSpPr>
          <p:spPr>
            <a:xfrm>
              <a:off x="2572207" y="1371600"/>
              <a:ext cx="993648" cy="538988"/>
            </a:xfrm>
            <a:custGeom>
              <a:avLst/>
              <a:gdLst/>
              <a:ahLst/>
              <a:cxnLst/>
              <a:rect l="0" t="0" r="0" b="0"/>
              <a:pathLst>
                <a:path w="993648" h="538988">
                  <a:moveTo>
                    <a:pt x="993648" y="0"/>
                  </a:moveTo>
                  <a:lnTo>
                    <a:pt x="944626" y="69723"/>
                  </a:lnTo>
                  <a:lnTo>
                    <a:pt x="929527" y="41698"/>
                  </a:lnTo>
                  <a:lnTo>
                    <a:pt x="6096" y="538988"/>
                  </a:lnTo>
                  <a:lnTo>
                    <a:pt x="0" y="527812"/>
                  </a:lnTo>
                  <a:lnTo>
                    <a:pt x="923518" y="30543"/>
                  </a:lnTo>
                  <a:lnTo>
                    <a:pt x="908431" y="2540"/>
                  </a:lnTo>
                  <a:lnTo>
                    <a:pt x="993648"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10" name="Rectangle 9"/>
            <p:cNvSpPr/>
            <p:nvPr/>
          </p:nvSpPr>
          <p:spPr>
            <a:xfrm>
              <a:off x="3048330" y="747501"/>
              <a:ext cx="2345077"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Relatively elastic </a:t>
              </a:r>
              <a:endParaRPr lang="en-US" sz="2400">
                <a:solidFill>
                  <a:srgbClr val="000000"/>
                </a:solidFill>
                <a:effectLst/>
                <a:latin typeface="Calibri" panose="020F0502020204030204" pitchFamily="34" charset="0"/>
                <a:ea typeface="Calibri" panose="020F0502020204030204" pitchFamily="34" charset="0"/>
              </a:endParaRPr>
            </a:p>
          </p:txBody>
        </p:sp>
        <p:sp>
          <p:nvSpPr>
            <p:cNvPr id="11" name="Rectangle 10"/>
            <p:cNvSpPr/>
            <p:nvPr/>
          </p:nvSpPr>
          <p:spPr>
            <a:xfrm>
              <a:off x="3048330" y="1022096"/>
              <a:ext cx="192247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demand curve</a:t>
              </a:r>
              <a:endParaRPr lang="en-US" sz="2400">
                <a:solidFill>
                  <a:srgbClr val="000000"/>
                </a:solidFill>
                <a:effectLst/>
                <a:latin typeface="Calibri" panose="020F0502020204030204" pitchFamily="34" charset="0"/>
                <a:ea typeface="Calibri" panose="020F0502020204030204" pitchFamily="34" charset="0"/>
              </a:endParaRPr>
            </a:p>
          </p:txBody>
        </p:sp>
        <p:sp>
          <p:nvSpPr>
            <p:cNvPr id="12" name="Rectangle 11"/>
            <p:cNvSpPr/>
            <p:nvPr/>
          </p:nvSpPr>
          <p:spPr>
            <a:xfrm>
              <a:off x="0" y="671301"/>
              <a:ext cx="203061"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P</a:t>
              </a:r>
              <a:endParaRPr lang="en-US" sz="2400">
                <a:solidFill>
                  <a:srgbClr val="000000"/>
                </a:solidFill>
                <a:effectLst/>
                <a:latin typeface="Calibri" panose="020F0502020204030204" pitchFamily="34" charset="0"/>
                <a:ea typeface="Calibri" panose="020F0502020204030204" pitchFamily="34" charset="0"/>
              </a:endParaRPr>
            </a:p>
          </p:txBody>
        </p:sp>
        <p:sp>
          <p:nvSpPr>
            <p:cNvPr id="13" name="Rectangle 12"/>
            <p:cNvSpPr/>
            <p:nvPr/>
          </p:nvSpPr>
          <p:spPr>
            <a:xfrm>
              <a:off x="0" y="108305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R</a:t>
              </a:r>
              <a:endParaRPr lang="en-US" sz="2400">
                <a:solidFill>
                  <a:srgbClr val="000000"/>
                </a:solidFill>
                <a:effectLst/>
                <a:latin typeface="Calibri" panose="020F0502020204030204" pitchFamily="34" charset="0"/>
                <a:ea typeface="Calibri" panose="020F0502020204030204" pitchFamily="34" charset="0"/>
              </a:endParaRPr>
            </a:p>
          </p:txBody>
        </p:sp>
        <p:sp>
          <p:nvSpPr>
            <p:cNvPr id="14" name="Rectangle 13"/>
            <p:cNvSpPr/>
            <p:nvPr/>
          </p:nvSpPr>
          <p:spPr>
            <a:xfrm>
              <a:off x="0" y="1494536"/>
              <a:ext cx="84472"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I</a:t>
              </a:r>
              <a:endParaRPr lang="en-US" sz="2400">
                <a:solidFill>
                  <a:srgbClr val="000000"/>
                </a:solidFill>
                <a:effectLst/>
                <a:latin typeface="Calibri" panose="020F0502020204030204" pitchFamily="34" charset="0"/>
                <a:ea typeface="Calibri" panose="020F0502020204030204" pitchFamily="34" charset="0"/>
              </a:endParaRPr>
            </a:p>
          </p:txBody>
        </p:sp>
        <p:sp>
          <p:nvSpPr>
            <p:cNvPr id="15" name="Rectangle 14"/>
            <p:cNvSpPr/>
            <p:nvPr/>
          </p:nvSpPr>
          <p:spPr>
            <a:xfrm>
              <a:off x="0" y="190601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C</a:t>
              </a:r>
              <a:endParaRPr lang="en-US" sz="2400">
                <a:solidFill>
                  <a:srgbClr val="000000"/>
                </a:solidFill>
                <a:effectLst/>
                <a:latin typeface="Calibri" panose="020F0502020204030204" pitchFamily="34" charset="0"/>
                <a:ea typeface="Calibri" panose="020F0502020204030204" pitchFamily="34" charset="0"/>
              </a:endParaRPr>
            </a:p>
          </p:txBody>
        </p:sp>
        <p:sp>
          <p:nvSpPr>
            <p:cNvPr id="16" name="Rectangle 15"/>
            <p:cNvSpPr/>
            <p:nvPr/>
          </p:nvSpPr>
          <p:spPr>
            <a:xfrm>
              <a:off x="0" y="2317474"/>
              <a:ext cx="203061"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E</a:t>
              </a:r>
              <a:endParaRPr lang="en-US" sz="2400">
                <a:solidFill>
                  <a:srgbClr val="000000"/>
                </a:solidFill>
                <a:effectLst/>
                <a:latin typeface="Calibri" panose="020F0502020204030204" pitchFamily="34" charset="0"/>
                <a:ea typeface="Calibri" panose="020F0502020204030204" pitchFamily="34" charset="0"/>
              </a:endParaRPr>
            </a:p>
          </p:txBody>
        </p:sp>
        <p:sp>
          <p:nvSpPr>
            <p:cNvPr id="17" name="Rectangle 16"/>
            <p:cNvSpPr/>
            <p:nvPr/>
          </p:nvSpPr>
          <p:spPr>
            <a:xfrm>
              <a:off x="457149" y="137795"/>
              <a:ext cx="15201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y</a:t>
              </a:r>
              <a:endParaRPr lang="en-US" sz="2400">
                <a:solidFill>
                  <a:srgbClr val="000000"/>
                </a:solidFill>
                <a:effectLst/>
                <a:latin typeface="Calibri" panose="020F0502020204030204" pitchFamily="34" charset="0"/>
                <a:ea typeface="Calibri" panose="020F0502020204030204" pitchFamily="34" charset="0"/>
              </a:endParaRPr>
            </a:p>
          </p:txBody>
        </p:sp>
        <p:sp>
          <p:nvSpPr>
            <p:cNvPr id="18" name="Rectangle 17"/>
            <p:cNvSpPr/>
            <p:nvPr/>
          </p:nvSpPr>
          <p:spPr>
            <a:xfrm>
              <a:off x="990549" y="1349375"/>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sp>
          <p:nvSpPr>
            <p:cNvPr id="19" name="Rectangle 18"/>
            <p:cNvSpPr/>
            <p:nvPr/>
          </p:nvSpPr>
          <p:spPr>
            <a:xfrm>
              <a:off x="4343984" y="2653030"/>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grpSp>
      <p:sp>
        <p:nvSpPr>
          <p:cNvPr id="20" name="Title 3"/>
          <p:cNvSpPr>
            <a:spLocks noGrp="1"/>
          </p:cNvSpPr>
          <p:nvPr>
            <p:ph type="title"/>
          </p:nvPr>
        </p:nvSpPr>
        <p:spPr>
          <a:xfrm>
            <a:off x="661988" y="365125"/>
            <a:ext cx="10691812" cy="765175"/>
          </a:xfrm>
        </p:spPr>
        <p:txBody>
          <a:bodyPr/>
          <a:lstStyle/>
          <a:p>
            <a:r>
              <a:rPr lang="en-US" dirty="0" smtClean="0">
                <a:latin typeface="Arial" panose="020B0604020202020204" pitchFamily="34" charset="0"/>
                <a:cs typeface="Arial" panose="020B0604020202020204" pitchFamily="34" charset="0"/>
              </a:rPr>
              <a:t>Elasticity of Demand Types-Graphical</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95595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7785462" y="1602377"/>
            <a:ext cx="3568337" cy="4574586"/>
          </a:xfrm>
        </p:spPr>
        <p:txBody>
          <a:bodyPr/>
          <a:lstStyle/>
          <a:p>
            <a:r>
              <a:rPr lang="en-US" dirty="0" smtClean="0">
                <a:latin typeface="Arial" panose="020B0604020202020204" pitchFamily="34" charset="0"/>
                <a:cs typeface="Arial" panose="020B0604020202020204" pitchFamily="34" charset="0"/>
              </a:rPr>
              <a:t>When the proportionate change in demand is equal to proportionate changes in price, it is known as unitary elastic demand </a:t>
            </a:r>
            <a:endParaRPr lang="en-US" dirty="0">
              <a:latin typeface="Arial" panose="020B0604020202020204" pitchFamily="34" charset="0"/>
              <a:cs typeface="Arial" panose="020B0604020202020204" pitchFamily="34" charset="0"/>
            </a:endParaRPr>
          </a:p>
        </p:txBody>
      </p:sp>
      <p:sp>
        <p:nvSpPr>
          <p:cNvPr id="5" name="Title 3"/>
          <p:cNvSpPr>
            <a:spLocks noGrp="1"/>
          </p:cNvSpPr>
          <p:nvPr>
            <p:ph type="title"/>
          </p:nvPr>
        </p:nvSpPr>
        <p:spPr>
          <a:xfrm>
            <a:off x="838200" y="365126"/>
            <a:ext cx="10515600" cy="627652"/>
          </a:xfrm>
        </p:spPr>
        <p:txBody>
          <a:bodyPr>
            <a:normAutofit fontScale="90000"/>
          </a:bodyPr>
          <a:lstStyle/>
          <a:p>
            <a:r>
              <a:rPr lang="en-US" dirty="0" smtClean="0">
                <a:latin typeface="Arial" panose="020B0604020202020204" pitchFamily="34" charset="0"/>
                <a:cs typeface="Arial" panose="020B0604020202020204" pitchFamily="34" charset="0"/>
              </a:rPr>
              <a:t>Elasticity of Demand Types-Graphical</a:t>
            </a:r>
            <a:endParaRPr lang="en-US" dirty="0">
              <a:latin typeface="Arial" panose="020B0604020202020204" pitchFamily="34" charset="0"/>
              <a:cs typeface="Arial" panose="020B0604020202020204" pitchFamily="34" charset="0"/>
            </a:endParaRPr>
          </a:p>
        </p:txBody>
      </p:sp>
      <p:grpSp>
        <p:nvGrpSpPr>
          <p:cNvPr id="6" name="Group 5"/>
          <p:cNvGrpSpPr/>
          <p:nvPr/>
        </p:nvGrpSpPr>
        <p:grpSpPr>
          <a:xfrm>
            <a:off x="838198" y="1455964"/>
            <a:ext cx="6477001" cy="4944836"/>
            <a:chOff x="0" y="0"/>
            <a:chExt cx="4671549" cy="3162300"/>
          </a:xfrm>
        </p:grpSpPr>
        <p:sp>
          <p:nvSpPr>
            <p:cNvPr id="7" name="Shape 117"/>
            <p:cNvSpPr/>
            <p:nvPr/>
          </p:nvSpPr>
          <p:spPr>
            <a:xfrm>
              <a:off x="479806" y="0"/>
              <a:ext cx="76200" cy="3124200"/>
            </a:xfrm>
            <a:custGeom>
              <a:avLst/>
              <a:gdLst/>
              <a:ahLst/>
              <a:cxnLst/>
              <a:rect l="0" t="0" r="0" b="0"/>
              <a:pathLst>
                <a:path w="76200" h="3124200">
                  <a:moveTo>
                    <a:pt x="38100" y="0"/>
                  </a:moveTo>
                  <a:lnTo>
                    <a:pt x="76200" y="76200"/>
                  </a:lnTo>
                  <a:lnTo>
                    <a:pt x="44450" y="76200"/>
                  </a:lnTo>
                  <a:lnTo>
                    <a:pt x="44450" y="3124200"/>
                  </a:lnTo>
                  <a:lnTo>
                    <a:pt x="31750" y="3124200"/>
                  </a:lnTo>
                  <a:lnTo>
                    <a:pt x="31750"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latin typeface="Arial" panose="020B0604020202020204" pitchFamily="34" charset="0"/>
                <a:cs typeface="Arial" panose="020B0604020202020204" pitchFamily="34" charset="0"/>
              </a:endParaRPr>
            </a:p>
          </p:txBody>
        </p:sp>
        <p:sp>
          <p:nvSpPr>
            <p:cNvPr id="8" name="Shape 118"/>
            <p:cNvSpPr/>
            <p:nvPr/>
          </p:nvSpPr>
          <p:spPr>
            <a:xfrm>
              <a:off x="517906" y="3086100"/>
              <a:ext cx="3505200" cy="76200"/>
            </a:xfrm>
            <a:custGeom>
              <a:avLst/>
              <a:gdLst/>
              <a:ahLst/>
              <a:cxnLst/>
              <a:rect l="0" t="0" r="0" b="0"/>
              <a:pathLst>
                <a:path w="3505200" h="76200">
                  <a:moveTo>
                    <a:pt x="3429000" y="0"/>
                  </a:moveTo>
                  <a:lnTo>
                    <a:pt x="3505200" y="38100"/>
                  </a:lnTo>
                  <a:lnTo>
                    <a:pt x="3429000" y="76200"/>
                  </a:lnTo>
                  <a:lnTo>
                    <a:pt x="3429000" y="44450"/>
                  </a:lnTo>
                  <a:lnTo>
                    <a:pt x="0" y="44450"/>
                  </a:lnTo>
                  <a:lnTo>
                    <a:pt x="0" y="31750"/>
                  </a:lnTo>
                  <a:lnTo>
                    <a:pt x="3429000" y="31750"/>
                  </a:lnTo>
                  <a:lnTo>
                    <a:pt x="34290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latin typeface="Arial" panose="020B0604020202020204" pitchFamily="34" charset="0"/>
                <a:cs typeface="Arial" panose="020B0604020202020204" pitchFamily="34" charset="0"/>
              </a:endParaRPr>
            </a:p>
          </p:txBody>
        </p:sp>
        <p:sp>
          <p:nvSpPr>
            <p:cNvPr id="9" name="Shape 119"/>
            <p:cNvSpPr/>
            <p:nvPr/>
          </p:nvSpPr>
          <p:spPr>
            <a:xfrm>
              <a:off x="670306" y="609600"/>
              <a:ext cx="3200400" cy="2057400"/>
            </a:xfrm>
            <a:custGeom>
              <a:avLst/>
              <a:gdLst/>
              <a:ahLst/>
              <a:cxnLst/>
              <a:rect l="0" t="0" r="0" b="0"/>
              <a:pathLst>
                <a:path w="3200400" h="2057400">
                  <a:moveTo>
                    <a:pt x="0" y="0"/>
                  </a:moveTo>
                  <a:cubicBezTo>
                    <a:pt x="291465" y="666750"/>
                    <a:pt x="583057" y="1333500"/>
                    <a:pt x="1116457" y="1676400"/>
                  </a:cubicBezTo>
                  <a:cubicBezTo>
                    <a:pt x="1649857" y="2019300"/>
                    <a:pt x="2425065" y="2038350"/>
                    <a:pt x="3200400" y="2057400"/>
                  </a:cubicBezTo>
                </a:path>
              </a:pathLst>
            </a:custGeom>
            <a:ln w="12700" cap="flat">
              <a:round/>
            </a:ln>
          </p:spPr>
          <p:style>
            <a:lnRef idx="1">
              <a:srgbClr val="000000"/>
            </a:lnRef>
            <a:fillRef idx="0">
              <a:srgbClr val="000000">
                <a:alpha val="0"/>
              </a:srgbClr>
            </a:fillRef>
            <a:effectRef idx="0">
              <a:scrgbClr r="0" g="0" b="0"/>
            </a:effectRef>
            <a:fontRef idx="none"/>
          </p:style>
          <p:txBody>
            <a:bodyPr/>
            <a:lstStyle/>
            <a:p>
              <a:endParaRPr lang="en-US" sz="2400">
                <a:latin typeface="Arial" panose="020B0604020202020204" pitchFamily="34" charset="0"/>
                <a:cs typeface="Arial" panose="020B0604020202020204" pitchFamily="34" charset="0"/>
              </a:endParaRPr>
            </a:p>
          </p:txBody>
        </p:sp>
        <p:sp>
          <p:nvSpPr>
            <p:cNvPr id="10" name="Shape 120"/>
            <p:cNvSpPr/>
            <p:nvPr/>
          </p:nvSpPr>
          <p:spPr>
            <a:xfrm>
              <a:off x="1656461" y="1447800"/>
              <a:ext cx="766445" cy="766445"/>
            </a:xfrm>
            <a:custGeom>
              <a:avLst/>
              <a:gdLst/>
              <a:ahLst/>
              <a:cxnLst/>
              <a:rect l="0" t="0" r="0" b="0"/>
              <a:pathLst>
                <a:path w="766445" h="766445">
                  <a:moveTo>
                    <a:pt x="766445" y="0"/>
                  </a:moveTo>
                  <a:lnTo>
                    <a:pt x="739521" y="80772"/>
                  </a:lnTo>
                  <a:lnTo>
                    <a:pt x="717105" y="58356"/>
                  </a:lnTo>
                  <a:lnTo>
                    <a:pt x="8890" y="766445"/>
                  </a:lnTo>
                  <a:lnTo>
                    <a:pt x="0" y="757555"/>
                  </a:lnTo>
                  <a:lnTo>
                    <a:pt x="708089" y="49340"/>
                  </a:lnTo>
                  <a:lnTo>
                    <a:pt x="685673" y="26924"/>
                  </a:lnTo>
                  <a:lnTo>
                    <a:pt x="766445"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400">
                <a:latin typeface="Arial" panose="020B0604020202020204" pitchFamily="34" charset="0"/>
                <a:cs typeface="Arial" panose="020B0604020202020204" pitchFamily="34" charset="0"/>
              </a:endParaRPr>
            </a:p>
          </p:txBody>
        </p:sp>
        <p:sp>
          <p:nvSpPr>
            <p:cNvPr id="11" name="Rectangle 10"/>
            <p:cNvSpPr/>
            <p:nvPr/>
          </p:nvSpPr>
          <p:spPr>
            <a:xfrm>
              <a:off x="2667381" y="1281154"/>
              <a:ext cx="1618370"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Elasticity of </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2" name="Rectangle 11"/>
            <p:cNvSpPr/>
            <p:nvPr/>
          </p:nvSpPr>
          <p:spPr>
            <a:xfrm>
              <a:off x="2667381" y="1555750"/>
              <a:ext cx="2004168"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demand equal </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3" name="Rectangle 12"/>
            <p:cNvSpPr/>
            <p:nvPr/>
          </p:nvSpPr>
          <p:spPr>
            <a:xfrm>
              <a:off x="2667381" y="1830070"/>
              <a:ext cx="1855895"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dirty="0">
                  <a:solidFill>
                    <a:srgbClr val="000000"/>
                  </a:solidFill>
                  <a:effectLst/>
                  <a:latin typeface="Arial" panose="020B0604020202020204" pitchFamily="34" charset="0"/>
                  <a:ea typeface="Arial" panose="020B0604020202020204" pitchFamily="34" charset="0"/>
                  <a:cs typeface="Arial" panose="020B0604020202020204" pitchFamily="34" charset="0"/>
                </a:rPr>
                <a:t>to utility curve</a:t>
              </a:r>
              <a:endParaRPr lang="en-US" sz="2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4" name="Rectangle 13"/>
            <p:cNvSpPr/>
            <p:nvPr/>
          </p:nvSpPr>
          <p:spPr>
            <a:xfrm>
              <a:off x="304800" y="53975"/>
              <a:ext cx="15201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y</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5" name="Rectangle 14"/>
            <p:cNvSpPr/>
            <p:nvPr/>
          </p:nvSpPr>
          <p:spPr>
            <a:xfrm>
              <a:off x="0" y="519176"/>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P</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6" name="Rectangle 15"/>
            <p:cNvSpPr/>
            <p:nvPr/>
          </p:nvSpPr>
          <p:spPr>
            <a:xfrm>
              <a:off x="0" y="93065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R</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7" name="Rectangle 16"/>
            <p:cNvSpPr/>
            <p:nvPr/>
          </p:nvSpPr>
          <p:spPr>
            <a:xfrm>
              <a:off x="0" y="1342390"/>
              <a:ext cx="84472"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I</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8" name="Rectangle 17"/>
            <p:cNvSpPr/>
            <p:nvPr/>
          </p:nvSpPr>
          <p:spPr>
            <a:xfrm>
              <a:off x="0" y="1753870"/>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C</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9" name="Rectangle 18"/>
            <p:cNvSpPr/>
            <p:nvPr/>
          </p:nvSpPr>
          <p:spPr>
            <a:xfrm>
              <a:off x="0" y="2165350"/>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E</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0" name="Rectangle 19"/>
            <p:cNvSpPr/>
            <p:nvPr/>
          </p:nvSpPr>
          <p:spPr>
            <a:xfrm>
              <a:off x="685800" y="36677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cs typeface="Arial" panose="020B0604020202020204" pitchFamily="34" charset="0"/>
                </a:rPr>
                <a:t>D</a:t>
              </a:r>
              <a:endParaRPr lang="en-US" sz="240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grpSp>
    </p:spTree>
    <p:extLst>
      <p:ext uri="{BB962C8B-B14F-4D97-AF65-F5344CB8AC3E}">
        <p14:creationId xmlns:p14="http://schemas.microsoft.com/office/powerpoint/2010/main" val="8123368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7942216" y="1454330"/>
            <a:ext cx="3727270" cy="4872843"/>
          </a:xfrm>
        </p:spPr>
        <p:txBody>
          <a:bodyPr/>
          <a:lstStyle/>
          <a:p>
            <a:r>
              <a:rPr lang="en-US" dirty="0" smtClean="0">
                <a:latin typeface="Arial" panose="020B0604020202020204" pitchFamily="34" charset="0"/>
                <a:cs typeface="Arial" panose="020B0604020202020204" pitchFamily="34" charset="0"/>
              </a:rPr>
              <a:t>When the proportionate change in demand is less than the proportionate changes in price, it is known as relatively inelastic demand</a:t>
            </a:r>
            <a:endParaRPr lang="en-US" dirty="0">
              <a:latin typeface="Arial" panose="020B0604020202020204" pitchFamily="34" charset="0"/>
              <a:cs typeface="Arial" panose="020B0604020202020204" pitchFamily="34" charset="0"/>
            </a:endParaRPr>
          </a:p>
        </p:txBody>
      </p:sp>
      <p:sp>
        <p:nvSpPr>
          <p:cNvPr id="5" name="Title 3"/>
          <p:cNvSpPr>
            <a:spLocks noGrp="1"/>
          </p:cNvSpPr>
          <p:nvPr>
            <p:ph type="title"/>
          </p:nvPr>
        </p:nvSpPr>
        <p:spPr>
          <a:xfrm>
            <a:off x="838200" y="365125"/>
            <a:ext cx="10515600" cy="575401"/>
          </a:xfrm>
        </p:spPr>
        <p:txBody>
          <a:bodyPr>
            <a:normAutofit fontScale="90000"/>
          </a:bodyPr>
          <a:lstStyle/>
          <a:p>
            <a:r>
              <a:rPr lang="en-US" dirty="0" smtClean="0">
                <a:latin typeface="Arial" panose="020B0604020202020204" pitchFamily="34" charset="0"/>
                <a:cs typeface="Arial" panose="020B0604020202020204" pitchFamily="34" charset="0"/>
              </a:rPr>
              <a:t>Elasticity of Demand Types-Graphical</a:t>
            </a:r>
            <a:endParaRPr lang="en-US" dirty="0">
              <a:latin typeface="Arial" panose="020B0604020202020204" pitchFamily="34" charset="0"/>
              <a:cs typeface="Arial" panose="020B0604020202020204" pitchFamily="34" charset="0"/>
            </a:endParaRPr>
          </a:p>
        </p:txBody>
      </p:sp>
      <p:grpSp>
        <p:nvGrpSpPr>
          <p:cNvPr id="6" name="Group 5"/>
          <p:cNvGrpSpPr/>
          <p:nvPr/>
        </p:nvGrpSpPr>
        <p:grpSpPr>
          <a:xfrm>
            <a:off x="838200" y="1577203"/>
            <a:ext cx="6450874" cy="4875847"/>
            <a:chOff x="0" y="0"/>
            <a:chExt cx="5018888" cy="3848100"/>
          </a:xfrm>
        </p:grpSpPr>
        <p:sp>
          <p:nvSpPr>
            <p:cNvPr id="7" name="Shape 148"/>
            <p:cNvSpPr/>
            <p:nvPr/>
          </p:nvSpPr>
          <p:spPr>
            <a:xfrm>
              <a:off x="403606" y="0"/>
              <a:ext cx="76200" cy="3810000"/>
            </a:xfrm>
            <a:custGeom>
              <a:avLst/>
              <a:gdLst/>
              <a:ahLst/>
              <a:cxnLst/>
              <a:rect l="0" t="0" r="0" b="0"/>
              <a:pathLst>
                <a:path w="76200" h="3810000">
                  <a:moveTo>
                    <a:pt x="38100" y="0"/>
                  </a:moveTo>
                  <a:lnTo>
                    <a:pt x="76200" y="76200"/>
                  </a:lnTo>
                  <a:lnTo>
                    <a:pt x="44450" y="76200"/>
                  </a:lnTo>
                  <a:lnTo>
                    <a:pt x="44450" y="3810000"/>
                  </a:lnTo>
                  <a:lnTo>
                    <a:pt x="31750" y="3810000"/>
                  </a:lnTo>
                  <a:lnTo>
                    <a:pt x="31750"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8" name="Shape 149"/>
            <p:cNvSpPr/>
            <p:nvPr/>
          </p:nvSpPr>
          <p:spPr>
            <a:xfrm>
              <a:off x="441706" y="3771900"/>
              <a:ext cx="3505200" cy="76200"/>
            </a:xfrm>
            <a:custGeom>
              <a:avLst/>
              <a:gdLst/>
              <a:ahLst/>
              <a:cxnLst/>
              <a:rect l="0" t="0" r="0" b="0"/>
              <a:pathLst>
                <a:path w="3505200" h="76200">
                  <a:moveTo>
                    <a:pt x="3429000" y="0"/>
                  </a:moveTo>
                  <a:lnTo>
                    <a:pt x="3505200" y="38100"/>
                  </a:lnTo>
                  <a:lnTo>
                    <a:pt x="3429000" y="76200"/>
                  </a:lnTo>
                  <a:lnTo>
                    <a:pt x="3429000" y="44450"/>
                  </a:lnTo>
                  <a:lnTo>
                    <a:pt x="0" y="44450"/>
                  </a:lnTo>
                  <a:lnTo>
                    <a:pt x="0" y="31750"/>
                  </a:lnTo>
                  <a:lnTo>
                    <a:pt x="3429000" y="31750"/>
                  </a:lnTo>
                  <a:lnTo>
                    <a:pt x="34290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9" name="Rectangle 8"/>
            <p:cNvSpPr/>
            <p:nvPr/>
          </p:nvSpPr>
          <p:spPr>
            <a:xfrm>
              <a:off x="2438781" y="442701"/>
              <a:ext cx="2580107" cy="339454"/>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Relatively inelastic </a:t>
              </a:r>
              <a:endParaRPr lang="en-US" sz="2400">
                <a:solidFill>
                  <a:srgbClr val="000000"/>
                </a:solidFill>
                <a:effectLst/>
                <a:latin typeface="Calibri" panose="020F0502020204030204" pitchFamily="34" charset="0"/>
                <a:ea typeface="Calibri" panose="020F0502020204030204" pitchFamily="34" charset="0"/>
              </a:endParaRPr>
            </a:p>
          </p:txBody>
        </p:sp>
        <p:sp>
          <p:nvSpPr>
            <p:cNvPr id="10" name="Rectangle 9"/>
            <p:cNvSpPr/>
            <p:nvPr/>
          </p:nvSpPr>
          <p:spPr>
            <a:xfrm>
              <a:off x="2438781" y="717296"/>
              <a:ext cx="192247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demand curve</a:t>
              </a:r>
              <a:endParaRPr lang="en-US" sz="2400">
                <a:solidFill>
                  <a:srgbClr val="000000"/>
                </a:solidFill>
                <a:effectLst/>
                <a:latin typeface="Calibri" panose="020F0502020204030204" pitchFamily="34" charset="0"/>
                <a:ea typeface="Calibri" panose="020F0502020204030204" pitchFamily="34" charset="0"/>
              </a:endParaRPr>
            </a:p>
          </p:txBody>
        </p:sp>
        <p:sp>
          <p:nvSpPr>
            <p:cNvPr id="11" name="Rectangle 10"/>
            <p:cNvSpPr/>
            <p:nvPr/>
          </p:nvSpPr>
          <p:spPr>
            <a:xfrm>
              <a:off x="76200" y="129921"/>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Y</a:t>
              </a:r>
              <a:endParaRPr lang="en-US" sz="2400">
                <a:solidFill>
                  <a:srgbClr val="000000"/>
                </a:solidFill>
                <a:effectLst/>
                <a:latin typeface="Calibri" panose="020F0502020204030204" pitchFamily="34" charset="0"/>
                <a:ea typeface="Calibri" panose="020F0502020204030204" pitchFamily="34" charset="0"/>
              </a:endParaRPr>
            </a:p>
          </p:txBody>
        </p:sp>
        <p:sp>
          <p:nvSpPr>
            <p:cNvPr id="12" name="Shape 156"/>
            <p:cNvSpPr/>
            <p:nvPr/>
          </p:nvSpPr>
          <p:spPr>
            <a:xfrm>
              <a:off x="1356106" y="609600"/>
              <a:ext cx="1676400" cy="2667000"/>
            </a:xfrm>
            <a:custGeom>
              <a:avLst/>
              <a:gdLst/>
              <a:ahLst/>
              <a:cxnLst/>
              <a:rect l="0" t="0" r="0" b="0"/>
              <a:pathLst>
                <a:path w="1676400" h="2667000">
                  <a:moveTo>
                    <a:pt x="0" y="0"/>
                  </a:moveTo>
                  <a:lnTo>
                    <a:pt x="1676400" y="2667000"/>
                  </a:lnTo>
                </a:path>
              </a:pathLst>
            </a:custGeom>
            <a:ln w="12700" cap="flat">
              <a:round/>
            </a:ln>
          </p:spPr>
          <p:style>
            <a:lnRef idx="1">
              <a:srgbClr val="000000"/>
            </a:lnRef>
            <a:fillRef idx="0">
              <a:srgbClr val="000000">
                <a:alpha val="0"/>
              </a:srgbClr>
            </a:fillRef>
            <a:effectRef idx="0">
              <a:scrgbClr r="0" g="0" b="0"/>
            </a:effectRef>
            <a:fontRef idx="none"/>
          </p:style>
          <p:txBody>
            <a:bodyPr/>
            <a:lstStyle/>
            <a:p>
              <a:endParaRPr lang="en-US" sz="2400"/>
            </a:p>
          </p:txBody>
        </p:sp>
        <p:sp>
          <p:nvSpPr>
            <p:cNvPr id="13" name="Shape 157"/>
            <p:cNvSpPr/>
            <p:nvPr/>
          </p:nvSpPr>
          <p:spPr>
            <a:xfrm>
              <a:off x="2113407" y="1066800"/>
              <a:ext cx="690499" cy="766191"/>
            </a:xfrm>
            <a:custGeom>
              <a:avLst/>
              <a:gdLst/>
              <a:ahLst/>
              <a:cxnLst/>
              <a:rect l="0" t="0" r="0" b="0"/>
              <a:pathLst>
                <a:path w="690499" h="766191">
                  <a:moveTo>
                    <a:pt x="690499" y="0"/>
                  </a:moveTo>
                  <a:lnTo>
                    <a:pt x="667893" y="82169"/>
                  </a:lnTo>
                  <a:lnTo>
                    <a:pt x="644276" y="60882"/>
                  </a:lnTo>
                  <a:lnTo>
                    <a:pt x="9398" y="766191"/>
                  </a:lnTo>
                  <a:lnTo>
                    <a:pt x="0" y="757809"/>
                  </a:lnTo>
                  <a:lnTo>
                    <a:pt x="634791" y="52333"/>
                  </a:lnTo>
                  <a:lnTo>
                    <a:pt x="611251" y="31115"/>
                  </a:lnTo>
                  <a:lnTo>
                    <a:pt x="690499"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400"/>
            </a:p>
          </p:txBody>
        </p:sp>
        <p:sp>
          <p:nvSpPr>
            <p:cNvPr id="14" name="Rectangle 13"/>
            <p:cNvSpPr/>
            <p:nvPr/>
          </p:nvSpPr>
          <p:spPr>
            <a:xfrm>
              <a:off x="1066800" y="366395"/>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sp>
          <p:nvSpPr>
            <p:cNvPr id="15" name="Rectangle 14"/>
            <p:cNvSpPr/>
            <p:nvPr/>
          </p:nvSpPr>
          <p:spPr>
            <a:xfrm>
              <a:off x="3124581" y="3262630"/>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D</a:t>
              </a:r>
              <a:endParaRPr lang="en-US" sz="2400">
                <a:solidFill>
                  <a:srgbClr val="000000"/>
                </a:solidFill>
                <a:effectLst/>
                <a:latin typeface="Calibri" panose="020F0502020204030204" pitchFamily="34" charset="0"/>
                <a:ea typeface="Calibri" panose="020F0502020204030204" pitchFamily="34" charset="0"/>
              </a:endParaRPr>
            </a:p>
          </p:txBody>
        </p:sp>
        <p:sp>
          <p:nvSpPr>
            <p:cNvPr id="16" name="Rectangle 15"/>
            <p:cNvSpPr/>
            <p:nvPr/>
          </p:nvSpPr>
          <p:spPr>
            <a:xfrm>
              <a:off x="0" y="1128776"/>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P</a:t>
              </a:r>
              <a:endParaRPr lang="en-US" sz="2400">
                <a:solidFill>
                  <a:srgbClr val="000000"/>
                </a:solidFill>
                <a:effectLst/>
                <a:latin typeface="Calibri" panose="020F0502020204030204" pitchFamily="34" charset="0"/>
                <a:ea typeface="Calibri" panose="020F0502020204030204" pitchFamily="34" charset="0"/>
              </a:endParaRPr>
            </a:p>
          </p:txBody>
        </p:sp>
        <p:sp>
          <p:nvSpPr>
            <p:cNvPr id="17" name="Rectangle 16"/>
            <p:cNvSpPr/>
            <p:nvPr/>
          </p:nvSpPr>
          <p:spPr>
            <a:xfrm>
              <a:off x="0" y="1540256"/>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R</a:t>
              </a:r>
              <a:endParaRPr lang="en-US" sz="2400">
                <a:solidFill>
                  <a:srgbClr val="000000"/>
                </a:solidFill>
                <a:effectLst/>
                <a:latin typeface="Calibri" panose="020F0502020204030204" pitchFamily="34" charset="0"/>
                <a:ea typeface="Calibri" panose="020F0502020204030204" pitchFamily="34" charset="0"/>
              </a:endParaRPr>
            </a:p>
          </p:txBody>
        </p:sp>
        <p:sp>
          <p:nvSpPr>
            <p:cNvPr id="18" name="Rectangle 17"/>
            <p:cNvSpPr/>
            <p:nvPr/>
          </p:nvSpPr>
          <p:spPr>
            <a:xfrm>
              <a:off x="0" y="1951736"/>
              <a:ext cx="84472"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I</a:t>
              </a:r>
              <a:endParaRPr lang="en-US" sz="2400">
                <a:solidFill>
                  <a:srgbClr val="000000"/>
                </a:solidFill>
                <a:effectLst/>
                <a:latin typeface="Calibri" panose="020F0502020204030204" pitchFamily="34" charset="0"/>
                <a:ea typeface="Calibri" panose="020F0502020204030204" pitchFamily="34" charset="0"/>
              </a:endParaRPr>
            </a:p>
          </p:txBody>
        </p:sp>
        <p:sp>
          <p:nvSpPr>
            <p:cNvPr id="19" name="Rectangle 18"/>
            <p:cNvSpPr/>
            <p:nvPr/>
          </p:nvSpPr>
          <p:spPr>
            <a:xfrm>
              <a:off x="0" y="2363470"/>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C</a:t>
              </a:r>
              <a:endParaRPr lang="en-US" sz="2400">
                <a:solidFill>
                  <a:srgbClr val="000000"/>
                </a:solidFill>
                <a:effectLst/>
                <a:latin typeface="Calibri" panose="020F0502020204030204" pitchFamily="34" charset="0"/>
                <a:ea typeface="Calibri" panose="020F0502020204030204" pitchFamily="34" charset="0"/>
              </a:endParaRPr>
            </a:p>
          </p:txBody>
        </p:sp>
        <p:sp>
          <p:nvSpPr>
            <p:cNvPr id="20" name="Rectangle 19"/>
            <p:cNvSpPr/>
            <p:nvPr/>
          </p:nvSpPr>
          <p:spPr>
            <a:xfrm>
              <a:off x="0" y="2774950"/>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400">
                  <a:solidFill>
                    <a:srgbClr val="000000"/>
                  </a:solidFill>
                  <a:effectLst/>
                  <a:latin typeface="Arial" panose="020B0604020202020204" pitchFamily="34" charset="0"/>
                  <a:ea typeface="Arial" panose="020B0604020202020204" pitchFamily="34" charset="0"/>
                </a:rPr>
                <a:t>E</a:t>
              </a:r>
              <a:endParaRPr lang="en-US" sz="24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3701756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7923180" y="1515290"/>
            <a:ext cx="3430620" cy="4560805"/>
          </a:xfrm>
        </p:spPr>
        <p:txBody>
          <a:bodyPr>
            <a:normAutofit lnSpcReduction="10000"/>
          </a:bodyPr>
          <a:lstStyle/>
          <a:p>
            <a:r>
              <a:rPr lang="en-US" sz="3200" dirty="0" smtClean="0">
                <a:latin typeface="Arial" panose="020B0604020202020204" pitchFamily="34" charset="0"/>
                <a:cs typeface="Arial" panose="020B0604020202020204" pitchFamily="34" charset="0"/>
              </a:rPr>
              <a:t>When a change in price, however large, change no changes in quantity demanded, it is known as perfectly inelastic demand</a:t>
            </a:r>
            <a:endParaRPr lang="en-US" sz="3200" dirty="0">
              <a:latin typeface="Arial" panose="020B0604020202020204" pitchFamily="34" charset="0"/>
              <a:cs typeface="Arial" panose="020B0604020202020204" pitchFamily="34" charset="0"/>
            </a:endParaRPr>
          </a:p>
        </p:txBody>
      </p:sp>
      <p:sp>
        <p:nvSpPr>
          <p:cNvPr id="5" name="Title 3"/>
          <p:cNvSpPr>
            <a:spLocks noGrp="1"/>
          </p:cNvSpPr>
          <p:nvPr>
            <p:ph type="title"/>
          </p:nvPr>
        </p:nvSpPr>
        <p:spPr>
          <a:xfrm>
            <a:off x="838200" y="365125"/>
            <a:ext cx="10515600" cy="636361"/>
          </a:xfrm>
        </p:spPr>
        <p:txBody>
          <a:bodyPr>
            <a:normAutofit fontScale="90000"/>
          </a:bodyPr>
          <a:lstStyle/>
          <a:p>
            <a:r>
              <a:rPr lang="en-US" dirty="0" smtClean="0">
                <a:latin typeface="Arial" panose="020B0604020202020204" pitchFamily="34" charset="0"/>
                <a:cs typeface="Arial" panose="020B0604020202020204" pitchFamily="34" charset="0"/>
              </a:rPr>
              <a:t>Elasticity of Demand Types-Graphical</a:t>
            </a:r>
            <a:endParaRPr lang="en-US" dirty="0">
              <a:latin typeface="Arial" panose="020B0604020202020204" pitchFamily="34" charset="0"/>
              <a:cs typeface="Arial" panose="020B0604020202020204" pitchFamily="34" charset="0"/>
            </a:endParaRPr>
          </a:p>
        </p:txBody>
      </p:sp>
      <p:grpSp>
        <p:nvGrpSpPr>
          <p:cNvPr id="27" name="Group 26"/>
          <p:cNvGrpSpPr/>
          <p:nvPr/>
        </p:nvGrpSpPr>
        <p:grpSpPr>
          <a:xfrm>
            <a:off x="838199" y="1585503"/>
            <a:ext cx="6119949" cy="4588873"/>
            <a:chOff x="0" y="0"/>
            <a:chExt cx="5416292" cy="3557905"/>
          </a:xfrm>
        </p:grpSpPr>
        <p:sp>
          <p:nvSpPr>
            <p:cNvPr id="28" name="Shape 178"/>
            <p:cNvSpPr/>
            <p:nvPr/>
          </p:nvSpPr>
          <p:spPr>
            <a:xfrm>
              <a:off x="251206" y="14605"/>
              <a:ext cx="76200" cy="3505200"/>
            </a:xfrm>
            <a:custGeom>
              <a:avLst/>
              <a:gdLst/>
              <a:ahLst/>
              <a:cxnLst/>
              <a:rect l="0" t="0" r="0" b="0"/>
              <a:pathLst>
                <a:path w="76200" h="3505200">
                  <a:moveTo>
                    <a:pt x="38100" y="0"/>
                  </a:moveTo>
                  <a:lnTo>
                    <a:pt x="76200" y="76200"/>
                  </a:lnTo>
                  <a:lnTo>
                    <a:pt x="44450" y="76200"/>
                  </a:lnTo>
                  <a:lnTo>
                    <a:pt x="44450" y="3505200"/>
                  </a:lnTo>
                  <a:lnTo>
                    <a:pt x="31750" y="3505200"/>
                  </a:lnTo>
                  <a:lnTo>
                    <a:pt x="31750" y="76200"/>
                  </a:lnTo>
                  <a:lnTo>
                    <a:pt x="0" y="76200"/>
                  </a:lnTo>
                  <a:lnTo>
                    <a:pt x="381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500"/>
            </a:p>
          </p:txBody>
        </p:sp>
        <p:sp>
          <p:nvSpPr>
            <p:cNvPr id="29" name="Shape 179"/>
            <p:cNvSpPr/>
            <p:nvPr/>
          </p:nvSpPr>
          <p:spPr>
            <a:xfrm>
              <a:off x="289306" y="3481705"/>
              <a:ext cx="3886200" cy="76200"/>
            </a:xfrm>
            <a:custGeom>
              <a:avLst/>
              <a:gdLst/>
              <a:ahLst/>
              <a:cxnLst/>
              <a:rect l="0" t="0" r="0" b="0"/>
              <a:pathLst>
                <a:path w="3886200" h="76200">
                  <a:moveTo>
                    <a:pt x="3810000" y="0"/>
                  </a:moveTo>
                  <a:lnTo>
                    <a:pt x="3886200" y="38100"/>
                  </a:lnTo>
                  <a:lnTo>
                    <a:pt x="3810000" y="76200"/>
                  </a:lnTo>
                  <a:lnTo>
                    <a:pt x="3810000" y="44450"/>
                  </a:lnTo>
                  <a:lnTo>
                    <a:pt x="0" y="44450"/>
                  </a:lnTo>
                  <a:lnTo>
                    <a:pt x="0" y="31750"/>
                  </a:lnTo>
                  <a:lnTo>
                    <a:pt x="3810000" y="31750"/>
                  </a:lnTo>
                  <a:lnTo>
                    <a:pt x="381000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sz="2500"/>
            </a:p>
          </p:txBody>
        </p:sp>
        <p:sp>
          <p:nvSpPr>
            <p:cNvPr id="30" name="Rectangle 29"/>
            <p:cNvSpPr/>
            <p:nvPr/>
          </p:nvSpPr>
          <p:spPr>
            <a:xfrm>
              <a:off x="2133981" y="0"/>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D</a:t>
              </a:r>
              <a:endParaRPr lang="en-US" sz="2500">
                <a:solidFill>
                  <a:srgbClr val="000000"/>
                </a:solidFill>
                <a:effectLst/>
                <a:latin typeface="Calibri" panose="020F0502020204030204" pitchFamily="34" charset="0"/>
                <a:ea typeface="Calibri" panose="020F0502020204030204" pitchFamily="34" charset="0"/>
              </a:endParaRPr>
            </a:p>
          </p:txBody>
        </p:sp>
        <p:sp>
          <p:nvSpPr>
            <p:cNvPr id="31" name="Shape 183"/>
            <p:cNvSpPr/>
            <p:nvPr/>
          </p:nvSpPr>
          <p:spPr>
            <a:xfrm>
              <a:off x="2118106" y="319405"/>
              <a:ext cx="0" cy="3200400"/>
            </a:xfrm>
            <a:custGeom>
              <a:avLst/>
              <a:gdLst/>
              <a:ahLst/>
              <a:cxnLst/>
              <a:rect l="0" t="0" r="0" b="0"/>
              <a:pathLst>
                <a:path h="3200400">
                  <a:moveTo>
                    <a:pt x="0" y="0"/>
                  </a:moveTo>
                  <a:lnTo>
                    <a:pt x="0" y="3200400"/>
                  </a:lnTo>
                </a:path>
              </a:pathLst>
            </a:custGeom>
            <a:ln w="12700" cap="flat">
              <a:round/>
            </a:ln>
          </p:spPr>
          <p:style>
            <a:lnRef idx="1">
              <a:srgbClr val="000000"/>
            </a:lnRef>
            <a:fillRef idx="0">
              <a:srgbClr val="000000">
                <a:alpha val="0"/>
              </a:srgbClr>
            </a:fillRef>
            <a:effectRef idx="0">
              <a:scrgbClr r="0" g="0" b="0"/>
            </a:effectRef>
            <a:fontRef idx="none"/>
          </p:style>
          <p:txBody>
            <a:bodyPr/>
            <a:lstStyle/>
            <a:p>
              <a:endParaRPr lang="en-US" sz="2500"/>
            </a:p>
          </p:txBody>
        </p:sp>
        <p:sp>
          <p:nvSpPr>
            <p:cNvPr id="32" name="Shape 184"/>
            <p:cNvSpPr/>
            <p:nvPr/>
          </p:nvSpPr>
          <p:spPr>
            <a:xfrm>
              <a:off x="2115312" y="1462405"/>
              <a:ext cx="917194" cy="462915"/>
            </a:xfrm>
            <a:custGeom>
              <a:avLst/>
              <a:gdLst/>
              <a:ahLst/>
              <a:cxnLst/>
              <a:rect l="0" t="0" r="0" b="0"/>
              <a:pathLst>
                <a:path w="917194" h="462915">
                  <a:moveTo>
                    <a:pt x="831977" y="0"/>
                  </a:moveTo>
                  <a:lnTo>
                    <a:pt x="917194" y="0"/>
                  </a:lnTo>
                  <a:lnTo>
                    <a:pt x="866013" y="68199"/>
                  </a:lnTo>
                  <a:lnTo>
                    <a:pt x="851810" y="39741"/>
                  </a:lnTo>
                  <a:lnTo>
                    <a:pt x="5588" y="462915"/>
                  </a:lnTo>
                  <a:lnTo>
                    <a:pt x="0" y="451485"/>
                  </a:lnTo>
                  <a:lnTo>
                    <a:pt x="846155" y="28408"/>
                  </a:lnTo>
                  <a:lnTo>
                    <a:pt x="831977" y="0"/>
                  </a:ln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en-US" sz="2500"/>
            </a:p>
          </p:txBody>
        </p:sp>
        <p:sp>
          <p:nvSpPr>
            <p:cNvPr id="33" name="Rectangle 32"/>
            <p:cNvSpPr/>
            <p:nvPr/>
          </p:nvSpPr>
          <p:spPr>
            <a:xfrm>
              <a:off x="2972181" y="762381"/>
              <a:ext cx="244411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Perfectly inelastic </a:t>
              </a:r>
              <a:endParaRPr lang="en-US" sz="2500">
                <a:solidFill>
                  <a:srgbClr val="000000"/>
                </a:solidFill>
                <a:effectLst/>
                <a:latin typeface="Calibri" panose="020F0502020204030204" pitchFamily="34" charset="0"/>
                <a:ea typeface="Calibri" panose="020F0502020204030204" pitchFamily="34" charset="0"/>
              </a:endParaRPr>
            </a:p>
          </p:txBody>
        </p:sp>
        <p:sp>
          <p:nvSpPr>
            <p:cNvPr id="34" name="Rectangle 33"/>
            <p:cNvSpPr/>
            <p:nvPr/>
          </p:nvSpPr>
          <p:spPr>
            <a:xfrm>
              <a:off x="2972181" y="1036701"/>
              <a:ext cx="1922479"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demand curve</a:t>
              </a:r>
              <a:endParaRPr lang="en-US" sz="2500">
                <a:solidFill>
                  <a:srgbClr val="000000"/>
                </a:solidFill>
                <a:effectLst/>
                <a:latin typeface="Calibri" panose="020F0502020204030204" pitchFamily="34" charset="0"/>
                <a:ea typeface="Calibri" panose="020F0502020204030204" pitchFamily="34" charset="0"/>
              </a:endParaRPr>
            </a:p>
          </p:txBody>
        </p:sp>
        <p:sp>
          <p:nvSpPr>
            <p:cNvPr id="35" name="Rectangle 34"/>
            <p:cNvSpPr/>
            <p:nvPr/>
          </p:nvSpPr>
          <p:spPr>
            <a:xfrm>
              <a:off x="0" y="990981"/>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P</a:t>
              </a:r>
              <a:endParaRPr lang="en-US" sz="2500">
                <a:solidFill>
                  <a:srgbClr val="000000"/>
                </a:solidFill>
                <a:effectLst/>
                <a:latin typeface="Calibri" panose="020F0502020204030204" pitchFamily="34" charset="0"/>
                <a:ea typeface="Calibri" panose="020F0502020204030204" pitchFamily="34" charset="0"/>
              </a:endParaRPr>
            </a:p>
          </p:txBody>
        </p:sp>
        <p:sp>
          <p:nvSpPr>
            <p:cNvPr id="36" name="Rectangle 35"/>
            <p:cNvSpPr/>
            <p:nvPr/>
          </p:nvSpPr>
          <p:spPr>
            <a:xfrm>
              <a:off x="0" y="1402461"/>
              <a:ext cx="219567"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R</a:t>
              </a:r>
              <a:endParaRPr lang="en-US" sz="2500">
                <a:solidFill>
                  <a:srgbClr val="000000"/>
                </a:solidFill>
                <a:effectLst/>
                <a:latin typeface="Calibri" panose="020F0502020204030204" pitchFamily="34" charset="0"/>
                <a:ea typeface="Calibri" panose="020F0502020204030204" pitchFamily="34" charset="0"/>
              </a:endParaRPr>
            </a:p>
          </p:txBody>
        </p:sp>
        <p:sp>
          <p:nvSpPr>
            <p:cNvPr id="37" name="Rectangle 36"/>
            <p:cNvSpPr/>
            <p:nvPr/>
          </p:nvSpPr>
          <p:spPr>
            <a:xfrm>
              <a:off x="0" y="1814195"/>
              <a:ext cx="84472"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I</a:t>
              </a:r>
              <a:endParaRPr lang="en-US" sz="2500">
                <a:solidFill>
                  <a:srgbClr val="000000"/>
                </a:solidFill>
                <a:effectLst/>
                <a:latin typeface="Calibri" panose="020F0502020204030204" pitchFamily="34" charset="0"/>
                <a:ea typeface="Calibri" panose="020F0502020204030204" pitchFamily="34" charset="0"/>
              </a:endParaRPr>
            </a:p>
          </p:txBody>
        </p:sp>
        <p:sp>
          <p:nvSpPr>
            <p:cNvPr id="38" name="Rectangle 37"/>
            <p:cNvSpPr/>
            <p:nvPr/>
          </p:nvSpPr>
          <p:spPr>
            <a:xfrm>
              <a:off x="0" y="2225675"/>
              <a:ext cx="219567" cy="339002"/>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C</a:t>
              </a:r>
              <a:endParaRPr lang="en-US" sz="2500">
                <a:solidFill>
                  <a:srgbClr val="000000"/>
                </a:solidFill>
                <a:effectLst/>
                <a:latin typeface="Calibri" panose="020F0502020204030204" pitchFamily="34" charset="0"/>
                <a:ea typeface="Calibri" panose="020F0502020204030204" pitchFamily="34" charset="0"/>
              </a:endParaRPr>
            </a:p>
          </p:txBody>
        </p:sp>
        <p:sp>
          <p:nvSpPr>
            <p:cNvPr id="39" name="Rectangle 38"/>
            <p:cNvSpPr/>
            <p:nvPr/>
          </p:nvSpPr>
          <p:spPr>
            <a:xfrm>
              <a:off x="0" y="2637155"/>
              <a:ext cx="202791" cy="339003"/>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2500">
                  <a:solidFill>
                    <a:srgbClr val="000000"/>
                  </a:solidFill>
                  <a:effectLst/>
                  <a:latin typeface="Arial" panose="020B0604020202020204" pitchFamily="34" charset="0"/>
                  <a:ea typeface="Arial" panose="020B0604020202020204" pitchFamily="34" charset="0"/>
                </a:rPr>
                <a:t>E</a:t>
              </a:r>
              <a:endParaRPr lang="en-US" sz="25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306993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Elasticity of Demand Measurement</a:t>
            </a:r>
            <a:endParaRPr lang="en-US" dirty="0">
              <a:latin typeface="Arial" panose="020B0604020202020204" pitchFamily="34" charset="0"/>
              <a:cs typeface="Arial" panose="020B0604020202020204" pitchFamily="34" charset="0"/>
            </a:endParaRPr>
          </a:p>
        </p:txBody>
      </p:sp>
      <p:pic>
        <p:nvPicPr>
          <p:cNvPr id="48" name="Content Placeholder 47"/>
          <p:cNvPicPr>
            <a:picLocks noGrp="1" noChangeAspect="1"/>
          </p:cNvPicPr>
          <p:nvPr>
            <p:ph idx="1"/>
          </p:nvPr>
        </p:nvPicPr>
        <p:blipFill>
          <a:blip r:embed="rId2"/>
          <a:stretch>
            <a:fillRect/>
          </a:stretch>
        </p:blipFill>
        <p:spPr>
          <a:xfrm>
            <a:off x="838201" y="2011680"/>
            <a:ext cx="9368245" cy="3304861"/>
          </a:xfrm>
          <a:prstGeom prst="rect">
            <a:avLst/>
          </a:prstGeom>
        </p:spPr>
      </p:pic>
    </p:spTree>
    <p:extLst>
      <p:ext uri="{BB962C8B-B14F-4D97-AF65-F5344CB8AC3E}">
        <p14:creationId xmlns:p14="http://schemas.microsoft.com/office/powerpoint/2010/main" val="20641485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50" y="293915"/>
            <a:ext cx="10032275" cy="726849"/>
          </a:xfrm>
        </p:spPr>
        <p:txBody>
          <a:bodyPr rtlCol="0">
            <a:normAutofit/>
          </a:bodyPr>
          <a:lstStyle/>
          <a:p>
            <a:pPr>
              <a:defRPr/>
            </a:pPr>
            <a:r>
              <a:rPr lang="en-US" sz="3600" b="1" dirty="0">
                <a:latin typeface="Arial" panose="020B0604020202020204" pitchFamily="34" charset="0"/>
                <a:cs typeface="Arial" panose="020B0604020202020204" pitchFamily="34" charset="0"/>
              </a:rPr>
              <a:t>Determinants of Price Elasticity of </a:t>
            </a:r>
            <a:r>
              <a:rPr lang="en-US" sz="3600" b="1" dirty="0" smtClean="0">
                <a:latin typeface="Arial" panose="020B0604020202020204" pitchFamily="34" charset="0"/>
                <a:cs typeface="Arial" panose="020B0604020202020204" pitchFamily="34" charset="0"/>
              </a:rPr>
              <a:t>Demand</a:t>
            </a:r>
            <a:endParaRPr lang="en-US" dirty="0" smtClean="0">
              <a:latin typeface="Arial" panose="020B0604020202020204" pitchFamily="34" charset="0"/>
              <a:cs typeface="Arial" panose="020B0604020202020204" pitchFamily="34" charset="0"/>
            </a:endParaRPr>
          </a:p>
        </p:txBody>
      </p:sp>
      <p:sp>
        <p:nvSpPr>
          <p:cNvPr id="3" name="Rectangle 2"/>
          <p:cNvSpPr/>
          <p:nvPr/>
        </p:nvSpPr>
        <p:spPr>
          <a:xfrm>
            <a:off x="661851" y="1020764"/>
            <a:ext cx="10293532" cy="5493812"/>
          </a:xfrm>
          <a:prstGeom prst="rect">
            <a:avLst/>
          </a:prstGeom>
        </p:spPr>
        <p:txBody>
          <a:bodyPr wrap="square">
            <a:spAutoFit/>
          </a:bodyPr>
          <a:lstStyle/>
          <a:p>
            <a:pPr>
              <a:defRPr/>
            </a:pPr>
            <a:r>
              <a:rPr lang="en-US" sz="2700" dirty="0">
                <a:latin typeface="Arial" panose="020B0604020202020204" pitchFamily="34" charset="0"/>
                <a:cs typeface="Arial" panose="020B0604020202020204" pitchFamily="34" charset="0"/>
              </a:rPr>
              <a:t>Various factors influence the price elasticity of demand. Here are some of them:</a:t>
            </a:r>
          </a:p>
          <a:p>
            <a:pPr>
              <a:defRPr/>
            </a:pPr>
            <a:endParaRPr lang="en-US" sz="2700" dirty="0">
              <a:latin typeface="Arial" panose="020B0604020202020204" pitchFamily="34" charset="0"/>
              <a:cs typeface="Arial" panose="020B0604020202020204" pitchFamily="34" charset="0"/>
            </a:endParaRPr>
          </a:p>
          <a:p>
            <a:pPr>
              <a:defRPr/>
            </a:pPr>
            <a:r>
              <a:rPr lang="en-US" sz="2700" dirty="0">
                <a:latin typeface="Arial" panose="020B0604020202020204" pitchFamily="34" charset="0"/>
                <a:cs typeface="Arial" panose="020B0604020202020204" pitchFamily="34" charset="0"/>
              </a:rPr>
              <a:t>1. </a:t>
            </a:r>
            <a:r>
              <a:rPr lang="en-US" sz="2700" dirty="0">
                <a:solidFill>
                  <a:schemeClr val="tx2">
                    <a:lumMod val="60000"/>
                    <a:lumOff val="40000"/>
                  </a:schemeClr>
                </a:solidFill>
                <a:latin typeface="Arial" panose="020B0604020202020204" pitchFamily="34" charset="0"/>
                <a:cs typeface="Arial" panose="020B0604020202020204" pitchFamily="34" charset="0"/>
              </a:rPr>
              <a:t># of Substitutes</a:t>
            </a:r>
            <a:r>
              <a:rPr lang="en-US" sz="2700" dirty="0">
                <a:latin typeface="Arial" panose="020B0604020202020204" pitchFamily="34" charset="0"/>
                <a:cs typeface="Arial" panose="020B0604020202020204" pitchFamily="34" charset="0"/>
              </a:rPr>
              <a:t>: If a product can be easily substituted, its demand is elastic, like </a:t>
            </a:r>
            <a:r>
              <a:rPr lang="en-US" sz="2700" dirty="0" smtClean="0">
                <a:latin typeface="Arial" panose="020B0604020202020204" pitchFamily="34" charset="0"/>
                <a:cs typeface="Arial" panose="020B0604020202020204" pitchFamily="34" charset="0"/>
              </a:rPr>
              <a:t>jeans</a:t>
            </a:r>
            <a:r>
              <a:rPr lang="en-US" sz="2700" dirty="0">
                <a:latin typeface="Arial" panose="020B0604020202020204" pitchFamily="34" charset="0"/>
                <a:cs typeface="Arial" panose="020B0604020202020204" pitchFamily="34" charset="0"/>
              </a:rPr>
              <a:t>. </a:t>
            </a:r>
            <a:r>
              <a:rPr lang="en-US" sz="2700" dirty="0">
                <a:latin typeface="Arial" panose="020B0604020202020204" pitchFamily="34" charset="0"/>
                <a:cs typeface="Arial" panose="020B0604020202020204" pitchFamily="34" charset="0"/>
              </a:rPr>
              <a:t>If a product cannot be substituted easily, its demand is inelastic, like gasoline.</a:t>
            </a:r>
          </a:p>
          <a:p>
            <a:pPr>
              <a:defRPr/>
            </a:pPr>
            <a:endParaRPr lang="en-US" sz="2700" dirty="0">
              <a:latin typeface="Arial" panose="020B0604020202020204" pitchFamily="34" charset="0"/>
              <a:cs typeface="Arial" panose="020B0604020202020204" pitchFamily="34" charset="0"/>
            </a:endParaRPr>
          </a:p>
          <a:p>
            <a:pPr>
              <a:defRPr/>
            </a:pPr>
            <a:r>
              <a:rPr lang="en-US" sz="2700" dirty="0">
                <a:latin typeface="Arial" panose="020B0604020202020204" pitchFamily="34" charset="0"/>
                <a:cs typeface="Arial" panose="020B0604020202020204" pitchFamily="34" charset="0"/>
              </a:rPr>
              <a:t>2. </a:t>
            </a:r>
            <a:r>
              <a:rPr lang="en-US" sz="2700" dirty="0">
                <a:solidFill>
                  <a:schemeClr val="tx2">
                    <a:lumMod val="60000"/>
                    <a:lumOff val="40000"/>
                  </a:schemeClr>
                </a:solidFill>
                <a:latin typeface="Arial" panose="020B0604020202020204" pitchFamily="34" charset="0"/>
                <a:cs typeface="Arial" panose="020B0604020202020204" pitchFamily="34" charset="0"/>
              </a:rPr>
              <a:t>Luxury Vs Necessity</a:t>
            </a:r>
            <a:r>
              <a:rPr lang="en-US" sz="2700" dirty="0">
                <a:latin typeface="Arial" panose="020B0604020202020204" pitchFamily="34" charset="0"/>
                <a:cs typeface="Arial" panose="020B0604020202020204" pitchFamily="34" charset="0"/>
              </a:rPr>
              <a:t>: Necessity's demand is usually inelastic because there are usually very few substitutes for necessities. Luxury product, such as leisure sail boats, are not needed in a daily bases. There are usually many substitutes for these products. So their demand is more elastic.</a:t>
            </a:r>
          </a:p>
          <a:p>
            <a:pPr>
              <a:defRPr/>
            </a:pPr>
            <a:endParaRPr lang="en-US" sz="2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62405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850" y="293916"/>
            <a:ext cx="9849395" cy="542108"/>
          </a:xfrm>
        </p:spPr>
        <p:txBody>
          <a:bodyPr rtlCol="0">
            <a:normAutofit fontScale="90000"/>
          </a:bodyPr>
          <a:lstStyle/>
          <a:p>
            <a:pPr>
              <a:defRPr/>
            </a:pPr>
            <a:r>
              <a:rPr lang="en-US" sz="3600" b="1" dirty="0">
                <a:latin typeface="Arial" panose="020B0604020202020204" pitchFamily="34" charset="0"/>
                <a:cs typeface="Arial" panose="020B0604020202020204" pitchFamily="34" charset="0"/>
              </a:rPr>
              <a:t>Determinants of Price Elasticity of </a:t>
            </a:r>
            <a:r>
              <a:rPr lang="en-US" sz="3600" b="1" dirty="0" smtClean="0">
                <a:latin typeface="Arial" panose="020B0604020202020204" pitchFamily="34" charset="0"/>
                <a:cs typeface="Arial" panose="020B0604020202020204" pitchFamily="34" charset="0"/>
              </a:rPr>
              <a:t>Demand</a:t>
            </a:r>
            <a:endParaRPr lang="en-US" dirty="0" smtClean="0">
              <a:latin typeface="Arial" panose="020B0604020202020204" pitchFamily="34" charset="0"/>
              <a:cs typeface="Arial" panose="020B0604020202020204" pitchFamily="34" charset="0"/>
            </a:endParaRPr>
          </a:p>
        </p:txBody>
      </p:sp>
      <p:sp>
        <p:nvSpPr>
          <p:cNvPr id="3" name="Rectangle 2"/>
          <p:cNvSpPr/>
          <p:nvPr/>
        </p:nvSpPr>
        <p:spPr>
          <a:xfrm>
            <a:off x="661851" y="1020764"/>
            <a:ext cx="10293532" cy="5693866"/>
          </a:xfrm>
          <a:prstGeom prst="rect">
            <a:avLst/>
          </a:prstGeom>
        </p:spPr>
        <p:txBody>
          <a:bodyPr wrap="square">
            <a:spAutoFit/>
          </a:bodyPr>
          <a:lstStyle/>
          <a:p>
            <a:pPr>
              <a:defRPr/>
            </a:pPr>
            <a:r>
              <a:rPr lang="en-US" sz="2800" dirty="0" smtClean="0">
                <a:latin typeface="Arial" panose="020B0604020202020204" pitchFamily="34" charset="0"/>
                <a:cs typeface="Arial" panose="020B0604020202020204" pitchFamily="34" charset="0"/>
              </a:rPr>
              <a:t>3</a:t>
            </a:r>
            <a:r>
              <a:rPr lang="en-US" sz="2800" dirty="0">
                <a:latin typeface="Arial" panose="020B0604020202020204" pitchFamily="34" charset="0"/>
                <a:cs typeface="Arial" panose="020B0604020202020204" pitchFamily="34" charset="0"/>
              </a:rPr>
              <a:t>. </a:t>
            </a:r>
            <a:r>
              <a:rPr lang="en-US" sz="2800" i="1" dirty="0">
                <a:solidFill>
                  <a:schemeClr val="tx2">
                    <a:lumMod val="60000"/>
                    <a:lumOff val="40000"/>
                  </a:schemeClr>
                </a:solidFill>
                <a:latin typeface="Arial" panose="020B0604020202020204" pitchFamily="34" charset="0"/>
                <a:cs typeface="Arial" panose="020B0604020202020204" pitchFamily="34" charset="0"/>
              </a:rPr>
              <a:t>Price/Income</a:t>
            </a:r>
            <a:r>
              <a:rPr lang="en-US" sz="2800" dirty="0">
                <a:solidFill>
                  <a:schemeClr val="tx2">
                    <a:lumMod val="60000"/>
                    <a:lumOff val="40000"/>
                  </a:schemeClr>
                </a:solidFill>
                <a:latin typeface="Arial" panose="020B0604020202020204" pitchFamily="34" charset="0"/>
                <a:cs typeface="Arial" panose="020B0604020202020204" pitchFamily="34" charset="0"/>
              </a:rPr>
              <a:t> Ratio: </a:t>
            </a:r>
            <a:r>
              <a:rPr lang="en-US" sz="2800" dirty="0">
                <a:latin typeface="Arial" panose="020B0604020202020204" pitchFamily="34" charset="0"/>
                <a:cs typeface="Arial" panose="020B0604020202020204" pitchFamily="34" charset="0"/>
              </a:rPr>
              <a:t>The larger the percentage of income spent on a good, the more elastic is its demand. A change in these products' price will be highly noticeable as  they affect consumers' budget with a bigger magnitude. Consumers will respond by cutting back more on these product when price increases. On the other hand, the smaller the percentage of income spent on a good, the less elastic is its demand.</a:t>
            </a:r>
          </a:p>
          <a:p>
            <a:pPr>
              <a:defRPr/>
            </a:pPr>
            <a:endParaRPr lang="en-US" sz="2800" dirty="0">
              <a:latin typeface="Arial" panose="020B0604020202020204" pitchFamily="34" charset="0"/>
              <a:cs typeface="Arial" panose="020B0604020202020204" pitchFamily="34" charset="0"/>
            </a:endParaRPr>
          </a:p>
          <a:p>
            <a:pPr>
              <a:defRPr/>
            </a:pPr>
            <a:r>
              <a:rPr lang="en-US" sz="2800" dirty="0">
                <a:latin typeface="Arial" panose="020B0604020202020204" pitchFamily="34" charset="0"/>
                <a:cs typeface="Arial" panose="020B0604020202020204" pitchFamily="34" charset="0"/>
              </a:rPr>
              <a:t>4. </a:t>
            </a:r>
            <a:r>
              <a:rPr lang="en-US" sz="2800" dirty="0">
                <a:solidFill>
                  <a:schemeClr val="tx2">
                    <a:lumMod val="60000"/>
                    <a:lumOff val="40000"/>
                  </a:schemeClr>
                </a:solidFill>
                <a:latin typeface="Arial" panose="020B0604020202020204" pitchFamily="34" charset="0"/>
                <a:cs typeface="Arial" panose="020B0604020202020204" pitchFamily="34" charset="0"/>
              </a:rPr>
              <a:t>Time lag</a:t>
            </a:r>
            <a:r>
              <a:rPr lang="en-US" sz="2800" dirty="0">
                <a:latin typeface="Arial" panose="020B0604020202020204" pitchFamily="34" charset="0"/>
                <a:cs typeface="Arial" panose="020B0604020202020204" pitchFamily="34" charset="0"/>
              </a:rPr>
              <a:t>: The longer the time after the price change, the more elastic will be the demand. It is because consumers are given more time to carry out their actions. A 1-day sale usually generate less sales change per day as a sale lasted for 2 weeks. </a:t>
            </a:r>
          </a:p>
        </p:txBody>
      </p:sp>
    </p:spTree>
    <p:extLst>
      <p:ext uri="{BB962C8B-B14F-4D97-AF65-F5344CB8AC3E}">
        <p14:creationId xmlns:p14="http://schemas.microsoft.com/office/powerpoint/2010/main" val="12218828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Text Box 4"/>
          <p:cNvSpPr txBox="1">
            <a:spLocks noGrp="1" noChangeArrowheads="1"/>
          </p:cNvSpPr>
          <p:nvPr>
            <p:ph idx="1"/>
          </p:nvPr>
        </p:nvSpPr>
        <p:spPr bwMode="auto">
          <a:xfrm>
            <a:off x="838200" y="1825625"/>
            <a:ext cx="10515600"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474A81"/>
                </a:solidFill>
              </a:rPr>
              <a:t>Example:  If the price of an </a:t>
            </a:r>
            <a:r>
              <a:rPr lang="en-US" altLang="en-US" b="1" dirty="0" smtClean="0">
                <a:solidFill>
                  <a:srgbClr val="474A81"/>
                </a:solidFill>
              </a:rPr>
              <a:t>Maize increases </a:t>
            </a:r>
            <a:r>
              <a:rPr lang="en-US" altLang="en-US" b="1" dirty="0">
                <a:solidFill>
                  <a:srgbClr val="474A81"/>
                </a:solidFill>
              </a:rPr>
              <a:t>from </a:t>
            </a:r>
            <a:r>
              <a:rPr lang="en-US" altLang="en-US" b="1" dirty="0" smtClean="0">
                <a:solidFill>
                  <a:srgbClr val="474A81"/>
                </a:solidFill>
              </a:rPr>
              <a:t>MK2.00 </a:t>
            </a:r>
            <a:r>
              <a:rPr lang="en-US" altLang="en-US" b="1" dirty="0">
                <a:solidFill>
                  <a:srgbClr val="474A81"/>
                </a:solidFill>
              </a:rPr>
              <a:t>to </a:t>
            </a:r>
            <a:r>
              <a:rPr lang="en-US" altLang="en-US" b="1" dirty="0" smtClean="0">
                <a:solidFill>
                  <a:srgbClr val="474A81"/>
                </a:solidFill>
              </a:rPr>
              <a:t>MK2.20 </a:t>
            </a:r>
            <a:r>
              <a:rPr lang="en-US" altLang="en-US" b="1" dirty="0">
                <a:solidFill>
                  <a:srgbClr val="474A81"/>
                </a:solidFill>
              </a:rPr>
              <a:t>and the amount you buy falls from 10 to 8 </a:t>
            </a:r>
            <a:r>
              <a:rPr lang="en-US" altLang="en-US" b="1" dirty="0" smtClean="0">
                <a:solidFill>
                  <a:srgbClr val="474A81"/>
                </a:solidFill>
              </a:rPr>
              <a:t>Kgs </a:t>
            </a:r>
            <a:r>
              <a:rPr lang="en-US" altLang="en-US" b="1" dirty="0">
                <a:solidFill>
                  <a:srgbClr val="474A81"/>
                </a:solidFill>
              </a:rPr>
              <a:t>then your elasticity of demand would be calculated as:</a:t>
            </a:r>
          </a:p>
        </p:txBody>
      </p:sp>
      <p:graphicFrame>
        <p:nvGraphicFramePr>
          <p:cNvPr id="5" name="Object 5"/>
          <p:cNvGraphicFramePr>
            <a:graphicFrameLocks noChangeAspect="1"/>
          </p:cNvGraphicFramePr>
          <p:nvPr>
            <p:extLst>
              <p:ext uri="{D42A27DB-BD31-4B8C-83A1-F6EECF244321}">
                <p14:modId xmlns:p14="http://schemas.microsoft.com/office/powerpoint/2010/main" val="1632500226"/>
              </p:ext>
            </p:extLst>
          </p:nvPr>
        </p:nvGraphicFramePr>
        <p:xfrm>
          <a:off x="1469571" y="3524794"/>
          <a:ext cx="6188830" cy="2039983"/>
        </p:xfrm>
        <a:graphic>
          <a:graphicData uri="http://schemas.openxmlformats.org/presentationml/2006/ole">
            <mc:AlternateContent xmlns:mc="http://schemas.openxmlformats.org/markup-compatibility/2006">
              <mc:Choice xmlns:v="urn:schemas-microsoft-com:vml" Requires="v">
                <p:oleObj spid="_x0000_s5149" name="Equation" r:id="rId3" imgW="2311200" imgH="761760" progId="Equation.3">
                  <p:embed/>
                </p:oleObj>
              </mc:Choice>
              <mc:Fallback>
                <p:oleObj name="Equation" r:id="rId3" imgW="2311200" imgH="761760" progId="Equation.3">
                  <p:embed/>
                  <p:pic>
                    <p:nvPicPr>
                      <p:cNvPr id="1638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9571" y="3524794"/>
                        <a:ext cx="6188830" cy="2039983"/>
                      </a:xfrm>
                      <a:prstGeom prst="rect">
                        <a:avLst/>
                      </a:prstGeom>
                      <a:noFill/>
                      <a:ln w="44450">
                        <a:solidFill>
                          <a:schemeClr val="tx1"/>
                        </a:solidFill>
                        <a:miter lim="800000"/>
                        <a:headEnd/>
                        <a:tailEnd/>
                      </a:ln>
                      <a:effectLst/>
                    </p:spPr>
                  </p:pic>
                </p:oleObj>
              </mc:Fallback>
            </mc:AlternateContent>
          </a:graphicData>
        </a:graphic>
      </p:graphicFrame>
    </p:spTree>
    <p:extLst>
      <p:ext uri="{BB962C8B-B14F-4D97-AF65-F5344CB8AC3E}">
        <p14:creationId xmlns:p14="http://schemas.microsoft.com/office/powerpoint/2010/main" val="313868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ppt_h/2"/>
                                          </p:val>
                                        </p:tav>
                                        <p:tav tm="100000">
                                          <p:val>
                                            <p:strVal val="#ppt_y"/>
                                          </p:val>
                                        </p:tav>
                                      </p:tavLst>
                                    </p:anim>
                                    <p:anim calcmode="lin" valueType="num">
                                      <p:cBhvr>
                                        <p:cTn id="15" dur="500" fill="hold"/>
                                        <p:tgtEl>
                                          <p:spTgt spid="5"/>
                                        </p:tgtEl>
                                        <p:attrNameLst>
                                          <p:attrName>ppt_w</p:attrName>
                                        </p:attrNameLst>
                                      </p:cBhvr>
                                      <p:tavLst>
                                        <p:tav tm="0">
                                          <p:val>
                                            <p:strVal val="#ppt_w"/>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7984"/>
          </a:xfrm>
        </p:spPr>
        <p:txBody>
          <a:bodyPr>
            <a:normAutofit fontScale="90000"/>
          </a:bodyPr>
          <a:lstStyle/>
          <a:p>
            <a:endParaRPr lang="en-US" dirty="0"/>
          </a:p>
        </p:txBody>
      </p:sp>
      <p:graphicFrame>
        <p:nvGraphicFramePr>
          <p:cNvPr id="4" name="Object 5"/>
          <p:cNvGraphicFramePr>
            <a:graphicFrameLocks noGrp="1"/>
          </p:cNvGraphicFramePr>
          <p:nvPr>
            <p:ph idx="1"/>
            <p:extLst>
              <p:ext uri="{D42A27DB-BD31-4B8C-83A1-F6EECF244321}">
                <p14:modId xmlns:p14="http://schemas.microsoft.com/office/powerpoint/2010/main" val="3468009783"/>
              </p:ext>
            </p:extLst>
          </p:nvPr>
        </p:nvGraphicFramePr>
        <p:xfrm>
          <a:off x="822960" y="998650"/>
          <a:ext cx="7590246" cy="1613921"/>
        </p:xfrm>
        <a:graphic>
          <a:graphicData uri="http://schemas.openxmlformats.org/presentationml/2006/ole">
            <mc:AlternateContent xmlns:mc="http://schemas.openxmlformats.org/markup-compatibility/2006">
              <mc:Choice xmlns:v="urn:schemas-microsoft-com:vml" Requires="v">
                <p:oleObj spid="_x0000_s6198" name="Equation" r:id="rId3" imgW="3911400" imgH="431640" progId="Equation.3">
                  <p:embed/>
                </p:oleObj>
              </mc:Choice>
              <mc:Fallback>
                <p:oleObj name="Equation" r:id="rId3" imgW="3911400" imgH="431640" progId="Equation.3">
                  <p:embed/>
                  <p:pic>
                    <p:nvPicPr>
                      <p:cNvPr id="216069"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 y="998650"/>
                        <a:ext cx="7590246" cy="1613921"/>
                      </a:xfrm>
                      <a:prstGeom prst="rect">
                        <a:avLst/>
                      </a:prstGeom>
                      <a:noFill/>
                      <a:ln>
                        <a:noFill/>
                      </a:ln>
                      <a:effectLst/>
                    </p:spPr>
                  </p:pic>
                </p:oleObj>
              </mc:Fallback>
            </mc:AlternateContent>
          </a:graphicData>
        </a:graphic>
      </p:graphicFrame>
      <p:sp>
        <p:nvSpPr>
          <p:cNvPr id="5" name="Text Box 3"/>
          <p:cNvSpPr txBox="1">
            <a:spLocks noChangeArrowheads="1"/>
          </p:cNvSpPr>
          <p:nvPr/>
        </p:nvSpPr>
        <p:spPr bwMode="auto">
          <a:xfrm>
            <a:off x="761999" y="2895601"/>
            <a:ext cx="1051560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b="1" dirty="0">
                <a:solidFill>
                  <a:srgbClr val="474A81"/>
                </a:solidFill>
              </a:rPr>
              <a:t>Example:  If the price of an </a:t>
            </a:r>
            <a:r>
              <a:rPr lang="en-US" altLang="en-US" sz="2800" b="1" dirty="0" smtClean="0">
                <a:solidFill>
                  <a:srgbClr val="474A81"/>
                </a:solidFill>
              </a:rPr>
              <a:t>Maize increases from MK2.00 </a:t>
            </a:r>
            <a:r>
              <a:rPr lang="en-US" altLang="en-US" sz="2800" b="1" dirty="0">
                <a:solidFill>
                  <a:srgbClr val="474A81"/>
                </a:solidFill>
              </a:rPr>
              <a:t>to </a:t>
            </a:r>
            <a:r>
              <a:rPr lang="en-US" altLang="en-US" sz="2800" b="1" dirty="0" smtClean="0">
                <a:solidFill>
                  <a:srgbClr val="474A81"/>
                </a:solidFill>
              </a:rPr>
              <a:t>MK2.20 </a:t>
            </a:r>
            <a:r>
              <a:rPr lang="en-US" altLang="en-US" sz="2800" b="1" dirty="0">
                <a:solidFill>
                  <a:srgbClr val="474A81"/>
                </a:solidFill>
              </a:rPr>
              <a:t>and the amount you buy falls from 10 to 8 </a:t>
            </a:r>
            <a:r>
              <a:rPr lang="en-US" altLang="en-US" sz="2800" b="1" dirty="0" smtClean="0">
                <a:solidFill>
                  <a:srgbClr val="474A81"/>
                </a:solidFill>
              </a:rPr>
              <a:t>Kgs </a:t>
            </a:r>
            <a:r>
              <a:rPr lang="en-US" altLang="en-US" sz="2800" b="1" dirty="0">
                <a:solidFill>
                  <a:srgbClr val="474A81"/>
                </a:solidFill>
              </a:rPr>
              <a:t>the your elasticity of demand, using the </a:t>
            </a:r>
            <a:r>
              <a:rPr lang="en-US" altLang="en-US" sz="2800" b="1" dirty="0">
                <a:solidFill>
                  <a:srgbClr val="B0001D"/>
                </a:solidFill>
              </a:rPr>
              <a:t>midpoint formula,</a:t>
            </a:r>
            <a:r>
              <a:rPr lang="en-US" altLang="en-US" sz="2800" b="1" dirty="0">
                <a:solidFill>
                  <a:srgbClr val="474A81"/>
                </a:solidFill>
              </a:rPr>
              <a:t> would be calculated as:</a:t>
            </a:r>
            <a:endParaRPr lang="en-US" altLang="en-US" sz="2800" b="1" dirty="0">
              <a:solidFill>
                <a:srgbClr val="A50021"/>
              </a:solidFill>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2635035029"/>
              </p:ext>
            </p:extLst>
          </p:nvPr>
        </p:nvGraphicFramePr>
        <p:xfrm>
          <a:off x="1874838" y="4589463"/>
          <a:ext cx="5614533" cy="1949711"/>
        </p:xfrm>
        <a:graphic>
          <a:graphicData uri="http://schemas.openxmlformats.org/presentationml/2006/ole">
            <mc:AlternateContent xmlns:mc="http://schemas.openxmlformats.org/markup-compatibility/2006">
              <mc:Choice xmlns:v="urn:schemas-microsoft-com:vml" Requires="v">
                <p:oleObj spid="_x0000_s6199" name="Equation" r:id="rId5" imgW="2336760" imgH="812520" progId="Equation.3">
                  <p:embed/>
                </p:oleObj>
              </mc:Choice>
              <mc:Fallback>
                <p:oleObj name="Equation" r:id="rId5" imgW="2336760" imgH="812520" progId="Equation.3">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4838" y="4589463"/>
                        <a:ext cx="5614533" cy="1949711"/>
                      </a:xfrm>
                      <a:prstGeom prst="rect">
                        <a:avLst/>
                      </a:prstGeom>
                      <a:noFill/>
                      <a:ln w="44450">
                        <a:solidFill>
                          <a:schemeClr val="tx1"/>
                        </a:solidFill>
                        <a:miter lim="800000"/>
                        <a:headEnd/>
                        <a:tailEnd/>
                      </a:ln>
                      <a:effectLst/>
                    </p:spPr>
                  </p:pic>
                </p:oleObj>
              </mc:Fallback>
            </mc:AlternateContent>
          </a:graphicData>
        </a:graphic>
      </p:graphicFrame>
    </p:spTree>
    <p:extLst>
      <p:ext uri="{BB962C8B-B14F-4D97-AF65-F5344CB8AC3E}">
        <p14:creationId xmlns:p14="http://schemas.microsoft.com/office/powerpoint/2010/main" val="382870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ppt_h/2"/>
                                          </p:val>
                                        </p:tav>
                                        <p:tav tm="100000">
                                          <p:val>
                                            <p:strVal val="#ppt_y"/>
                                          </p:val>
                                        </p:tav>
                                      </p:tavLst>
                                    </p:anim>
                                    <p:anim calcmode="lin" valueType="num">
                                      <p:cBhvr>
                                        <p:cTn id="20" dur="500" fill="hold"/>
                                        <p:tgtEl>
                                          <p:spTgt spid="7"/>
                                        </p:tgtEl>
                                        <p:attrNameLst>
                                          <p:attrName>ppt_w</p:attrName>
                                        </p:attrNameLst>
                                      </p:cBhvr>
                                      <p:tavLst>
                                        <p:tav tm="0">
                                          <p:val>
                                            <p:strVal val="#ppt_w"/>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0" name="Rectangle 6"/>
          <p:cNvSpPr>
            <a:spLocks noGrp="1" noChangeArrowheads="1"/>
          </p:cNvSpPr>
          <p:nvPr>
            <p:ph type="title"/>
          </p:nvPr>
        </p:nvSpPr>
        <p:spPr>
          <a:noFill/>
          <a:ln/>
        </p:spPr>
        <p:txBody>
          <a:bodyPr/>
          <a:lstStyle/>
          <a:p>
            <a:pPr algn="ctr"/>
            <a:r>
              <a:rPr lang="en-US" altLang="en-US" sz="4000" dirty="0">
                <a:solidFill>
                  <a:srgbClr val="7A0014"/>
                </a:solidFill>
                <a:latin typeface="Arial" panose="020B0604020202020204" pitchFamily="34" charset="0"/>
                <a:cs typeface="Arial" panose="020B0604020202020204" pitchFamily="34" charset="0"/>
              </a:rPr>
              <a:t>Income Elasticity of Demand</a:t>
            </a:r>
            <a:endParaRPr lang="en-US" altLang="en-US" sz="4000" dirty="0">
              <a:solidFill>
                <a:srgbClr val="A50021"/>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57351" name="Rectangle 7"/>
          <p:cNvSpPr>
            <a:spLocks noGrp="1" noChangeArrowheads="1"/>
          </p:cNvSpPr>
          <p:nvPr>
            <p:ph type="body" idx="1"/>
          </p:nvPr>
        </p:nvSpPr>
        <p:spPr>
          <a:noFill/>
          <a:ln/>
        </p:spPr>
        <p:txBody>
          <a:bodyPr>
            <a:normAutofit/>
          </a:bodyPr>
          <a:lstStyle/>
          <a:p>
            <a:pPr>
              <a:buClr>
                <a:srgbClr val="F09A0E"/>
              </a:buClr>
              <a:buFont typeface="Monotype Sorts" pitchFamily="-2" charset="2"/>
              <a:buChar char="u"/>
            </a:pPr>
            <a:r>
              <a:rPr lang="en-US" altLang="en-US" sz="3200" dirty="0">
                <a:solidFill>
                  <a:srgbClr val="B0001D"/>
                </a:solidFill>
                <a:latin typeface="Arial" panose="020B0604020202020204" pitchFamily="34" charset="0"/>
                <a:cs typeface="Arial" panose="020B0604020202020204" pitchFamily="34" charset="0"/>
              </a:rPr>
              <a:t>Income elasticity of demand</a:t>
            </a:r>
            <a:r>
              <a:rPr lang="en-US" altLang="en-US" sz="3200" dirty="0">
                <a:solidFill>
                  <a:srgbClr val="474A81"/>
                </a:solidFill>
                <a:latin typeface="Arial" panose="020B0604020202020204" pitchFamily="34" charset="0"/>
                <a:cs typeface="Arial" panose="020B0604020202020204" pitchFamily="34" charset="0"/>
              </a:rPr>
              <a:t> measures how much the quantity demanded of a good responds to a change in consumers’ income. </a:t>
            </a:r>
          </a:p>
          <a:p>
            <a:pPr>
              <a:buClr>
                <a:srgbClr val="F09A0E"/>
              </a:buClr>
              <a:buFont typeface="Monotype Sorts" pitchFamily="-2" charset="2"/>
              <a:buChar char="u"/>
            </a:pPr>
            <a:r>
              <a:rPr lang="en-US" altLang="en-US" sz="3200" dirty="0">
                <a:solidFill>
                  <a:srgbClr val="474A81"/>
                </a:solidFill>
                <a:latin typeface="Arial" panose="020B0604020202020204" pitchFamily="34" charset="0"/>
                <a:cs typeface="Arial" panose="020B0604020202020204" pitchFamily="34" charset="0"/>
              </a:rPr>
              <a:t>It is computed as the percentage change in the quantity demanded divided by the percentage change in income.</a:t>
            </a:r>
          </a:p>
        </p:txBody>
      </p:sp>
    </p:spTree>
    <p:extLst>
      <p:ext uri="{BB962C8B-B14F-4D97-AF65-F5344CB8AC3E}">
        <p14:creationId xmlns:p14="http://schemas.microsoft.com/office/powerpoint/2010/main" val="2362247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51">
                                            <p:txEl>
                                              <p:pRg st="0" end="0"/>
                                            </p:txEl>
                                          </p:spTgt>
                                        </p:tgtEl>
                                        <p:attrNameLst>
                                          <p:attrName>style.visibility</p:attrName>
                                        </p:attrNameLst>
                                      </p:cBhvr>
                                      <p:to>
                                        <p:strVal val="visible"/>
                                      </p:to>
                                    </p:set>
                                    <p:animEffect transition="in" filter="wipe(left)">
                                      <p:cBhvr>
                                        <p:cTn id="7" dur="500"/>
                                        <p:tgtEl>
                                          <p:spTgt spid="57351">
                                            <p:txEl>
                                              <p:pRg st="0" end="0"/>
                                            </p:txEl>
                                          </p:spTgt>
                                        </p:tgtEl>
                                      </p:cBhvr>
                                    </p:animEffect>
                                  </p:childTnLst>
                                  <p:subTnLst>
                                    <p:animClr clrSpc="rgb" dir="cw">
                                      <p:cBhvr override="childStyle">
                                        <p:cTn dur="1" fill="hold" display="0" masterRel="nextClick" afterEffect="1"/>
                                        <p:tgtEl>
                                          <p:spTgt spid="57351">
                                            <p:txEl>
                                              <p:pRg st="0" end="0"/>
                                            </p:txEl>
                                          </p:spTgt>
                                        </p:tgtEl>
                                        <p:attrNameLst>
                                          <p:attrName>ppt_c</p:attrName>
                                        </p:attrNameLst>
                                      </p:cBhvr>
                                      <p:to>
                                        <a:schemeClr val="bg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51">
                                            <p:txEl>
                                              <p:pRg st="1" end="1"/>
                                            </p:txEl>
                                          </p:spTgt>
                                        </p:tgtEl>
                                        <p:attrNameLst>
                                          <p:attrName>style.visibility</p:attrName>
                                        </p:attrNameLst>
                                      </p:cBhvr>
                                      <p:to>
                                        <p:strVal val="visible"/>
                                      </p:to>
                                    </p:set>
                                    <p:animEffect transition="in" filter="wipe(left)">
                                      <p:cBhvr>
                                        <p:cTn id="12" dur="500"/>
                                        <p:tgtEl>
                                          <p:spTgt spid="57351">
                                            <p:txEl>
                                              <p:pRg st="1" end="1"/>
                                            </p:txEl>
                                          </p:spTgt>
                                        </p:tgtEl>
                                      </p:cBhvr>
                                    </p:animEffect>
                                  </p:childTnLst>
                                  <p:subTnLst>
                                    <p:animClr clrSpc="rgb" dir="cw">
                                      <p:cBhvr override="childStyle">
                                        <p:cTn dur="1" fill="hold" display="0" masterRel="nextClick" afterEffect="1"/>
                                        <p:tgtEl>
                                          <p:spTgt spid="57351">
                                            <p:txEl>
                                              <p:pRg st="1" end="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6" name="Rectangle 6"/>
          <p:cNvSpPr>
            <a:spLocks noGrp="1" noChangeArrowheads="1"/>
          </p:cNvSpPr>
          <p:nvPr>
            <p:ph type="title"/>
          </p:nvPr>
        </p:nvSpPr>
        <p:spPr>
          <a:xfrm>
            <a:off x="1676400" y="228601"/>
            <a:ext cx="8915400" cy="1147763"/>
          </a:xfrm>
          <a:noFill/>
          <a:ln/>
        </p:spPr>
        <p:txBody>
          <a:bodyPr/>
          <a:lstStyle/>
          <a:p>
            <a:pPr algn="ctr"/>
            <a:r>
              <a:rPr lang="en-US" altLang="en-US" sz="4000" dirty="0">
                <a:solidFill>
                  <a:srgbClr val="7A0014"/>
                </a:solidFill>
                <a:latin typeface="Arial" panose="020B0604020202020204" pitchFamily="34" charset="0"/>
                <a:cs typeface="Arial" panose="020B0604020202020204" pitchFamily="34" charset="0"/>
              </a:rPr>
              <a:t> Computing Income Elasticity</a:t>
            </a:r>
            <a:endParaRPr lang="en-US" altLang="en-US" sz="4000" dirty="0">
              <a:solidFill>
                <a:srgbClr val="A50021"/>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grpSp>
        <p:nvGrpSpPr>
          <p:cNvPr id="61454" name="Group 14"/>
          <p:cNvGrpSpPr>
            <a:grpSpLocks/>
          </p:cNvGrpSpPr>
          <p:nvPr/>
        </p:nvGrpSpPr>
        <p:grpSpPr bwMode="auto">
          <a:xfrm>
            <a:off x="1524000" y="2209801"/>
            <a:ext cx="9144000" cy="1692275"/>
            <a:chOff x="0" y="1392"/>
            <a:chExt cx="5760" cy="1066"/>
          </a:xfrm>
        </p:grpSpPr>
        <p:sp>
          <p:nvSpPr>
            <p:cNvPr id="61449" name="Text Box 9"/>
            <p:cNvSpPr txBox="1">
              <a:spLocks noChangeArrowheads="1"/>
            </p:cNvSpPr>
            <p:nvPr/>
          </p:nvSpPr>
          <p:spPr bwMode="auto">
            <a:xfrm>
              <a:off x="0" y="1632"/>
              <a:ext cx="2496" cy="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en-US" sz="3200" b="1" dirty="0">
                  <a:solidFill>
                    <a:srgbClr val="000099"/>
                  </a:solidFill>
                  <a:latin typeface="Tahoma" panose="020B0604030504040204" pitchFamily="34" charset="0"/>
                </a:rPr>
                <a:t>Income Elasticity</a:t>
              </a:r>
            </a:p>
            <a:p>
              <a:pPr algn="ctr">
                <a:lnSpc>
                  <a:spcPct val="80000"/>
                </a:lnSpc>
              </a:pPr>
              <a:r>
                <a:rPr lang="en-US" altLang="en-US" sz="3200" b="1" dirty="0">
                  <a:solidFill>
                    <a:srgbClr val="000099"/>
                  </a:solidFill>
                  <a:latin typeface="Tahoma" panose="020B0604030504040204" pitchFamily="34" charset="0"/>
                </a:rPr>
                <a:t>of Demand</a:t>
              </a:r>
              <a:endParaRPr lang="en-US" altLang="en-US" sz="3200" dirty="0"/>
            </a:p>
          </p:txBody>
        </p:sp>
        <p:sp>
          <p:nvSpPr>
            <p:cNvPr id="61450" name="Text Box 10"/>
            <p:cNvSpPr txBox="1">
              <a:spLocks noChangeArrowheads="1"/>
            </p:cNvSpPr>
            <p:nvPr/>
          </p:nvSpPr>
          <p:spPr bwMode="auto">
            <a:xfrm>
              <a:off x="2832" y="1392"/>
              <a:ext cx="2928"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en-US" sz="2800" b="1">
                  <a:solidFill>
                    <a:srgbClr val="000099"/>
                  </a:solidFill>
                  <a:latin typeface="Tahoma" panose="020B0604030504040204" pitchFamily="34" charset="0"/>
                </a:rPr>
                <a:t>Percentage Change </a:t>
              </a:r>
            </a:p>
            <a:p>
              <a:pPr algn="ctr">
                <a:lnSpc>
                  <a:spcPct val="80000"/>
                </a:lnSpc>
              </a:pPr>
              <a:r>
                <a:rPr lang="en-US" altLang="en-US" sz="2800" b="1">
                  <a:solidFill>
                    <a:srgbClr val="000099"/>
                  </a:solidFill>
                  <a:latin typeface="Tahoma" panose="020B0604030504040204" pitchFamily="34" charset="0"/>
                </a:rPr>
                <a:t>in Quantity Demanded</a:t>
              </a:r>
              <a:endParaRPr lang="en-US" altLang="en-US" sz="3200"/>
            </a:p>
          </p:txBody>
        </p:sp>
        <p:sp>
          <p:nvSpPr>
            <p:cNvPr id="61451" name="Text Box 11"/>
            <p:cNvSpPr txBox="1">
              <a:spLocks noChangeArrowheads="1"/>
            </p:cNvSpPr>
            <p:nvPr/>
          </p:nvSpPr>
          <p:spPr bwMode="auto">
            <a:xfrm>
              <a:off x="2832" y="1968"/>
              <a:ext cx="2928" cy="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en-US" sz="2800" b="1">
                  <a:solidFill>
                    <a:srgbClr val="000099"/>
                  </a:solidFill>
                  <a:latin typeface="Tahoma" panose="020B0604030504040204" pitchFamily="34" charset="0"/>
                </a:rPr>
                <a:t>Percentage Change</a:t>
              </a:r>
            </a:p>
            <a:p>
              <a:pPr algn="ctr">
                <a:lnSpc>
                  <a:spcPct val="80000"/>
                </a:lnSpc>
              </a:pPr>
              <a:r>
                <a:rPr lang="en-US" altLang="en-US" sz="2800" b="1">
                  <a:solidFill>
                    <a:srgbClr val="000099"/>
                  </a:solidFill>
                  <a:latin typeface="Tahoma" panose="020B0604030504040204" pitchFamily="34" charset="0"/>
                </a:rPr>
                <a:t> in Income</a:t>
              </a:r>
              <a:endParaRPr lang="en-US" altLang="en-US" sz="3200"/>
            </a:p>
          </p:txBody>
        </p:sp>
        <p:sp>
          <p:nvSpPr>
            <p:cNvPr id="61452" name="Text Box 12"/>
            <p:cNvSpPr txBox="1">
              <a:spLocks noChangeArrowheads="1"/>
            </p:cNvSpPr>
            <p:nvPr/>
          </p:nvSpPr>
          <p:spPr bwMode="auto">
            <a:xfrm>
              <a:off x="2400" y="1728"/>
              <a:ext cx="576"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en-US" sz="3600" b="1">
                  <a:solidFill>
                    <a:srgbClr val="000099"/>
                  </a:solidFill>
                  <a:latin typeface="Tahoma" panose="020B0604030504040204" pitchFamily="34" charset="0"/>
                </a:rPr>
                <a:t>=</a:t>
              </a:r>
              <a:endParaRPr lang="en-US" altLang="en-US" sz="3200" b="1">
                <a:solidFill>
                  <a:srgbClr val="000099"/>
                </a:solidFill>
                <a:latin typeface="Tahoma" panose="020B0604030504040204" pitchFamily="34" charset="0"/>
              </a:endParaRPr>
            </a:p>
            <a:p>
              <a:pPr algn="ctr">
                <a:lnSpc>
                  <a:spcPct val="80000"/>
                </a:lnSpc>
              </a:pPr>
              <a:endParaRPr lang="en-US" altLang="en-US" sz="3200"/>
            </a:p>
          </p:txBody>
        </p:sp>
        <p:sp>
          <p:nvSpPr>
            <p:cNvPr id="61453" name="Line 13"/>
            <p:cNvSpPr>
              <a:spLocks noChangeShapeType="1"/>
            </p:cNvSpPr>
            <p:nvPr/>
          </p:nvSpPr>
          <p:spPr bwMode="auto">
            <a:xfrm>
              <a:off x="2976" y="1920"/>
              <a:ext cx="2640" cy="0"/>
            </a:xfrm>
            <a:prstGeom prst="line">
              <a:avLst/>
            </a:prstGeom>
            <a:noFill/>
            <a:ln w="12700">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086107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54"/>
                                        </p:tgtEl>
                                        <p:attrNameLst>
                                          <p:attrName>style.visibility</p:attrName>
                                        </p:attrNameLst>
                                      </p:cBhvr>
                                      <p:to>
                                        <p:strVal val="visible"/>
                                      </p:to>
                                    </p:set>
                                    <p:animEffect transition="in" filter="dissolve">
                                      <p:cBhvr>
                                        <p:cTn id="7" dur="500"/>
                                        <p:tgtEl>
                                          <p:spTgt spid="61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4" name="Rectangle 6"/>
          <p:cNvSpPr>
            <a:spLocks noGrp="1" noChangeArrowheads="1"/>
          </p:cNvSpPr>
          <p:nvPr>
            <p:ph type="title"/>
          </p:nvPr>
        </p:nvSpPr>
        <p:spPr>
          <a:noFill/>
          <a:ln/>
        </p:spPr>
        <p:txBody>
          <a:bodyPr/>
          <a:lstStyle/>
          <a:p>
            <a:pPr algn="ctr"/>
            <a:r>
              <a:rPr lang="en-US" altLang="en-US" sz="4000" dirty="0">
                <a:solidFill>
                  <a:srgbClr val="7A0014"/>
                </a:solidFill>
                <a:latin typeface="Arial" panose="020B0604020202020204" pitchFamily="34" charset="0"/>
                <a:cs typeface="Arial" panose="020B0604020202020204" pitchFamily="34" charset="0"/>
              </a:rPr>
              <a:t>Income Elasticity</a:t>
            </a:r>
            <a:br>
              <a:rPr lang="en-US" altLang="en-US" sz="4000" dirty="0">
                <a:solidFill>
                  <a:srgbClr val="7A0014"/>
                </a:solidFill>
                <a:latin typeface="Arial" panose="020B0604020202020204" pitchFamily="34" charset="0"/>
                <a:cs typeface="Arial" panose="020B0604020202020204" pitchFamily="34" charset="0"/>
              </a:rPr>
            </a:br>
            <a:r>
              <a:rPr lang="en-US" altLang="en-US" sz="3600" dirty="0">
                <a:solidFill>
                  <a:srgbClr val="7A0014"/>
                </a:solidFill>
                <a:latin typeface="Arial" panose="020B0604020202020204" pitchFamily="34" charset="0"/>
                <a:cs typeface="Arial" panose="020B0604020202020204" pitchFamily="34" charset="0"/>
              </a:rPr>
              <a:t>- Types of Goods -</a:t>
            </a:r>
            <a:endParaRPr lang="en-US" altLang="en-US" dirty="0">
              <a:solidFill>
                <a:srgbClr val="A50021"/>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63495" name="Rectangle 7"/>
          <p:cNvSpPr>
            <a:spLocks noGrp="1" noChangeArrowheads="1"/>
          </p:cNvSpPr>
          <p:nvPr>
            <p:ph type="body" idx="1"/>
          </p:nvPr>
        </p:nvSpPr>
        <p:spPr>
          <a:noFill/>
          <a:ln/>
        </p:spPr>
        <p:txBody>
          <a:bodyPr>
            <a:normAutofit/>
          </a:bodyPr>
          <a:lstStyle/>
          <a:p>
            <a:pPr>
              <a:lnSpc>
                <a:spcPct val="90000"/>
              </a:lnSpc>
              <a:buClr>
                <a:srgbClr val="F09A0E"/>
              </a:buClr>
              <a:buFont typeface="Monotype Sorts" pitchFamily="-2" charset="2"/>
              <a:buChar char="u"/>
            </a:pPr>
            <a:r>
              <a:rPr lang="en-US" altLang="en-US" i="1">
                <a:solidFill>
                  <a:srgbClr val="B0001D"/>
                </a:solidFill>
                <a:latin typeface="Arial" panose="020B0604020202020204" pitchFamily="34" charset="0"/>
                <a:cs typeface="Arial" panose="020B0604020202020204" pitchFamily="34" charset="0"/>
              </a:rPr>
              <a:t>Normal Goods</a:t>
            </a:r>
          </a:p>
          <a:p>
            <a:pPr lvl="1">
              <a:lnSpc>
                <a:spcPct val="90000"/>
              </a:lnSpc>
              <a:buClr>
                <a:srgbClr val="F09A0E"/>
              </a:buClr>
              <a:buFont typeface="Monotype Sorts" pitchFamily="-2" charset="2"/>
              <a:buChar char="u"/>
            </a:pPr>
            <a:r>
              <a:rPr lang="en-US" altLang="en-US" sz="2800">
                <a:latin typeface="Arial" panose="020B0604020202020204" pitchFamily="34" charset="0"/>
                <a:cs typeface="Arial" panose="020B0604020202020204" pitchFamily="34" charset="0"/>
              </a:rPr>
              <a:t>Income Elasticity is positive.</a:t>
            </a:r>
          </a:p>
          <a:p>
            <a:pPr>
              <a:lnSpc>
                <a:spcPct val="90000"/>
              </a:lnSpc>
              <a:buClr>
                <a:srgbClr val="F09A0E"/>
              </a:buClr>
              <a:buFont typeface="Monotype Sorts" pitchFamily="-2" charset="2"/>
              <a:buChar char="u"/>
            </a:pPr>
            <a:r>
              <a:rPr lang="en-US" altLang="en-US" i="1">
                <a:solidFill>
                  <a:srgbClr val="B0001D"/>
                </a:solidFill>
                <a:latin typeface="Arial" panose="020B0604020202020204" pitchFamily="34" charset="0"/>
                <a:cs typeface="Arial" panose="020B0604020202020204" pitchFamily="34" charset="0"/>
              </a:rPr>
              <a:t>Inferior Goods</a:t>
            </a:r>
          </a:p>
          <a:p>
            <a:pPr lvl="1">
              <a:lnSpc>
                <a:spcPct val="90000"/>
              </a:lnSpc>
              <a:buClr>
                <a:srgbClr val="F09A0E"/>
              </a:buClr>
              <a:buFont typeface="Monotype Sorts" pitchFamily="-2" charset="2"/>
              <a:buChar char="u"/>
            </a:pPr>
            <a:r>
              <a:rPr lang="en-US" altLang="en-US" sz="2800">
                <a:latin typeface="Arial" panose="020B0604020202020204" pitchFamily="34" charset="0"/>
                <a:cs typeface="Arial" panose="020B0604020202020204" pitchFamily="34" charset="0"/>
              </a:rPr>
              <a:t>Income Elasticity is negative.</a:t>
            </a:r>
          </a:p>
          <a:p>
            <a:pPr>
              <a:lnSpc>
                <a:spcPct val="90000"/>
              </a:lnSpc>
              <a:buClr>
                <a:srgbClr val="F09A0E"/>
              </a:buClr>
              <a:buFont typeface="Monotype Sorts" pitchFamily="-2" charset="2"/>
              <a:buChar char="u"/>
            </a:pPr>
            <a:r>
              <a:rPr lang="en-US" altLang="en-US">
                <a:solidFill>
                  <a:srgbClr val="474A81"/>
                </a:solidFill>
                <a:latin typeface="Arial" panose="020B0604020202020204" pitchFamily="34" charset="0"/>
                <a:cs typeface="Arial" panose="020B0604020202020204" pitchFamily="34" charset="0"/>
              </a:rPr>
              <a:t>Higher income</a:t>
            </a:r>
            <a:r>
              <a:rPr lang="en-US" altLang="en-US">
                <a:latin typeface="Arial" panose="020B0604020202020204" pitchFamily="34" charset="0"/>
                <a:cs typeface="Arial" panose="020B0604020202020204" pitchFamily="34" charset="0"/>
              </a:rPr>
              <a:t> </a:t>
            </a:r>
            <a:r>
              <a:rPr lang="en-US" altLang="en-US" i="1">
                <a:solidFill>
                  <a:srgbClr val="474A81"/>
                </a:solidFill>
                <a:latin typeface="Arial" panose="020B0604020202020204" pitchFamily="34" charset="0"/>
                <a:cs typeface="Arial" panose="020B0604020202020204" pitchFamily="34" charset="0"/>
              </a:rPr>
              <a:t>raises</a:t>
            </a:r>
            <a:r>
              <a:rPr lang="en-US" altLang="en-US">
                <a:solidFill>
                  <a:srgbClr val="474A81"/>
                </a:solidFill>
                <a:latin typeface="Arial" panose="020B0604020202020204" pitchFamily="34" charset="0"/>
                <a:cs typeface="Arial" panose="020B0604020202020204" pitchFamily="34" charset="0"/>
              </a:rPr>
              <a:t> the quantity demanded for</a:t>
            </a:r>
            <a:r>
              <a:rPr lang="en-US" altLang="en-US">
                <a:latin typeface="Arial" panose="020B0604020202020204" pitchFamily="34" charset="0"/>
                <a:cs typeface="Arial" panose="020B0604020202020204" pitchFamily="34" charset="0"/>
              </a:rPr>
              <a:t> </a:t>
            </a:r>
            <a:r>
              <a:rPr lang="en-US" altLang="en-US">
                <a:solidFill>
                  <a:srgbClr val="B0001D"/>
                </a:solidFill>
                <a:latin typeface="Arial" panose="020B0604020202020204" pitchFamily="34" charset="0"/>
                <a:cs typeface="Arial" panose="020B0604020202020204" pitchFamily="34" charset="0"/>
              </a:rPr>
              <a:t>normal goods</a:t>
            </a:r>
            <a:r>
              <a:rPr lang="en-US" altLang="en-US">
                <a:solidFill>
                  <a:schemeClr val="accent2"/>
                </a:solidFill>
                <a:latin typeface="Arial" panose="020B0604020202020204" pitchFamily="34" charset="0"/>
                <a:cs typeface="Arial" panose="020B0604020202020204" pitchFamily="34" charset="0"/>
              </a:rPr>
              <a:t> </a:t>
            </a:r>
            <a:r>
              <a:rPr lang="en-US" altLang="en-US">
                <a:solidFill>
                  <a:srgbClr val="474A81"/>
                </a:solidFill>
                <a:latin typeface="Arial" panose="020B0604020202020204" pitchFamily="34" charset="0"/>
                <a:cs typeface="Arial" panose="020B0604020202020204" pitchFamily="34" charset="0"/>
              </a:rPr>
              <a:t>but </a:t>
            </a:r>
            <a:r>
              <a:rPr lang="en-US" altLang="en-US" i="1">
                <a:solidFill>
                  <a:srgbClr val="474A81"/>
                </a:solidFill>
                <a:latin typeface="Arial" panose="020B0604020202020204" pitchFamily="34" charset="0"/>
                <a:cs typeface="Arial" panose="020B0604020202020204" pitchFamily="34" charset="0"/>
              </a:rPr>
              <a:t>lowers </a:t>
            </a:r>
            <a:r>
              <a:rPr lang="en-US" altLang="en-US">
                <a:solidFill>
                  <a:srgbClr val="474A81"/>
                </a:solidFill>
                <a:latin typeface="Arial" panose="020B0604020202020204" pitchFamily="34" charset="0"/>
                <a:cs typeface="Arial" panose="020B0604020202020204" pitchFamily="34" charset="0"/>
              </a:rPr>
              <a:t>the quantity demanded for</a:t>
            </a:r>
            <a:r>
              <a:rPr lang="en-US" altLang="en-US">
                <a:latin typeface="Arial" panose="020B0604020202020204" pitchFamily="34" charset="0"/>
                <a:cs typeface="Arial" panose="020B0604020202020204" pitchFamily="34" charset="0"/>
              </a:rPr>
              <a:t> </a:t>
            </a:r>
            <a:r>
              <a:rPr lang="en-US" altLang="en-US">
                <a:solidFill>
                  <a:srgbClr val="B0001D"/>
                </a:solidFill>
                <a:latin typeface="Arial" panose="020B0604020202020204" pitchFamily="34" charset="0"/>
                <a:cs typeface="Arial" panose="020B0604020202020204" pitchFamily="34" charset="0"/>
              </a:rPr>
              <a:t>inferior goods</a:t>
            </a:r>
            <a:r>
              <a:rPr lang="en-US" altLang="en-US" i="1">
                <a:solidFill>
                  <a:srgbClr val="B0001D"/>
                </a:solidFill>
                <a:latin typeface="Arial" panose="020B0604020202020204" pitchFamily="34" charset="0"/>
                <a:cs typeface="Arial" panose="020B0604020202020204" pitchFamily="34" charset="0"/>
              </a:rPr>
              <a:t>. </a:t>
            </a:r>
          </a:p>
          <a:p>
            <a:pPr algn="ctr">
              <a:lnSpc>
                <a:spcPct val="90000"/>
              </a:lnSpc>
              <a:buClr>
                <a:srgbClr val="FC0128"/>
              </a:buClr>
              <a:buSzTx/>
              <a:buFont typeface="Monotype Sorts" pitchFamily="-2" charset="2"/>
              <a:buChar char="4"/>
            </a:pPr>
            <a:endParaRPr lang="en-US" altLang="en-US">
              <a:latin typeface="Arial" panose="020B0604020202020204" pitchFamily="34" charset="0"/>
              <a:cs typeface="Arial" panose="020B0604020202020204" pitchFamily="34" charset="0"/>
            </a:endParaRPr>
          </a:p>
          <a:p>
            <a:pPr algn="ctr">
              <a:lnSpc>
                <a:spcPct val="90000"/>
              </a:lnSpc>
              <a:buClr>
                <a:srgbClr val="FC0128"/>
              </a:buClr>
              <a:buSzTx/>
              <a:buFont typeface="Monotype Sorts" pitchFamily="-2" charset="2"/>
              <a:buChar char="4"/>
            </a:pP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27074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5">
                                            <p:txEl>
                                              <p:pRg st="0" end="0"/>
                                            </p:txEl>
                                          </p:spTgt>
                                        </p:tgtEl>
                                        <p:attrNameLst>
                                          <p:attrName>style.visibility</p:attrName>
                                        </p:attrNameLst>
                                      </p:cBhvr>
                                      <p:to>
                                        <p:strVal val="visible"/>
                                      </p:to>
                                    </p:set>
                                    <p:animEffect transition="in" filter="wipe(left)">
                                      <p:cBhvr>
                                        <p:cTn id="7" dur="500"/>
                                        <p:tgtEl>
                                          <p:spTgt spid="63495">
                                            <p:txEl>
                                              <p:pRg st="0" end="0"/>
                                            </p:txEl>
                                          </p:spTgt>
                                        </p:tgtEl>
                                      </p:cBhvr>
                                    </p:animEffect>
                                  </p:childTnLst>
                                  <p:subTnLst>
                                    <p:animClr clrSpc="rgb" dir="cw">
                                      <p:cBhvr override="childStyle">
                                        <p:cTn dur="1" fill="hold" display="0" masterRel="nextClick" afterEffect="1"/>
                                        <p:tgtEl>
                                          <p:spTgt spid="63495">
                                            <p:txEl>
                                              <p:pRg st="0" end="0"/>
                                            </p:txEl>
                                          </p:spTgt>
                                        </p:tgtEl>
                                        <p:attrNameLst>
                                          <p:attrName>ppt_c</p:attrName>
                                        </p:attrNameLst>
                                      </p:cBhvr>
                                      <p:to>
                                        <a:schemeClr val="bg2"/>
                                      </p:to>
                                    </p:animClr>
                                  </p:subTnLst>
                                </p:cTn>
                              </p:par>
                              <p:par>
                                <p:cTn id="8" presetID="22" presetClass="entr" presetSubtype="8" fill="hold" grpId="0" nodeType="withEffect">
                                  <p:stCondLst>
                                    <p:cond delay="0"/>
                                  </p:stCondLst>
                                  <p:childTnLst>
                                    <p:set>
                                      <p:cBhvr>
                                        <p:cTn id="9" dur="1" fill="hold">
                                          <p:stCondLst>
                                            <p:cond delay="0"/>
                                          </p:stCondLst>
                                        </p:cTn>
                                        <p:tgtEl>
                                          <p:spTgt spid="63495">
                                            <p:txEl>
                                              <p:pRg st="1" end="1"/>
                                            </p:txEl>
                                          </p:spTgt>
                                        </p:tgtEl>
                                        <p:attrNameLst>
                                          <p:attrName>style.visibility</p:attrName>
                                        </p:attrNameLst>
                                      </p:cBhvr>
                                      <p:to>
                                        <p:strVal val="visible"/>
                                      </p:to>
                                    </p:set>
                                    <p:animEffect transition="in" filter="wipe(left)">
                                      <p:cBhvr>
                                        <p:cTn id="10" dur="500"/>
                                        <p:tgtEl>
                                          <p:spTgt spid="63495">
                                            <p:txEl>
                                              <p:pRg st="1" end="1"/>
                                            </p:txEl>
                                          </p:spTgt>
                                        </p:tgtEl>
                                      </p:cBhvr>
                                    </p:animEffect>
                                  </p:childTnLst>
                                  <p:subTnLst>
                                    <p:animClr clrSpc="rgb" dir="cw">
                                      <p:cBhvr override="childStyle">
                                        <p:cTn dur="1" fill="hold" display="0" masterRel="nextClick" afterEffect="1"/>
                                        <p:tgtEl>
                                          <p:spTgt spid="63495">
                                            <p:txEl>
                                              <p:pRg st="1" end="1"/>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3495">
                                            <p:txEl>
                                              <p:pRg st="2" end="2"/>
                                            </p:txEl>
                                          </p:spTgt>
                                        </p:tgtEl>
                                        <p:attrNameLst>
                                          <p:attrName>style.visibility</p:attrName>
                                        </p:attrNameLst>
                                      </p:cBhvr>
                                      <p:to>
                                        <p:strVal val="visible"/>
                                      </p:to>
                                    </p:set>
                                    <p:animEffect transition="in" filter="wipe(left)">
                                      <p:cBhvr>
                                        <p:cTn id="15" dur="500"/>
                                        <p:tgtEl>
                                          <p:spTgt spid="63495">
                                            <p:txEl>
                                              <p:pRg st="2" end="2"/>
                                            </p:txEl>
                                          </p:spTgt>
                                        </p:tgtEl>
                                      </p:cBhvr>
                                    </p:animEffect>
                                  </p:childTnLst>
                                  <p:subTnLst>
                                    <p:animClr clrSpc="rgb" dir="cw">
                                      <p:cBhvr override="childStyle">
                                        <p:cTn dur="1" fill="hold" display="0" masterRel="nextClick" afterEffect="1"/>
                                        <p:tgtEl>
                                          <p:spTgt spid="63495">
                                            <p:txEl>
                                              <p:pRg st="2" end="2"/>
                                            </p:txEl>
                                          </p:spTgt>
                                        </p:tgtEl>
                                        <p:attrNameLst>
                                          <p:attrName>ppt_c</p:attrName>
                                        </p:attrNameLst>
                                      </p:cBhvr>
                                      <p:to>
                                        <a:schemeClr val="bg2"/>
                                      </p:to>
                                    </p:animClr>
                                  </p:subTnLst>
                                </p:cTn>
                              </p:par>
                              <p:par>
                                <p:cTn id="16" presetID="22" presetClass="entr" presetSubtype="8" fill="hold" grpId="0" nodeType="withEffect">
                                  <p:stCondLst>
                                    <p:cond delay="0"/>
                                  </p:stCondLst>
                                  <p:childTnLst>
                                    <p:set>
                                      <p:cBhvr>
                                        <p:cTn id="17" dur="1" fill="hold">
                                          <p:stCondLst>
                                            <p:cond delay="0"/>
                                          </p:stCondLst>
                                        </p:cTn>
                                        <p:tgtEl>
                                          <p:spTgt spid="63495">
                                            <p:txEl>
                                              <p:pRg st="3" end="3"/>
                                            </p:txEl>
                                          </p:spTgt>
                                        </p:tgtEl>
                                        <p:attrNameLst>
                                          <p:attrName>style.visibility</p:attrName>
                                        </p:attrNameLst>
                                      </p:cBhvr>
                                      <p:to>
                                        <p:strVal val="visible"/>
                                      </p:to>
                                    </p:set>
                                    <p:animEffect transition="in" filter="wipe(left)">
                                      <p:cBhvr>
                                        <p:cTn id="18" dur="500"/>
                                        <p:tgtEl>
                                          <p:spTgt spid="63495">
                                            <p:txEl>
                                              <p:pRg st="3" end="3"/>
                                            </p:txEl>
                                          </p:spTgt>
                                        </p:tgtEl>
                                      </p:cBhvr>
                                    </p:animEffect>
                                  </p:childTnLst>
                                  <p:subTnLst>
                                    <p:animClr clrSpc="rgb" dir="cw">
                                      <p:cBhvr override="childStyle">
                                        <p:cTn dur="1" fill="hold" display="0" masterRel="nextClick" afterEffect="1"/>
                                        <p:tgtEl>
                                          <p:spTgt spid="63495">
                                            <p:txEl>
                                              <p:pRg st="3" end="3"/>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3495">
                                            <p:txEl>
                                              <p:pRg st="4" end="4"/>
                                            </p:txEl>
                                          </p:spTgt>
                                        </p:tgtEl>
                                        <p:attrNameLst>
                                          <p:attrName>style.visibility</p:attrName>
                                        </p:attrNameLst>
                                      </p:cBhvr>
                                      <p:to>
                                        <p:strVal val="visible"/>
                                      </p:to>
                                    </p:set>
                                    <p:animEffect transition="in" filter="wipe(left)">
                                      <p:cBhvr>
                                        <p:cTn id="23" dur="500"/>
                                        <p:tgtEl>
                                          <p:spTgt spid="63495">
                                            <p:txEl>
                                              <p:pRg st="4" end="4"/>
                                            </p:txEl>
                                          </p:spTgt>
                                        </p:tgtEl>
                                      </p:cBhvr>
                                    </p:animEffect>
                                  </p:childTnLst>
                                  <p:subTnLst>
                                    <p:animClr clrSpc="rgb" dir="cw">
                                      <p:cBhvr override="childStyle">
                                        <p:cTn dur="1" fill="hold" display="0" masterRel="nextClick" afterEffect="1"/>
                                        <p:tgtEl>
                                          <p:spTgt spid="63495">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838200" y="365126"/>
            <a:ext cx="10515600" cy="1045664"/>
          </a:xfrm>
        </p:spPr>
        <p:txBody>
          <a:bodyPr/>
          <a:lstStyle/>
          <a:p>
            <a:r>
              <a:rPr lang="en-US" altLang="en-US" dirty="0">
                <a:latin typeface="Arial" panose="020B0604020202020204" pitchFamily="34" charset="0"/>
                <a:cs typeface="Arial" panose="020B0604020202020204" pitchFamily="34" charset="0"/>
              </a:rPr>
              <a:t>Cross Price Elasticity of Demand</a:t>
            </a:r>
          </a:p>
        </p:txBody>
      </p:sp>
      <p:sp>
        <p:nvSpPr>
          <p:cNvPr id="328707" name="Rectangle 3"/>
          <p:cNvSpPr>
            <a:spLocks noGrp="1" noChangeArrowheads="1"/>
          </p:cNvSpPr>
          <p:nvPr>
            <p:ph type="body" idx="1"/>
          </p:nvPr>
        </p:nvSpPr>
        <p:spPr>
          <a:xfrm>
            <a:off x="838200" y="1690688"/>
            <a:ext cx="10515600" cy="4486275"/>
          </a:xfrm>
        </p:spPr>
        <p:txBody>
          <a:bodyPr>
            <a:normAutofit/>
          </a:bodyPr>
          <a:lstStyle/>
          <a:p>
            <a:r>
              <a:rPr lang="en-US" altLang="en-US" dirty="0" smtClean="0">
                <a:latin typeface="Arial" panose="020B0604020202020204" pitchFamily="34" charset="0"/>
                <a:cs typeface="Arial" panose="020B0604020202020204" pitchFamily="34" charset="0"/>
              </a:rPr>
              <a:t>Cross-Price Elasticity of Demand</a:t>
            </a:r>
          </a:p>
          <a:p>
            <a:pPr lvl="1"/>
            <a:r>
              <a:rPr lang="en-US" altLang="en-US" sz="2800" dirty="0" smtClean="0">
                <a:latin typeface="Arial" panose="020B0604020202020204" pitchFamily="34" charset="0"/>
                <a:cs typeface="Arial" panose="020B0604020202020204" pitchFamily="34" charset="0"/>
              </a:rPr>
              <a:t>The percentage by which quantity demanded of the first good changes in response to a 1 percent change in the price of the second good</a:t>
            </a:r>
          </a:p>
          <a:p>
            <a:pPr lvl="1"/>
            <a:endParaRPr lang="en-US" altLang="en-US" sz="2800" dirty="0" smtClean="0">
              <a:latin typeface="Arial" panose="020B0604020202020204" pitchFamily="34" charset="0"/>
              <a:cs typeface="Arial" panose="020B0604020202020204" pitchFamily="34" charset="0"/>
            </a:endParaRPr>
          </a:p>
          <a:p>
            <a:pPr lvl="1"/>
            <a:endParaRPr lang="en-US" altLang="en-US" sz="2800" dirty="0" smtClean="0">
              <a:latin typeface="Arial" panose="020B0604020202020204" pitchFamily="34" charset="0"/>
              <a:cs typeface="Arial" panose="020B0604020202020204" pitchFamily="34" charset="0"/>
            </a:endParaRPr>
          </a:p>
        </p:txBody>
      </p:sp>
      <p:graphicFrame>
        <p:nvGraphicFramePr>
          <p:cNvPr id="4" name="Object 2058"/>
          <p:cNvGraphicFramePr>
            <a:graphicFrameLocks noChangeAspect="1"/>
          </p:cNvGraphicFramePr>
          <p:nvPr>
            <p:extLst>
              <p:ext uri="{D42A27DB-BD31-4B8C-83A1-F6EECF244321}">
                <p14:modId xmlns:p14="http://schemas.microsoft.com/office/powerpoint/2010/main" val="2289768129"/>
              </p:ext>
            </p:extLst>
          </p:nvPr>
        </p:nvGraphicFramePr>
        <p:xfrm>
          <a:off x="1693816" y="3933824"/>
          <a:ext cx="7937863" cy="1926865"/>
        </p:xfrm>
        <a:graphic>
          <a:graphicData uri="http://schemas.openxmlformats.org/presentationml/2006/ole">
            <mc:AlternateContent xmlns:mc="http://schemas.openxmlformats.org/markup-compatibility/2006">
              <mc:Choice xmlns:v="urn:schemas-microsoft-com:vml" Requires="v">
                <p:oleObj spid="_x0000_s7192" name="Document" r:id="rId4" imgW="5705640" imgH="1571760" progId="WP8Doc">
                  <p:embed/>
                </p:oleObj>
              </mc:Choice>
              <mc:Fallback>
                <p:oleObj name="Document" r:id="rId4" imgW="5705640" imgH="1571760" progId="WP8Doc">
                  <p:embed/>
                  <p:pic>
                    <p:nvPicPr>
                      <p:cNvPr id="35850" name="Object 20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3816" y="3933824"/>
                        <a:ext cx="7937863" cy="192686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504254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Effect transition="in" filter="dissolve">
                                      <p:cBhvr>
                                        <p:cTn id="7" dur="500"/>
                                        <p:tgtEl>
                                          <p:spTgt spid="32870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28707">
                                            <p:txEl>
                                              <p:pRg st="1" end="1"/>
                                            </p:txEl>
                                          </p:spTgt>
                                        </p:tgtEl>
                                        <p:attrNameLst>
                                          <p:attrName>style.visibility</p:attrName>
                                        </p:attrNameLst>
                                      </p:cBhvr>
                                      <p:to>
                                        <p:strVal val="visible"/>
                                      </p:to>
                                    </p:set>
                                    <p:animEffect transition="in" filter="dissolve">
                                      <p:cBhvr>
                                        <p:cTn id="10" dur="500"/>
                                        <p:tgtEl>
                                          <p:spTgt spid="32870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838200" y="365126"/>
            <a:ext cx="10515600" cy="1045664"/>
          </a:xfrm>
        </p:spPr>
        <p:txBody>
          <a:bodyPr/>
          <a:lstStyle/>
          <a:p>
            <a:r>
              <a:rPr lang="en-US" altLang="en-US" dirty="0">
                <a:latin typeface="Arial" panose="020B0604020202020204" pitchFamily="34" charset="0"/>
                <a:cs typeface="Arial" panose="020B0604020202020204" pitchFamily="34" charset="0"/>
              </a:rPr>
              <a:t>Cross Price Elasticity of Demand</a:t>
            </a:r>
          </a:p>
        </p:txBody>
      </p:sp>
      <p:sp>
        <p:nvSpPr>
          <p:cNvPr id="328707" name="Rectangle 3"/>
          <p:cNvSpPr>
            <a:spLocks noGrp="1" noChangeArrowheads="1"/>
          </p:cNvSpPr>
          <p:nvPr>
            <p:ph type="body" idx="1"/>
          </p:nvPr>
        </p:nvSpPr>
        <p:spPr>
          <a:xfrm>
            <a:off x="838200" y="1690688"/>
            <a:ext cx="10515600" cy="4486275"/>
          </a:xfrm>
        </p:spPr>
        <p:txBody>
          <a:bodyPr>
            <a:normAutofit/>
          </a:bodyPr>
          <a:lstStyle/>
          <a:p>
            <a:r>
              <a:rPr lang="en-US" altLang="en-US" sz="3200" dirty="0" smtClean="0">
                <a:latin typeface="Arial" panose="020B0604020202020204" pitchFamily="34" charset="0"/>
                <a:cs typeface="Arial" panose="020B0604020202020204" pitchFamily="34" charset="0"/>
              </a:rPr>
              <a:t>Cross-Price Elasticity of Demand</a:t>
            </a:r>
          </a:p>
          <a:p>
            <a:pPr lvl="1"/>
            <a:r>
              <a:rPr lang="en-US" altLang="en-US" sz="3200" dirty="0" smtClean="0">
                <a:latin typeface="Arial" panose="020B0604020202020204" pitchFamily="34" charset="0"/>
                <a:cs typeface="Arial" panose="020B0604020202020204" pitchFamily="34" charset="0"/>
              </a:rPr>
              <a:t>Substitute Goods</a:t>
            </a:r>
          </a:p>
          <a:p>
            <a:pPr lvl="2"/>
            <a:r>
              <a:rPr lang="en-US" altLang="en-US" sz="3200" dirty="0" smtClean="0">
                <a:latin typeface="Arial" panose="020B0604020202020204" pitchFamily="34" charset="0"/>
                <a:cs typeface="Arial" panose="020B0604020202020204" pitchFamily="34" charset="0"/>
              </a:rPr>
              <a:t>When the cross-price elasticity of demand is positive</a:t>
            </a:r>
          </a:p>
          <a:p>
            <a:pPr lvl="1"/>
            <a:r>
              <a:rPr lang="en-US" altLang="en-US" sz="3200" dirty="0" smtClean="0">
                <a:latin typeface="Arial" panose="020B0604020202020204" pitchFamily="34" charset="0"/>
                <a:cs typeface="Arial" panose="020B0604020202020204" pitchFamily="34" charset="0"/>
              </a:rPr>
              <a:t>Complement Goods</a:t>
            </a:r>
          </a:p>
          <a:p>
            <a:pPr lvl="2"/>
            <a:r>
              <a:rPr lang="en-US" altLang="en-US" sz="3200" dirty="0" smtClean="0">
                <a:latin typeface="Arial" panose="020B0604020202020204" pitchFamily="34" charset="0"/>
                <a:cs typeface="Arial" panose="020B0604020202020204" pitchFamily="34" charset="0"/>
              </a:rPr>
              <a:t>When the cross-price elasticity of demand is negative</a:t>
            </a:r>
          </a:p>
          <a:p>
            <a:pPr lvl="1"/>
            <a:endParaRPr lang="en-US" altLang="en-US" sz="32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6806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Effect transition="in" filter="dissolve">
                                      <p:cBhvr>
                                        <p:cTn id="7" dur="500"/>
                                        <p:tgtEl>
                                          <p:spTgt spid="32870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28707">
                                            <p:txEl>
                                              <p:pRg st="1" end="1"/>
                                            </p:txEl>
                                          </p:spTgt>
                                        </p:tgtEl>
                                        <p:attrNameLst>
                                          <p:attrName>style.visibility</p:attrName>
                                        </p:attrNameLst>
                                      </p:cBhvr>
                                      <p:to>
                                        <p:strVal val="visible"/>
                                      </p:to>
                                    </p:set>
                                    <p:animEffect transition="in" filter="dissolve">
                                      <p:cBhvr>
                                        <p:cTn id="10" dur="500"/>
                                        <p:tgtEl>
                                          <p:spTgt spid="32870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Effect transition="in" filter="dissolve">
                                      <p:cBhvr>
                                        <p:cTn id="13" dur="500"/>
                                        <p:tgtEl>
                                          <p:spTgt spid="32870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28707">
                                            <p:txEl>
                                              <p:pRg st="3" end="3"/>
                                            </p:txEl>
                                          </p:spTgt>
                                        </p:tgtEl>
                                        <p:attrNameLst>
                                          <p:attrName>style.visibility</p:attrName>
                                        </p:attrNameLst>
                                      </p:cBhvr>
                                      <p:to>
                                        <p:strVal val="visible"/>
                                      </p:to>
                                    </p:set>
                                    <p:animEffect transition="in" filter="dissolve">
                                      <p:cBhvr>
                                        <p:cTn id="16" dur="500"/>
                                        <p:tgtEl>
                                          <p:spTgt spid="32870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Effect transition="in" filter="dissolve">
                                      <p:cBhvr>
                                        <p:cTn id="19" dur="500"/>
                                        <p:tgtEl>
                                          <p:spTgt spid="3287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206"/>
            <a:ext cx="10515600" cy="618944"/>
          </a:xfrm>
        </p:spPr>
        <p:txBody>
          <a:bodyPr>
            <a:normAutofit fontScale="90000"/>
          </a:bodyPr>
          <a:lstStyle/>
          <a:p>
            <a:r>
              <a:rPr lang="en-US" b="1" dirty="0">
                <a:latin typeface="Arial" panose="020B0604020202020204" pitchFamily="34" charset="0"/>
                <a:cs typeface="Arial" panose="020B0604020202020204" pitchFamily="34" charset="0"/>
              </a:rPr>
              <a:t>Elasticity of </a:t>
            </a:r>
            <a:r>
              <a:rPr lang="en-US" b="1" dirty="0" smtClean="0">
                <a:latin typeface="Arial" panose="020B0604020202020204" pitchFamily="34" charset="0"/>
                <a:cs typeface="Arial" panose="020B0604020202020204" pitchFamily="34" charset="0"/>
              </a:rPr>
              <a:t>Supply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105990"/>
            <a:ext cx="10515600" cy="5070974"/>
          </a:xfrm>
        </p:spPr>
        <p:txBody>
          <a:bodyPr>
            <a:normAutofit/>
          </a:bodyPr>
          <a:lstStyle/>
          <a:p>
            <a:r>
              <a:rPr lang="en-US" sz="3200" dirty="0">
                <a:latin typeface="Arial" panose="020B0604020202020204" pitchFamily="34" charset="0"/>
                <a:cs typeface="Arial" panose="020B0604020202020204" pitchFamily="34" charset="0"/>
              </a:rPr>
              <a:t>The price elasticity of supply is a measure of the degree of responsiveness of the quantity supplied to the change in the price of a given commodity. </a:t>
            </a:r>
            <a:endParaRPr lang="en-US" sz="3200" dirty="0" smtClean="0">
              <a:latin typeface="Arial" panose="020B0604020202020204" pitchFamily="34" charset="0"/>
              <a:cs typeface="Arial" panose="020B0604020202020204" pitchFamily="34" charset="0"/>
            </a:endParaRPr>
          </a:p>
          <a:p>
            <a:r>
              <a:rPr lang="en-US" sz="3200" dirty="0" smtClean="0">
                <a:latin typeface="Arial" panose="020B0604020202020204" pitchFamily="34" charset="0"/>
                <a:cs typeface="Arial" panose="020B0604020202020204" pitchFamily="34" charset="0"/>
              </a:rPr>
              <a:t>It </a:t>
            </a:r>
            <a:r>
              <a:rPr lang="en-US" sz="3200" dirty="0">
                <a:latin typeface="Arial" panose="020B0604020202020204" pitchFamily="34" charset="0"/>
                <a:cs typeface="Arial" panose="020B0604020202020204" pitchFamily="34" charset="0"/>
              </a:rPr>
              <a:t>is an important parameter in determining how the supply of a particular product is affected by fluctuations in its market price. It also gives an idea about the profit that could be made by selling that product at its price difference. </a:t>
            </a:r>
            <a:endParaRPr lang="en-US" sz="3200" dirty="0" smtClean="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p:txBody>
      </p:sp>
      <p:graphicFrame>
        <p:nvGraphicFramePr>
          <p:cNvPr id="4" name="Object 5"/>
          <p:cNvGraphicFramePr>
            <a:graphicFrameLocks noChangeAspect="1"/>
          </p:cNvGraphicFramePr>
          <p:nvPr>
            <p:extLst>
              <p:ext uri="{D42A27DB-BD31-4B8C-83A1-F6EECF244321}">
                <p14:modId xmlns:p14="http://schemas.microsoft.com/office/powerpoint/2010/main" val="692985075"/>
              </p:ext>
            </p:extLst>
          </p:nvPr>
        </p:nvGraphicFramePr>
        <p:xfrm>
          <a:off x="3572692" y="4903154"/>
          <a:ext cx="7391400" cy="1517650"/>
        </p:xfrm>
        <a:graphic>
          <a:graphicData uri="http://schemas.openxmlformats.org/presentationml/2006/ole">
            <mc:AlternateContent xmlns:mc="http://schemas.openxmlformats.org/markup-compatibility/2006">
              <mc:Choice xmlns:v="urn:schemas-microsoft-com:vml" Requires="v">
                <p:oleObj spid="_x0000_s19468" name="Document" r:id="rId3" imgW="5705640" imgH="1314360" progId="WP8Doc">
                  <p:embed/>
                </p:oleObj>
              </mc:Choice>
              <mc:Fallback>
                <p:oleObj name="Document" r:id="rId3" imgW="5705640" imgH="1314360" progId="WP8Doc">
                  <p:embed/>
                  <p:pic>
                    <p:nvPicPr>
                      <p:cNvPr id="4403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2692" y="4903154"/>
                        <a:ext cx="7391400" cy="151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6739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Price Elasticity of Supply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571500" indent="-571500">
              <a:buAutoNum type="romanLcParenBoth"/>
            </a:pPr>
            <a:r>
              <a:rPr lang="en-US" sz="3200" dirty="0" smtClean="0">
                <a:latin typeface="Arial" panose="020B0604020202020204" pitchFamily="34" charset="0"/>
                <a:cs typeface="Arial" panose="020B0604020202020204" pitchFamily="34" charset="0"/>
              </a:rPr>
              <a:t>Perfectly inelastic supply (</a:t>
            </a:r>
            <a:r>
              <a:rPr lang="en-US" sz="3200" dirty="0" err="1" smtClean="0">
                <a:latin typeface="Arial" panose="020B0604020202020204" pitchFamily="34" charset="0"/>
                <a:cs typeface="Arial" panose="020B0604020202020204" pitchFamily="34" charset="0"/>
              </a:rPr>
              <a:t>es</a:t>
            </a:r>
            <a:r>
              <a:rPr lang="en-US" sz="3200" dirty="0" smtClean="0">
                <a:latin typeface="Arial" panose="020B0604020202020204" pitchFamily="34" charset="0"/>
                <a:cs typeface="Arial" panose="020B0604020202020204" pitchFamily="34" charset="0"/>
              </a:rPr>
              <a:t> = 0) </a:t>
            </a:r>
          </a:p>
          <a:p>
            <a:pPr marL="571500" indent="-571500">
              <a:buAutoNum type="romanLcParenBoth"/>
            </a:pPr>
            <a:r>
              <a:rPr lang="en-US" sz="3200" dirty="0" smtClean="0">
                <a:latin typeface="Arial" panose="020B0604020202020204" pitchFamily="34" charset="0"/>
                <a:cs typeface="Arial" panose="020B0604020202020204" pitchFamily="34" charset="0"/>
              </a:rPr>
              <a:t>Inelastic or less than unit elastic supply (</a:t>
            </a:r>
            <a:r>
              <a:rPr lang="en-US" sz="3200" dirty="0" err="1" smtClean="0">
                <a:latin typeface="Arial" panose="020B0604020202020204" pitchFamily="34" charset="0"/>
                <a:cs typeface="Arial" panose="020B0604020202020204" pitchFamily="34" charset="0"/>
              </a:rPr>
              <a:t>es</a:t>
            </a:r>
            <a:r>
              <a:rPr lang="en-US" sz="3200" dirty="0" smtClean="0">
                <a:latin typeface="Arial" panose="020B0604020202020204" pitchFamily="34" charset="0"/>
                <a:cs typeface="Arial" panose="020B0604020202020204" pitchFamily="34" charset="0"/>
              </a:rPr>
              <a:t> &lt; 1) </a:t>
            </a:r>
          </a:p>
          <a:p>
            <a:pPr marL="571500" indent="-571500">
              <a:buAutoNum type="romanLcParenBoth"/>
            </a:pPr>
            <a:r>
              <a:rPr lang="en-US" sz="3200" dirty="0" smtClean="0">
                <a:latin typeface="Arial" panose="020B0604020202020204" pitchFamily="34" charset="0"/>
                <a:cs typeface="Arial" panose="020B0604020202020204" pitchFamily="34" charset="0"/>
              </a:rPr>
              <a:t>Unitary elastic supply (</a:t>
            </a:r>
            <a:r>
              <a:rPr lang="en-US" sz="3200" dirty="0" err="1" smtClean="0">
                <a:latin typeface="Arial" panose="020B0604020202020204" pitchFamily="34" charset="0"/>
                <a:cs typeface="Arial" panose="020B0604020202020204" pitchFamily="34" charset="0"/>
              </a:rPr>
              <a:t>es</a:t>
            </a:r>
            <a:r>
              <a:rPr lang="en-US" sz="3200" dirty="0" smtClean="0">
                <a:latin typeface="Arial" panose="020B0604020202020204" pitchFamily="34" charset="0"/>
                <a:cs typeface="Arial" panose="020B0604020202020204" pitchFamily="34" charset="0"/>
              </a:rPr>
              <a:t> = 1) </a:t>
            </a:r>
          </a:p>
          <a:p>
            <a:pPr marL="571500" indent="-571500">
              <a:buAutoNum type="romanLcParenBoth"/>
            </a:pPr>
            <a:r>
              <a:rPr lang="en-US" sz="3200" dirty="0" smtClean="0">
                <a:latin typeface="Arial" panose="020B0604020202020204" pitchFamily="34" charset="0"/>
                <a:cs typeface="Arial" panose="020B0604020202020204" pitchFamily="34" charset="0"/>
              </a:rPr>
              <a:t>Elastic or more than unit elastic supply (</a:t>
            </a:r>
            <a:r>
              <a:rPr lang="en-US" sz="3200" dirty="0" err="1" smtClean="0">
                <a:latin typeface="Arial" panose="020B0604020202020204" pitchFamily="34" charset="0"/>
                <a:cs typeface="Arial" panose="020B0604020202020204" pitchFamily="34" charset="0"/>
              </a:rPr>
              <a:t>es</a:t>
            </a:r>
            <a:r>
              <a:rPr lang="en-US" sz="3200" dirty="0" smtClean="0">
                <a:latin typeface="Arial" panose="020B0604020202020204" pitchFamily="34" charset="0"/>
                <a:cs typeface="Arial" panose="020B0604020202020204" pitchFamily="34" charset="0"/>
              </a:rPr>
              <a:t> &gt; 1) </a:t>
            </a:r>
          </a:p>
          <a:p>
            <a:pPr marL="571500" indent="-571500">
              <a:buAutoNum type="romanLcParenBoth"/>
            </a:pPr>
            <a:r>
              <a:rPr lang="en-US" sz="3200" dirty="0" smtClean="0">
                <a:latin typeface="Arial" panose="020B0604020202020204" pitchFamily="34" charset="0"/>
                <a:cs typeface="Arial" panose="020B0604020202020204" pitchFamily="34" charset="0"/>
              </a:rPr>
              <a:t>Perfectly elastic supply (</a:t>
            </a:r>
            <a:r>
              <a:rPr lang="en-US" sz="3200" dirty="0" err="1" smtClean="0">
                <a:latin typeface="Arial" panose="020B0604020202020204" pitchFamily="34" charset="0"/>
                <a:cs typeface="Arial" panose="020B0604020202020204" pitchFamily="34" charset="0"/>
              </a:rPr>
              <a:t>es</a:t>
            </a:r>
            <a:r>
              <a:rPr lang="en-US" sz="3200" dirty="0" smtClean="0">
                <a:latin typeface="Arial" panose="020B0604020202020204" pitchFamily="34" charset="0"/>
                <a:cs typeface="Arial" panose="020B0604020202020204" pitchFamily="34" charset="0"/>
              </a:rPr>
              <a:t> = f)</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69653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189" y="365126"/>
            <a:ext cx="10552611" cy="845366"/>
          </a:xfrm>
        </p:spPr>
        <p:txBody>
          <a:bodyPr/>
          <a:lstStyle/>
          <a:p>
            <a:r>
              <a:rPr lang="en-US" b="1" dirty="0" smtClean="0"/>
              <a:t>5 Types of Elasticity of Supply</a:t>
            </a:r>
            <a:endParaRPr lang="en-US" dirty="0"/>
          </a:p>
        </p:txBody>
      </p:sp>
      <p:sp>
        <p:nvSpPr>
          <p:cNvPr id="3" name="Content Placeholder 2"/>
          <p:cNvSpPr>
            <a:spLocks noGrp="1"/>
          </p:cNvSpPr>
          <p:nvPr>
            <p:ph idx="1"/>
          </p:nvPr>
        </p:nvSpPr>
        <p:spPr>
          <a:xfrm>
            <a:off x="714103" y="1463040"/>
            <a:ext cx="10639697" cy="4713923"/>
          </a:xfrm>
        </p:spPr>
        <p:txBody>
          <a:bodyPr>
            <a:noAutofit/>
          </a:bodyPr>
          <a:lstStyle/>
          <a:p>
            <a:pPr fontAlgn="base"/>
            <a:r>
              <a:rPr lang="en-US" sz="2600" b="1" dirty="0" smtClean="0">
                <a:latin typeface="Arial" panose="020B0604020202020204" pitchFamily="34" charset="0"/>
                <a:cs typeface="Arial" panose="020B0604020202020204" pitchFamily="34" charset="0"/>
              </a:rPr>
              <a:t>Perfectly </a:t>
            </a:r>
            <a:r>
              <a:rPr lang="en-US" sz="2600" b="1" dirty="0">
                <a:latin typeface="Arial" panose="020B0604020202020204" pitchFamily="34" charset="0"/>
                <a:cs typeface="Arial" panose="020B0604020202020204" pitchFamily="34" charset="0"/>
              </a:rPr>
              <a:t>Elastic Supply:</a:t>
            </a:r>
            <a:r>
              <a:rPr lang="en-US" sz="2600" dirty="0">
                <a:latin typeface="Arial" panose="020B0604020202020204" pitchFamily="34" charset="0"/>
                <a:cs typeface="Arial" panose="020B0604020202020204" pitchFamily="34" charset="0"/>
              </a:rPr>
              <a:t> A commodity becomes perfectly elastic when its elasticity of supply is infinite. This means that even for a slight increase in price, the supply becomes infinite. For a perfectly elastic supply, the percentage change in the price is zero for any change in the quantity supplied.</a:t>
            </a:r>
            <a:endParaRPr lang="en-US" sz="2600" b="1" dirty="0">
              <a:latin typeface="Arial" panose="020B0604020202020204" pitchFamily="34" charset="0"/>
              <a:cs typeface="Arial" panose="020B0604020202020204" pitchFamily="34" charset="0"/>
            </a:endParaRPr>
          </a:p>
          <a:p>
            <a:pPr fontAlgn="base"/>
            <a:r>
              <a:rPr lang="en-US" sz="2600" b="1" dirty="0">
                <a:latin typeface="Arial" panose="020B0604020202020204" pitchFamily="34" charset="0"/>
                <a:cs typeface="Arial" panose="020B0604020202020204" pitchFamily="34" charset="0"/>
              </a:rPr>
              <a:t>More than Unit Elastic Supply:</a:t>
            </a:r>
            <a:r>
              <a:rPr lang="en-US" sz="2600" dirty="0">
                <a:latin typeface="Arial" panose="020B0604020202020204" pitchFamily="34" charset="0"/>
                <a:cs typeface="Arial" panose="020B0604020202020204" pitchFamily="34" charset="0"/>
              </a:rPr>
              <a:t> When the percentage change in the supply is greater than the percentage change in price, then the commodity has the price elasticity of supply greater than 1.</a:t>
            </a:r>
            <a:endParaRPr lang="en-US" sz="2600" b="1" dirty="0">
              <a:latin typeface="Arial" panose="020B0604020202020204" pitchFamily="34" charset="0"/>
              <a:cs typeface="Arial" panose="020B0604020202020204" pitchFamily="34" charset="0"/>
            </a:endParaRPr>
          </a:p>
          <a:p>
            <a:pPr fontAlgn="base"/>
            <a:r>
              <a:rPr lang="en-US" sz="2600" b="1" dirty="0">
                <a:latin typeface="Arial" panose="020B0604020202020204" pitchFamily="34" charset="0"/>
                <a:cs typeface="Arial" panose="020B0604020202020204" pitchFamily="34" charset="0"/>
              </a:rPr>
              <a:t>Unit Elastic Supply:</a:t>
            </a:r>
            <a:r>
              <a:rPr lang="en-US" sz="2600" dirty="0">
                <a:latin typeface="Arial" panose="020B0604020202020204" pitchFamily="34" charset="0"/>
                <a:cs typeface="Arial" panose="020B0604020202020204" pitchFamily="34" charset="0"/>
              </a:rPr>
              <a:t> A product is said to have a unit elastic supply when the change in its quantity supplied is proportionate or equal to the change in its price. The elasticity of supply, in this case, is equal to 1.</a:t>
            </a:r>
            <a:endParaRPr lang="en-US" sz="2600" b="1" dirty="0">
              <a:latin typeface="Arial" panose="020B0604020202020204" pitchFamily="34" charset="0"/>
              <a:cs typeface="Arial" panose="020B0604020202020204" pitchFamily="34" charset="0"/>
            </a:endParaRPr>
          </a:p>
          <a:p>
            <a:pPr marL="0" indent="0">
              <a:buNone/>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86550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189" y="365126"/>
            <a:ext cx="10552611" cy="845366"/>
          </a:xfrm>
        </p:spPr>
        <p:txBody>
          <a:bodyPr/>
          <a:lstStyle/>
          <a:p>
            <a:r>
              <a:rPr lang="en-US" b="1" dirty="0" smtClean="0"/>
              <a:t>5 Types of Elasticity of Supply</a:t>
            </a:r>
            <a:endParaRPr lang="en-US" dirty="0"/>
          </a:p>
        </p:txBody>
      </p:sp>
      <p:sp>
        <p:nvSpPr>
          <p:cNvPr id="3" name="Content Placeholder 2"/>
          <p:cNvSpPr>
            <a:spLocks noGrp="1"/>
          </p:cNvSpPr>
          <p:nvPr>
            <p:ph idx="1"/>
          </p:nvPr>
        </p:nvSpPr>
        <p:spPr>
          <a:xfrm>
            <a:off x="714103" y="1463040"/>
            <a:ext cx="10639697" cy="4713923"/>
          </a:xfrm>
        </p:spPr>
        <p:txBody>
          <a:bodyPr>
            <a:noAutofit/>
          </a:bodyPr>
          <a:lstStyle/>
          <a:p>
            <a:pPr fontAlgn="base"/>
            <a:r>
              <a:rPr lang="en-US" sz="2600" b="1" dirty="0" smtClean="0">
                <a:latin typeface="Arial" panose="020B0604020202020204" pitchFamily="34" charset="0"/>
                <a:cs typeface="Arial" panose="020B0604020202020204" pitchFamily="34" charset="0"/>
              </a:rPr>
              <a:t>Less </a:t>
            </a:r>
            <a:r>
              <a:rPr lang="en-US" sz="2600" b="1" dirty="0">
                <a:latin typeface="Arial" panose="020B0604020202020204" pitchFamily="34" charset="0"/>
                <a:cs typeface="Arial" panose="020B0604020202020204" pitchFamily="34" charset="0"/>
              </a:rPr>
              <a:t>than Unit Elastic Supply:</a:t>
            </a:r>
            <a:r>
              <a:rPr lang="en-US" sz="2600" dirty="0">
                <a:latin typeface="Arial" panose="020B0604020202020204" pitchFamily="34" charset="0"/>
                <a:cs typeface="Arial" panose="020B0604020202020204" pitchFamily="34" charset="0"/>
              </a:rPr>
              <a:t> When the change in the supply of a commodity is lesser as compared to the change in its price, we can say that it has a relatively less elastic supply. In such a case, the price elasticity of supply is less than 1.</a:t>
            </a:r>
            <a:endParaRPr lang="en-US" sz="2600" b="1" dirty="0">
              <a:latin typeface="Arial" panose="020B0604020202020204" pitchFamily="34" charset="0"/>
              <a:cs typeface="Arial" panose="020B0604020202020204" pitchFamily="34" charset="0"/>
            </a:endParaRPr>
          </a:p>
          <a:p>
            <a:pPr fontAlgn="base"/>
            <a:r>
              <a:rPr lang="en-US" sz="2600" b="1" dirty="0">
                <a:latin typeface="Arial" panose="020B0604020202020204" pitchFamily="34" charset="0"/>
                <a:cs typeface="Arial" panose="020B0604020202020204" pitchFamily="34" charset="0"/>
              </a:rPr>
              <a:t>Perfectly Inelastic Supply:</a:t>
            </a:r>
            <a:r>
              <a:rPr lang="en-US" sz="2600" dirty="0">
                <a:latin typeface="Arial" panose="020B0604020202020204" pitchFamily="34" charset="0"/>
                <a:cs typeface="Arial" panose="020B0604020202020204" pitchFamily="34" charset="0"/>
              </a:rPr>
              <a:t> Product supply is said to be perfectly inelastic when the percentage change in the quantity supplied is zero irrespective of the change in its price. This type of price elasticity of supply applies to exclusive items. For example, a designer gown styled by a famous personality.</a:t>
            </a:r>
            <a:endParaRPr lang="en-US" sz="2600" b="1" dirty="0">
              <a:latin typeface="Arial" panose="020B0604020202020204" pitchFamily="34" charset="0"/>
              <a:cs typeface="Arial" panose="020B0604020202020204" pitchFamily="34" charset="0"/>
            </a:endParaRPr>
          </a:p>
          <a:p>
            <a:pPr marL="0" indent="0">
              <a:buNone/>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62765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b="1" dirty="0" smtClean="0"/>
              <a:t>Determinants of Price Elasticity of Supply</a:t>
            </a:r>
            <a:endParaRPr lang="en-US" dirty="0"/>
          </a:p>
        </p:txBody>
      </p:sp>
      <p:sp>
        <p:nvSpPr>
          <p:cNvPr id="3" name="Content Placeholder 2"/>
          <p:cNvSpPr>
            <a:spLocks noGrp="1"/>
          </p:cNvSpPr>
          <p:nvPr>
            <p:ph idx="1"/>
          </p:nvPr>
        </p:nvSpPr>
        <p:spPr>
          <a:xfrm>
            <a:off x="838200" y="1454331"/>
            <a:ext cx="10515600" cy="4722632"/>
          </a:xfrm>
        </p:spPr>
        <p:txBody>
          <a:bodyPr>
            <a:noAutofit/>
          </a:bodyPr>
          <a:lstStyle/>
          <a:p>
            <a:pPr fontAlgn="base"/>
            <a:r>
              <a:rPr lang="en-US" b="1" dirty="0" smtClean="0">
                <a:latin typeface="Arial" panose="020B0604020202020204" pitchFamily="34" charset="0"/>
                <a:cs typeface="Arial" panose="020B0604020202020204" pitchFamily="34" charset="0"/>
              </a:rPr>
              <a:t>Marginal </a:t>
            </a:r>
            <a:r>
              <a:rPr lang="en-US" b="1" dirty="0">
                <a:latin typeface="Arial" panose="020B0604020202020204" pitchFamily="34" charset="0"/>
                <a:cs typeface="Arial" panose="020B0604020202020204" pitchFamily="34" charset="0"/>
              </a:rPr>
              <a:t>Cost-</a:t>
            </a:r>
            <a:r>
              <a:rPr lang="en-US" dirty="0">
                <a:latin typeface="Arial" panose="020B0604020202020204" pitchFamily="34" charset="0"/>
                <a:cs typeface="Arial" panose="020B0604020202020204" pitchFamily="34" charset="0"/>
              </a:rPr>
              <a:t> As the cost of producing one more unit is rising with output or Marginal Costs (which are the increased costs related to each additional unit produced) are rising rapidly with output, then the rate of output production will be limited, </a:t>
            </a:r>
            <a:r>
              <a:rPr lang="en-US" dirty="0" smtClean="0">
                <a:latin typeface="Arial" panose="020B0604020202020204" pitchFamily="34" charset="0"/>
                <a:cs typeface="Arial" panose="020B0604020202020204" pitchFamily="34" charset="0"/>
              </a:rPr>
              <a:t>i.e. </a:t>
            </a:r>
            <a:r>
              <a:rPr lang="en-US" b="1" dirty="0">
                <a:latin typeface="Arial" panose="020B0604020202020204" pitchFamily="34" charset="0"/>
                <a:cs typeface="Arial" panose="020B0604020202020204" pitchFamily="34" charset="0"/>
              </a:rPr>
              <a:t>Price Elasticity of Supply will be inelastic</a:t>
            </a:r>
            <a:r>
              <a:rPr lang="en-US" dirty="0">
                <a:latin typeface="Arial" panose="020B0604020202020204" pitchFamily="34" charset="0"/>
                <a:cs typeface="Arial" panose="020B0604020202020204" pitchFamily="34" charset="0"/>
              </a:rPr>
              <a:t>., which means that the percentage of quantity supplied changes less than the change in price. However, if Marginal Cost rises slowly, then Supply will be elastic.</a:t>
            </a:r>
          </a:p>
          <a:p>
            <a:pPr fontAlgn="base"/>
            <a:r>
              <a:rPr lang="en-US" b="1" dirty="0">
                <a:latin typeface="Arial" panose="020B0604020202020204" pitchFamily="34" charset="0"/>
                <a:cs typeface="Arial" panose="020B0604020202020204" pitchFamily="34" charset="0"/>
              </a:rPr>
              <a:t>Time-</a:t>
            </a:r>
            <a:r>
              <a:rPr lang="en-US" dirty="0">
                <a:latin typeface="Arial" panose="020B0604020202020204" pitchFamily="34" charset="0"/>
                <a:cs typeface="Arial" panose="020B0604020202020204" pitchFamily="34" charset="0"/>
              </a:rPr>
              <a:t> As the price elasticity of supply increases over time, producers would increase the quantity supplied by a greater percentage than the price increases.</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15264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normAutofit fontScale="90000"/>
          </a:bodyPr>
          <a:lstStyle/>
          <a:p>
            <a:r>
              <a:rPr lang="en-US" b="1" dirty="0" smtClean="0">
                <a:latin typeface="Arial" panose="020B0604020202020204" pitchFamily="34" charset="0"/>
                <a:cs typeface="Arial" panose="020B0604020202020204" pitchFamily="34" charset="0"/>
              </a:rPr>
              <a:t>Determinants of Price Elasticity of Supply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454331"/>
            <a:ext cx="10515600" cy="4722632"/>
          </a:xfrm>
        </p:spPr>
        <p:txBody>
          <a:bodyPr>
            <a:noAutofit/>
          </a:bodyPr>
          <a:lstStyle/>
          <a:p>
            <a:pPr fontAlgn="base"/>
            <a:r>
              <a:rPr lang="en-US" b="1" dirty="0" smtClean="0">
                <a:latin typeface="Arial" panose="020B0604020202020204" pitchFamily="34" charset="0"/>
                <a:cs typeface="Arial" panose="020B0604020202020204" pitchFamily="34" charset="0"/>
              </a:rPr>
              <a:t>Number </a:t>
            </a:r>
            <a:r>
              <a:rPr lang="en-US" b="1" dirty="0">
                <a:latin typeface="Arial" panose="020B0604020202020204" pitchFamily="34" charset="0"/>
                <a:cs typeface="Arial" panose="020B0604020202020204" pitchFamily="34" charset="0"/>
              </a:rPr>
              <a:t>of Firms-</a:t>
            </a:r>
            <a:r>
              <a:rPr lang="en-US" dirty="0">
                <a:latin typeface="Arial" panose="020B0604020202020204" pitchFamily="34" charset="0"/>
                <a:cs typeface="Arial" panose="020B0604020202020204" pitchFamily="34" charset="0"/>
              </a:rPr>
              <a:t> It is more likely that the supply will be elastic when there are a large number of firms. This occurs because other firms can step in to fill the supply gap.</a:t>
            </a:r>
          </a:p>
          <a:p>
            <a:pPr fontAlgn="base"/>
            <a:r>
              <a:rPr lang="en-US" b="1" dirty="0">
                <a:latin typeface="Arial" panose="020B0604020202020204" pitchFamily="34" charset="0"/>
                <a:cs typeface="Arial" panose="020B0604020202020204" pitchFamily="34" charset="0"/>
              </a:rPr>
              <a:t>Mobility of Factors of Production-</a:t>
            </a:r>
            <a:r>
              <a:rPr lang="en-US" dirty="0">
                <a:latin typeface="Arial" panose="020B0604020202020204" pitchFamily="34" charset="0"/>
                <a:cs typeface="Arial" panose="020B0604020202020204" pitchFamily="34" charset="0"/>
              </a:rPr>
              <a:t> When the factors of production are mobile, then the price elasticities of supply are higher. This means that labor and other manufacturing inputs may be imported from other regions to quickly increase production.</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8022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1</a:t>
            </a:r>
            <a:endParaRPr lang="en-US" dirty="0"/>
          </a:p>
        </p:txBody>
      </p:sp>
      <p:sp>
        <p:nvSpPr>
          <p:cNvPr id="3" name="Content Placeholder 2"/>
          <p:cNvSpPr>
            <a:spLocks noGrp="1"/>
          </p:cNvSpPr>
          <p:nvPr>
            <p:ph idx="1"/>
          </p:nvPr>
        </p:nvSpPr>
        <p:spPr>
          <a:xfrm>
            <a:off x="838200" y="1690688"/>
            <a:ext cx="10515600" cy="4486275"/>
          </a:xfrm>
        </p:spPr>
        <p:txBody>
          <a:bodyPr/>
          <a:lstStyle/>
          <a:p>
            <a:pPr marL="0" lvl="1" indent="0">
              <a:spcBef>
                <a:spcPts val="1000"/>
              </a:spcBef>
              <a:buNone/>
            </a:pPr>
            <a:r>
              <a:rPr lang="en-US" dirty="0" smtClean="0">
                <a:latin typeface="Arial" panose="020B0604020202020204" pitchFamily="34" charset="0"/>
                <a:cs typeface="Arial" panose="020B0604020202020204" pitchFamily="34" charset="0"/>
              </a:rPr>
              <a:t>Use the arc formula to calculate the elasticity of demand at each successive </a:t>
            </a:r>
            <a:r>
              <a:rPr lang="en-US" smtClean="0">
                <a:latin typeface="Arial" panose="020B0604020202020204" pitchFamily="34" charset="0"/>
                <a:cs typeface="Arial" panose="020B0604020202020204" pitchFamily="34" charset="0"/>
              </a:rPr>
              <a:t>point from A to H.</a:t>
            </a:r>
            <a:endParaRPr lang="en-US" sz="2000"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608407751"/>
              </p:ext>
            </p:extLst>
          </p:nvPr>
        </p:nvGraphicFramePr>
        <p:xfrm>
          <a:off x="1018313" y="3140093"/>
          <a:ext cx="9928360" cy="1309987"/>
        </p:xfrm>
        <a:graphic>
          <a:graphicData uri="http://schemas.openxmlformats.org/drawingml/2006/table">
            <a:tbl>
              <a:tblPr firstRow="1" firstCol="1" bandRow="1">
                <a:tableStyleId>{5C22544A-7EE6-4342-B048-85BDC9FD1C3A}</a:tableStyleId>
              </a:tblPr>
              <a:tblGrid>
                <a:gridCol w="1303586">
                  <a:extLst>
                    <a:ext uri="{9D8B030D-6E8A-4147-A177-3AD203B41FA5}">
                      <a16:colId xmlns:a16="http://schemas.microsoft.com/office/drawing/2014/main" val="3033393403"/>
                    </a:ext>
                  </a:extLst>
                </a:gridCol>
                <a:gridCol w="1311810">
                  <a:extLst>
                    <a:ext uri="{9D8B030D-6E8A-4147-A177-3AD203B41FA5}">
                      <a16:colId xmlns:a16="http://schemas.microsoft.com/office/drawing/2014/main" val="301387063"/>
                    </a:ext>
                  </a:extLst>
                </a:gridCol>
                <a:gridCol w="1310439">
                  <a:extLst>
                    <a:ext uri="{9D8B030D-6E8A-4147-A177-3AD203B41FA5}">
                      <a16:colId xmlns:a16="http://schemas.microsoft.com/office/drawing/2014/main" val="3739492843"/>
                    </a:ext>
                  </a:extLst>
                </a:gridCol>
                <a:gridCol w="1311810">
                  <a:extLst>
                    <a:ext uri="{9D8B030D-6E8A-4147-A177-3AD203B41FA5}">
                      <a16:colId xmlns:a16="http://schemas.microsoft.com/office/drawing/2014/main" val="6846629"/>
                    </a:ext>
                  </a:extLst>
                </a:gridCol>
                <a:gridCol w="1310439">
                  <a:extLst>
                    <a:ext uri="{9D8B030D-6E8A-4147-A177-3AD203B41FA5}">
                      <a16:colId xmlns:a16="http://schemas.microsoft.com/office/drawing/2014/main" val="1485953591"/>
                    </a:ext>
                  </a:extLst>
                </a:gridCol>
                <a:gridCol w="1311810">
                  <a:extLst>
                    <a:ext uri="{9D8B030D-6E8A-4147-A177-3AD203B41FA5}">
                      <a16:colId xmlns:a16="http://schemas.microsoft.com/office/drawing/2014/main" val="4035961943"/>
                    </a:ext>
                  </a:extLst>
                </a:gridCol>
                <a:gridCol w="1030806">
                  <a:extLst>
                    <a:ext uri="{9D8B030D-6E8A-4147-A177-3AD203B41FA5}">
                      <a16:colId xmlns:a16="http://schemas.microsoft.com/office/drawing/2014/main" val="1211250274"/>
                    </a:ext>
                  </a:extLst>
                </a:gridCol>
                <a:gridCol w="1037660">
                  <a:extLst>
                    <a:ext uri="{9D8B030D-6E8A-4147-A177-3AD203B41FA5}">
                      <a16:colId xmlns:a16="http://schemas.microsoft.com/office/drawing/2014/main" val="125985429"/>
                    </a:ext>
                  </a:extLst>
                </a:gridCol>
              </a:tblGrid>
              <a:tr h="359845">
                <a:tc>
                  <a:txBody>
                    <a:bodyPr/>
                    <a:lstStyle/>
                    <a:p>
                      <a:pPr marL="3175"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Point</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A</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B</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C</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D</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F</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G</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317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H</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extLst>
                  <a:ext uri="{0D108BD9-81ED-4DB2-BD59-A6C34878D82A}">
                    <a16:rowId xmlns:a16="http://schemas.microsoft.com/office/drawing/2014/main" val="2377752375"/>
                  </a:ext>
                </a:extLst>
              </a:tr>
              <a:tr h="354458">
                <a:tc>
                  <a:txBody>
                    <a:bodyPr/>
                    <a:lstStyle/>
                    <a:p>
                      <a:pPr marL="3175"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P</a:t>
                      </a:r>
                      <a:r>
                        <a:rPr lang="en-US" sz="1400" baseline="-25000">
                          <a:effectLst/>
                          <a:latin typeface="Arial" panose="020B0604020202020204" pitchFamily="34" charset="0"/>
                          <a:cs typeface="Arial" panose="020B0604020202020204" pitchFamily="34" charset="0"/>
                        </a:rPr>
                        <a:t>x</a:t>
                      </a:r>
                      <a:r>
                        <a:rPr lang="en-US" sz="1400">
                          <a:effectLst/>
                          <a:latin typeface="Arial" panose="020B0604020202020204" pitchFamily="34" charset="0"/>
                          <a:cs typeface="Arial" panose="020B0604020202020204" pitchFamily="34" charset="0"/>
                        </a:rPr>
                        <a:t>($)</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635"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6</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5</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4</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3</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2</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1</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254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extLst>
                  <a:ext uri="{0D108BD9-81ED-4DB2-BD59-A6C34878D82A}">
                    <a16:rowId xmlns:a16="http://schemas.microsoft.com/office/drawing/2014/main" val="2529185991"/>
                  </a:ext>
                </a:extLst>
              </a:tr>
              <a:tr h="595684">
                <a:tc>
                  <a:txBody>
                    <a:bodyPr/>
                    <a:lstStyle/>
                    <a:p>
                      <a:pPr marL="381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Q</a:t>
                      </a:r>
                      <a:r>
                        <a:rPr lang="en-US" sz="1400" baseline="-25000">
                          <a:effectLst/>
                          <a:latin typeface="Arial" panose="020B0604020202020204" pitchFamily="34" charset="0"/>
                          <a:cs typeface="Arial" panose="020B0604020202020204" pitchFamily="34" charset="0"/>
                        </a:rPr>
                        <a:t>x</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20,000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40,000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635"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60,000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ctr">
                        <a:lnSpc>
                          <a:spcPct val="107000"/>
                        </a:lnSpc>
                        <a:spcBef>
                          <a:spcPts val="0"/>
                        </a:spcBef>
                        <a:spcAft>
                          <a:spcPts val="0"/>
                        </a:spcAft>
                      </a:pPr>
                      <a:r>
                        <a:rPr lang="en-US" sz="1400">
                          <a:effectLst/>
                          <a:latin typeface="Arial" panose="020B0604020202020204" pitchFamily="34" charset="0"/>
                          <a:cs typeface="Arial" panose="020B0604020202020204" pitchFamily="34" charset="0"/>
                        </a:rPr>
                        <a:t>80,000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l">
                        <a:lnSpc>
                          <a:spcPct val="107000"/>
                        </a:lnSpc>
                        <a:spcBef>
                          <a:spcPts val="0"/>
                        </a:spcBef>
                        <a:spcAft>
                          <a:spcPts val="0"/>
                        </a:spcAft>
                      </a:pPr>
                      <a:r>
                        <a:rPr lang="en-US" sz="1400">
                          <a:effectLst/>
                          <a:latin typeface="Arial" panose="020B0604020202020204" pitchFamily="34" charset="0"/>
                          <a:cs typeface="Arial" panose="020B0604020202020204" pitchFamily="34" charset="0"/>
                        </a:rPr>
                        <a:t>100,000</a:t>
                      </a: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tc>
                  <a:txBody>
                    <a:bodyPr/>
                    <a:lstStyle/>
                    <a:p>
                      <a:pPr marL="0" marR="0" indent="0" algn="l">
                        <a:lnSpc>
                          <a:spcPct val="107000"/>
                        </a:lnSpc>
                        <a:spcBef>
                          <a:spcPts val="0"/>
                        </a:spcBef>
                        <a:spcAft>
                          <a:spcPts val="0"/>
                        </a:spcAft>
                      </a:pPr>
                      <a:r>
                        <a:rPr lang="en-US" sz="1400" dirty="0">
                          <a:effectLst/>
                          <a:latin typeface="Arial" panose="020B0604020202020204" pitchFamily="34" charset="0"/>
                          <a:cs typeface="Arial" panose="020B0604020202020204" pitchFamily="34" charset="0"/>
                        </a:rPr>
                        <a:t>120,000</a:t>
                      </a:r>
                      <a:endPar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3340" marR="53975" marT="64770" marB="0"/>
                </a:tc>
                <a:extLst>
                  <a:ext uri="{0D108BD9-81ED-4DB2-BD59-A6C34878D82A}">
                    <a16:rowId xmlns:a16="http://schemas.microsoft.com/office/drawing/2014/main" val="3286411797"/>
                  </a:ext>
                </a:extLst>
              </a:tr>
            </a:tbl>
          </a:graphicData>
        </a:graphic>
      </p:graphicFrame>
    </p:spTree>
    <p:extLst>
      <p:ext uri="{BB962C8B-B14F-4D97-AF65-F5344CB8AC3E}">
        <p14:creationId xmlns:p14="http://schemas.microsoft.com/office/powerpoint/2010/main" val="37661799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164709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4000" b="1" dirty="0" smtClean="0"/>
              <a:t>THANK YOU</a:t>
            </a:r>
            <a:endParaRPr lang="en-US" sz="4000" b="1" dirty="0"/>
          </a:p>
        </p:txBody>
      </p:sp>
    </p:spTree>
    <p:extLst>
      <p:ext uri="{BB962C8B-B14F-4D97-AF65-F5344CB8AC3E}">
        <p14:creationId xmlns:p14="http://schemas.microsoft.com/office/powerpoint/2010/main" val="27644405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1313</Words>
  <Application>Microsoft Office PowerPoint</Application>
  <PresentationFormat>Widescreen</PresentationFormat>
  <Paragraphs>170</Paragraphs>
  <Slides>27</Slides>
  <Notes>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3</vt:i4>
      </vt:variant>
      <vt:variant>
        <vt:lpstr>Slide Titles</vt:lpstr>
      </vt:variant>
      <vt:variant>
        <vt:i4>27</vt:i4>
      </vt:variant>
    </vt:vector>
  </HeadingPairs>
  <TitlesOfParts>
    <vt:vector size="37" baseType="lpstr">
      <vt:lpstr>Arial</vt:lpstr>
      <vt:lpstr>Calibri</vt:lpstr>
      <vt:lpstr>Calibri Light</vt:lpstr>
      <vt:lpstr>Monotype Sorts</vt:lpstr>
      <vt:lpstr>Tahoma</vt:lpstr>
      <vt:lpstr>Times New Roman</vt:lpstr>
      <vt:lpstr>Office Theme</vt:lpstr>
      <vt:lpstr>Microsoft Equation 3.0</vt:lpstr>
      <vt:lpstr>Equation.DSMT4</vt:lpstr>
      <vt:lpstr>Corel WordPerfect 8 Document</vt:lpstr>
      <vt:lpstr>Elasticity of Demand and Supply</vt:lpstr>
      <vt:lpstr>Price Elasticity of Demand</vt:lpstr>
      <vt:lpstr>Kinds Of Price Elasticity Of Demand </vt:lpstr>
      <vt:lpstr>Elasticity of Demand Types-Graphical</vt:lpstr>
      <vt:lpstr>Elasticity of Demand Types-Graphical</vt:lpstr>
      <vt:lpstr>Elasticity of Demand Types-Graphical</vt:lpstr>
      <vt:lpstr>Elasticity of Demand Types-Graphical</vt:lpstr>
      <vt:lpstr>Elasticity of Demand Types-Graphical</vt:lpstr>
      <vt:lpstr>Elasticity of Demand Measurement</vt:lpstr>
      <vt:lpstr>Determinants of Price Elasticity of Demand</vt:lpstr>
      <vt:lpstr>Determinants of Price Elasticity of Demand</vt:lpstr>
      <vt:lpstr>Example</vt:lpstr>
      <vt:lpstr>PowerPoint Presentation</vt:lpstr>
      <vt:lpstr>Income Elasticity of Demand</vt:lpstr>
      <vt:lpstr> Computing Income Elasticity</vt:lpstr>
      <vt:lpstr>Income Elasticity - Types of Goods -</vt:lpstr>
      <vt:lpstr>Cross Price Elasticity of Demand</vt:lpstr>
      <vt:lpstr>Cross Price Elasticity of Demand</vt:lpstr>
      <vt:lpstr>Elasticity of Supply</vt:lpstr>
      <vt:lpstr>Price Elasticity of Supply</vt:lpstr>
      <vt:lpstr>5 Types of Elasticity of Supply</vt:lpstr>
      <vt:lpstr>5 Types of Elasticity of Supply</vt:lpstr>
      <vt:lpstr>Determinants of Price Elasticity of Supply</vt:lpstr>
      <vt:lpstr>Determinants of Price Elasticity of Supply</vt:lpstr>
      <vt:lpstr>Exercise 1</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Elasticity of Demand and Supply</dc:title>
  <dc:creator>user</dc:creator>
  <cp:lastModifiedBy>user</cp:lastModifiedBy>
  <cp:revision>43</cp:revision>
  <dcterms:created xsi:type="dcterms:W3CDTF">2022-10-12T02:54:53Z</dcterms:created>
  <dcterms:modified xsi:type="dcterms:W3CDTF">2022-10-12T07:04:43Z</dcterms:modified>
</cp:coreProperties>
</file>