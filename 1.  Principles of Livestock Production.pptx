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58"/>
  </p:notesMasterIdLst>
  <p:sldIdLst>
    <p:sldId id="256" r:id="rId2"/>
    <p:sldId id="265" r:id="rId3"/>
    <p:sldId id="257" r:id="rId4"/>
    <p:sldId id="361" r:id="rId5"/>
    <p:sldId id="305" r:id="rId6"/>
    <p:sldId id="284" r:id="rId7"/>
    <p:sldId id="315" r:id="rId8"/>
    <p:sldId id="335" r:id="rId9"/>
    <p:sldId id="316" r:id="rId10"/>
    <p:sldId id="304" r:id="rId11"/>
    <p:sldId id="365" r:id="rId12"/>
    <p:sldId id="306" r:id="rId13"/>
    <p:sldId id="310" r:id="rId14"/>
    <p:sldId id="307" r:id="rId15"/>
    <p:sldId id="311" r:id="rId16"/>
    <p:sldId id="292" r:id="rId17"/>
    <p:sldId id="298" r:id="rId18"/>
    <p:sldId id="299" r:id="rId19"/>
    <p:sldId id="300" r:id="rId20"/>
    <p:sldId id="301" r:id="rId21"/>
    <p:sldId id="302" r:id="rId22"/>
    <p:sldId id="258" r:id="rId23"/>
    <p:sldId id="282" r:id="rId24"/>
    <p:sldId id="309" r:id="rId25"/>
    <p:sldId id="259" r:id="rId26"/>
    <p:sldId id="359" r:id="rId27"/>
    <p:sldId id="350" r:id="rId28"/>
    <p:sldId id="290" r:id="rId29"/>
    <p:sldId id="312" r:id="rId30"/>
    <p:sldId id="345" r:id="rId31"/>
    <p:sldId id="319" r:id="rId32"/>
    <p:sldId id="360" r:id="rId33"/>
    <p:sldId id="320" r:id="rId34"/>
    <p:sldId id="325" r:id="rId35"/>
    <p:sldId id="353" r:id="rId36"/>
    <p:sldId id="326" r:id="rId37"/>
    <p:sldId id="322" r:id="rId38"/>
    <p:sldId id="323" r:id="rId39"/>
    <p:sldId id="328" r:id="rId40"/>
    <p:sldId id="351" r:id="rId41"/>
    <p:sldId id="308" r:id="rId42"/>
    <p:sldId id="341" r:id="rId43"/>
    <p:sldId id="363" r:id="rId44"/>
    <p:sldId id="285" r:id="rId45"/>
    <p:sldId id="349" r:id="rId46"/>
    <p:sldId id="286" r:id="rId47"/>
    <p:sldId id="260" r:id="rId48"/>
    <p:sldId id="339" r:id="rId49"/>
    <p:sldId id="340" r:id="rId50"/>
    <p:sldId id="342" r:id="rId51"/>
    <p:sldId id="352" r:id="rId52"/>
    <p:sldId id="330" r:id="rId53"/>
    <p:sldId id="331" r:id="rId54"/>
    <p:sldId id="356" r:id="rId55"/>
    <p:sldId id="332" r:id="rId56"/>
    <p:sldId id="364"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5401" autoAdjust="0"/>
  </p:normalViewPr>
  <p:slideViewPr>
    <p:cSldViewPr snapToGrid="0">
      <p:cViewPr varScale="1">
        <p:scale>
          <a:sx n="77" d="100"/>
          <a:sy n="77" d="100"/>
        </p:scale>
        <p:origin x="49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6F1FE-8C89-4D8A-8599-93E7F2EB8779}" type="datetimeFigureOut">
              <a:rPr lang="en-GB" smtClean="0"/>
              <a:t>10/02/2026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FDAB0-7D00-435C-92FE-69116235217E}" type="slidenum">
              <a:rPr lang="en-GB" smtClean="0"/>
              <a:t>‹#›</a:t>
            </a:fld>
            <a:endParaRPr lang="en-GB"/>
          </a:p>
        </p:txBody>
      </p:sp>
    </p:spTree>
    <p:extLst>
      <p:ext uri="{BB962C8B-B14F-4D97-AF65-F5344CB8AC3E}">
        <p14:creationId xmlns:p14="http://schemas.microsoft.com/office/powerpoint/2010/main" val="2564396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Livestock (horses included) as opposed to Pets</a:t>
            </a:r>
          </a:p>
        </p:txBody>
      </p:sp>
      <p:sp>
        <p:nvSpPr>
          <p:cNvPr id="4" name="Slide Number Placeholder 3"/>
          <p:cNvSpPr>
            <a:spLocks noGrp="1"/>
          </p:cNvSpPr>
          <p:nvPr>
            <p:ph type="sldNum" sz="quarter" idx="10"/>
          </p:nvPr>
        </p:nvSpPr>
        <p:spPr/>
        <p:txBody>
          <a:bodyPr/>
          <a:lstStyle/>
          <a:p>
            <a:fld id="{2D0FDAB0-7D00-435C-92FE-69116235217E}" type="slidenum">
              <a:rPr lang="en-GB" smtClean="0"/>
              <a:t>5</a:t>
            </a:fld>
            <a:endParaRPr lang="en-GB"/>
          </a:p>
        </p:txBody>
      </p:sp>
    </p:spTree>
    <p:extLst>
      <p:ext uri="{BB962C8B-B14F-4D97-AF65-F5344CB8AC3E}">
        <p14:creationId xmlns:p14="http://schemas.microsoft.com/office/powerpoint/2010/main" val="308564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FS represents</a:t>
            </a:r>
            <a:r>
              <a:rPr lang="en-GB" baseline="0" dirty="0"/>
              <a:t> an appropriate combination of farm enterprises and the means available to the farmer to raise them for profitability</a:t>
            </a:r>
            <a:endParaRPr lang="en-GB" dirty="0"/>
          </a:p>
          <a:p>
            <a:r>
              <a:rPr lang="en-GB" dirty="0"/>
              <a:t>IFS envisage harnessing the complementarities</a:t>
            </a:r>
            <a:r>
              <a:rPr lang="en-GB" baseline="0" dirty="0"/>
              <a:t> and synergies </a:t>
            </a:r>
            <a:r>
              <a:rPr lang="en-GB" baseline="0" dirty="0" err="1"/>
              <a:t>aamong</a:t>
            </a:r>
            <a:r>
              <a:rPr lang="en-GB" baseline="0" dirty="0"/>
              <a:t> different agricultural sub-systems/enterprises and augmenting the total productivity, sustainability and gainful employment.</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6</a:t>
            </a:fld>
            <a:endParaRPr lang="en-GB"/>
          </a:p>
        </p:txBody>
      </p:sp>
    </p:spTree>
    <p:extLst>
      <p:ext uri="{BB962C8B-B14F-4D97-AF65-F5344CB8AC3E}">
        <p14:creationId xmlns:p14="http://schemas.microsoft.com/office/powerpoint/2010/main" val="3539527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Practices usually based on indigenous knowledge</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7</a:t>
            </a:fld>
            <a:endParaRPr lang="en-GB"/>
          </a:p>
        </p:txBody>
      </p:sp>
    </p:spTree>
    <p:extLst>
      <p:ext uri="{BB962C8B-B14F-4D97-AF65-F5344CB8AC3E}">
        <p14:creationId xmlns:p14="http://schemas.microsoft.com/office/powerpoint/2010/main" val="3465816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These</a:t>
            </a:r>
            <a:r>
              <a:rPr lang="en-GB" baseline="0" dirty="0"/>
              <a:t> are the big five: cattle, sheep, goats, pigs and chickens</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15</a:t>
            </a:fld>
            <a:endParaRPr lang="en-GB"/>
          </a:p>
        </p:txBody>
      </p:sp>
    </p:spTree>
    <p:extLst>
      <p:ext uri="{BB962C8B-B14F-4D97-AF65-F5344CB8AC3E}">
        <p14:creationId xmlns:p14="http://schemas.microsoft.com/office/powerpoint/2010/main" val="23736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Meat</a:t>
            </a:r>
            <a:r>
              <a:rPr lang="en-GB" baseline="0" dirty="0"/>
              <a:t> from cattle – beef and veal if from calf</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16</a:t>
            </a:fld>
            <a:endParaRPr lang="en-GB"/>
          </a:p>
        </p:txBody>
      </p:sp>
    </p:spTree>
    <p:extLst>
      <p:ext uri="{BB962C8B-B14F-4D97-AF65-F5344CB8AC3E}">
        <p14:creationId xmlns:p14="http://schemas.microsoft.com/office/powerpoint/2010/main" val="1974190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Pork is general term </a:t>
            </a:r>
          </a:p>
          <a:p>
            <a:r>
              <a:rPr lang="en-GB" dirty="0"/>
              <a:t>Ham for meat</a:t>
            </a:r>
            <a:r>
              <a:rPr lang="en-GB" baseline="0" dirty="0"/>
              <a:t> from the thigh of pigs</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17</a:t>
            </a:fld>
            <a:endParaRPr lang="en-GB"/>
          </a:p>
        </p:txBody>
      </p:sp>
    </p:spTree>
    <p:extLst>
      <p:ext uri="{BB962C8B-B14F-4D97-AF65-F5344CB8AC3E}">
        <p14:creationId xmlns:p14="http://schemas.microsoft.com/office/powerpoint/2010/main" val="343597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Meat – </a:t>
            </a:r>
            <a:r>
              <a:rPr lang="en-GB" dirty="0" err="1"/>
              <a:t>chevon</a:t>
            </a:r>
            <a:r>
              <a:rPr lang="en-GB" dirty="0"/>
              <a:t> derived from the French word,</a:t>
            </a:r>
            <a:r>
              <a:rPr lang="en-GB" baseline="0" dirty="0"/>
              <a:t> </a:t>
            </a:r>
            <a:r>
              <a:rPr lang="en-GB" baseline="0" dirty="0" err="1"/>
              <a:t>chevre</a:t>
            </a:r>
            <a:r>
              <a:rPr lang="en-GB" baseline="0" dirty="0"/>
              <a:t> (</a:t>
            </a:r>
            <a:r>
              <a:rPr lang="en-GB" baseline="0" dirty="0" err="1"/>
              <a:t>shevvra</a:t>
            </a:r>
            <a:r>
              <a:rPr lang="en-GB" baseline="0" dirty="0"/>
              <a:t>)</a:t>
            </a:r>
          </a:p>
          <a:p>
            <a:r>
              <a:rPr lang="en-GB" baseline="0" dirty="0" err="1"/>
              <a:t>Doelings</a:t>
            </a:r>
            <a:r>
              <a:rPr lang="en-GB" baseline="0" dirty="0"/>
              <a:t> – female goat above 6 months and has not reached maturity</a:t>
            </a:r>
          </a:p>
          <a:p>
            <a:r>
              <a:rPr lang="en-GB" baseline="0" dirty="0"/>
              <a:t>Buckling</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18</a:t>
            </a:fld>
            <a:endParaRPr lang="en-GB"/>
          </a:p>
        </p:txBody>
      </p:sp>
    </p:spTree>
    <p:extLst>
      <p:ext uri="{BB962C8B-B14F-4D97-AF65-F5344CB8AC3E}">
        <p14:creationId xmlns:p14="http://schemas.microsoft.com/office/powerpoint/2010/main" val="238043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Meat – mutton</a:t>
            </a:r>
          </a:p>
          <a:p>
            <a:r>
              <a:rPr lang="en-GB" dirty="0"/>
              <a:t>stag</a:t>
            </a:r>
          </a:p>
        </p:txBody>
      </p:sp>
      <p:sp>
        <p:nvSpPr>
          <p:cNvPr id="4" name="Slide Number Placeholder 3"/>
          <p:cNvSpPr>
            <a:spLocks noGrp="1"/>
          </p:cNvSpPr>
          <p:nvPr>
            <p:ph type="sldNum" sz="quarter" idx="10"/>
          </p:nvPr>
        </p:nvSpPr>
        <p:spPr/>
        <p:txBody>
          <a:bodyPr/>
          <a:lstStyle/>
          <a:p>
            <a:fld id="{2D0FDAB0-7D00-435C-92FE-69116235217E}" type="slidenum">
              <a:rPr lang="en-GB" smtClean="0"/>
              <a:t>19</a:t>
            </a:fld>
            <a:endParaRPr lang="en-GB"/>
          </a:p>
        </p:txBody>
      </p:sp>
    </p:spTree>
    <p:extLst>
      <p:ext uri="{BB962C8B-B14F-4D97-AF65-F5344CB8AC3E}">
        <p14:creationId xmlns:p14="http://schemas.microsoft.com/office/powerpoint/2010/main" val="3797373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Broiler</a:t>
            </a:r>
            <a:r>
              <a:rPr lang="en-GB" baseline="0" dirty="0"/>
              <a:t> – young chicken at market weight</a:t>
            </a:r>
            <a:endParaRPr lang="en-GB" dirty="0"/>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20</a:t>
            </a:fld>
            <a:endParaRPr lang="en-GB"/>
          </a:p>
        </p:txBody>
      </p:sp>
    </p:spTree>
    <p:extLst>
      <p:ext uri="{BB962C8B-B14F-4D97-AF65-F5344CB8AC3E}">
        <p14:creationId xmlns:p14="http://schemas.microsoft.com/office/powerpoint/2010/main" val="202604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Food </a:t>
            </a:r>
            <a:r>
              <a:rPr lang="en-GB" dirty="0" err="1"/>
              <a:t>ie</a:t>
            </a:r>
            <a:r>
              <a:rPr lang="en-GB" dirty="0"/>
              <a:t>.</a:t>
            </a:r>
            <a:r>
              <a:rPr lang="en-GB" baseline="0" dirty="0"/>
              <a:t> Meat. Milk and eggs</a:t>
            </a:r>
          </a:p>
          <a:p>
            <a:r>
              <a:rPr lang="en-GB" baseline="0" dirty="0"/>
              <a:t>Income </a:t>
            </a:r>
            <a:r>
              <a:rPr lang="en-GB" baseline="0" dirty="0" err="1"/>
              <a:t>e.g</a:t>
            </a:r>
            <a:r>
              <a:rPr lang="en-GB" baseline="0" dirty="0"/>
              <a:t> thru sales and employment</a:t>
            </a:r>
          </a:p>
          <a:p>
            <a:r>
              <a:rPr lang="en-GB" baseline="0" dirty="0"/>
              <a:t>Climate Smart </a:t>
            </a:r>
            <a:r>
              <a:rPr lang="en-GB" baseline="0" dirty="0" err="1"/>
              <a:t>Agric</a:t>
            </a:r>
            <a:r>
              <a:rPr lang="en-GB" baseline="0" dirty="0"/>
              <a:t> – feed to food conversion  efficiency in animal production systems is a fundamental strategy for improving environment sustainability</a:t>
            </a:r>
          </a:p>
          <a:p>
            <a:r>
              <a:rPr lang="en-GB" dirty="0"/>
              <a:t>Draught power </a:t>
            </a:r>
            <a:r>
              <a:rPr lang="en-GB" dirty="0" err="1"/>
              <a:t>ie</a:t>
            </a:r>
            <a:r>
              <a:rPr lang="en-GB" dirty="0"/>
              <a:t>. Used during tillage, transport, removes drudgery</a:t>
            </a:r>
          </a:p>
        </p:txBody>
      </p:sp>
      <p:sp>
        <p:nvSpPr>
          <p:cNvPr id="4" name="Slide Number Placeholder 3"/>
          <p:cNvSpPr>
            <a:spLocks noGrp="1"/>
          </p:cNvSpPr>
          <p:nvPr>
            <p:ph type="sldNum" sz="quarter" idx="10"/>
          </p:nvPr>
        </p:nvSpPr>
        <p:spPr/>
        <p:txBody>
          <a:bodyPr/>
          <a:lstStyle/>
          <a:p>
            <a:fld id="{2D0FDAB0-7D00-435C-92FE-69116235217E}" type="slidenum">
              <a:rPr lang="en-GB" smtClean="0"/>
              <a:t>24</a:t>
            </a:fld>
            <a:endParaRPr lang="en-GB"/>
          </a:p>
        </p:txBody>
      </p:sp>
    </p:spTree>
    <p:extLst>
      <p:ext uri="{BB962C8B-B14F-4D97-AF65-F5344CB8AC3E}">
        <p14:creationId xmlns:p14="http://schemas.microsoft.com/office/powerpoint/2010/main" val="1105882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Fibres categorised</a:t>
            </a:r>
            <a:r>
              <a:rPr lang="en-GB" baseline="0" dirty="0"/>
              <a:t> depending on their varying colour, which is reflection of myoglobin content. Type 1 fibres appear red due to the high levels of myoglobin. Red muscle fibres have more </a:t>
            </a:r>
            <a:r>
              <a:rPr lang="en-GB" baseline="0" dirty="0" err="1"/>
              <a:t>mitochrondria</a:t>
            </a:r>
            <a:r>
              <a:rPr lang="en-GB" baseline="0" dirty="0"/>
              <a:t> and greater local capillary density. These muscles are more suited for endurance and are slow to fatigue because they use oxidative metabolism to generate ATP. Less oxidative type II fibres are white due to relatively low myoglobin and reliance </a:t>
            </a:r>
            <a:r>
              <a:rPr lang="en-GB" baseline="0" dirty="0" err="1"/>
              <a:t>ob</a:t>
            </a:r>
            <a:r>
              <a:rPr lang="en-GB" baseline="0" dirty="0"/>
              <a:t> glycolytic enzymes.</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27</a:t>
            </a:fld>
            <a:endParaRPr lang="en-GB"/>
          </a:p>
        </p:txBody>
      </p:sp>
    </p:spTree>
    <p:extLst>
      <p:ext uri="{BB962C8B-B14F-4D97-AF65-F5344CB8AC3E}">
        <p14:creationId xmlns:p14="http://schemas.microsoft.com/office/powerpoint/2010/main" val="2799384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is dairying vibrant in </a:t>
            </a:r>
            <a:r>
              <a:rPr lang="en-GB" dirty="0" err="1"/>
              <a:t>peri</a:t>
            </a:r>
            <a:r>
              <a:rPr lang="en-GB" dirty="0"/>
              <a:t>-urban areas?</a:t>
            </a:r>
          </a:p>
          <a:p>
            <a:r>
              <a:rPr lang="en-GB" dirty="0"/>
              <a:t>Proximity</a:t>
            </a:r>
            <a:r>
              <a:rPr lang="en-GB" baseline="0" dirty="0"/>
              <a:t> to AI services</a:t>
            </a:r>
          </a:p>
          <a:p>
            <a:r>
              <a:rPr lang="en-GB" baseline="0" dirty="0"/>
              <a:t>Availability of land and pastures</a:t>
            </a:r>
          </a:p>
          <a:p>
            <a:r>
              <a:rPr lang="en-GB" baseline="0" dirty="0"/>
              <a:t>Readily available market</a:t>
            </a:r>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major differentiating features between smallholder and large-scale dairy farms are the holding size, the genotype of cattle raised and the level of management applied.</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28</a:t>
            </a:fld>
            <a:endParaRPr lang="en-GB"/>
          </a:p>
        </p:txBody>
      </p:sp>
    </p:spTree>
    <p:extLst>
      <p:ext uri="{BB962C8B-B14F-4D97-AF65-F5344CB8AC3E}">
        <p14:creationId xmlns:p14="http://schemas.microsoft.com/office/powerpoint/2010/main" val="1341303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29</a:t>
            </a:fld>
            <a:endParaRPr lang="en-GB"/>
          </a:p>
        </p:txBody>
      </p:sp>
    </p:spTree>
    <p:extLst>
      <p:ext uri="{BB962C8B-B14F-4D97-AF65-F5344CB8AC3E}">
        <p14:creationId xmlns:p14="http://schemas.microsoft.com/office/powerpoint/2010/main" val="374894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800100" lvl="1" indent="-571500">
              <a:buFont typeface="+mj-lt"/>
              <a:buAutoNum type="romanLcPeriod"/>
            </a:pPr>
            <a:r>
              <a:rPr lang="en-GB" b="1" dirty="0">
                <a:latin typeface="Century Gothic" panose="020B0502020202020204" pitchFamily="34" charset="0"/>
              </a:rPr>
              <a:t>Commercial Dairies </a:t>
            </a:r>
            <a:r>
              <a:rPr lang="en-GB" dirty="0">
                <a:latin typeface="Century Gothic" panose="020B0502020202020204" pitchFamily="34" charset="0"/>
              </a:rPr>
              <a:t>– these enterprises primarily draw milk from MBGs e.g. </a:t>
            </a:r>
            <a:r>
              <a:rPr lang="en-GB" dirty="0" err="1">
                <a:latin typeface="Century Gothic" panose="020B0502020202020204" pitchFamily="34" charset="0"/>
              </a:rPr>
              <a:t>Dairiboard</a:t>
            </a:r>
            <a:r>
              <a:rPr lang="en-GB" dirty="0">
                <a:latin typeface="Century Gothic" panose="020B0502020202020204" pitchFamily="34" charset="0"/>
              </a:rPr>
              <a:t> Malawi Ltd </a:t>
            </a:r>
          </a:p>
          <a:p>
            <a:pPr marL="800100" lvl="1" indent="-571500">
              <a:buFont typeface="+mj-lt"/>
              <a:buAutoNum type="romanLcPeriod"/>
            </a:pPr>
            <a:r>
              <a:rPr lang="en-GB" b="1" dirty="0">
                <a:latin typeface="Century Gothic" panose="020B0502020202020204" pitchFamily="34" charset="0"/>
              </a:rPr>
              <a:t>Privately owned small scale dairies </a:t>
            </a:r>
            <a:r>
              <a:rPr lang="en-GB" dirty="0">
                <a:latin typeface="Century Gothic" panose="020B0502020202020204" pitchFamily="34" charset="0"/>
              </a:rPr>
              <a:t>- which utilise milk from their own dairy cow herds or a limited number of MBGs e.g. </a:t>
            </a:r>
            <a:r>
              <a:rPr lang="en-GB" dirty="0" err="1">
                <a:latin typeface="Century Gothic" panose="020B0502020202020204" pitchFamily="34" charset="0"/>
              </a:rPr>
              <a:t>Katete</a:t>
            </a:r>
            <a:r>
              <a:rPr lang="en-GB" dirty="0">
                <a:latin typeface="Century Gothic" panose="020B0502020202020204" pitchFamily="34" charset="0"/>
              </a:rPr>
              <a:t> Dairy Farm in Lilongwe </a:t>
            </a:r>
          </a:p>
          <a:p>
            <a:pPr marL="800100" lvl="1" indent="-571500">
              <a:buFont typeface="+mj-lt"/>
              <a:buAutoNum type="romanLcPeriod"/>
            </a:pPr>
            <a:r>
              <a:rPr lang="en-GB" b="1" dirty="0">
                <a:latin typeface="Century Gothic" panose="020B0502020202020204" pitchFamily="34" charset="0"/>
              </a:rPr>
              <a:t>Micro processors </a:t>
            </a:r>
            <a:r>
              <a:rPr lang="en-GB" dirty="0">
                <a:latin typeface="Century Gothic" panose="020B0502020202020204" pitchFamily="34" charset="0"/>
              </a:rPr>
              <a:t>– which are very limited in number and process milk from smallholder farmers and are managed by the farmers themselves.</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30</a:t>
            </a:fld>
            <a:endParaRPr lang="en-GB"/>
          </a:p>
        </p:txBody>
      </p:sp>
    </p:spTree>
    <p:extLst>
      <p:ext uri="{BB962C8B-B14F-4D97-AF65-F5344CB8AC3E}">
        <p14:creationId xmlns:p14="http://schemas.microsoft.com/office/powerpoint/2010/main" val="185460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31</a:t>
            </a:fld>
            <a:endParaRPr lang="en-GB"/>
          </a:p>
        </p:txBody>
      </p:sp>
    </p:spTree>
    <p:extLst>
      <p:ext uri="{BB962C8B-B14F-4D97-AF65-F5344CB8AC3E}">
        <p14:creationId xmlns:p14="http://schemas.microsoft.com/office/powerpoint/2010/main" val="3998713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is dairying vibrant in </a:t>
            </a:r>
            <a:r>
              <a:rPr lang="en-GB" dirty="0" err="1"/>
              <a:t>peri</a:t>
            </a:r>
            <a:r>
              <a:rPr lang="en-GB" dirty="0"/>
              <a:t>-urban areas?</a:t>
            </a:r>
          </a:p>
          <a:p>
            <a:r>
              <a:rPr lang="en-GB" dirty="0"/>
              <a:t>Proximity</a:t>
            </a:r>
            <a:r>
              <a:rPr lang="en-GB" baseline="0" dirty="0"/>
              <a:t> to AI services</a:t>
            </a:r>
          </a:p>
          <a:p>
            <a:r>
              <a:rPr lang="en-GB" baseline="0" dirty="0"/>
              <a:t>Availability of land and pastures</a:t>
            </a:r>
          </a:p>
          <a:p>
            <a:r>
              <a:rPr lang="en-GB" baseline="0" dirty="0"/>
              <a:t>Readily available market</a:t>
            </a:r>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major differentiating features between smallholder and large-scale dairy farms are the holding size, the genotype of cattle raised and the level of management applied.</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34</a:t>
            </a:fld>
            <a:endParaRPr lang="en-GB"/>
          </a:p>
        </p:txBody>
      </p:sp>
    </p:spTree>
    <p:extLst>
      <p:ext uri="{BB962C8B-B14F-4D97-AF65-F5344CB8AC3E}">
        <p14:creationId xmlns:p14="http://schemas.microsoft.com/office/powerpoint/2010/main" val="1650356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is dairying vibrant in </a:t>
            </a:r>
            <a:r>
              <a:rPr lang="en-GB" dirty="0" err="1"/>
              <a:t>peri</a:t>
            </a:r>
            <a:r>
              <a:rPr lang="en-GB" dirty="0"/>
              <a:t>-urban areas?</a:t>
            </a:r>
          </a:p>
          <a:p>
            <a:r>
              <a:rPr lang="en-GB" dirty="0"/>
              <a:t>Proximity</a:t>
            </a:r>
            <a:r>
              <a:rPr lang="en-GB" baseline="0" dirty="0"/>
              <a:t> to AI services</a:t>
            </a:r>
          </a:p>
          <a:p>
            <a:r>
              <a:rPr lang="en-GB" baseline="0" dirty="0"/>
              <a:t>Availability of land and pastures</a:t>
            </a:r>
          </a:p>
          <a:p>
            <a:r>
              <a:rPr lang="en-GB" baseline="0" dirty="0"/>
              <a:t>Readily available market</a:t>
            </a:r>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major differentiating features between smallholder and large-scale dairy farms are the holding size, the genotype of cattle raised and the level of management applied.</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38</a:t>
            </a:fld>
            <a:endParaRPr lang="en-GB"/>
          </a:p>
        </p:txBody>
      </p:sp>
    </p:spTree>
    <p:extLst>
      <p:ext uri="{BB962C8B-B14F-4D97-AF65-F5344CB8AC3E}">
        <p14:creationId xmlns:p14="http://schemas.microsoft.com/office/powerpoint/2010/main" val="847738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is dairying vibrant in </a:t>
            </a:r>
            <a:r>
              <a:rPr lang="en-GB" dirty="0" err="1"/>
              <a:t>peri</a:t>
            </a:r>
            <a:r>
              <a:rPr lang="en-GB" dirty="0"/>
              <a:t>-urban areas?</a:t>
            </a:r>
          </a:p>
          <a:p>
            <a:r>
              <a:rPr lang="en-GB" dirty="0"/>
              <a:t>Proximity</a:t>
            </a:r>
            <a:r>
              <a:rPr lang="en-GB" baseline="0" dirty="0"/>
              <a:t> to AI services</a:t>
            </a:r>
          </a:p>
          <a:p>
            <a:r>
              <a:rPr lang="en-GB" baseline="0" dirty="0"/>
              <a:t>Availability of land and pastures</a:t>
            </a:r>
          </a:p>
          <a:p>
            <a:r>
              <a:rPr lang="en-GB" baseline="0" dirty="0"/>
              <a:t>Readily available market</a:t>
            </a:r>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major differentiating features between smallholder and large-scale dairy farms are the holding size, the genotype of cattle raised and the level of management applied.</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39</a:t>
            </a:fld>
            <a:endParaRPr lang="en-GB"/>
          </a:p>
        </p:txBody>
      </p:sp>
    </p:spTree>
    <p:extLst>
      <p:ext uri="{BB962C8B-B14F-4D97-AF65-F5344CB8AC3E}">
        <p14:creationId xmlns:p14="http://schemas.microsoft.com/office/powerpoint/2010/main" val="453532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40</a:t>
            </a:fld>
            <a:endParaRPr lang="en-GB"/>
          </a:p>
        </p:txBody>
      </p:sp>
    </p:spTree>
    <p:extLst>
      <p:ext uri="{BB962C8B-B14F-4D97-AF65-F5344CB8AC3E}">
        <p14:creationId xmlns:p14="http://schemas.microsoft.com/office/powerpoint/2010/main" val="2278279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Important to preserve</a:t>
            </a:r>
            <a:r>
              <a:rPr lang="en-GB" baseline="0" dirty="0"/>
              <a:t> the comfort and well-being of the animal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Many other factors, such as feeding, thermal environment, management, construction and economics, can be equally or even more important in the practical design of an animal production system and any buildings involved. </a:t>
            </a:r>
            <a:endParaRPr lang="en-GB" sz="1200" b="1" dirty="0">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44</a:t>
            </a:fld>
            <a:endParaRPr lang="en-GB"/>
          </a:p>
        </p:txBody>
      </p:sp>
    </p:spTree>
    <p:extLst>
      <p:ext uri="{BB962C8B-B14F-4D97-AF65-F5344CB8AC3E}">
        <p14:creationId xmlns:p14="http://schemas.microsoft.com/office/powerpoint/2010/main" val="146610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Instead they are forced to resort to an environment created by humans.</a:t>
            </a:r>
          </a:p>
          <a:p>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45</a:t>
            </a:fld>
            <a:endParaRPr lang="en-GB"/>
          </a:p>
        </p:txBody>
      </p:sp>
    </p:spTree>
    <p:extLst>
      <p:ext uri="{BB962C8B-B14F-4D97-AF65-F5344CB8AC3E}">
        <p14:creationId xmlns:p14="http://schemas.microsoft.com/office/powerpoint/2010/main" val="3322591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Grading up </a:t>
            </a:r>
            <a:r>
              <a:rPr lang="en-GB" sz="1200" b="0" i="0" u="none" strike="noStrike" kern="1200" baseline="0" dirty="0">
                <a:solidFill>
                  <a:schemeClr val="tx1"/>
                </a:solidFill>
                <a:latin typeface="+mn-lt"/>
                <a:ea typeface="+mn-ea"/>
                <a:cs typeface="+mn-cs"/>
              </a:rPr>
              <a:t>is the mating of purebred sires to grade females. The mating of purebred sires with these grade animals is a good way to improve the quality of animals on the farm.</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48</a:t>
            </a:fld>
            <a:endParaRPr lang="en-GB"/>
          </a:p>
        </p:txBody>
      </p:sp>
    </p:spTree>
    <p:extLst>
      <p:ext uri="{BB962C8B-B14F-4D97-AF65-F5344CB8AC3E}">
        <p14:creationId xmlns:p14="http://schemas.microsoft.com/office/powerpoint/2010/main" val="8991254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There is a tendency for purebred animals to be genetically homozygous.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Linebreeding and </a:t>
            </a:r>
            <a:r>
              <a:rPr lang="en-GB" sz="1200" b="0" i="0" u="none" strike="noStrike" kern="1200" baseline="0" dirty="0" err="1">
                <a:solidFill>
                  <a:schemeClr val="tx1"/>
                </a:solidFill>
                <a:latin typeface="+mn-lt"/>
                <a:ea typeface="+mn-ea"/>
                <a:cs typeface="+mn-cs"/>
              </a:rPr>
              <a:t>closebreeding</a:t>
            </a:r>
            <a:r>
              <a:rPr lang="en-GB" sz="1200" b="0" i="0" u="none" strike="noStrike" kern="1200" baseline="0" dirty="0">
                <a:solidFill>
                  <a:schemeClr val="tx1"/>
                </a:solidFill>
                <a:latin typeface="+mn-lt"/>
                <a:ea typeface="+mn-ea"/>
                <a:cs typeface="+mn-cs"/>
              </a:rPr>
              <a:t> refer to how closely related the animals are that are being mated. </a:t>
            </a:r>
          </a:p>
          <a:p>
            <a:r>
              <a:rPr lang="en-GB" sz="1200" b="0" i="0" u="none" strike="noStrike" kern="1200" baseline="0" dirty="0">
                <a:solidFill>
                  <a:schemeClr val="tx1"/>
                </a:solidFill>
                <a:latin typeface="+mn-lt"/>
                <a:ea typeface="+mn-ea"/>
                <a:cs typeface="+mn-cs"/>
              </a:rPr>
              <a:t>The most intensive form of inbreeding is </a:t>
            </a:r>
            <a:r>
              <a:rPr lang="en-GB" sz="1200" b="1" i="0" u="none" strike="noStrike" kern="1200" baseline="0" dirty="0" err="1">
                <a:solidFill>
                  <a:schemeClr val="tx1"/>
                </a:solidFill>
                <a:latin typeface="+mn-lt"/>
                <a:ea typeface="+mn-ea"/>
                <a:cs typeface="+mn-cs"/>
              </a:rPr>
              <a:t>closebreeding</a:t>
            </a:r>
            <a:r>
              <a:rPr lang="en-GB" sz="1200" b="0" i="0" u="none" strike="noStrike" kern="1200" baseline="0" dirty="0">
                <a:solidFill>
                  <a:schemeClr val="tx1"/>
                </a:solidFill>
                <a:latin typeface="+mn-lt"/>
                <a:ea typeface="+mn-ea"/>
                <a:cs typeface="+mn-cs"/>
              </a:rPr>
              <a:t>, in which the animals being mated are very closely related and can be traced back to more than one common ancestor. </a:t>
            </a:r>
          </a:p>
          <a:p>
            <a:r>
              <a:rPr lang="en-GB" sz="1200" b="1" i="0" u="none" strike="noStrike" kern="1200" baseline="0" dirty="0">
                <a:solidFill>
                  <a:schemeClr val="tx1"/>
                </a:solidFill>
                <a:latin typeface="+mn-lt"/>
                <a:ea typeface="+mn-ea"/>
                <a:cs typeface="+mn-cs"/>
              </a:rPr>
              <a:t>Linebreeding </a:t>
            </a:r>
            <a:r>
              <a:rPr lang="en-GB" sz="1200" b="0" i="0" u="none" strike="noStrike" kern="1200" baseline="0" dirty="0">
                <a:solidFill>
                  <a:schemeClr val="tx1"/>
                </a:solidFill>
                <a:latin typeface="+mn-lt"/>
                <a:ea typeface="+mn-ea"/>
                <a:cs typeface="+mn-cs"/>
              </a:rPr>
              <a:t>refers to </a:t>
            </a:r>
            <a:r>
              <a:rPr lang="en-GB" sz="1200" b="0" i="0" u="none" strike="noStrike" kern="1200" baseline="0" dirty="0" err="1">
                <a:solidFill>
                  <a:schemeClr val="tx1"/>
                </a:solidFill>
                <a:latin typeface="+mn-lt"/>
                <a:ea typeface="+mn-ea"/>
                <a:cs typeface="+mn-cs"/>
              </a:rPr>
              <a:t>matings</a:t>
            </a:r>
            <a:r>
              <a:rPr lang="en-GB" sz="1200" b="0" i="0" u="none" strike="noStrike" kern="1200" baseline="0" dirty="0">
                <a:solidFill>
                  <a:schemeClr val="tx1"/>
                </a:solidFill>
                <a:latin typeface="+mn-lt"/>
                <a:ea typeface="+mn-ea"/>
                <a:cs typeface="+mn-cs"/>
              </a:rPr>
              <a:t> of animals that are more distantly related and can be traced back to one common ancestor. Examples are cousins, grandparent to </a:t>
            </a:r>
            <a:r>
              <a:rPr lang="en-GB" sz="1200" b="0" i="0" u="none" strike="noStrike" kern="1200" baseline="0" dirty="0" err="1">
                <a:solidFill>
                  <a:schemeClr val="tx1"/>
                </a:solidFill>
                <a:latin typeface="+mn-lt"/>
                <a:ea typeface="+mn-ea"/>
                <a:cs typeface="+mn-cs"/>
              </a:rPr>
              <a:t>grandoffspring</a:t>
            </a:r>
            <a:r>
              <a:rPr lang="en-GB" sz="1200" b="0" i="0" u="none" strike="noStrike" kern="1200" baseline="0" dirty="0">
                <a:solidFill>
                  <a:schemeClr val="tx1"/>
                </a:solidFill>
                <a:latin typeface="+mn-lt"/>
                <a:ea typeface="+mn-ea"/>
                <a:cs typeface="+mn-cs"/>
              </a:rPr>
              <a:t>, or half-brother to half-sister</a:t>
            </a:r>
          </a:p>
          <a:p>
            <a:endParaRPr lang="en-GB" dirty="0"/>
          </a:p>
          <a:p>
            <a:r>
              <a:rPr lang="en-GB" sz="1200" b="0" i="0" u="none" strike="noStrike" kern="1200" baseline="0" dirty="0">
                <a:solidFill>
                  <a:schemeClr val="tx1"/>
                </a:solidFill>
                <a:latin typeface="+mn-lt"/>
                <a:ea typeface="+mn-ea"/>
                <a:cs typeface="+mn-cs"/>
              </a:rPr>
              <a:t>Most </a:t>
            </a:r>
            <a:r>
              <a:rPr lang="en-GB" sz="1200" b="0" i="0" u="none" strike="noStrike" kern="1200" baseline="0" dirty="0" err="1">
                <a:solidFill>
                  <a:schemeClr val="tx1"/>
                </a:solidFill>
                <a:latin typeface="+mn-lt"/>
                <a:ea typeface="+mn-ea"/>
                <a:cs typeface="+mn-cs"/>
              </a:rPr>
              <a:t>matings</a:t>
            </a:r>
            <a:r>
              <a:rPr lang="en-GB" sz="1200" b="0" i="0" u="none" strike="noStrike" kern="1200" baseline="0" dirty="0">
                <a:solidFill>
                  <a:schemeClr val="tx1"/>
                </a:solidFill>
                <a:latin typeface="+mn-lt"/>
                <a:ea typeface="+mn-ea"/>
                <a:cs typeface="+mn-cs"/>
              </a:rPr>
              <a:t> done by purebred breeders are </a:t>
            </a:r>
            <a:r>
              <a:rPr lang="en-GB" sz="1200" b="1" i="0" u="none" strike="noStrike" kern="1200" baseline="0" dirty="0">
                <a:solidFill>
                  <a:schemeClr val="tx1"/>
                </a:solidFill>
                <a:latin typeface="+mn-lt"/>
                <a:ea typeface="+mn-ea"/>
                <a:cs typeface="+mn-cs"/>
              </a:rPr>
              <a:t>outcrossing</a:t>
            </a:r>
            <a:r>
              <a:rPr lang="en-GB" sz="1200" b="0" i="0" u="none" strike="noStrike" kern="1200" baseline="0" dirty="0">
                <a:solidFill>
                  <a:schemeClr val="tx1"/>
                </a:solidFill>
                <a:latin typeface="+mn-lt"/>
                <a:ea typeface="+mn-ea"/>
                <a:cs typeface="+mn-cs"/>
              </a:rPr>
              <a:t>. This system is popular because it reduces the chances of undesirable traits appearing</a:t>
            </a:r>
          </a:p>
          <a:p>
            <a:r>
              <a:rPr lang="en-GB" sz="1200" b="0" i="0" u="none" strike="noStrike" kern="1200" baseline="0" dirty="0">
                <a:solidFill>
                  <a:schemeClr val="tx1"/>
                </a:solidFill>
                <a:latin typeface="+mn-lt"/>
                <a:ea typeface="+mn-ea"/>
                <a:cs typeface="+mn-cs"/>
              </a:rPr>
              <a:t>in the off spring. The genes for those undesirable traits are still present. However, they are covered up by the outcrossing.</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49</a:t>
            </a:fld>
            <a:endParaRPr lang="en-GB"/>
          </a:p>
        </p:txBody>
      </p:sp>
    </p:spTree>
    <p:extLst>
      <p:ext uri="{BB962C8B-B14F-4D97-AF65-F5344CB8AC3E}">
        <p14:creationId xmlns:p14="http://schemas.microsoft.com/office/powerpoint/2010/main" val="2527959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Superior traits that result from crossbreeding are called hybrid </a:t>
            </a:r>
            <a:r>
              <a:rPr lang="en-GB" sz="1200" b="0" i="0" u="none" strike="noStrike" kern="1200" baseline="0" dirty="0" err="1">
                <a:solidFill>
                  <a:schemeClr val="tx1"/>
                </a:solidFill>
                <a:latin typeface="+mn-lt"/>
                <a:ea typeface="+mn-ea"/>
                <a:cs typeface="+mn-cs"/>
              </a:rPr>
              <a:t>vigor</a:t>
            </a:r>
            <a:r>
              <a:rPr lang="en-GB" sz="1200" b="0" i="0" u="none" strike="noStrike" kern="1200" baseline="0" dirty="0">
                <a:solidFill>
                  <a:schemeClr val="tx1"/>
                </a:solidFill>
                <a:latin typeface="+mn-lt"/>
                <a:ea typeface="+mn-ea"/>
                <a:cs typeface="+mn-cs"/>
              </a:rPr>
              <a:t>, or </a:t>
            </a:r>
            <a:r>
              <a:rPr lang="en-GB" sz="1200" b="0" i="0" u="none" strike="noStrike" kern="1200" baseline="0" dirty="0" err="1">
                <a:solidFill>
                  <a:schemeClr val="tx1"/>
                </a:solidFill>
                <a:latin typeface="+mn-lt"/>
                <a:ea typeface="+mn-ea"/>
                <a:cs typeface="+mn-cs"/>
              </a:rPr>
              <a:t>heterosis</a:t>
            </a:r>
            <a:r>
              <a:rPr lang="en-GB" sz="1200" b="0" i="0" u="none" strike="noStrike" kern="1200" baseline="0" dirty="0">
                <a:solidFill>
                  <a:schemeClr val="tx1"/>
                </a:solidFill>
                <a:latin typeface="+mn-lt"/>
                <a:ea typeface="+mn-ea"/>
                <a:cs typeface="+mn-cs"/>
              </a:rPr>
              <a:t>.</a:t>
            </a:r>
          </a:p>
          <a:p>
            <a:r>
              <a:rPr lang="en-GB" sz="1200" b="0" i="0" u="none" strike="noStrike" kern="1200" baseline="0" dirty="0" err="1">
                <a:solidFill>
                  <a:schemeClr val="tx1"/>
                </a:solidFill>
                <a:latin typeface="+mn-lt"/>
                <a:ea typeface="+mn-ea"/>
                <a:cs typeface="+mn-cs"/>
              </a:rPr>
              <a:t>Heterosis</a:t>
            </a:r>
            <a:r>
              <a:rPr lang="en-GB" sz="1200" b="0" i="0" u="none" strike="noStrike" kern="1200" baseline="0" dirty="0">
                <a:solidFill>
                  <a:schemeClr val="tx1"/>
                </a:solidFill>
                <a:latin typeface="+mn-lt"/>
                <a:ea typeface="+mn-ea"/>
                <a:cs typeface="+mn-cs"/>
              </a:rPr>
              <a:t> is measured by the average superiority of the hybrid offspring over the average of the parents. The kind and degree of superiority achieved by</a:t>
            </a:r>
          </a:p>
          <a:p>
            <a:r>
              <a:rPr lang="en-GB" sz="1200" b="0" i="0" u="none" strike="noStrike" kern="1200" baseline="0" dirty="0">
                <a:solidFill>
                  <a:schemeClr val="tx1"/>
                </a:solidFill>
                <a:latin typeface="+mn-lt"/>
                <a:ea typeface="+mn-ea"/>
                <a:cs typeface="+mn-cs"/>
              </a:rPr>
              <a:t>crossbreeding varies with different species.</a:t>
            </a:r>
          </a:p>
          <a:p>
            <a:r>
              <a:rPr lang="en-GB" sz="1200" b="0" i="0" u="none" strike="noStrike" kern="1200" baseline="0" dirty="0">
                <a:solidFill>
                  <a:schemeClr val="tx1"/>
                </a:solidFill>
                <a:latin typeface="+mn-lt"/>
                <a:ea typeface="+mn-ea"/>
                <a:cs typeface="+mn-cs"/>
              </a:rPr>
              <a:t>Animals selected for use in a crossbreeding program must have the desired traits. There will be little or no improvement in the off spring over the parents if animals with undesirable traits are used in a crossbreeding program.</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Inbreeding increases the genetic purity of the livestock but generally reduces performance. Both desirable and undesirable traits become more visible.</a:t>
            </a:r>
          </a:p>
          <a:p>
            <a:r>
              <a:rPr lang="en-GB" sz="1200" b="0" i="0" u="none" strike="noStrike" kern="1200" baseline="0" dirty="0">
                <a:solidFill>
                  <a:schemeClr val="tx1"/>
                </a:solidFill>
                <a:latin typeface="+mn-lt"/>
                <a:ea typeface="+mn-ea"/>
                <a:cs typeface="+mn-cs"/>
              </a:rPr>
              <a:t>Therefore, inbreeding programs require careful selection and culling of breeding stock. Inbreeding is not commonly used by the average livestock producer. It is usually used by those who do experimental work to improve the breed.</a:t>
            </a:r>
          </a:p>
          <a:p>
            <a:r>
              <a:rPr lang="en-GB" sz="1200" b="0" i="0" u="none" strike="noStrike" kern="1200" baseline="0" dirty="0">
                <a:solidFill>
                  <a:schemeClr val="tx1"/>
                </a:solidFill>
                <a:latin typeface="+mn-lt"/>
                <a:ea typeface="+mn-ea"/>
                <a:cs typeface="+mn-cs"/>
              </a:rPr>
              <a:t>Outcrossing brings genetic traits into the breeding program that tend to hide undesirable traits. Grading up is using purebred sires on grade females. Grading up is a good way for commercial producers to improve grade herds of livestock.</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50</a:t>
            </a:fld>
            <a:endParaRPr lang="en-GB"/>
          </a:p>
        </p:txBody>
      </p:sp>
    </p:spTree>
    <p:extLst>
      <p:ext uri="{BB962C8B-B14F-4D97-AF65-F5344CB8AC3E}">
        <p14:creationId xmlns:p14="http://schemas.microsoft.com/office/powerpoint/2010/main" val="2833112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10"/>
          </p:nvPr>
        </p:nvSpPr>
        <p:spPr/>
        <p:txBody>
          <a:bodyPr/>
          <a:lstStyle/>
          <a:p>
            <a:fld id="{2D0FDAB0-7D00-435C-92FE-69116235217E}" type="slidenum">
              <a:rPr lang="en-GB" smtClean="0"/>
              <a:t>51</a:t>
            </a:fld>
            <a:endParaRPr lang="en-GB"/>
          </a:p>
        </p:txBody>
      </p:sp>
    </p:spTree>
    <p:extLst>
      <p:ext uri="{BB962C8B-B14F-4D97-AF65-F5344CB8AC3E}">
        <p14:creationId xmlns:p14="http://schemas.microsoft.com/office/powerpoint/2010/main" val="38085749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BIOSECURITY</a:t>
            </a:r>
          </a:p>
          <a:p>
            <a:r>
              <a:rPr lang="en-GB" dirty="0"/>
              <a:t>3</a:t>
            </a:r>
            <a:r>
              <a:rPr lang="en-GB" baseline="0" dirty="0"/>
              <a:t> Components:</a:t>
            </a:r>
          </a:p>
          <a:p>
            <a:endParaRPr lang="en-GB" baseline="0" dirty="0"/>
          </a:p>
          <a:p>
            <a:r>
              <a:rPr lang="en-GB" baseline="0" dirty="0"/>
              <a:t>1. Isolation</a:t>
            </a:r>
          </a:p>
          <a:p>
            <a:r>
              <a:rPr lang="en-GB" baseline="0" dirty="0"/>
              <a:t>2. Traffic control</a:t>
            </a:r>
          </a:p>
          <a:p>
            <a:r>
              <a:rPr lang="en-GB" baseline="0" dirty="0"/>
              <a:t>3. </a:t>
            </a:r>
            <a:r>
              <a:rPr lang="en-GB" baseline="0"/>
              <a:t>Sanitation</a:t>
            </a:r>
            <a:endParaRPr lang="en-GB" dirty="0"/>
          </a:p>
        </p:txBody>
      </p:sp>
      <p:sp>
        <p:nvSpPr>
          <p:cNvPr id="4" name="Slide Number Placeholder 3"/>
          <p:cNvSpPr>
            <a:spLocks noGrp="1"/>
          </p:cNvSpPr>
          <p:nvPr>
            <p:ph type="sldNum" sz="quarter" idx="10"/>
          </p:nvPr>
        </p:nvSpPr>
        <p:spPr/>
        <p:txBody>
          <a:bodyPr/>
          <a:lstStyle/>
          <a:p>
            <a:fld id="{2D0FDAB0-7D00-435C-92FE-69116235217E}" type="slidenum">
              <a:rPr lang="en-GB" smtClean="0"/>
              <a:t>53</a:t>
            </a:fld>
            <a:endParaRPr lang="en-GB"/>
          </a:p>
        </p:txBody>
      </p:sp>
    </p:spTree>
    <p:extLst>
      <p:ext uri="{BB962C8B-B14F-4D97-AF65-F5344CB8AC3E}">
        <p14:creationId xmlns:p14="http://schemas.microsoft.com/office/powerpoint/2010/main" val="3594558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B06338-18F3-4FD8-8BA3-B02CC7F8541F}"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2717701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E8F143A-3710-4DF6-B84D-1176D4EE9457}"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2525300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D8CB16-3AFA-4DA6-886C-B4BF4A193415}"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423753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65D00A-A940-4D5B-85C0-DB0F75B26EDD}" type="datetime1">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15125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D4E418-F973-41C0-9C8A-170E50FA0E5B}" type="datetime1">
              <a:rPr lang="en-GB" smtClean="0"/>
              <a:t>10/02/2026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392361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A368034-4F17-44FE-8E57-4FD7934B064A}" type="datetime1">
              <a:rPr lang="en-GB" smtClean="0"/>
              <a:t>10/02/2026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975883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D427555-5BA7-4044-AC68-341A117276C1}" type="datetime1">
              <a:rPr lang="en-GB" smtClean="0"/>
              <a:t>10/02/2026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988304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2A1C082-EBD5-4984-BDA6-AD5562E506D9}" type="datetime1">
              <a:rPr lang="en-GB" smtClean="0"/>
              <a:t>10/02/2026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50310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7D13DA-60AE-4BDA-A3A4-924AC0179796}" type="datetime1">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42487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78D111-859E-4F8C-BC2C-25827C64B599}" type="datetime1">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20956064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E78D111-859E-4F8C-BC2C-25827C64B599}"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10740886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E78D111-859E-4F8C-BC2C-25827C64B599}"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250181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78D111-859E-4F8C-BC2C-25827C64B599}"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2250533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E78D111-859E-4F8C-BC2C-25827C64B599}" type="datetime1">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7370037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E78D111-859E-4F8C-BC2C-25827C64B599}" type="datetime1">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21198818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8351D2-5958-45FB-A573-6875D007B257}"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894935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2206CA-12BE-4840-913F-E8341C70ACDD}" type="datetime1">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E4A6AD0-9F27-4A82-9ABF-F4491D1EA5EC}" type="slidenum">
              <a:rPr lang="en-GB" smtClean="0"/>
              <a:t>‹#›</a:t>
            </a:fld>
            <a:endParaRPr lang="en-GB"/>
          </a:p>
        </p:txBody>
      </p:sp>
    </p:spTree>
    <p:extLst>
      <p:ext uri="{BB962C8B-B14F-4D97-AF65-F5344CB8AC3E}">
        <p14:creationId xmlns:p14="http://schemas.microsoft.com/office/powerpoint/2010/main" val="798693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E78D111-859E-4F8C-BC2C-25827C64B599}" type="datetime1">
              <a:rPr lang="en-GB" smtClean="0"/>
              <a:t>10/02/2026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E4A6AD0-9F27-4A82-9ABF-F4491D1EA5EC}" type="slidenum">
              <a:rPr lang="en-GB" smtClean="0"/>
              <a:t>‹#›</a:t>
            </a:fld>
            <a:endParaRPr lang="en-GB"/>
          </a:p>
        </p:txBody>
      </p:sp>
    </p:spTree>
    <p:extLst>
      <p:ext uri="{BB962C8B-B14F-4D97-AF65-F5344CB8AC3E}">
        <p14:creationId xmlns:p14="http://schemas.microsoft.com/office/powerpoint/2010/main" val="3505771445"/>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b="1" dirty="0">
                <a:latin typeface="Aharoni" panose="02010803020104030203" pitchFamily="2" charset="-79"/>
                <a:cs typeface="Aharoni" panose="02010803020104030203" pitchFamily="2" charset="-79"/>
              </a:rPr>
              <a:t>Principles of Livestock Production 1</a:t>
            </a:r>
          </a:p>
        </p:txBody>
      </p:sp>
      <p:sp>
        <p:nvSpPr>
          <p:cNvPr id="3" name="Subtitle 2"/>
          <p:cNvSpPr>
            <a:spLocks noGrp="1"/>
          </p:cNvSpPr>
          <p:nvPr>
            <p:ph type="subTitle" idx="1"/>
          </p:nvPr>
        </p:nvSpPr>
        <p:spPr>
          <a:xfrm>
            <a:off x="2667000" y="4692284"/>
            <a:ext cx="6858000" cy="1655762"/>
          </a:xfrm>
        </p:spPr>
        <p:txBody>
          <a:bodyPr>
            <a:normAutofit/>
          </a:bodyPr>
          <a:lstStyle/>
          <a:p>
            <a:r>
              <a:rPr lang="en-GB" b="1" dirty="0">
                <a:solidFill>
                  <a:srgbClr val="0070C0"/>
                </a:solidFill>
              </a:rPr>
              <a:t>Michael Luwe</a:t>
            </a:r>
          </a:p>
          <a:p>
            <a:r>
              <a:rPr lang="en-GB" b="1" dirty="0">
                <a:solidFill>
                  <a:srgbClr val="0070C0"/>
                </a:solidFill>
              </a:rPr>
              <a:t>Veterinarian</a:t>
            </a:r>
          </a:p>
          <a:p>
            <a:r>
              <a:rPr lang="en-GB" b="1" dirty="0">
                <a:solidFill>
                  <a:srgbClr val="0070C0"/>
                </a:solidFill>
              </a:rPr>
              <a:t>Department of Animal Health and Livestock Development</a:t>
            </a:r>
          </a:p>
        </p:txBody>
      </p:sp>
      <p:cxnSp>
        <p:nvCxnSpPr>
          <p:cNvPr id="6" name="Straight Connector 5"/>
          <p:cNvCxnSpPr/>
          <p:nvPr/>
        </p:nvCxnSpPr>
        <p:spPr>
          <a:xfrm>
            <a:off x="1638297" y="1543050"/>
            <a:ext cx="8915406" cy="0"/>
          </a:xfrm>
          <a:prstGeom prst="line">
            <a:avLst/>
          </a:prstGeom>
          <a:ln w="19050" cmpd="dbl"/>
        </p:spPr>
        <p:style>
          <a:lnRef idx="1">
            <a:schemeClr val="accent1"/>
          </a:lnRef>
          <a:fillRef idx="0">
            <a:schemeClr val="accent1"/>
          </a:fillRef>
          <a:effectRef idx="0">
            <a:schemeClr val="accent1"/>
          </a:effectRef>
          <a:fontRef idx="minor">
            <a:schemeClr val="tx1"/>
          </a:fontRef>
        </p:style>
      </p:cxnSp>
      <p:pic>
        <p:nvPicPr>
          <p:cNvPr id="15" name="Picture 14" descr="1 Principles of Livestock Production 1 BTCD 2303.pptx - Microsoft PowerPoint"/>
          <p:cNvPicPr>
            <a:picLocks noChangeAspect="1"/>
          </p:cNvPicPr>
          <p:nvPr/>
        </p:nvPicPr>
        <p:blipFill rotWithShape="1">
          <a:blip r:embed="rId2">
            <a:extLst>
              <a:ext uri="{28A0092B-C50C-407E-A947-70E740481C1C}">
                <a14:useLocalDpi xmlns:a14="http://schemas.microsoft.com/office/drawing/2010/main" val="0"/>
              </a:ext>
            </a:extLst>
          </a:blip>
          <a:srcRect l="45000" t="26781" r="10000" b="62383"/>
          <a:stretch/>
        </p:blipFill>
        <p:spPr>
          <a:xfrm>
            <a:off x="1638297" y="6348047"/>
            <a:ext cx="8915406" cy="323849"/>
          </a:xfrm>
          <a:prstGeom prst="rect">
            <a:avLst/>
          </a:prstGeom>
        </p:spPr>
      </p:pic>
      <p:pic>
        <p:nvPicPr>
          <p:cNvPr id="16" name="Picture 15" descr="1 Principles of Livestock Production 1 BTCD 2303.pptx - Microsoft PowerPoint"/>
          <p:cNvPicPr>
            <a:picLocks noChangeAspect="1"/>
          </p:cNvPicPr>
          <p:nvPr/>
        </p:nvPicPr>
        <p:blipFill rotWithShape="1">
          <a:blip r:embed="rId2">
            <a:extLst>
              <a:ext uri="{28A0092B-C50C-407E-A947-70E740481C1C}">
                <a14:useLocalDpi xmlns:a14="http://schemas.microsoft.com/office/drawing/2010/main" val="0"/>
              </a:ext>
            </a:extLst>
          </a:blip>
          <a:srcRect l="45000" t="26781" r="10000" b="62383"/>
          <a:stretch/>
        </p:blipFill>
        <p:spPr>
          <a:xfrm>
            <a:off x="1638297" y="303215"/>
            <a:ext cx="8915406" cy="1190255"/>
          </a:xfrm>
          <a:prstGeom prst="rect">
            <a:avLst/>
          </a:prstGeom>
        </p:spPr>
      </p:pic>
    </p:spTree>
    <p:extLst>
      <p:ext uri="{BB962C8B-B14F-4D97-AF65-F5344CB8AC3E}">
        <p14:creationId xmlns:p14="http://schemas.microsoft.com/office/powerpoint/2010/main" val="219561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Assessment</a:t>
            </a:r>
          </a:p>
        </p:txBody>
      </p:sp>
      <p:sp>
        <p:nvSpPr>
          <p:cNvPr id="3" name="Content Placeholder 2"/>
          <p:cNvSpPr>
            <a:spLocks noGrp="1"/>
          </p:cNvSpPr>
          <p:nvPr>
            <p:ph idx="1"/>
          </p:nvPr>
        </p:nvSpPr>
        <p:spPr/>
        <p:txBody>
          <a:bodyPr/>
          <a:lstStyle/>
          <a:p>
            <a:r>
              <a:rPr lang="en-GB" dirty="0"/>
              <a:t>10% test, 30% practical work) </a:t>
            </a:r>
          </a:p>
          <a:p>
            <a:r>
              <a:rPr lang="en-GB" dirty="0"/>
              <a:t>60% End of Semester Examination </a:t>
            </a:r>
          </a:p>
          <a:p>
            <a:pPr lvl="1"/>
            <a:r>
              <a:rPr lang="en-GB" dirty="0"/>
              <a:t>(40% exam, 20% practical work) </a:t>
            </a:r>
          </a:p>
        </p:txBody>
      </p:sp>
      <p:pic>
        <p:nvPicPr>
          <p:cNvPr id="5" name="Picture 4" descr="1 Principles of Livestock Production 1 BTCD 2303.pptx - Microsoft PowerPoint"/>
          <p:cNvPicPr>
            <a:picLocks noChangeAspect="1"/>
          </p:cNvPicPr>
          <p:nvPr/>
        </p:nvPicPr>
        <p:blipFill rotWithShape="1">
          <a:blip r:embed="rId2">
            <a:extLst>
              <a:ext uri="{28A0092B-C50C-407E-A947-70E740481C1C}">
                <a14:useLocalDpi xmlns:a14="http://schemas.microsoft.com/office/drawing/2010/main" val="0"/>
              </a:ext>
            </a:extLst>
          </a:blip>
          <a:srcRect l="45000" t="26781" r="10000" b="62383"/>
          <a:stretch/>
        </p:blipFill>
        <p:spPr>
          <a:xfrm>
            <a:off x="1638297" y="6032503"/>
            <a:ext cx="8915406" cy="323849"/>
          </a:xfrm>
          <a:prstGeom prst="rect">
            <a:avLst/>
          </a:prstGeom>
        </p:spPr>
      </p:pic>
    </p:spTree>
    <p:extLst>
      <p:ext uri="{BB962C8B-B14F-4D97-AF65-F5344CB8AC3E}">
        <p14:creationId xmlns:p14="http://schemas.microsoft.com/office/powerpoint/2010/main" val="3750432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8179174" cy="1325563"/>
          </a:xfrm>
        </p:spPr>
        <p:txBody>
          <a:bodyPr>
            <a:normAutofit fontScale="90000"/>
          </a:bodyPr>
          <a:lstStyle/>
          <a:p>
            <a:br>
              <a:rPr lang="en-GB" b="1" dirty="0">
                <a:solidFill>
                  <a:srgbClr val="0070C0"/>
                </a:solidFill>
              </a:rPr>
            </a:br>
            <a:r>
              <a:rPr lang="en-GB" b="1" dirty="0">
                <a:solidFill>
                  <a:srgbClr val="0070C0"/>
                </a:solidFill>
              </a:rPr>
              <a:t>Introduction to Livestock Management </a:t>
            </a:r>
            <a:br>
              <a:rPr lang="en-GB" b="1" dirty="0">
                <a:solidFill>
                  <a:srgbClr val="0070C0"/>
                </a:solidFill>
              </a:rPr>
            </a:br>
            <a:endParaRPr lang="en-GB" b="1" dirty="0">
              <a:solidFill>
                <a:srgbClr val="0070C0"/>
              </a:solidFill>
            </a:endParaRPr>
          </a:p>
        </p:txBody>
      </p:sp>
      <p:sp>
        <p:nvSpPr>
          <p:cNvPr id="3" name="Content Placeholder 2"/>
          <p:cNvSpPr>
            <a:spLocks noGrp="1"/>
          </p:cNvSpPr>
          <p:nvPr>
            <p:ph idx="1"/>
          </p:nvPr>
        </p:nvSpPr>
        <p:spPr/>
        <p:txBody>
          <a:bodyPr>
            <a:noAutofit/>
          </a:bodyPr>
          <a:lstStyle/>
          <a:p>
            <a:pPr marL="0" indent="0">
              <a:buNone/>
            </a:pPr>
            <a:r>
              <a:rPr lang="en-GB" sz="2400" b="1" dirty="0">
                <a:latin typeface="Century Gothic" panose="020B0502020202020204" pitchFamily="34" charset="0"/>
              </a:rPr>
              <a:t>Definitions</a:t>
            </a:r>
          </a:p>
          <a:p>
            <a:r>
              <a:rPr lang="en-GB" sz="2400" dirty="0">
                <a:latin typeface="Century Gothic" panose="020B0502020202020204" pitchFamily="34" charset="0"/>
              </a:rPr>
              <a:t>Livestock are defined as any domestic animals, such as cattle, sheep, goats or pigs, raised for home use or for profit, especially on a farm.</a:t>
            </a:r>
          </a:p>
          <a:p>
            <a:r>
              <a:rPr lang="en-GB" sz="2400" dirty="0">
                <a:latin typeface="Century Gothic" panose="020B0502020202020204" pitchFamily="34" charset="0"/>
              </a:rPr>
              <a:t>Animal husbandry is the branch of science, which deals with the study of various breeds of domesticated animals and their management for obtaining better products and services from them.</a:t>
            </a:r>
          </a:p>
          <a:p>
            <a:r>
              <a:rPr lang="en-GB" sz="2400" dirty="0">
                <a:latin typeface="Century Gothic" panose="020B0502020202020204" pitchFamily="34" charset="0"/>
              </a:rPr>
              <a:t>Breed can be defined as an established group of animals having similar general body shape, colour, structure and characters which produce offspring with same characters.</a:t>
            </a:r>
          </a:p>
        </p:txBody>
      </p:sp>
    </p:spTree>
    <p:extLst>
      <p:ext uri="{BB962C8B-B14F-4D97-AF65-F5344CB8AC3E}">
        <p14:creationId xmlns:p14="http://schemas.microsoft.com/office/powerpoint/2010/main" val="1683726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8179174" cy="1325563"/>
          </a:xfrm>
        </p:spPr>
        <p:txBody>
          <a:bodyPr>
            <a:normAutofit fontScale="90000"/>
          </a:bodyPr>
          <a:lstStyle/>
          <a:p>
            <a:br>
              <a:rPr lang="en-GB" b="1" dirty="0">
                <a:solidFill>
                  <a:srgbClr val="0070C0"/>
                </a:solidFill>
              </a:rPr>
            </a:br>
            <a:r>
              <a:rPr lang="en-GB" b="1" dirty="0">
                <a:solidFill>
                  <a:srgbClr val="0070C0"/>
                </a:solidFill>
              </a:rPr>
              <a:t>Introduction to Livestock Management </a:t>
            </a:r>
            <a:br>
              <a:rPr lang="en-GB" b="1" dirty="0">
                <a:solidFill>
                  <a:srgbClr val="0070C0"/>
                </a:solidFill>
              </a:rPr>
            </a:br>
            <a:endParaRPr lang="en-GB" b="1" dirty="0">
              <a:solidFill>
                <a:srgbClr val="0070C0"/>
              </a:solidFill>
            </a:endParaRPr>
          </a:p>
        </p:txBody>
      </p:sp>
      <p:sp>
        <p:nvSpPr>
          <p:cNvPr id="3" name="Content Placeholder 2"/>
          <p:cNvSpPr>
            <a:spLocks noGrp="1"/>
          </p:cNvSpPr>
          <p:nvPr>
            <p:ph idx="1"/>
          </p:nvPr>
        </p:nvSpPr>
        <p:spPr/>
        <p:txBody>
          <a:bodyPr>
            <a:noAutofit/>
          </a:bodyPr>
          <a:lstStyle/>
          <a:p>
            <a:pPr marL="0" indent="0">
              <a:buNone/>
            </a:pPr>
            <a:r>
              <a:rPr lang="en-GB" sz="2400" b="1" dirty="0">
                <a:latin typeface="Century Gothic" panose="020B0502020202020204" pitchFamily="34" charset="0"/>
              </a:rPr>
              <a:t>Definitions</a:t>
            </a:r>
          </a:p>
          <a:p>
            <a:r>
              <a:rPr lang="en-GB" sz="2400" dirty="0">
                <a:latin typeface="Century Gothic" panose="020B0502020202020204" pitchFamily="34" charset="0"/>
              </a:rPr>
              <a:t>Livestock management is the practice of efficient, productive, and ethical care-taking of livestock.</a:t>
            </a:r>
          </a:p>
          <a:p>
            <a:r>
              <a:rPr lang="en-GB" sz="2400" dirty="0">
                <a:latin typeface="Century Gothic" panose="020B0502020202020204" pitchFamily="34" charset="0"/>
              </a:rPr>
              <a:t>Livestock management can also be defined as the practice that relates to the health, husbandry or biosecurity of livestock during any stage of the livestock’s life, from birth to slaughter, including the transport and holding of livestock.</a:t>
            </a:r>
          </a:p>
        </p:txBody>
      </p:sp>
    </p:spTree>
    <p:extLst>
      <p:ext uri="{BB962C8B-B14F-4D97-AF65-F5344CB8AC3E}">
        <p14:creationId xmlns:p14="http://schemas.microsoft.com/office/powerpoint/2010/main" val="44096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70C0"/>
                </a:solidFill>
              </a:rPr>
              <a:t>Examples of livestock</a:t>
            </a:r>
          </a:p>
        </p:txBody>
      </p:sp>
      <p:sp>
        <p:nvSpPr>
          <p:cNvPr id="4" name="Rounded Rectangle 3"/>
          <p:cNvSpPr/>
          <p:nvPr/>
        </p:nvSpPr>
        <p:spPr>
          <a:xfrm>
            <a:off x="1931194" y="1981198"/>
            <a:ext cx="2500313" cy="1743075"/>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7829551" y="4613276"/>
            <a:ext cx="2500313" cy="1743075"/>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4845844" y="4613277"/>
            <a:ext cx="2500313" cy="1743075"/>
          </a:xfrm>
          <a:prstGeom prst="round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2009776" y="4613277"/>
            <a:ext cx="2500313" cy="1743075"/>
          </a:xfrm>
          <a:prstGeom prst="round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7829551" y="1981199"/>
            <a:ext cx="2500313" cy="1743075"/>
          </a:xfrm>
          <a:prstGeom prst="roundRect">
            <a:avLst/>
          </a:prstGeom>
          <a:blipFill dpi="0" rotWithShape="1">
            <a:blip r:embed="rId7">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4845844" y="1981199"/>
            <a:ext cx="2500313" cy="1743075"/>
          </a:xfrm>
          <a:prstGeom prst="roundRect">
            <a:avLst/>
          </a:prstGeom>
          <a:blipFill dpi="0" rotWithShape="1">
            <a:blip r:embed="rId8">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1763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914401"/>
            <a:ext cx="7886700" cy="4531042"/>
          </a:xfrm>
        </p:spPr>
        <p:txBody>
          <a:bodyPr>
            <a:noAutofit/>
          </a:bodyPr>
          <a:lstStyle/>
          <a:p>
            <a:r>
              <a:rPr lang="en-GB" sz="2400" dirty="0">
                <a:latin typeface="Century Gothic" panose="020B0502020202020204" pitchFamily="34" charset="0"/>
              </a:rPr>
              <a:t>Farming system is a set of </a:t>
            </a:r>
            <a:r>
              <a:rPr lang="en-GB" sz="2400" dirty="0" err="1">
                <a:latin typeface="Century Gothic" panose="020B0502020202020204" pitchFamily="34" charset="0"/>
              </a:rPr>
              <a:t>agro</a:t>
            </a:r>
            <a:r>
              <a:rPr lang="en-GB" sz="2400" dirty="0">
                <a:latin typeface="Century Gothic" panose="020B0502020202020204" pitchFamily="34" charset="0"/>
              </a:rPr>
              <a:t>-economic activities that are interrelated and interact with themselves in a particular agrarian setting (Sharma et al, 1991).</a:t>
            </a:r>
          </a:p>
          <a:p>
            <a:r>
              <a:rPr lang="en-GB" sz="2400" dirty="0">
                <a:latin typeface="Century Gothic" panose="020B0502020202020204" pitchFamily="34" charset="0"/>
              </a:rPr>
              <a:t>Integrated farming system (IFS) is a component of farming system research which is aimed at introducing a change in the farming techniques for maximum production – optimum utilisation of resources</a:t>
            </a:r>
            <a:endParaRPr lang="en-GB" altLang="en-US" sz="2400" dirty="0">
              <a:latin typeface="Century Gothic" panose="020B0502020202020204" pitchFamily="34" charset="0"/>
            </a:endParaRPr>
          </a:p>
          <a:p>
            <a:r>
              <a:rPr lang="en-GB" altLang="en-US" sz="2400" dirty="0">
                <a:latin typeface="Century Gothic" panose="020B0502020202020204" pitchFamily="34" charset="0"/>
              </a:rPr>
              <a:t>Livestock production system is a term used to denote a farming system of interest </a:t>
            </a:r>
            <a:endParaRPr lang="en-US" altLang="en-US" sz="2400" dirty="0">
              <a:latin typeface="Century Gothic" panose="020B0502020202020204" pitchFamily="34" charset="0"/>
            </a:endParaRPr>
          </a:p>
          <a:p>
            <a:pPr lvl="1"/>
            <a:r>
              <a:rPr lang="en-US" altLang="en-US" dirty="0">
                <a:latin typeface="Century Gothic" panose="020B0502020202020204" pitchFamily="34" charset="0"/>
              </a:rPr>
              <a:t>Not</a:t>
            </a:r>
            <a:r>
              <a:rPr lang="en-GB" altLang="en-US" dirty="0">
                <a:latin typeface="Century Gothic" panose="020B0502020202020204" pitchFamily="34" charset="0"/>
              </a:rPr>
              <a:t> only for the study of livestock </a:t>
            </a:r>
            <a:endParaRPr lang="en-US" altLang="en-US" dirty="0">
              <a:latin typeface="Century Gothic" panose="020B0502020202020204" pitchFamily="34" charset="0"/>
            </a:endParaRPr>
          </a:p>
          <a:p>
            <a:pPr lvl="1"/>
            <a:r>
              <a:rPr lang="en-GB" altLang="en-US" dirty="0">
                <a:latin typeface="Century Gothic" panose="020B0502020202020204" pitchFamily="34" charset="0"/>
              </a:rPr>
              <a:t>But</a:t>
            </a:r>
            <a:r>
              <a:rPr lang="en-US" altLang="en-US" dirty="0">
                <a:latin typeface="Century Gothic" panose="020B0502020202020204" pitchFamily="34" charset="0"/>
              </a:rPr>
              <a:t> </a:t>
            </a:r>
            <a:r>
              <a:rPr lang="en-GB" altLang="en-US" dirty="0">
                <a:latin typeface="Century Gothic" panose="020B0502020202020204" pitchFamily="34" charset="0"/>
              </a:rPr>
              <a:t>also for the purposes of livestock development</a:t>
            </a: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427022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GB" b="1" dirty="0">
                <a:solidFill>
                  <a:srgbClr val="0070C0"/>
                </a:solidFill>
              </a:rPr>
              <a:t>Classification of Livestock Production Systems based on management</a:t>
            </a:r>
          </a:p>
        </p:txBody>
      </p:sp>
      <p:sp>
        <p:nvSpPr>
          <p:cNvPr id="3" name="Content Placeholder 2"/>
          <p:cNvSpPr>
            <a:spLocks noGrp="1"/>
          </p:cNvSpPr>
          <p:nvPr>
            <p:ph idx="1"/>
          </p:nvPr>
        </p:nvSpPr>
        <p:spPr/>
        <p:txBody>
          <a:bodyPr>
            <a:normAutofit/>
          </a:bodyPr>
          <a:lstStyle/>
          <a:p>
            <a:pPr marL="514350" indent="-514350">
              <a:buFont typeface="+mj-lt"/>
              <a:buAutoNum type="alphaLcPeriod"/>
            </a:pPr>
            <a:r>
              <a:rPr lang="en-GB" sz="2400" b="1" dirty="0">
                <a:latin typeface="Century Gothic" panose="020B0502020202020204" pitchFamily="34" charset="0"/>
              </a:rPr>
              <a:t>Extensive</a:t>
            </a:r>
          </a:p>
          <a:p>
            <a:r>
              <a:rPr lang="en-GB" sz="2400" dirty="0">
                <a:latin typeface="Century Gothic" panose="020B0502020202020204" pitchFamily="34" charset="0"/>
              </a:rPr>
              <a:t>The oldest method of rearing animals usually practised by smallholder farmers who are resource poor</a:t>
            </a:r>
          </a:p>
          <a:p>
            <a:r>
              <a:rPr lang="en-GB" sz="2400" dirty="0">
                <a:latin typeface="Century Gothic" panose="020B0502020202020204" pitchFamily="34" charset="0"/>
              </a:rPr>
              <a:t>Animals are kept on free-range for part or all their production cycle</a:t>
            </a:r>
          </a:p>
          <a:p>
            <a:r>
              <a:rPr lang="en-GB" sz="2400" dirty="0">
                <a:latin typeface="Century Gothic" panose="020B0502020202020204" pitchFamily="34" charset="0"/>
              </a:rPr>
              <a:t>Low input – low output production system</a:t>
            </a:r>
          </a:p>
          <a:p>
            <a:r>
              <a:rPr lang="en-GB" sz="2400" dirty="0">
                <a:latin typeface="Century Gothic" panose="020B0502020202020204" pitchFamily="34" charset="0"/>
              </a:rPr>
              <a:t>Highly integrated – crops and livestock and even different breeds or species</a:t>
            </a:r>
          </a:p>
          <a:p>
            <a:r>
              <a:rPr lang="en-GB" sz="2400" dirty="0">
                <a:latin typeface="Century Gothic" panose="020B0502020202020204" pitchFamily="34" charset="0"/>
              </a:rPr>
              <a:t>Examples are pastoralism, subsistence and ranching</a:t>
            </a:r>
          </a:p>
          <a:p>
            <a:pPr marL="0" indent="0">
              <a:buNone/>
            </a:pPr>
            <a:endParaRPr lang="en-GB" sz="2400" dirty="0">
              <a:latin typeface="Century Gothic" panose="020B0502020202020204" pitchFamily="34" charset="0"/>
            </a:endParaRPr>
          </a:p>
        </p:txBody>
      </p:sp>
    </p:spTree>
    <p:extLst>
      <p:ext uri="{BB962C8B-B14F-4D97-AF65-F5344CB8AC3E}">
        <p14:creationId xmlns:p14="http://schemas.microsoft.com/office/powerpoint/2010/main" val="293594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GB" b="1" dirty="0">
                <a:solidFill>
                  <a:srgbClr val="0070C0"/>
                </a:solidFill>
              </a:rPr>
              <a:t>Classification of production Systems based on management</a:t>
            </a:r>
          </a:p>
        </p:txBody>
      </p:sp>
      <p:sp>
        <p:nvSpPr>
          <p:cNvPr id="3" name="Content Placeholder 2"/>
          <p:cNvSpPr>
            <a:spLocks noGrp="1"/>
          </p:cNvSpPr>
          <p:nvPr>
            <p:ph idx="1"/>
          </p:nvPr>
        </p:nvSpPr>
        <p:spPr/>
        <p:txBody>
          <a:bodyPr>
            <a:normAutofit/>
          </a:bodyPr>
          <a:lstStyle/>
          <a:p>
            <a:pPr marL="514350" indent="-514350">
              <a:buFont typeface="+mj-lt"/>
              <a:buAutoNum type="alphaLcPeriod" startAt="2"/>
            </a:pPr>
            <a:r>
              <a:rPr lang="en-GB" sz="2400" b="1" dirty="0">
                <a:latin typeface="Century Gothic" panose="020B0502020202020204" pitchFamily="34" charset="0"/>
              </a:rPr>
              <a:t>Semi-Intensive</a:t>
            </a:r>
          </a:p>
          <a:p>
            <a:r>
              <a:rPr lang="en-GB" sz="2400" dirty="0">
                <a:latin typeface="Century Gothic" panose="020B0502020202020204" pitchFamily="34" charset="0"/>
              </a:rPr>
              <a:t>This system combines extensive and intensive systems.</a:t>
            </a:r>
          </a:p>
          <a:p>
            <a:r>
              <a:rPr lang="en-GB" sz="2400" dirty="0">
                <a:latin typeface="Century Gothic" panose="020B0502020202020204" pitchFamily="34" charset="0"/>
              </a:rPr>
              <a:t>In this system, the farmer provides housing for the animals and allows them to move out to feed on natural vegetation.</a:t>
            </a:r>
          </a:p>
          <a:p>
            <a:r>
              <a:rPr lang="en-GB" sz="2400" dirty="0">
                <a:latin typeface="Century Gothic" panose="020B0502020202020204" pitchFamily="34" charset="0"/>
              </a:rPr>
              <a:t>Commonly used by small-scale farmers</a:t>
            </a:r>
          </a:p>
        </p:txBody>
      </p:sp>
    </p:spTree>
    <p:extLst>
      <p:ext uri="{BB962C8B-B14F-4D97-AF65-F5344CB8AC3E}">
        <p14:creationId xmlns:p14="http://schemas.microsoft.com/office/powerpoint/2010/main" val="416704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GB" b="1" dirty="0">
                <a:solidFill>
                  <a:srgbClr val="0070C0"/>
                </a:solidFill>
              </a:rPr>
              <a:t>Classification of production Systems based on management</a:t>
            </a:r>
          </a:p>
        </p:txBody>
      </p:sp>
      <p:sp>
        <p:nvSpPr>
          <p:cNvPr id="3" name="Content Placeholder 2"/>
          <p:cNvSpPr>
            <a:spLocks noGrp="1"/>
          </p:cNvSpPr>
          <p:nvPr>
            <p:ph idx="1"/>
          </p:nvPr>
        </p:nvSpPr>
        <p:spPr/>
        <p:txBody>
          <a:bodyPr>
            <a:normAutofit/>
          </a:bodyPr>
          <a:lstStyle/>
          <a:p>
            <a:pPr marL="514350" indent="-514350">
              <a:buFont typeface="+mj-lt"/>
              <a:buAutoNum type="alphaLcPeriod" startAt="3"/>
            </a:pPr>
            <a:r>
              <a:rPr lang="en-GB" sz="2400" b="1" dirty="0">
                <a:latin typeface="Century Gothic" panose="020B0502020202020204" pitchFamily="34" charset="0"/>
              </a:rPr>
              <a:t>Intensive</a:t>
            </a:r>
          </a:p>
          <a:p>
            <a:r>
              <a:rPr lang="en-GB" sz="2400" dirty="0">
                <a:latin typeface="Century Gothic" panose="020B0502020202020204" pitchFamily="34" charset="0"/>
              </a:rPr>
              <a:t>Basically a high input – high output production system with a smaller piece of land being used.</a:t>
            </a:r>
          </a:p>
          <a:p>
            <a:r>
              <a:rPr lang="en-GB" sz="2400" dirty="0">
                <a:latin typeface="Century Gothic" panose="020B0502020202020204" pitchFamily="34" charset="0"/>
              </a:rPr>
              <a:t>Aim is to achieve maximum profits.</a:t>
            </a:r>
          </a:p>
          <a:p>
            <a:r>
              <a:rPr lang="en-GB" sz="2400" dirty="0">
                <a:latin typeface="Century Gothic" panose="020B0502020202020204" pitchFamily="34" charset="0"/>
              </a:rPr>
              <a:t>Animals are raised in confinements and feed efficiency is high, thus growth rate is also high.</a:t>
            </a: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171640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Classification of production Systems based on economic value</a:t>
            </a:r>
          </a:p>
        </p:txBody>
      </p:sp>
      <p:sp>
        <p:nvSpPr>
          <p:cNvPr id="3" name="Content Placeholder 2"/>
          <p:cNvSpPr>
            <a:spLocks noGrp="1"/>
          </p:cNvSpPr>
          <p:nvPr>
            <p:ph idx="1"/>
          </p:nvPr>
        </p:nvSpPr>
        <p:spPr/>
        <p:txBody>
          <a:bodyPr>
            <a:normAutofit/>
          </a:bodyPr>
          <a:lstStyle/>
          <a:p>
            <a:r>
              <a:rPr lang="en-GB" sz="2400" dirty="0">
                <a:latin typeface="Century Gothic" panose="020B0502020202020204" pitchFamily="34" charset="0"/>
              </a:rPr>
              <a:t>Livestock Production Systems can be classified into two:</a:t>
            </a:r>
          </a:p>
          <a:p>
            <a:pPr lvl="1"/>
            <a:r>
              <a:rPr lang="en-GB" dirty="0">
                <a:latin typeface="Century Gothic" panose="020B0502020202020204" pitchFamily="34" charset="0"/>
              </a:rPr>
              <a:t>Subsistence</a:t>
            </a:r>
          </a:p>
          <a:p>
            <a:pPr lvl="1"/>
            <a:r>
              <a:rPr lang="en-GB" dirty="0">
                <a:latin typeface="Century Gothic" panose="020B0502020202020204" pitchFamily="34" charset="0"/>
              </a:rPr>
              <a:t>Commercial</a:t>
            </a:r>
          </a:p>
          <a:p>
            <a:r>
              <a:rPr lang="en-GB" sz="2400" dirty="0">
                <a:latin typeface="Century Gothic" panose="020B0502020202020204" pitchFamily="34" charset="0"/>
              </a:rPr>
              <a:t>Livestock Production Systems can either be a mixed crop-livestock system or constitute the whole system</a:t>
            </a:r>
          </a:p>
        </p:txBody>
      </p:sp>
    </p:spTree>
    <p:extLst>
      <p:ext uri="{BB962C8B-B14F-4D97-AF65-F5344CB8AC3E}">
        <p14:creationId xmlns:p14="http://schemas.microsoft.com/office/powerpoint/2010/main" val="2397000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FD18A2-EDF8-4924-9EFF-C484AAF37B4C}"/>
              </a:ext>
            </a:extLst>
          </p:cNvPr>
          <p:cNvPicPr/>
          <p:nvPr/>
        </p:nvPicPr>
        <p:blipFill rotWithShape="1">
          <a:blip r:embed="rId2"/>
          <a:srcRect l="2069" t="11728" r="70653" b="15809"/>
          <a:stretch/>
        </p:blipFill>
        <p:spPr bwMode="auto">
          <a:xfrm>
            <a:off x="2387600" y="444501"/>
            <a:ext cx="7505700" cy="620553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890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
            <a:ext cx="7886700" cy="1325563"/>
          </a:xfrm>
        </p:spPr>
        <p:txBody>
          <a:bodyPr/>
          <a:lstStyle/>
          <a:p>
            <a:r>
              <a:rPr lang="en-GB" dirty="0">
                <a:solidFill>
                  <a:srgbClr val="0070C0"/>
                </a:solidFill>
              </a:rPr>
              <a:t>Characteristics of the LPS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43898871"/>
              </p:ext>
            </p:extLst>
          </p:nvPr>
        </p:nvGraphicFramePr>
        <p:xfrm>
          <a:off x="1745457" y="1025525"/>
          <a:ext cx="8701086" cy="5574300"/>
        </p:xfrm>
        <a:graphic>
          <a:graphicData uri="http://schemas.openxmlformats.org/drawingml/2006/table">
            <a:tbl>
              <a:tblPr firstRow="1" bandRow="1">
                <a:tableStyleId>{5C22544A-7EE6-4342-B048-85BDC9FD1C3A}</a:tableStyleId>
              </a:tblPr>
              <a:tblGrid>
                <a:gridCol w="3060899">
                  <a:extLst>
                    <a:ext uri="{9D8B030D-6E8A-4147-A177-3AD203B41FA5}">
                      <a16:colId xmlns:a16="http://schemas.microsoft.com/office/drawing/2014/main" val="20000"/>
                    </a:ext>
                  </a:extLst>
                </a:gridCol>
                <a:gridCol w="2295674">
                  <a:extLst>
                    <a:ext uri="{9D8B030D-6E8A-4147-A177-3AD203B41FA5}">
                      <a16:colId xmlns:a16="http://schemas.microsoft.com/office/drawing/2014/main" val="20001"/>
                    </a:ext>
                  </a:extLst>
                </a:gridCol>
                <a:gridCol w="3344513">
                  <a:extLst>
                    <a:ext uri="{9D8B030D-6E8A-4147-A177-3AD203B41FA5}">
                      <a16:colId xmlns:a16="http://schemas.microsoft.com/office/drawing/2014/main" val="20002"/>
                    </a:ext>
                  </a:extLst>
                </a:gridCol>
              </a:tblGrid>
              <a:tr h="550579">
                <a:tc>
                  <a:txBody>
                    <a:bodyPr/>
                    <a:lstStyle/>
                    <a:p>
                      <a:r>
                        <a:rPr lang="en-GB" sz="2200" dirty="0">
                          <a:latin typeface="Century Gothic" panose="020B0502020202020204" pitchFamily="34" charset="0"/>
                        </a:rPr>
                        <a:t>Characteristics</a:t>
                      </a:r>
                    </a:p>
                  </a:txBody>
                  <a:tcPr/>
                </a:tc>
                <a:tc>
                  <a:txBody>
                    <a:bodyPr/>
                    <a:lstStyle/>
                    <a:p>
                      <a:r>
                        <a:rPr lang="en-GB" sz="2200" dirty="0">
                          <a:latin typeface="Century Gothic" panose="020B0502020202020204" pitchFamily="34" charset="0"/>
                        </a:rPr>
                        <a:t>Subsistence</a:t>
                      </a:r>
                    </a:p>
                  </a:txBody>
                  <a:tcPr/>
                </a:tc>
                <a:tc>
                  <a:txBody>
                    <a:bodyPr/>
                    <a:lstStyle/>
                    <a:p>
                      <a:r>
                        <a:rPr lang="en-GB" sz="2200" dirty="0">
                          <a:latin typeface="Century Gothic" panose="020B0502020202020204" pitchFamily="34" charset="0"/>
                        </a:rPr>
                        <a:t>Commercial</a:t>
                      </a:r>
                    </a:p>
                  </a:txBody>
                  <a:tcPr/>
                </a:tc>
                <a:extLst>
                  <a:ext uri="{0D108BD9-81ED-4DB2-BD59-A6C34878D82A}">
                    <a16:rowId xmlns:a16="http://schemas.microsoft.com/office/drawing/2014/main" val="10000"/>
                  </a:ext>
                </a:extLst>
              </a:tr>
              <a:tr h="550579">
                <a:tc>
                  <a:txBody>
                    <a:bodyPr/>
                    <a:lstStyle/>
                    <a:p>
                      <a:r>
                        <a:rPr lang="en-GB" sz="2200" dirty="0">
                          <a:latin typeface="Century Gothic" panose="020B0502020202020204" pitchFamily="34" charset="0"/>
                        </a:rPr>
                        <a:t>Herd size</a:t>
                      </a:r>
                    </a:p>
                  </a:txBody>
                  <a:tcPr/>
                </a:tc>
                <a:tc>
                  <a:txBody>
                    <a:bodyPr/>
                    <a:lstStyle/>
                    <a:p>
                      <a:r>
                        <a:rPr lang="en-GB" sz="2200" dirty="0">
                          <a:latin typeface="Century Gothic" panose="020B0502020202020204" pitchFamily="34" charset="0"/>
                        </a:rPr>
                        <a:t>Small</a:t>
                      </a:r>
                    </a:p>
                  </a:txBody>
                  <a:tcPr/>
                </a:tc>
                <a:tc>
                  <a:txBody>
                    <a:bodyPr/>
                    <a:lstStyle/>
                    <a:p>
                      <a:r>
                        <a:rPr lang="en-GB" sz="2200" dirty="0">
                          <a:latin typeface="Century Gothic" panose="020B0502020202020204" pitchFamily="34" charset="0"/>
                        </a:rPr>
                        <a:t>Large</a:t>
                      </a:r>
                    </a:p>
                  </a:txBody>
                  <a:tcPr/>
                </a:tc>
                <a:extLst>
                  <a:ext uri="{0D108BD9-81ED-4DB2-BD59-A6C34878D82A}">
                    <a16:rowId xmlns:a16="http://schemas.microsoft.com/office/drawing/2014/main" val="10001"/>
                  </a:ext>
                </a:extLst>
              </a:tr>
              <a:tr h="550579">
                <a:tc>
                  <a:txBody>
                    <a:bodyPr/>
                    <a:lstStyle/>
                    <a:p>
                      <a:r>
                        <a:rPr lang="en-GB" sz="2200" dirty="0">
                          <a:latin typeface="Century Gothic" panose="020B0502020202020204" pitchFamily="34" charset="0"/>
                        </a:rPr>
                        <a:t>System</a:t>
                      </a:r>
                      <a:r>
                        <a:rPr lang="en-GB" sz="2200" baseline="0" dirty="0">
                          <a:latin typeface="Century Gothic" panose="020B0502020202020204" pitchFamily="34" charset="0"/>
                        </a:rPr>
                        <a:t> of Production</a:t>
                      </a:r>
                      <a:endParaRPr lang="en-GB" sz="2200" dirty="0">
                        <a:latin typeface="Century Gothic" panose="020B0502020202020204" pitchFamily="34" charset="0"/>
                      </a:endParaRPr>
                    </a:p>
                  </a:txBody>
                  <a:tcPr/>
                </a:tc>
                <a:tc>
                  <a:txBody>
                    <a:bodyPr/>
                    <a:lstStyle/>
                    <a:p>
                      <a:r>
                        <a:rPr lang="en-GB" sz="2200" dirty="0">
                          <a:latin typeface="Century Gothic" panose="020B0502020202020204" pitchFamily="34" charset="0"/>
                        </a:rPr>
                        <a:t>Extensive </a:t>
                      </a:r>
                    </a:p>
                  </a:txBody>
                  <a:tcPr/>
                </a:tc>
                <a:tc>
                  <a:txBody>
                    <a:bodyPr/>
                    <a:lstStyle/>
                    <a:p>
                      <a:r>
                        <a:rPr lang="en-GB" sz="2200" dirty="0">
                          <a:latin typeface="Century Gothic" panose="020B0502020202020204" pitchFamily="34" charset="0"/>
                        </a:rPr>
                        <a:t>Intensive</a:t>
                      </a:r>
                    </a:p>
                  </a:txBody>
                  <a:tcPr/>
                </a:tc>
                <a:extLst>
                  <a:ext uri="{0D108BD9-81ED-4DB2-BD59-A6C34878D82A}">
                    <a16:rowId xmlns:a16="http://schemas.microsoft.com/office/drawing/2014/main" val="10002"/>
                  </a:ext>
                </a:extLst>
              </a:tr>
              <a:tr h="550579">
                <a:tc>
                  <a:txBody>
                    <a:bodyPr/>
                    <a:lstStyle/>
                    <a:p>
                      <a:r>
                        <a:rPr lang="en-GB" sz="2200" dirty="0">
                          <a:latin typeface="Century Gothic" panose="020B0502020202020204" pitchFamily="34" charset="0"/>
                        </a:rPr>
                        <a:t>Input</a:t>
                      </a:r>
                    </a:p>
                  </a:txBody>
                  <a:tcPr/>
                </a:tc>
                <a:tc>
                  <a:txBody>
                    <a:bodyPr/>
                    <a:lstStyle/>
                    <a:p>
                      <a:r>
                        <a:rPr lang="en-GB" sz="2200" dirty="0">
                          <a:latin typeface="Century Gothic" panose="020B0502020202020204" pitchFamily="34" charset="0"/>
                        </a:rPr>
                        <a:t>Low</a:t>
                      </a:r>
                    </a:p>
                  </a:txBody>
                  <a:tcPr/>
                </a:tc>
                <a:tc>
                  <a:txBody>
                    <a:bodyPr/>
                    <a:lstStyle/>
                    <a:p>
                      <a:r>
                        <a:rPr lang="en-GB" sz="2200" dirty="0">
                          <a:latin typeface="Century Gothic" panose="020B0502020202020204" pitchFamily="34" charset="0"/>
                        </a:rPr>
                        <a:t>High</a:t>
                      </a:r>
                    </a:p>
                  </a:txBody>
                  <a:tcPr/>
                </a:tc>
                <a:extLst>
                  <a:ext uri="{0D108BD9-81ED-4DB2-BD59-A6C34878D82A}">
                    <a16:rowId xmlns:a16="http://schemas.microsoft.com/office/drawing/2014/main" val="10003"/>
                  </a:ext>
                </a:extLst>
              </a:tr>
              <a:tr h="550579">
                <a:tc>
                  <a:txBody>
                    <a:bodyPr/>
                    <a:lstStyle/>
                    <a:p>
                      <a:r>
                        <a:rPr lang="en-GB" sz="2200" dirty="0">
                          <a:latin typeface="Century Gothic" panose="020B0502020202020204" pitchFamily="34" charset="0"/>
                        </a:rPr>
                        <a:t>Area of production</a:t>
                      </a:r>
                    </a:p>
                  </a:txBody>
                  <a:tcPr/>
                </a:tc>
                <a:tc>
                  <a:txBody>
                    <a:bodyPr/>
                    <a:lstStyle/>
                    <a:p>
                      <a:r>
                        <a:rPr lang="en-GB" sz="2200" dirty="0">
                          <a:latin typeface="Century Gothic" panose="020B0502020202020204" pitchFamily="34" charset="0"/>
                        </a:rPr>
                        <a:t>Rural</a:t>
                      </a:r>
                    </a:p>
                  </a:txBody>
                  <a:tcPr/>
                </a:tc>
                <a:tc>
                  <a:txBody>
                    <a:bodyPr/>
                    <a:lstStyle/>
                    <a:p>
                      <a:r>
                        <a:rPr lang="en-GB" sz="2200" dirty="0">
                          <a:latin typeface="Century Gothic" panose="020B0502020202020204" pitchFamily="34" charset="0"/>
                        </a:rPr>
                        <a:t>Urban and </a:t>
                      </a:r>
                      <a:r>
                        <a:rPr lang="en-GB" sz="2200" dirty="0" err="1">
                          <a:latin typeface="Century Gothic" panose="020B0502020202020204" pitchFamily="34" charset="0"/>
                        </a:rPr>
                        <a:t>Peri</a:t>
                      </a:r>
                      <a:r>
                        <a:rPr lang="en-GB" sz="2200" dirty="0">
                          <a:latin typeface="Century Gothic" panose="020B0502020202020204" pitchFamily="34" charset="0"/>
                        </a:rPr>
                        <a:t>-urban</a:t>
                      </a:r>
                    </a:p>
                  </a:txBody>
                  <a:tcPr/>
                </a:tc>
                <a:extLst>
                  <a:ext uri="{0D108BD9-81ED-4DB2-BD59-A6C34878D82A}">
                    <a16:rowId xmlns:a16="http://schemas.microsoft.com/office/drawing/2014/main" val="10004"/>
                  </a:ext>
                </a:extLst>
              </a:tr>
              <a:tr h="550579">
                <a:tc>
                  <a:txBody>
                    <a:bodyPr/>
                    <a:lstStyle/>
                    <a:p>
                      <a:r>
                        <a:rPr lang="en-GB" sz="2200" dirty="0">
                          <a:latin typeface="Century Gothic" panose="020B0502020202020204" pitchFamily="34" charset="0"/>
                        </a:rPr>
                        <a:t>Uses</a:t>
                      </a:r>
                    </a:p>
                  </a:txBody>
                  <a:tcPr/>
                </a:tc>
                <a:tc>
                  <a:txBody>
                    <a:bodyPr/>
                    <a:lstStyle/>
                    <a:p>
                      <a:r>
                        <a:rPr lang="en-GB" sz="2200" dirty="0">
                          <a:latin typeface="Century Gothic" panose="020B0502020202020204" pitchFamily="34" charset="0"/>
                        </a:rPr>
                        <a:t>Multipurpose</a:t>
                      </a:r>
                    </a:p>
                  </a:txBody>
                  <a:tcPr/>
                </a:tc>
                <a:tc>
                  <a:txBody>
                    <a:bodyPr/>
                    <a:lstStyle/>
                    <a:p>
                      <a:r>
                        <a:rPr lang="en-GB" sz="2200" dirty="0">
                          <a:latin typeface="Century Gothic" panose="020B0502020202020204" pitchFamily="34" charset="0"/>
                        </a:rPr>
                        <a:t>Commercial</a:t>
                      </a:r>
                    </a:p>
                  </a:txBody>
                  <a:tcPr/>
                </a:tc>
                <a:extLst>
                  <a:ext uri="{0D108BD9-81ED-4DB2-BD59-A6C34878D82A}">
                    <a16:rowId xmlns:a16="http://schemas.microsoft.com/office/drawing/2014/main" val="10005"/>
                  </a:ext>
                </a:extLst>
              </a:tr>
              <a:tr h="550579">
                <a:tc>
                  <a:txBody>
                    <a:bodyPr/>
                    <a:lstStyle/>
                    <a:p>
                      <a:r>
                        <a:rPr lang="en-GB" sz="2200" dirty="0">
                          <a:latin typeface="Century Gothic" panose="020B0502020202020204" pitchFamily="34" charset="0"/>
                        </a:rPr>
                        <a:t>Breeding</a:t>
                      </a:r>
                    </a:p>
                  </a:txBody>
                  <a:tcPr/>
                </a:tc>
                <a:tc>
                  <a:txBody>
                    <a:bodyPr/>
                    <a:lstStyle/>
                    <a:p>
                      <a:r>
                        <a:rPr lang="en-GB" sz="2200" dirty="0">
                          <a:latin typeface="Century Gothic" panose="020B0502020202020204" pitchFamily="34" charset="0"/>
                        </a:rPr>
                        <a:t>Uncontrolled</a:t>
                      </a:r>
                    </a:p>
                  </a:txBody>
                  <a:tcPr/>
                </a:tc>
                <a:tc>
                  <a:txBody>
                    <a:bodyPr/>
                    <a:lstStyle/>
                    <a:p>
                      <a:r>
                        <a:rPr lang="en-GB" sz="2200" dirty="0">
                          <a:latin typeface="Century Gothic" panose="020B0502020202020204" pitchFamily="34" charset="0"/>
                        </a:rPr>
                        <a:t>Controlled</a:t>
                      </a:r>
                    </a:p>
                  </a:txBody>
                  <a:tcPr/>
                </a:tc>
                <a:extLst>
                  <a:ext uri="{0D108BD9-81ED-4DB2-BD59-A6C34878D82A}">
                    <a16:rowId xmlns:a16="http://schemas.microsoft.com/office/drawing/2014/main" val="10006"/>
                  </a:ext>
                </a:extLst>
              </a:tr>
              <a:tr h="550579">
                <a:tc>
                  <a:txBody>
                    <a:bodyPr/>
                    <a:lstStyle/>
                    <a:p>
                      <a:r>
                        <a:rPr lang="en-GB" sz="2200" dirty="0">
                          <a:latin typeface="Century Gothic" panose="020B0502020202020204" pitchFamily="34" charset="0"/>
                        </a:rPr>
                        <a:t>Production Efficiency</a:t>
                      </a:r>
                    </a:p>
                  </a:txBody>
                  <a:tcPr/>
                </a:tc>
                <a:tc>
                  <a:txBody>
                    <a:bodyPr/>
                    <a:lstStyle/>
                    <a:p>
                      <a:r>
                        <a:rPr lang="en-GB" sz="2200" dirty="0">
                          <a:latin typeface="Century Gothic" panose="020B0502020202020204" pitchFamily="34" charset="0"/>
                        </a:rPr>
                        <a:t>Low</a:t>
                      </a:r>
                      <a:r>
                        <a:rPr lang="en-GB" sz="2200" baseline="0" dirty="0">
                          <a:latin typeface="Century Gothic" panose="020B0502020202020204" pitchFamily="34" charset="0"/>
                        </a:rPr>
                        <a:t> (output based on numbers)</a:t>
                      </a:r>
                      <a:endParaRPr lang="en-GB" sz="2200" dirty="0">
                        <a:latin typeface="Century Gothic" panose="020B0502020202020204" pitchFamily="34" charset="0"/>
                      </a:endParaRPr>
                    </a:p>
                  </a:txBody>
                  <a:tcPr/>
                </a:tc>
                <a:tc>
                  <a:txBody>
                    <a:bodyPr/>
                    <a:lstStyle/>
                    <a:p>
                      <a:r>
                        <a:rPr lang="en-GB" sz="2200" dirty="0">
                          <a:latin typeface="Century Gothic" panose="020B0502020202020204" pitchFamily="34" charset="0"/>
                        </a:rPr>
                        <a:t>High (output based on productivity)</a:t>
                      </a:r>
                    </a:p>
                  </a:txBody>
                  <a:tcPr/>
                </a:tc>
                <a:extLst>
                  <a:ext uri="{0D108BD9-81ED-4DB2-BD59-A6C34878D82A}">
                    <a16:rowId xmlns:a16="http://schemas.microsoft.com/office/drawing/2014/main" val="10007"/>
                  </a:ext>
                </a:extLst>
              </a:tr>
              <a:tr h="622967">
                <a:tc>
                  <a:txBody>
                    <a:bodyPr/>
                    <a:lstStyle/>
                    <a:p>
                      <a:r>
                        <a:rPr lang="en-GB" sz="2200" dirty="0">
                          <a:latin typeface="Century Gothic" panose="020B0502020202020204" pitchFamily="34" charset="0"/>
                        </a:rPr>
                        <a:t>Breeds</a:t>
                      </a:r>
                    </a:p>
                  </a:txBody>
                  <a:tcPr/>
                </a:tc>
                <a:tc>
                  <a:txBody>
                    <a:bodyPr/>
                    <a:lstStyle/>
                    <a:p>
                      <a:r>
                        <a:rPr lang="en-GB" sz="2200" dirty="0">
                          <a:latin typeface="Century Gothic" panose="020B0502020202020204" pitchFamily="34" charset="0"/>
                        </a:rPr>
                        <a:t>Local/Crosses</a:t>
                      </a:r>
                    </a:p>
                  </a:txBody>
                  <a:tcPr/>
                </a:tc>
                <a:tc>
                  <a:txBody>
                    <a:bodyPr/>
                    <a:lstStyle/>
                    <a:p>
                      <a:r>
                        <a:rPr lang="en-GB" sz="2200" dirty="0">
                          <a:latin typeface="Century Gothic" panose="020B0502020202020204" pitchFamily="34" charset="0"/>
                        </a:rPr>
                        <a:t>Crosses/Pure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28132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Classification of Animals based on the type of food they eat</a:t>
            </a:r>
          </a:p>
        </p:txBody>
      </p:sp>
      <p:sp>
        <p:nvSpPr>
          <p:cNvPr id="3" name="Content Placeholder 2"/>
          <p:cNvSpPr>
            <a:spLocks noGrp="1"/>
          </p:cNvSpPr>
          <p:nvPr>
            <p:ph idx="1"/>
          </p:nvPr>
        </p:nvSpPr>
        <p:spPr/>
        <p:txBody>
          <a:bodyPr>
            <a:normAutofit/>
          </a:bodyPr>
          <a:lstStyle/>
          <a:p>
            <a:r>
              <a:rPr lang="en-GB" sz="2400" dirty="0">
                <a:latin typeface="Century Gothic" panose="020B0502020202020204" pitchFamily="34" charset="0"/>
              </a:rPr>
              <a:t>Carnivore – feed on animal products</a:t>
            </a:r>
          </a:p>
          <a:p>
            <a:endParaRPr lang="en-GB" sz="2400" dirty="0">
              <a:latin typeface="Century Gothic" panose="020B0502020202020204" pitchFamily="34" charset="0"/>
            </a:endParaRPr>
          </a:p>
          <a:p>
            <a:r>
              <a:rPr lang="en-GB" sz="2400" dirty="0">
                <a:latin typeface="Century Gothic" panose="020B0502020202020204" pitchFamily="34" charset="0"/>
              </a:rPr>
              <a:t>Omnivores – feed on plant and animal products</a:t>
            </a:r>
          </a:p>
          <a:p>
            <a:endParaRPr lang="en-GB" sz="2400" dirty="0">
              <a:latin typeface="Century Gothic" panose="020B0502020202020204" pitchFamily="34" charset="0"/>
            </a:endParaRPr>
          </a:p>
          <a:p>
            <a:r>
              <a:rPr lang="en-GB" sz="2400" dirty="0">
                <a:latin typeface="Century Gothic" panose="020B0502020202020204" pitchFamily="34" charset="0"/>
              </a:rPr>
              <a:t>Herbivores – feed on plant products</a:t>
            </a:r>
          </a:p>
        </p:txBody>
      </p:sp>
    </p:spTree>
    <p:extLst>
      <p:ext uri="{BB962C8B-B14F-4D97-AF65-F5344CB8AC3E}">
        <p14:creationId xmlns:p14="http://schemas.microsoft.com/office/powerpoint/2010/main" val="3195163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Classification of Livestock based on digestive System</a:t>
            </a:r>
          </a:p>
        </p:txBody>
      </p:sp>
      <p:sp>
        <p:nvSpPr>
          <p:cNvPr id="3" name="Content Placeholder 2"/>
          <p:cNvSpPr>
            <a:spLocks noGrp="1"/>
          </p:cNvSpPr>
          <p:nvPr>
            <p:ph idx="1"/>
          </p:nvPr>
        </p:nvSpPr>
        <p:spPr/>
        <p:txBody>
          <a:bodyPr>
            <a:normAutofit/>
          </a:bodyPr>
          <a:lstStyle/>
          <a:p>
            <a:r>
              <a:rPr lang="en-GB" sz="2400" dirty="0">
                <a:latin typeface="Century Gothic" panose="020B0502020202020204" pitchFamily="34" charset="0"/>
              </a:rPr>
              <a:t>Ruminants – have four chambered stomach e.g. cattle. These animals regurgitate and masticate their feed after they swallow it.</a:t>
            </a:r>
          </a:p>
          <a:p>
            <a:endParaRPr lang="en-GB" sz="2400" dirty="0">
              <a:latin typeface="Century Gothic" panose="020B0502020202020204" pitchFamily="34" charset="0"/>
            </a:endParaRPr>
          </a:p>
          <a:p>
            <a:r>
              <a:rPr lang="en-GB" sz="2400" dirty="0">
                <a:latin typeface="Century Gothic" panose="020B0502020202020204" pitchFamily="34" charset="0"/>
              </a:rPr>
              <a:t>Monogastric – have one stomach thus the abomasum e.g. pigs</a:t>
            </a:r>
          </a:p>
        </p:txBody>
      </p:sp>
    </p:spTree>
    <p:extLst>
      <p:ext uri="{BB962C8B-B14F-4D97-AF65-F5344CB8AC3E}">
        <p14:creationId xmlns:p14="http://schemas.microsoft.com/office/powerpoint/2010/main" val="3268881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Classification of Animals based on dependence</a:t>
            </a:r>
          </a:p>
        </p:txBody>
      </p:sp>
      <p:sp>
        <p:nvSpPr>
          <p:cNvPr id="3" name="Content Placeholder 2"/>
          <p:cNvSpPr>
            <a:spLocks noGrp="1"/>
          </p:cNvSpPr>
          <p:nvPr>
            <p:ph idx="1"/>
          </p:nvPr>
        </p:nvSpPr>
        <p:spPr/>
        <p:txBody>
          <a:bodyPr>
            <a:normAutofit/>
          </a:bodyPr>
          <a:lstStyle/>
          <a:p>
            <a:r>
              <a:rPr lang="en-GB" sz="2400" dirty="0">
                <a:latin typeface="Century Gothic" panose="020B0502020202020204" pitchFamily="34" charset="0"/>
              </a:rPr>
              <a:t>Conventional – we depend on them</a:t>
            </a:r>
          </a:p>
          <a:p>
            <a:r>
              <a:rPr lang="en-GB" sz="2400" dirty="0">
                <a:latin typeface="Century Gothic" panose="020B0502020202020204" pitchFamily="34" charset="0"/>
              </a:rPr>
              <a:t>Non-conventional – we do not really depend on them</a:t>
            </a:r>
          </a:p>
        </p:txBody>
      </p:sp>
    </p:spTree>
    <p:extLst>
      <p:ext uri="{BB962C8B-B14F-4D97-AF65-F5344CB8AC3E}">
        <p14:creationId xmlns:p14="http://schemas.microsoft.com/office/powerpoint/2010/main" val="2599071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45592798"/>
              </p:ext>
            </p:extLst>
          </p:nvPr>
        </p:nvGraphicFramePr>
        <p:xfrm>
          <a:off x="2152651" y="822115"/>
          <a:ext cx="8188413" cy="4300317"/>
        </p:xfrm>
        <a:graphic>
          <a:graphicData uri="http://schemas.openxmlformats.org/drawingml/2006/table">
            <a:tbl>
              <a:tblPr firstRow="1" bandRow="1">
                <a:tableStyleId>{5C22544A-7EE6-4342-B048-85BDC9FD1C3A}</a:tableStyleId>
              </a:tblPr>
              <a:tblGrid>
                <a:gridCol w="2145959">
                  <a:extLst>
                    <a:ext uri="{9D8B030D-6E8A-4147-A177-3AD203B41FA5}">
                      <a16:colId xmlns:a16="http://schemas.microsoft.com/office/drawing/2014/main" val="20000"/>
                    </a:ext>
                  </a:extLst>
                </a:gridCol>
                <a:gridCol w="6042454">
                  <a:extLst>
                    <a:ext uri="{9D8B030D-6E8A-4147-A177-3AD203B41FA5}">
                      <a16:colId xmlns:a16="http://schemas.microsoft.com/office/drawing/2014/main" val="20001"/>
                    </a:ext>
                  </a:extLst>
                </a:gridCol>
              </a:tblGrid>
              <a:tr h="46651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Terms</a:t>
                      </a:r>
                      <a:r>
                        <a:rPr lang="en-GB" sz="2000" b="1" baseline="0" dirty="0">
                          <a:latin typeface="Century Gothic" panose="020B0502020202020204" pitchFamily="34" charset="0"/>
                        </a:rPr>
                        <a:t> associated with </a:t>
                      </a:r>
                      <a:r>
                        <a:rPr lang="en-GB" sz="2000" b="1" dirty="0">
                          <a:latin typeface="Century Gothic" panose="020B0502020202020204" pitchFamily="34" charset="0"/>
                        </a:rPr>
                        <a:t>Cattle</a:t>
                      </a:r>
                    </a:p>
                  </a:txBody>
                  <a:tcPr/>
                </a:tc>
                <a:tc hMerge="1">
                  <a:txBody>
                    <a:bodyPr/>
                    <a:lstStyle/>
                    <a:p>
                      <a:endParaRPr lang="en-GB" sz="2000" dirty="0">
                        <a:latin typeface="Century Gothic" panose="020B0502020202020204" pitchFamily="34" charset="0"/>
                      </a:endParaRPr>
                    </a:p>
                  </a:txBody>
                  <a:tcPr/>
                </a:tc>
                <a:extLst>
                  <a:ext uri="{0D108BD9-81ED-4DB2-BD59-A6C34878D82A}">
                    <a16:rowId xmlns:a16="http://schemas.microsoft.com/office/drawing/2014/main" val="10000"/>
                  </a:ext>
                </a:extLst>
              </a:tr>
              <a:tr h="466510">
                <a:tc>
                  <a:txBody>
                    <a:bodyPr/>
                    <a:lstStyle/>
                    <a:p>
                      <a:r>
                        <a:rPr lang="en-GB" sz="2000" dirty="0">
                          <a:latin typeface="Century Gothic" panose="020B0502020202020204" pitchFamily="34" charset="0"/>
                        </a:rPr>
                        <a:t>Bull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uncastrated male beef/dairy animal</a:t>
                      </a:r>
                    </a:p>
                  </a:txBody>
                  <a:tcPr/>
                </a:tc>
                <a:extLst>
                  <a:ext uri="{0D108BD9-81ED-4DB2-BD59-A6C34878D82A}">
                    <a16:rowId xmlns:a16="http://schemas.microsoft.com/office/drawing/2014/main" val="10001"/>
                  </a:ext>
                </a:extLst>
              </a:tr>
              <a:tr h="466510">
                <a:tc>
                  <a:txBody>
                    <a:bodyPr/>
                    <a:lstStyle/>
                    <a:p>
                      <a:r>
                        <a:rPr lang="en-GB" sz="2000" dirty="0">
                          <a:latin typeface="Century Gothic" panose="020B0502020202020204" pitchFamily="34" charset="0"/>
                        </a:rPr>
                        <a:t>Steer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castrated male animal</a:t>
                      </a:r>
                    </a:p>
                  </a:txBody>
                  <a:tcPr/>
                </a:tc>
                <a:extLst>
                  <a:ext uri="{0D108BD9-81ED-4DB2-BD59-A6C34878D82A}">
                    <a16:rowId xmlns:a16="http://schemas.microsoft.com/office/drawing/2014/main" val="10002"/>
                  </a:ext>
                </a:extLst>
              </a:tr>
              <a:tr h="568237">
                <a:tc>
                  <a:txBody>
                    <a:bodyPr/>
                    <a:lstStyle/>
                    <a:p>
                      <a:r>
                        <a:rPr lang="en-GB" sz="2000" dirty="0">
                          <a:latin typeface="Century Gothic" panose="020B0502020202020204" pitchFamily="34" charset="0"/>
                        </a:rPr>
                        <a:t>Oxen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castrated male animal used for traction</a:t>
                      </a:r>
                    </a:p>
                  </a:txBody>
                  <a:tcPr/>
                </a:tc>
                <a:extLst>
                  <a:ext uri="{0D108BD9-81ED-4DB2-BD59-A6C34878D82A}">
                    <a16:rowId xmlns:a16="http://schemas.microsoft.com/office/drawing/2014/main" val="10003"/>
                  </a:ext>
                </a:extLst>
              </a:tr>
              <a:tr h="466510">
                <a:tc>
                  <a:txBody>
                    <a:bodyPr/>
                    <a:lstStyle/>
                    <a:p>
                      <a:r>
                        <a:rPr lang="en-GB" sz="2000" dirty="0">
                          <a:latin typeface="Century Gothic" panose="020B0502020202020204" pitchFamily="34" charset="0"/>
                        </a:rPr>
                        <a:t>Cow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female beef/dairy animal that has had a calf</a:t>
                      </a:r>
                    </a:p>
                  </a:txBody>
                  <a:tcPr/>
                </a:tc>
                <a:extLst>
                  <a:ext uri="{0D108BD9-81ED-4DB2-BD59-A6C34878D82A}">
                    <a16:rowId xmlns:a16="http://schemas.microsoft.com/office/drawing/2014/main" val="10004"/>
                  </a:ext>
                </a:extLst>
              </a:tr>
              <a:tr h="466510">
                <a:tc>
                  <a:txBody>
                    <a:bodyPr/>
                    <a:lstStyle/>
                    <a:p>
                      <a:r>
                        <a:rPr lang="en-GB" sz="2000" dirty="0">
                          <a:latin typeface="Century Gothic" panose="020B0502020202020204" pitchFamily="34" charset="0"/>
                        </a:rPr>
                        <a:t>Heifer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female beef/dairy animal that has had no calf.</a:t>
                      </a:r>
                    </a:p>
                  </a:txBody>
                  <a:tcPr/>
                </a:tc>
                <a:extLst>
                  <a:ext uri="{0D108BD9-81ED-4DB2-BD59-A6C34878D82A}">
                    <a16:rowId xmlns:a16="http://schemas.microsoft.com/office/drawing/2014/main" val="10005"/>
                  </a:ext>
                </a:extLst>
              </a:tr>
              <a:tr h="466510">
                <a:tc>
                  <a:txBody>
                    <a:bodyPr/>
                    <a:lstStyle/>
                    <a:p>
                      <a:r>
                        <a:rPr lang="en-GB" sz="2000" dirty="0">
                          <a:latin typeface="Century Gothic" panose="020B0502020202020204" pitchFamily="34" charset="0"/>
                        </a:rPr>
                        <a:t>Calf </a:t>
                      </a:r>
                    </a:p>
                  </a:txBody>
                  <a:tcPr/>
                </a:tc>
                <a:tc>
                  <a:txBody>
                    <a:bodyPr/>
                    <a:lstStyle/>
                    <a:p>
                      <a:r>
                        <a:rPr lang="en-GB" sz="2000" dirty="0">
                          <a:latin typeface="Century Gothic" panose="020B0502020202020204" pitchFamily="34" charset="0"/>
                        </a:rPr>
                        <a:t>New-born</a:t>
                      </a:r>
                    </a:p>
                  </a:txBody>
                  <a:tcPr/>
                </a:tc>
                <a:extLst>
                  <a:ext uri="{0D108BD9-81ED-4DB2-BD59-A6C34878D82A}">
                    <a16:rowId xmlns:a16="http://schemas.microsoft.com/office/drawing/2014/main" val="10006"/>
                  </a:ext>
                </a:extLst>
              </a:tr>
              <a:tr h="466510">
                <a:tc>
                  <a:txBody>
                    <a:bodyPr/>
                    <a:lstStyle/>
                    <a:p>
                      <a:r>
                        <a:rPr lang="en-GB" sz="2000" dirty="0">
                          <a:latin typeface="Century Gothic" panose="020B0502020202020204" pitchFamily="34" charset="0"/>
                        </a:rPr>
                        <a:t>Calving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cattle</a:t>
                      </a:r>
                    </a:p>
                  </a:txBody>
                  <a:tcPr/>
                </a:tc>
                <a:extLst>
                  <a:ext uri="{0D108BD9-81ED-4DB2-BD59-A6C34878D82A}">
                    <a16:rowId xmlns:a16="http://schemas.microsoft.com/office/drawing/2014/main" val="10007"/>
                  </a:ext>
                </a:extLst>
              </a:tr>
              <a:tr h="466510">
                <a:tc>
                  <a:txBody>
                    <a:bodyPr/>
                    <a:lstStyle/>
                    <a:p>
                      <a:r>
                        <a:rPr lang="en-GB" sz="2000" dirty="0">
                          <a:latin typeface="Century Gothic" panose="020B0502020202020204" pitchFamily="34" charset="0"/>
                        </a:rPr>
                        <a:t>Herd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Group of cattle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3965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12452772"/>
              </p:ext>
            </p:extLst>
          </p:nvPr>
        </p:nvGraphicFramePr>
        <p:xfrm>
          <a:off x="2281238" y="900891"/>
          <a:ext cx="7792995" cy="4517624"/>
        </p:xfrm>
        <a:graphic>
          <a:graphicData uri="http://schemas.openxmlformats.org/drawingml/2006/table">
            <a:tbl>
              <a:tblPr firstRow="1" bandRow="1">
                <a:tableStyleId>{5C22544A-7EE6-4342-B048-85BDC9FD1C3A}</a:tableStyleId>
              </a:tblPr>
              <a:tblGrid>
                <a:gridCol w="1858733">
                  <a:extLst>
                    <a:ext uri="{9D8B030D-6E8A-4147-A177-3AD203B41FA5}">
                      <a16:colId xmlns:a16="http://schemas.microsoft.com/office/drawing/2014/main" val="20000"/>
                    </a:ext>
                  </a:extLst>
                </a:gridCol>
                <a:gridCol w="5934262">
                  <a:extLst>
                    <a:ext uri="{9D8B030D-6E8A-4147-A177-3AD203B41FA5}">
                      <a16:colId xmlns:a16="http://schemas.microsoft.com/office/drawing/2014/main" val="20001"/>
                    </a:ext>
                  </a:extLst>
                </a:gridCol>
              </a:tblGrid>
              <a:tr h="56470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Terms</a:t>
                      </a:r>
                      <a:r>
                        <a:rPr lang="en-GB" sz="2000" b="1" baseline="0" dirty="0">
                          <a:latin typeface="Century Gothic" panose="020B0502020202020204" pitchFamily="34" charset="0"/>
                        </a:rPr>
                        <a:t> associated with </a:t>
                      </a:r>
                      <a:r>
                        <a:rPr lang="en-GB" sz="2000" b="1" dirty="0">
                          <a:latin typeface="Century Gothic" panose="020B0502020202020204" pitchFamily="34" charset="0"/>
                        </a:rPr>
                        <a:t>Swine</a:t>
                      </a:r>
                    </a:p>
                  </a:txBody>
                  <a:tcPr/>
                </a:tc>
                <a:tc hMerge="1">
                  <a:txBody>
                    <a:bodyPr/>
                    <a:lstStyle/>
                    <a:p>
                      <a:endParaRPr lang="en-GB" dirty="0"/>
                    </a:p>
                  </a:txBody>
                  <a:tcPr/>
                </a:tc>
                <a:extLst>
                  <a:ext uri="{0D108BD9-81ED-4DB2-BD59-A6C34878D82A}">
                    <a16:rowId xmlns:a16="http://schemas.microsoft.com/office/drawing/2014/main" val="10000"/>
                  </a:ext>
                </a:extLst>
              </a:tr>
              <a:tr h="564703">
                <a:tc>
                  <a:txBody>
                    <a:bodyPr/>
                    <a:lstStyle/>
                    <a:p>
                      <a:r>
                        <a:rPr lang="en-GB" sz="2000" dirty="0">
                          <a:latin typeface="Century Gothic" panose="020B0502020202020204" pitchFamily="34" charset="0"/>
                        </a:rPr>
                        <a:t>Boar</a:t>
                      </a:r>
                    </a:p>
                  </a:txBody>
                  <a:tcPr/>
                </a:tc>
                <a:tc>
                  <a:txBody>
                    <a:bodyPr/>
                    <a:lstStyle/>
                    <a:p>
                      <a:r>
                        <a:rPr lang="en-GB" sz="2000" dirty="0">
                          <a:latin typeface="Century Gothic" panose="020B0502020202020204" pitchFamily="34" charset="0"/>
                        </a:rPr>
                        <a:t>uncastrated male swine</a:t>
                      </a:r>
                    </a:p>
                  </a:txBody>
                  <a:tcPr/>
                </a:tc>
                <a:extLst>
                  <a:ext uri="{0D108BD9-81ED-4DB2-BD59-A6C34878D82A}">
                    <a16:rowId xmlns:a16="http://schemas.microsoft.com/office/drawing/2014/main" val="10001"/>
                  </a:ext>
                </a:extLst>
              </a:tr>
              <a:tr h="564703">
                <a:tc>
                  <a:txBody>
                    <a:bodyPr/>
                    <a:lstStyle/>
                    <a:p>
                      <a:r>
                        <a:rPr lang="en-GB" sz="2000" dirty="0">
                          <a:latin typeface="Century Gothic" panose="020B0502020202020204" pitchFamily="34" charset="0"/>
                        </a:rPr>
                        <a:t>Barrow</a:t>
                      </a:r>
                    </a:p>
                  </a:txBody>
                  <a:tcPr/>
                </a:tc>
                <a:tc>
                  <a:txBody>
                    <a:bodyPr/>
                    <a:lstStyle/>
                    <a:p>
                      <a:r>
                        <a:rPr lang="en-GB" sz="2000" dirty="0">
                          <a:latin typeface="Century Gothic" panose="020B0502020202020204" pitchFamily="34" charset="0"/>
                        </a:rPr>
                        <a:t>castrated male swine</a:t>
                      </a:r>
                    </a:p>
                  </a:txBody>
                  <a:tcPr/>
                </a:tc>
                <a:extLst>
                  <a:ext uri="{0D108BD9-81ED-4DB2-BD59-A6C34878D82A}">
                    <a16:rowId xmlns:a16="http://schemas.microsoft.com/office/drawing/2014/main" val="10002"/>
                  </a:ext>
                </a:extLst>
              </a:tr>
              <a:tr h="564703">
                <a:tc>
                  <a:txBody>
                    <a:bodyPr/>
                    <a:lstStyle/>
                    <a:p>
                      <a:r>
                        <a:rPr lang="en-GB" sz="2000" dirty="0">
                          <a:latin typeface="Century Gothic" panose="020B0502020202020204" pitchFamily="34" charset="0"/>
                        </a:rPr>
                        <a:t>Gilt</a:t>
                      </a:r>
                    </a:p>
                  </a:txBody>
                  <a:tcPr/>
                </a:tc>
                <a:tc>
                  <a:txBody>
                    <a:bodyPr/>
                    <a:lstStyle/>
                    <a:p>
                      <a:r>
                        <a:rPr lang="en-GB" sz="2000" dirty="0">
                          <a:latin typeface="Century Gothic" panose="020B0502020202020204" pitchFamily="34" charset="0"/>
                        </a:rPr>
                        <a:t>female swine that has not had a litter</a:t>
                      </a:r>
                    </a:p>
                  </a:txBody>
                  <a:tcPr/>
                </a:tc>
                <a:extLst>
                  <a:ext uri="{0D108BD9-81ED-4DB2-BD59-A6C34878D82A}">
                    <a16:rowId xmlns:a16="http://schemas.microsoft.com/office/drawing/2014/main" val="10003"/>
                  </a:ext>
                </a:extLst>
              </a:tr>
              <a:tr h="564703">
                <a:tc>
                  <a:txBody>
                    <a:bodyPr/>
                    <a:lstStyle/>
                    <a:p>
                      <a:r>
                        <a:rPr lang="en-GB" sz="2000" dirty="0">
                          <a:latin typeface="Century Gothic" panose="020B0502020202020204" pitchFamily="34" charset="0"/>
                        </a:rPr>
                        <a:t>Sow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female swine that has had a litter</a:t>
                      </a:r>
                    </a:p>
                  </a:txBody>
                  <a:tcPr/>
                </a:tc>
                <a:extLst>
                  <a:ext uri="{0D108BD9-81ED-4DB2-BD59-A6C34878D82A}">
                    <a16:rowId xmlns:a16="http://schemas.microsoft.com/office/drawing/2014/main" val="10004"/>
                  </a:ext>
                </a:extLst>
              </a:tr>
              <a:tr h="564703">
                <a:tc>
                  <a:txBody>
                    <a:bodyPr/>
                    <a:lstStyle/>
                    <a:p>
                      <a:r>
                        <a:rPr lang="en-GB" sz="2000" dirty="0">
                          <a:latin typeface="Century Gothic" panose="020B0502020202020204" pitchFamily="34" charset="0"/>
                        </a:rPr>
                        <a:t>Piglet </a:t>
                      </a:r>
                    </a:p>
                  </a:txBody>
                  <a:tcPr/>
                </a:tc>
                <a:tc>
                  <a:txBody>
                    <a:bodyPr/>
                    <a:lstStyle/>
                    <a:p>
                      <a:r>
                        <a:rPr lang="en-GB" sz="2000" dirty="0">
                          <a:latin typeface="Century Gothic" panose="020B0502020202020204" pitchFamily="34" charset="0"/>
                        </a:rPr>
                        <a:t>New-born</a:t>
                      </a:r>
                    </a:p>
                  </a:txBody>
                  <a:tcPr/>
                </a:tc>
                <a:extLst>
                  <a:ext uri="{0D108BD9-81ED-4DB2-BD59-A6C34878D82A}">
                    <a16:rowId xmlns:a16="http://schemas.microsoft.com/office/drawing/2014/main" val="10005"/>
                  </a:ext>
                </a:extLst>
              </a:tr>
              <a:tr h="564703">
                <a:tc>
                  <a:txBody>
                    <a:bodyPr/>
                    <a:lstStyle/>
                    <a:p>
                      <a:r>
                        <a:rPr lang="en-GB" sz="2000" dirty="0">
                          <a:latin typeface="Century Gothic" panose="020B0502020202020204" pitchFamily="34" charset="0"/>
                        </a:rPr>
                        <a:t>Farrowing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swine</a:t>
                      </a:r>
                    </a:p>
                  </a:txBody>
                  <a:tcPr/>
                </a:tc>
                <a:extLst>
                  <a:ext uri="{0D108BD9-81ED-4DB2-BD59-A6C34878D82A}">
                    <a16:rowId xmlns:a16="http://schemas.microsoft.com/office/drawing/2014/main" val="10006"/>
                  </a:ext>
                </a:extLst>
              </a:tr>
              <a:tr h="564703">
                <a:tc>
                  <a:txBody>
                    <a:bodyPr/>
                    <a:lstStyle/>
                    <a:p>
                      <a:r>
                        <a:rPr lang="en-GB" sz="2000" dirty="0">
                          <a:latin typeface="Century Gothic" panose="020B0502020202020204" pitchFamily="34" charset="0"/>
                        </a:rPr>
                        <a:t>Herd/Flock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Group of swine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90835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57313496"/>
              </p:ext>
            </p:extLst>
          </p:nvPr>
        </p:nvGraphicFramePr>
        <p:xfrm>
          <a:off x="2152650" y="1124451"/>
          <a:ext cx="7891850" cy="4203834"/>
        </p:xfrm>
        <a:graphic>
          <a:graphicData uri="http://schemas.openxmlformats.org/drawingml/2006/table">
            <a:tbl>
              <a:tblPr firstRow="1" bandRow="1">
                <a:tableStyleId>{5C22544A-7EE6-4342-B048-85BDC9FD1C3A}</a:tableStyleId>
              </a:tblPr>
              <a:tblGrid>
                <a:gridCol w="2257169">
                  <a:extLst>
                    <a:ext uri="{9D8B030D-6E8A-4147-A177-3AD203B41FA5}">
                      <a16:colId xmlns:a16="http://schemas.microsoft.com/office/drawing/2014/main" val="20000"/>
                    </a:ext>
                  </a:extLst>
                </a:gridCol>
                <a:gridCol w="5634681">
                  <a:extLst>
                    <a:ext uri="{9D8B030D-6E8A-4147-A177-3AD203B41FA5}">
                      <a16:colId xmlns:a16="http://schemas.microsoft.com/office/drawing/2014/main" val="20001"/>
                    </a:ext>
                  </a:extLst>
                </a:gridCol>
              </a:tblGrid>
              <a:tr h="63459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Terms associated with Goats</a:t>
                      </a:r>
                    </a:p>
                  </a:txBody>
                  <a:tcPr/>
                </a:tc>
                <a:tc hMerge="1">
                  <a:txBody>
                    <a:bodyPr/>
                    <a:lstStyle/>
                    <a:p>
                      <a:endParaRPr lang="en-GB" dirty="0"/>
                    </a:p>
                  </a:txBody>
                  <a:tcPr/>
                </a:tc>
                <a:extLst>
                  <a:ext uri="{0D108BD9-81ED-4DB2-BD59-A6C34878D82A}">
                    <a16:rowId xmlns:a16="http://schemas.microsoft.com/office/drawing/2014/main" val="10000"/>
                  </a:ext>
                </a:extLst>
              </a:tr>
              <a:tr h="634599">
                <a:tc>
                  <a:txBody>
                    <a:bodyPr/>
                    <a:lstStyle/>
                    <a:p>
                      <a:r>
                        <a:rPr lang="en-GB" sz="2000" dirty="0">
                          <a:latin typeface="Century Gothic" panose="020B0502020202020204" pitchFamily="34" charset="0"/>
                        </a:rPr>
                        <a:t>Billy or Buck </a:t>
                      </a:r>
                    </a:p>
                  </a:txBody>
                  <a:tcPr/>
                </a:tc>
                <a:tc>
                  <a:txBody>
                    <a:bodyPr/>
                    <a:lstStyle/>
                    <a:p>
                      <a:r>
                        <a:rPr lang="en-GB" sz="2000" dirty="0">
                          <a:latin typeface="Century Gothic" panose="020B0502020202020204" pitchFamily="34" charset="0"/>
                        </a:rPr>
                        <a:t>uncastrated male goat</a:t>
                      </a:r>
                    </a:p>
                  </a:txBody>
                  <a:tcPr/>
                </a:tc>
                <a:extLst>
                  <a:ext uri="{0D108BD9-81ED-4DB2-BD59-A6C34878D82A}">
                    <a16:rowId xmlns:a16="http://schemas.microsoft.com/office/drawing/2014/main" val="10001"/>
                  </a:ext>
                </a:extLst>
              </a:tr>
              <a:tr h="634599">
                <a:tc>
                  <a:txBody>
                    <a:bodyPr/>
                    <a:lstStyle/>
                    <a:p>
                      <a:r>
                        <a:rPr lang="en-GB" sz="2000" dirty="0" err="1">
                          <a:latin typeface="Century Gothic" panose="020B0502020202020204" pitchFamily="34" charset="0"/>
                        </a:rPr>
                        <a:t>Wether</a:t>
                      </a:r>
                      <a:r>
                        <a:rPr lang="en-GB" sz="2000" dirty="0">
                          <a:latin typeface="Century Gothic" panose="020B0502020202020204" pitchFamily="34" charset="0"/>
                        </a:rPr>
                        <a:t> </a:t>
                      </a:r>
                    </a:p>
                  </a:txBody>
                  <a:tcPr/>
                </a:tc>
                <a:tc>
                  <a:txBody>
                    <a:bodyPr/>
                    <a:lstStyle/>
                    <a:p>
                      <a:r>
                        <a:rPr lang="en-GB" sz="2000" dirty="0">
                          <a:latin typeface="Century Gothic" panose="020B0502020202020204" pitchFamily="34" charset="0"/>
                        </a:rPr>
                        <a:t>castrated male goat</a:t>
                      </a:r>
                    </a:p>
                  </a:txBody>
                  <a:tcPr/>
                </a:tc>
                <a:extLst>
                  <a:ext uri="{0D108BD9-81ED-4DB2-BD59-A6C34878D82A}">
                    <a16:rowId xmlns:a16="http://schemas.microsoft.com/office/drawing/2014/main" val="10002"/>
                  </a:ext>
                </a:extLst>
              </a:tr>
              <a:tr h="634599">
                <a:tc>
                  <a:txBody>
                    <a:bodyPr/>
                    <a:lstStyle/>
                    <a:p>
                      <a:r>
                        <a:rPr lang="en-GB" sz="2000" dirty="0">
                          <a:latin typeface="Century Gothic" panose="020B0502020202020204" pitchFamily="34" charset="0"/>
                        </a:rPr>
                        <a:t>Nanny or Doe </a:t>
                      </a:r>
                    </a:p>
                  </a:txBody>
                  <a:tcPr/>
                </a:tc>
                <a:tc>
                  <a:txBody>
                    <a:bodyPr/>
                    <a:lstStyle/>
                    <a:p>
                      <a:r>
                        <a:rPr lang="en-GB" sz="2000" dirty="0">
                          <a:latin typeface="Century Gothic" panose="020B0502020202020204" pitchFamily="34" charset="0"/>
                        </a:rPr>
                        <a:t>female goat</a:t>
                      </a:r>
                    </a:p>
                  </a:txBody>
                  <a:tcPr/>
                </a:tc>
                <a:extLst>
                  <a:ext uri="{0D108BD9-81ED-4DB2-BD59-A6C34878D82A}">
                    <a16:rowId xmlns:a16="http://schemas.microsoft.com/office/drawing/2014/main" val="10003"/>
                  </a:ext>
                </a:extLst>
              </a:tr>
              <a:tr h="634599">
                <a:tc>
                  <a:txBody>
                    <a:bodyPr/>
                    <a:lstStyle/>
                    <a:p>
                      <a:r>
                        <a:rPr lang="en-GB" sz="2000" dirty="0">
                          <a:latin typeface="Century Gothic" panose="020B0502020202020204" pitchFamily="34" charset="0"/>
                        </a:rPr>
                        <a:t>Kid </a:t>
                      </a:r>
                    </a:p>
                  </a:txBody>
                  <a:tcPr/>
                </a:tc>
                <a:tc>
                  <a:txBody>
                    <a:bodyPr/>
                    <a:lstStyle/>
                    <a:p>
                      <a:r>
                        <a:rPr lang="en-GB" sz="2000" dirty="0">
                          <a:latin typeface="Century Gothic" panose="020B0502020202020204" pitchFamily="34" charset="0"/>
                        </a:rPr>
                        <a:t>New-born</a:t>
                      </a:r>
                    </a:p>
                  </a:txBody>
                  <a:tcPr/>
                </a:tc>
                <a:extLst>
                  <a:ext uri="{0D108BD9-81ED-4DB2-BD59-A6C34878D82A}">
                    <a16:rowId xmlns:a16="http://schemas.microsoft.com/office/drawing/2014/main" val="10004"/>
                  </a:ext>
                </a:extLst>
              </a:tr>
              <a:tr h="634599">
                <a:tc>
                  <a:txBody>
                    <a:bodyPr/>
                    <a:lstStyle/>
                    <a:p>
                      <a:r>
                        <a:rPr lang="en-GB" sz="2000" dirty="0">
                          <a:latin typeface="Century Gothic" panose="020B0502020202020204" pitchFamily="34" charset="0"/>
                        </a:rPr>
                        <a:t>Kidding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goats</a:t>
                      </a:r>
                    </a:p>
                  </a:txBody>
                  <a:tcPr/>
                </a:tc>
                <a:extLst>
                  <a:ext uri="{0D108BD9-81ED-4DB2-BD59-A6C34878D82A}">
                    <a16:rowId xmlns:a16="http://schemas.microsoft.com/office/drawing/2014/main" val="10005"/>
                  </a:ext>
                </a:extLst>
              </a:tr>
              <a:tr h="340839">
                <a:tc>
                  <a:txBody>
                    <a:bodyPr/>
                    <a:lstStyle/>
                    <a:p>
                      <a:r>
                        <a:rPr lang="en-GB" sz="2000" dirty="0">
                          <a:latin typeface="Century Gothic" panose="020B0502020202020204" pitchFamily="34" charset="0"/>
                        </a:rPr>
                        <a:t>Flock/Herd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Group of goats</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05360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33977201"/>
              </p:ext>
            </p:extLst>
          </p:nvPr>
        </p:nvGraphicFramePr>
        <p:xfrm>
          <a:off x="2145956" y="543703"/>
          <a:ext cx="7842423" cy="5486392"/>
        </p:xfrm>
        <a:graphic>
          <a:graphicData uri="http://schemas.openxmlformats.org/drawingml/2006/table">
            <a:tbl>
              <a:tblPr firstRow="1" bandRow="1">
                <a:tableStyleId>{5C22544A-7EE6-4342-B048-85BDC9FD1C3A}</a:tableStyleId>
              </a:tblPr>
              <a:tblGrid>
                <a:gridCol w="1870522">
                  <a:extLst>
                    <a:ext uri="{9D8B030D-6E8A-4147-A177-3AD203B41FA5}">
                      <a16:colId xmlns:a16="http://schemas.microsoft.com/office/drawing/2014/main" val="20000"/>
                    </a:ext>
                  </a:extLst>
                </a:gridCol>
                <a:gridCol w="5971901">
                  <a:extLst>
                    <a:ext uri="{9D8B030D-6E8A-4147-A177-3AD203B41FA5}">
                      <a16:colId xmlns:a16="http://schemas.microsoft.com/office/drawing/2014/main" val="20001"/>
                    </a:ext>
                  </a:extLst>
                </a:gridCol>
              </a:tblGrid>
              <a:tr h="68579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Terms associated with Sheep</a:t>
                      </a:r>
                    </a:p>
                  </a:txBody>
                  <a:tcPr/>
                </a:tc>
                <a:tc hMerge="1">
                  <a:txBody>
                    <a:bodyPr/>
                    <a:lstStyle/>
                    <a:p>
                      <a:endParaRPr lang="en-GB" dirty="0"/>
                    </a:p>
                  </a:txBody>
                  <a:tcPr/>
                </a:tc>
                <a:extLst>
                  <a:ext uri="{0D108BD9-81ED-4DB2-BD59-A6C34878D82A}">
                    <a16:rowId xmlns:a16="http://schemas.microsoft.com/office/drawing/2014/main" val="10000"/>
                  </a:ext>
                </a:extLst>
              </a:tr>
              <a:tr h="685799">
                <a:tc>
                  <a:txBody>
                    <a:bodyPr/>
                    <a:lstStyle/>
                    <a:p>
                      <a:r>
                        <a:rPr lang="en-GB" sz="2000" dirty="0">
                          <a:latin typeface="Century Gothic" panose="020B0502020202020204" pitchFamily="34" charset="0"/>
                        </a:rPr>
                        <a:t>Ram </a:t>
                      </a:r>
                    </a:p>
                  </a:txBody>
                  <a:tcPr/>
                </a:tc>
                <a:tc>
                  <a:txBody>
                    <a:bodyPr/>
                    <a:lstStyle/>
                    <a:p>
                      <a:r>
                        <a:rPr lang="en-GB" sz="2000" dirty="0">
                          <a:latin typeface="Century Gothic" panose="020B0502020202020204" pitchFamily="34" charset="0"/>
                        </a:rPr>
                        <a:t>uncastrated male sheep</a:t>
                      </a:r>
                    </a:p>
                  </a:txBody>
                  <a:tcPr/>
                </a:tc>
                <a:extLst>
                  <a:ext uri="{0D108BD9-81ED-4DB2-BD59-A6C34878D82A}">
                    <a16:rowId xmlns:a16="http://schemas.microsoft.com/office/drawing/2014/main" val="10001"/>
                  </a:ext>
                </a:extLst>
              </a:tr>
              <a:tr h="685799">
                <a:tc>
                  <a:txBody>
                    <a:bodyPr/>
                    <a:lstStyle/>
                    <a:p>
                      <a:r>
                        <a:rPr lang="en-GB" sz="2000" dirty="0" err="1">
                          <a:latin typeface="Century Gothic" panose="020B0502020202020204" pitchFamily="34" charset="0"/>
                        </a:rPr>
                        <a:t>Wether</a:t>
                      </a:r>
                      <a:r>
                        <a:rPr lang="en-GB" sz="2000" dirty="0">
                          <a:latin typeface="Century Gothic" panose="020B0502020202020204" pitchFamily="34" charset="0"/>
                        </a:rPr>
                        <a:t> </a:t>
                      </a:r>
                    </a:p>
                  </a:txBody>
                  <a:tcPr/>
                </a:tc>
                <a:tc>
                  <a:txBody>
                    <a:bodyPr/>
                    <a:lstStyle/>
                    <a:p>
                      <a:r>
                        <a:rPr lang="en-GB" sz="2000" dirty="0">
                          <a:latin typeface="Century Gothic" panose="020B0502020202020204" pitchFamily="34" charset="0"/>
                        </a:rPr>
                        <a:t>castrated male sheep</a:t>
                      </a:r>
                    </a:p>
                  </a:txBody>
                  <a:tcPr/>
                </a:tc>
                <a:extLst>
                  <a:ext uri="{0D108BD9-81ED-4DB2-BD59-A6C34878D82A}">
                    <a16:rowId xmlns:a16="http://schemas.microsoft.com/office/drawing/2014/main" val="10002"/>
                  </a:ext>
                </a:extLst>
              </a:tr>
              <a:tr h="685799">
                <a:tc>
                  <a:txBody>
                    <a:bodyPr/>
                    <a:lstStyle/>
                    <a:p>
                      <a:r>
                        <a:rPr lang="en-GB" sz="2000" dirty="0">
                          <a:latin typeface="Century Gothic" panose="020B0502020202020204" pitchFamily="34" charset="0"/>
                        </a:rPr>
                        <a:t>Ewe </a:t>
                      </a:r>
                    </a:p>
                  </a:txBody>
                  <a:tcPr/>
                </a:tc>
                <a:tc>
                  <a:txBody>
                    <a:bodyPr/>
                    <a:lstStyle/>
                    <a:p>
                      <a:r>
                        <a:rPr lang="en-GB" sz="2000" dirty="0">
                          <a:latin typeface="Century Gothic" panose="020B0502020202020204" pitchFamily="34" charset="0"/>
                        </a:rPr>
                        <a:t>female sheep that has had a</a:t>
                      </a:r>
                      <a:r>
                        <a:rPr lang="en-GB" sz="2000" baseline="0" dirty="0">
                          <a:latin typeface="Century Gothic" panose="020B0502020202020204" pitchFamily="34" charset="0"/>
                        </a:rPr>
                        <a:t> young one</a:t>
                      </a:r>
                      <a:endParaRPr lang="en-GB" sz="2000" dirty="0">
                        <a:latin typeface="Century Gothic" panose="020B0502020202020204" pitchFamily="34" charset="0"/>
                      </a:endParaRPr>
                    </a:p>
                  </a:txBody>
                  <a:tcPr/>
                </a:tc>
                <a:extLst>
                  <a:ext uri="{0D108BD9-81ED-4DB2-BD59-A6C34878D82A}">
                    <a16:rowId xmlns:a16="http://schemas.microsoft.com/office/drawing/2014/main" val="10003"/>
                  </a:ext>
                </a:extLst>
              </a:tr>
              <a:tr h="685799">
                <a:tc>
                  <a:txBody>
                    <a:bodyPr/>
                    <a:lstStyle/>
                    <a:p>
                      <a:r>
                        <a:rPr lang="en-GB" sz="2000" dirty="0">
                          <a:latin typeface="Century Gothic" panose="020B0502020202020204" pitchFamily="34" charset="0"/>
                        </a:rPr>
                        <a:t>Gimmer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Young</a:t>
                      </a:r>
                      <a:r>
                        <a:rPr lang="en-GB" sz="2000" baseline="0" dirty="0">
                          <a:latin typeface="Century Gothic" panose="020B0502020202020204" pitchFamily="34" charset="0"/>
                        </a:rPr>
                        <a:t> sheep before her first lamb</a:t>
                      </a:r>
                      <a:endParaRPr lang="en-GB" sz="2000" dirty="0">
                        <a:latin typeface="Century Gothic" panose="020B0502020202020204" pitchFamily="34" charset="0"/>
                      </a:endParaRPr>
                    </a:p>
                  </a:txBody>
                  <a:tcPr/>
                </a:tc>
                <a:extLst>
                  <a:ext uri="{0D108BD9-81ED-4DB2-BD59-A6C34878D82A}">
                    <a16:rowId xmlns:a16="http://schemas.microsoft.com/office/drawing/2014/main" val="10004"/>
                  </a:ext>
                </a:extLst>
              </a:tr>
              <a:tr h="685799">
                <a:tc>
                  <a:txBody>
                    <a:bodyPr/>
                    <a:lstStyle/>
                    <a:p>
                      <a:r>
                        <a:rPr lang="en-GB" sz="2000" dirty="0">
                          <a:latin typeface="Century Gothic" panose="020B0502020202020204" pitchFamily="34" charset="0"/>
                        </a:rPr>
                        <a:t>Lamb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New-born or young sheep</a:t>
                      </a:r>
                    </a:p>
                  </a:txBody>
                  <a:tcPr/>
                </a:tc>
                <a:extLst>
                  <a:ext uri="{0D108BD9-81ED-4DB2-BD59-A6C34878D82A}">
                    <a16:rowId xmlns:a16="http://schemas.microsoft.com/office/drawing/2014/main" val="10005"/>
                  </a:ext>
                </a:extLst>
              </a:tr>
              <a:tr h="685799">
                <a:tc>
                  <a:txBody>
                    <a:bodyPr/>
                    <a:lstStyle/>
                    <a:p>
                      <a:r>
                        <a:rPr lang="en-GB" sz="2000" dirty="0">
                          <a:latin typeface="Century Gothic" panose="020B0502020202020204" pitchFamily="34" charset="0"/>
                        </a:rPr>
                        <a:t>Lambing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sheep</a:t>
                      </a:r>
                    </a:p>
                  </a:txBody>
                  <a:tcPr/>
                </a:tc>
                <a:extLst>
                  <a:ext uri="{0D108BD9-81ED-4DB2-BD59-A6C34878D82A}">
                    <a16:rowId xmlns:a16="http://schemas.microsoft.com/office/drawing/2014/main" val="10006"/>
                  </a:ext>
                </a:extLst>
              </a:tr>
              <a:tr h="685799">
                <a:tc>
                  <a:txBody>
                    <a:bodyPr/>
                    <a:lstStyle/>
                    <a:p>
                      <a:r>
                        <a:rPr lang="en-GB" sz="2000" dirty="0">
                          <a:latin typeface="Century Gothic" panose="020B0502020202020204" pitchFamily="34" charset="0"/>
                        </a:rPr>
                        <a:t>Flock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Group of sheep</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54059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57023193"/>
              </p:ext>
            </p:extLst>
          </p:nvPr>
        </p:nvGraphicFramePr>
        <p:xfrm>
          <a:off x="2145955" y="543703"/>
          <a:ext cx="8250196" cy="5561512"/>
        </p:xfrm>
        <a:graphic>
          <a:graphicData uri="http://schemas.openxmlformats.org/drawingml/2006/table">
            <a:tbl>
              <a:tblPr firstRow="1" bandRow="1">
                <a:tableStyleId>{5C22544A-7EE6-4342-B048-85BDC9FD1C3A}</a:tableStyleId>
              </a:tblPr>
              <a:tblGrid>
                <a:gridCol w="2232613">
                  <a:extLst>
                    <a:ext uri="{9D8B030D-6E8A-4147-A177-3AD203B41FA5}">
                      <a16:colId xmlns:a16="http://schemas.microsoft.com/office/drawing/2014/main" val="20000"/>
                    </a:ext>
                  </a:extLst>
                </a:gridCol>
                <a:gridCol w="6017583">
                  <a:extLst>
                    <a:ext uri="{9D8B030D-6E8A-4147-A177-3AD203B41FA5}">
                      <a16:colId xmlns:a16="http://schemas.microsoft.com/office/drawing/2014/main" val="20001"/>
                    </a:ext>
                  </a:extLst>
                </a:gridCol>
              </a:tblGrid>
              <a:tr h="60755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Terms associated with Chickens</a:t>
                      </a:r>
                    </a:p>
                  </a:txBody>
                  <a:tcPr/>
                </a:tc>
                <a:tc hMerge="1">
                  <a:txBody>
                    <a:bodyPr/>
                    <a:lstStyle/>
                    <a:p>
                      <a:endParaRPr lang="en-GB" sz="2400" dirty="0"/>
                    </a:p>
                  </a:txBody>
                  <a:tcPr/>
                </a:tc>
                <a:extLst>
                  <a:ext uri="{0D108BD9-81ED-4DB2-BD59-A6C34878D82A}">
                    <a16:rowId xmlns:a16="http://schemas.microsoft.com/office/drawing/2014/main" val="10000"/>
                  </a:ext>
                </a:extLst>
              </a:tr>
              <a:tr h="607559">
                <a:tc>
                  <a:txBody>
                    <a:bodyPr/>
                    <a:lstStyle/>
                    <a:p>
                      <a:r>
                        <a:rPr lang="en-GB" sz="2000" dirty="0">
                          <a:latin typeface="Century Gothic" panose="020B0502020202020204" pitchFamily="34" charset="0"/>
                        </a:rPr>
                        <a:t>Rooster or cock</a:t>
                      </a:r>
                    </a:p>
                  </a:txBody>
                  <a:tcPr/>
                </a:tc>
                <a:tc>
                  <a:txBody>
                    <a:bodyPr/>
                    <a:lstStyle/>
                    <a:p>
                      <a:r>
                        <a:rPr lang="en-GB" sz="2000" dirty="0">
                          <a:latin typeface="Century Gothic" panose="020B0502020202020204" pitchFamily="34" charset="0"/>
                        </a:rPr>
                        <a:t>uncastrated male chicken</a:t>
                      </a:r>
                    </a:p>
                  </a:txBody>
                  <a:tcPr/>
                </a:tc>
                <a:extLst>
                  <a:ext uri="{0D108BD9-81ED-4DB2-BD59-A6C34878D82A}">
                    <a16:rowId xmlns:a16="http://schemas.microsoft.com/office/drawing/2014/main" val="10001"/>
                  </a:ext>
                </a:extLst>
              </a:tr>
              <a:tr h="607559">
                <a:tc>
                  <a:txBody>
                    <a:bodyPr/>
                    <a:lstStyle/>
                    <a:p>
                      <a:r>
                        <a:rPr lang="en-GB" sz="2000" dirty="0">
                          <a:latin typeface="Century Gothic" panose="020B0502020202020204" pitchFamily="34" charset="0"/>
                        </a:rPr>
                        <a:t>Capon </a:t>
                      </a:r>
                    </a:p>
                  </a:txBody>
                  <a:tcPr/>
                </a:tc>
                <a:tc>
                  <a:txBody>
                    <a:bodyPr/>
                    <a:lstStyle/>
                    <a:p>
                      <a:r>
                        <a:rPr lang="en-GB" sz="2000" dirty="0">
                          <a:latin typeface="Century Gothic" panose="020B0502020202020204" pitchFamily="34" charset="0"/>
                        </a:rPr>
                        <a:t>castrated male chicken</a:t>
                      </a:r>
                    </a:p>
                  </a:txBody>
                  <a:tcPr/>
                </a:tc>
                <a:extLst>
                  <a:ext uri="{0D108BD9-81ED-4DB2-BD59-A6C34878D82A}">
                    <a16:rowId xmlns:a16="http://schemas.microsoft.com/office/drawing/2014/main" val="10002"/>
                  </a:ext>
                </a:extLst>
              </a:tr>
              <a:tr h="607559">
                <a:tc>
                  <a:txBody>
                    <a:bodyPr/>
                    <a:lstStyle/>
                    <a:p>
                      <a:r>
                        <a:rPr lang="en-GB" sz="2000" dirty="0">
                          <a:latin typeface="Century Gothic" panose="020B0502020202020204" pitchFamily="34" charset="0"/>
                        </a:rPr>
                        <a:t>Hen </a:t>
                      </a:r>
                    </a:p>
                  </a:txBody>
                  <a:tcPr/>
                </a:tc>
                <a:tc>
                  <a:txBody>
                    <a:bodyPr/>
                    <a:lstStyle/>
                    <a:p>
                      <a:r>
                        <a:rPr lang="en-GB" sz="2000" dirty="0">
                          <a:latin typeface="Century Gothic" panose="020B0502020202020204" pitchFamily="34" charset="0"/>
                        </a:rPr>
                        <a:t>adult</a:t>
                      </a:r>
                      <a:r>
                        <a:rPr lang="en-GB" sz="2000" baseline="0" dirty="0">
                          <a:latin typeface="Century Gothic" panose="020B0502020202020204" pitchFamily="34" charset="0"/>
                        </a:rPr>
                        <a:t> </a:t>
                      </a:r>
                      <a:r>
                        <a:rPr lang="en-GB" sz="2000" dirty="0">
                          <a:latin typeface="Century Gothic" panose="020B0502020202020204" pitchFamily="34" charset="0"/>
                        </a:rPr>
                        <a:t>female chicken</a:t>
                      </a:r>
                    </a:p>
                  </a:txBody>
                  <a:tcPr/>
                </a:tc>
                <a:extLst>
                  <a:ext uri="{0D108BD9-81ED-4DB2-BD59-A6C34878D82A}">
                    <a16:rowId xmlns:a16="http://schemas.microsoft.com/office/drawing/2014/main" val="10003"/>
                  </a:ext>
                </a:extLst>
              </a:tr>
              <a:tr h="607559">
                <a:tc>
                  <a:txBody>
                    <a:bodyPr/>
                    <a:lstStyle/>
                    <a:p>
                      <a:r>
                        <a:rPr lang="en-GB" sz="2000" dirty="0">
                          <a:latin typeface="Century Gothic" panose="020B0502020202020204" pitchFamily="34" charset="0"/>
                        </a:rPr>
                        <a:t>Pullet</a:t>
                      </a:r>
                    </a:p>
                  </a:txBody>
                  <a:tcPr/>
                </a:tc>
                <a:tc>
                  <a:txBody>
                    <a:bodyPr/>
                    <a:lstStyle/>
                    <a:p>
                      <a:r>
                        <a:rPr lang="en-GB" sz="2000" dirty="0">
                          <a:latin typeface="Century Gothic" panose="020B0502020202020204" pitchFamily="34" charset="0"/>
                        </a:rPr>
                        <a:t>Young</a:t>
                      </a:r>
                      <a:r>
                        <a:rPr lang="en-GB" sz="2000" baseline="0" dirty="0">
                          <a:latin typeface="Century Gothic" panose="020B0502020202020204" pitchFamily="34" charset="0"/>
                        </a:rPr>
                        <a:t> hen</a:t>
                      </a:r>
                      <a:endParaRPr lang="en-GB" sz="2000" dirty="0">
                        <a:latin typeface="Century Gothic" panose="020B0502020202020204" pitchFamily="34" charset="0"/>
                      </a:endParaRPr>
                    </a:p>
                  </a:txBody>
                  <a:tcPr/>
                </a:tc>
                <a:extLst>
                  <a:ext uri="{0D108BD9-81ED-4DB2-BD59-A6C34878D82A}">
                    <a16:rowId xmlns:a16="http://schemas.microsoft.com/office/drawing/2014/main" val="10004"/>
                  </a:ext>
                </a:extLst>
              </a:tr>
              <a:tr h="607559">
                <a:tc>
                  <a:txBody>
                    <a:bodyPr/>
                    <a:lstStyle/>
                    <a:p>
                      <a:r>
                        <a:rPr lang="en-GB" sz="2000" dirty="0">
                          <a:latin typeface="Century Gothic" panose="020B0502020202020204" pitchFamily="34" charset="0"/>
                        </a:rPr>
                        <a:t>Chick </a:t>
                      </a:r>
                    </a:p>
                  </a:txBody>
                  <a:tcPr/>
                </a:tc>
                <a:tc>
                  <a:txBody>
                    <a:bodyPr/>
                    <a:lstStyle/>
                    <a:p>
                      <a:r>
                        <a:rPr lang="en-GB" sz="2000" dirty="0">
                          <a:latin typeface="Century Gothic" panose="020B0502020202020204" pitchFamily="34" charset="0"/>
                        </a:rPr>
                        <a:t>newly hatched chicken</a:t>
                      </a:r>
                    </a:p>
                  </a:txBody>
                  <a:tcPr/>
                </a:tc>
                <a:extLst>
                  <a:ext uri="{0D108BD9-81ED-4DB2-BD59-A6C34878D82A}">
                    <a16:rowId xmlns:a16="http://schemas.microsoft.com/office/drawing/2014/main" val="10005"/>
                  </a:ext>
                </a:extLst>
              </a:tr>
              <a:tr h="607559">
                <a:tc>
                  <a:txBody>
                    <a:bodyPr/>
                    <a:lstStyle/>
                    <a:p>
                      <a:r>
                        <a:rPr lang="en-GB" sz="2000" dirty="0">
                          <a:latin typeface="Century Gothic" panose="020B0502020202020204" pitchFamily="34" charset="0"/>
                        </a:rPr>
                        <a:t>Spent</a:t>
                      </a:r>
                      <a:r>
                        <a:rPr lang="en-GB" sz="2000" baseline="0" dirty="0">
                          <a:latin typeface="Century Gothic" panose="020B0502020202020204" pitchFamily="34" charset="0"/>
                        </a:rPr>
                        <a:t> fowl</a:t>
                      </a:r>
                      <a:endParaRPr lang="en-GB" sz="2000" dirty="0">
                        <a:latin typeface="Century Gothic" panose="020B0502020202020204" pitchFamily="34" charset="0"/>
                      </a:endParaRPr>
                    </a:p>
                  </a:txBody>
                  <a:tcPr/>
                </a:tc>
                <a:tc>
                  <a:txBody>
                    <a:bodyPr/>
                    <a:lstStyle/>
                    <a:p>
                      <a:r>
                        <a:rPr lang="en-GB" sz="2000" b="0" i="0" u="none" strike="noStrike" kern="1200" baseline="0" dirty="0">
                          <a:solidFill>
                            <a:schemeClr val="dk1"/>
                          </a:solidFill>
                          <a:latin typeface="Century Gothic" panose="020B0502020202020204" pitchFamily="34" charset="0"/>
                          <a:ea typeface="+mn-ea"/>
                          <a:cs typeface="+mn-cs"/>
                        </a:rPr>
                        <a:t>Birds from layer or breeder flocks marketed for meat at the end of the laying cycle.</a:t>
                      </a:r>
                      <a:endParaRPr lang="en-GB" sz="2000" dirty="0">
                        <a:latin typeface="Century Gothic" panose="020B0502020202020204" pitchFamily="34" charset="0"/>
                      </a:endParaRPr>
                    </a:p>
                  </a:txBody>
                  <a:tcPr/>
                </a:tc>
                <a:extLst>
                  <a:ext uri="{0D108BD9-81ED-4DB2-BD59-A6C34878D82A}">
                    <a16:rowId xmlns:a16="http://schemas.microsoft.com/office/drawing/2014/main" val="10006"/>
                  </a:ext>
                </a:extLst>
              </a:tr>
              <a:tr h="607559">
                <a:tc>
                  <a:txBody>
                    <a:bodyPr/>
                    <a:lstStyle/>
                    <a:p>
                      <a:r>
                        <a:rPr lang="en-GB" sz="2000" dirty="0">
                          <a:latin typeface="Century Gothic" panose="020B0502020202020204" pitchFamily="34" charset="0"/>
                        </a:rPr>
                        <a:t>Layering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chickens</a:t>
                      </a:r>
                    </a:p>
                  </a:txBody>
                  <a:tcPr/>
                </a:tc>
                <a:extLst>
                  <a:ext uri="{0D108BD9-81ED-4DB2-BD59-A6C34878D82A}">
                    <a16:rowId xmlns:a16="http://schemas.microsoft.com/office/drawing/2014/main" val="10007"/>
                  </a:ext>
                </a:extLst>
              </a:tr>
              <a:tr h="607559">
                <a:tc>
                  <a:txBody>
                    <a:bodyPr/>
                    <a:lstStyle/>
                    <a:p>
                      <a:r>
                        <a:rPr lang="en-GB" sz="2000" dirty="0">
                          <a:latin typeface="Century Gothic" panose="020B0502020202020204" pitchFamily="34" charset="0"/>
                        </a:rPr>
                        <a:t>Flock/brood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Group of chickens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72778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68247925"/>
              </p:ext>
            </p:extLst>
          </p:nvPr>
        </p:nvGraphicFramePr>
        <p:xfrm>
          <a:off x="2145956" y="543701"/>
          <a:ext cx="7891851" cy="4732428"/>
        </p:xfrm>
        <a:graphic>
          <a:graphicData uri="http://schemas.openxmlformats.org/drawingml/2006/table">
            <a:tbl>
              <a:tblPr firstRow="1" bandRow="1">
                <a:tableStyleId>{5C22544A-7EE6-4342-B048-85BDC9FD1C3A}</a:tableStyleId>
              </a:tblPr>
              <a:tblGrid>
                <a:gridCol w="2249833">
                  <a:extLst>
                    <a:ext uri="{9D8B030D-6E8A-4147-A177-3AD203B41FA5}">
                      <a16:colId xmlns:a16="http://schemas.microsoft.com/office/drawing/2014/main" val="20000"/>
                    </a:ext>
                  </a:extLst>
                </a:gridCol>
                <a:gridCol w="5642018">
                  <a:extLst>
                    <a:ext uri="{9D8B030D-6E8A-4147-A177-3AD203B41FA5}">
                      <a16:colId xmlns:a16="http://schemas.microsoft.com/office/drawing/2014/main" val="20001"/>
                    </a:ext>
                  </a:extLst>
                </a:gridCol>
              </a:tblGrid>
              <a:tr h="6718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latin typeface="Century Gothic" panose="020B0502020202020204" pitchFamily="34" charset="0"/>
                        </a:rPr>
                        <a:t>Rabbits</a:t>
                      </a:r>
                    </a:p>
                  </a:txBody>
                  <a:tcPr/>
                </a:tc>
                <a:tc>
                  <a:txBody>
                    <a:bodyPr/>
                    <a:lstStyle/>
                    <a:p>
                      <a:endParaRPr lang="en-GB" sz="2000" dirty="0">
                        <a:latin typeface="Century Gothic" panose="020B0502020202020204" pitchFamily="34" charset="0"/>
                      </a:endParaRPr>
                    </a:p>
                  </a:txBody>
                  <a:tcPr/>
                </a:tc>
                <a:extLst>
                  <a:ext uri="{0D108BD9-81ED-4DB2-BD59-A6C34878D82A}">
                    <a16:rowId xmlns:a16="http://schemas.microsoft.com/office/drawing/2014/main" val="10000"/>
                  </a:ext>
                </a:extLst>
              </a:tr>
              <a:tr h="671898">
                <a:tc>
                  <a:txBody>
                    <a:bodyPr/>
                    <a:lstStyle/>
                    <a:p>
                      <a:r>
                        <a:rPr lang="en-GB" sz="2000" dirty="0">
                          <a:latin typeface="Century Gothic" panose="020B0502020202020204" pitchFamily="34" charset="0"/>
                        </a:rPr>
                        <a:t>Buck </a:t>
                      </a:r>
                    </a:p>
                  </a:txBody>
                  <a:tcPr/>
                </a:tc>
                <a:tc>
                  <a:txBody>
                    <a:bodyPr/>
                    <a:lstStyle/>
                    <a:p>
                      <a:r>
                        <a:rPr lang="en-GB" sz="2000" dirty="0">
                          <a:latin typeface="Century Gothic" panose="020B0502020202020204" pitchFamily="34" charset="0"/>
                        </a:rPr>
                        <a:t>uncastrated male rabbit</a:t>
                      </a:r>
                    </a:p>
                  </a:txBody>
                  <a:tcPr/>
                </a:tc>
                <a:extLst>
                  <a:ext uri="{0D108BD9-81ED-4DB2-BD59-A6C34878D82A}">
                    <a16:rowId xmlns:a16="http://schemas.microsoft.com/office/drawing/2014/main" val="10001"/>
                  </a:ext>
                </a:extLst>
              </a:tr>
              <a:tr h="671898">
                <a:tc>
                  <a:txBody>
                    <a:bodyPr/>
                    <a:lstStyle/>
                    <a:p>
                      <a:r>
                        <a:rPr lang="en-GB" sz="2000" dirty="0">
                          <a:latin typeface="Century Gothic" panose="020B0502020202020204" pitchFamily="34" charset="0"/>
                        </a:rPr>
                        <a:t>Castrate</a:t>
                      </a:r>
                    </a:p>
                  </a:txBody>
                  <a:tcPr/>
                </a:tc>
                <a:tc>
                  <a:txBody>
                    <a:bodyPr/>
                    <a:lstStyle/>
                    <a:p>
                      <a:r>
                        <a:rPr lang="en-GB" sz="2000" dirty="0">
                          <a:latin typeface="Century Gothic" panose="020B0502020202020204" pitchFamily="34" charset="0"/>
                        </a:rPr>
                        <a:t>castrated male rabbit</a:t>
                      </a:r>
                    </a:p>
                  </a:txBody>
                  <a:tcPr/>
                </a:tc>
                <a:extLst>
                  <a:ext uri="{0D108BD9-81ED-4DB2-BD59-A6C34878D82A}">
                    <a16:rowId xmlns:a16="http://schemas.microsoft.com/office/drawing/2014/main" val="10002"/>
                  </a:ext>
                </a:extLst>
              </a:tr>
              <a:tr h="671898">
                <a:tc>
                  <a:txBody>
                    <a:bodyPr/>
                    <a:lstStyle/>
                    <a:p>
                      <a:r>
                        <a:rPr lang="en-GB" sz="2000" dirty="0">
                          <a:latin typeface="Century Gothic" panose="020B0502020202020204" pitchFamily="34" charset="0"/>
                        </a:rPr>
                        <a:t>Doe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female rabbit</a:t>
                      </a:r>
                    </a:p>
                  </a:txBody>
                  <a:tcPr/>
                </a:tc>
                <a:extLst>
                  <a:ext uri="{0D108BD9-81ED-4DB2-BD59-A6C34878D82A}">
                    <a16:rowId xmlns:a16="http://schemas.microsoft.com/office/drawing/2014/main" val="10003"/>
                  </a:ext>
                </a:extLst>
              </a:tr>
              <a:tr h="671898">
                <a:tc>
                  <a:txBody>
                    <a:bodyPr/>
                    <a:lstStyle/>
                    <a:p>
                      <a:r>
                        <a:rPr lang="en-GB" sz="2000" dirty="0">
                          <a:latin typeface="Century Gothic" panose="020B0502020202020204" pitchFamily="34" charset="0"/>
                        </a:rPr>
                        <a:t>Bunny </a:t>
                      </a:r>
                    </a:p>
                  </a:txBody>
                  <a:tcPr/>
                </a:tc>
                <a:tc>
                  <a:txBody>
                    <a:bodyPr/>
                    <a:lstStyle/>
                    <a:p>
                      <a:r>
                        <a:rPr lang="en-GB" sz="2000" dirty="0">
                          <a:latin typeface="Century Gothic" panose="020B0502020202020204" pitchFamily="34" charset="0"/>
                        </a:rPr>
                        <a:t>New-born</a:t>
                      </a:r>
                    </a:p>
                  </a:txBody>
                  <a:tcPr/>
                </a:tc>
                <a:extLst>
                  <a:ext uri="{0D108BD9-81ED-4DB2-BD59-A6C34878D82A}">
                    <a16:rowId xmlns:a16="http://schemas.microsoft.com/office/drawing/2014/main" val="10004"/>
                  </a:ext>
                </a:extLst>
              </a:tr>
              <a:tr h="671898">
                <a:tc>
                  <a:txBody>
                    <a:bodyPr/>
                    <a:lstStyle/>
                    <a:p>
                      <a:r>
                        <a:rPr lang="en-GB" sz="2000" dirty="0">
                          <a:latin typeface="Century Gothic" panose="020B0502020202020204" pitchFamily="34" charset="0"/>
                        </a:rPr>
                        <a:t>Kindling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entury Gothic" panose="020B0502020202020204" pitchFamily="34" charset="0"/>
                        </a:rPr>
                        <a:t>the act of giving birth in rabbits</a:t>
                      </a:r>
                    </a:p>
                  </a:txBody>
                  <a:tcPr/>
                </a:tc>
                <a:extLst>
                  <a:ext uri="{0D108BD9-81ED-4DB2-BD59-A6C34878D82A}">
                    <a16:rowId xmlns:a16="http://schemas.microsoft.com/office/drawing/2014/main" val="10005"/>
                  </a:ext>
                </a:extLst>
              </a:tr>
              <a:tr h="671898">
                <a:tc>
                  <a:txBody>
                    <a:bodyPr/>
                    <a:lstStyle/>
                    <a:p>
                      <a:r>
                        <a:rPr lang="en-GB" sz="2000" dirty="0">
                          <a:latin typeface="Century Gothic" panose="020B0502020202020204" pitchFamily="34" charset="0"/>
                        </a:rPr>
                        <a:t>Colony/Warren/Nest</a:t>
                      </a:r>
                    </a:p>
                  </a:txBody>
                  <a:tcPr/>
                </a:tc>
                <a:tc>
                  <a:txBody>
                    <a:bodyPr/>
                    <a:lstStyle/>
                    <a:p>
                      <a:r>
                        <a:rPr lang="en-GB" sz="2000" dirty="0">
                          <a:latin typeface="Century Gothic" panose="020B0502020202020204" pitchFamily="34" charset="0"/>
                        </a:rPr>
                        <a:t>Group of rabbits</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1574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Importance of livestock globally, regionally and nationally </a:t>
            </a:r>
          </a:p>
        </p:txBody>
      </p:sp>
      <p:sp>
        <p:nvSpPr>
          <p:cNvPr id="3" name="Content Placeholder 2"/>
          <p:cNvSpPr>
            <a:spLocks noGrp="1"/>
          </p:cNvSpPr>
          <p:nvPr>
            <p:ph idx="1"/>
          </p:nvPr>
        </p:nvSpPr>
        <p:spPr>
          <a:xfrm>
            <a:off x="2152650" y="1825625"/>
            <a:ext cx="7886700" cy="4541924"/>
          </a:xfrm>
        </p:spPr>
        <p:txBody>
          <a:bodyPr>
            <a:noAutofit/>
          </a:bodyPr>
          <a:lstStyle/>
          <a:p>
            <a:pPr>
              <a:lnSpc>
                <a:spcPct val="100000"/>
              </a:lnSpc>
            </a:pPr>
            <a:r>
              <a:rPr lang="en-GB" dirty="0">
                <a:latin typeface="Times New Roman" panose="02020603050405020304" pitchFamily="18" charset="0"/>
                <a:cs typeface="Times New Roman" panose="02020603050405020304" pitchFamily="18" charset="0"/>
              </a:rPr>
              <a:t>Livestock contribute 40% of the </a:t>
            </a:r>
            <a:r>
              <a:rPr lang="en-GB" dirty="0">
                <a:solidFill>
                  <a:srgbClr val="FF0000"/>
                </a:solidFill>
                <a:latin typeface="Times New Roman" panose="02020603050405020304" pitchFamily="18" charset="0"/>
                <a:cs typeface="Times New Roman" panose="02020603050405020304" pitchFamily="18" charset="0"/>
              </a:rPr>
              <a:t>global value of agricultural output </a:t>
            </a:r>
            <a:r>
              <a:rPr lang="en-GB" dirty="0">
                <a:latin typeface="Times New Roman" panose="02020603050405020304" pitchFamily="18" charset="0"/>
                <a:cs typeface="Times New Roman" panose="02020603050405020304" pitchFamily="18" charset="0"/>
              </a:rPr>
              <a:t>and support the livelihoods and </a:t>
            </a:r>
            <a:r>
              <a:rPr lang="en-GB" dirty="0">
                <a:solidFill>
                  <a:srgbClr val="FF0000"/>
                </a:solidFill>
                <a:latin typeface="Times New Roman" panose="02020603050405020304" pitchFamily="18" charset="0"/>
                <a:cs typeface="Times New Roman" panose="02020603050405020304" pitchFamily="18" charset="0"/>
              </a:rPr>
              <a:t>food security </a:t>
            </a:r>
            <a:r>
              <a:rPr lang="en-GB" dirty="0">
                <a:latin typeface="Times New Roman" panose="02020603050405020304" pitchFamily="18" charset="0"/>
                <a:cs typeface="Times New Roman" panose="02020603050405020304" pitchFamily="18" charset="0"/>
              </a:rPr>
              <a:t>of almost 1.3 billion people.</a:t>
            </a:r>
          </a:p>
          <a:p>
            <a:pPr>
              <a:lnSpc>
                <a:spcPct val="100000"/>
              </a:lnSpc>
            </a:pPr>
            <a:r>
              <a:rPr lang="en-GB" dirty="0">
                <a:latin typeface="Times New Roman" panose="02020603050405020304" pitchFamily="18" charset="0"/>
                <a:cs typeface="Times New Roman" panose="02020603050405020304" pitchFamily="18" charset="0"/>
              </a:rPr>
              <a:t>The growth and transformation of the sector offer opportunities for agricultural development, poverty reduction, and food security gains but the rapid pace of change risks marginalising the smallholder farmers, and systemic risks to the natural resources and human health must be addressed to ensure sustainability.</a:t>
            </a:r>
          </a:p>
        </p:txBody>
      </p:sp>
    </p:spTree>
    <p:extLst>
      <p:ext uri="{BB962C8B-B14F-4D97-AF65-F5344CB8AC3E}">
        <p14:creationId xmlns:p14="http://schemas.microsoft.com/office/powerpoint/2010/main" val="157269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7886700" cy="349769"/>
          </a:xfrm>
        </p:spPr>
        <p:txBody>
          <a:bodyPr>
            <a:noAutofit/>
          </a:bodyPr>
          <a:lstStyle/>
          <a:p>
            <a:r>
              <a:rPr lang="en-GB" sz="2400" b="1" dirty="0">
                <a:solidFill>
                  <a:srgbClr val="0070C0"/>
                </a:solidFill>
              </a:rPr>
              <a:t>Importance of livestock globally, regionally and nationally </a:t>
            </a:r>
          </a:p>
        </p:txBody>
      </p:sp>
      <p:sp>
        <p:nvSpPr>
          <p:cNvPr id="3" name="Content Placeholder 2"/>
          <p:cNvSpPr>
            <a:spLocks noGrp="1"/>
          </p:cNvSpPr>
          <p:nvPr>
            <p:ph idx="1"/>
          </p:nvPr>
        </p:nvSpPr>
        <p:spPr>
          <a:xfrm>
            <a:off x="2152650" y="877974"/>
            <a:ext cx="7886700" cy="5356571"/>
          </a:xfrm>
        </p:spPr>
        <p:txBody>
          <a:bodyPr>
            <a:noAutofit/>
          </a:bodyPr>
          <a:lstStyle/>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 Malawi, like other developing countries, livestock keeping is a multifunctional activity. </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Beyond their direct role in generating food and income, livestock are valuable assets, serving as a store of wealth, collateral for credit, an essential safety net during times of crisis, draught power, and manure.</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The livestock sector’s contribution towards the country’s Gross Domestic Product (GDP) is estimated at 10% and various measures have been instituted so as to increase its contribution.</a:t>
            </a:r>
          </a:p>
        </p:txBody>
      </p:sp>
    </p:spTree>
    <p:extLst>
      <p:ext uri="{BB962C8B-B14F-4D97-AF65-F5344CB8AC3E}">
        <p14:creationId xmlns:p14="http://schemas.microsoft.com/office/powerpoint/2010/main" val="2487996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rPr>
              <a:t>Importance of Livestock</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400" dirty="0">
                <a:latin typeface="Century Gothic" panose="020B0502020202020204" pitchFamily="34" charset="0"/>
              </a:rPr>
              <a:t>Food</a:t>
            </a:r>
          </a:p>
          <a:p>
            <a:pPr marL="514350" indent="-514350">
              <a:buFont typeface="+mj-lt"/>
              <a:buAutoNum type="arabicPeriod"/>
            </a:pPr>
            <a:r>
              <a:rPr lang="en-US" sz="2400" dirty="0">
                <a:latin typeface="Century Gothic" panose="020B0502020202020204" pitchFamily="34" charset="0"/>
              </a:rPr>
              <a:t>Income</a:t>
            </a:r>
          </a:p>
          <a:p>
            <a:pPr marL="514350" indent="-514350">
              <a:buFont typeface="+mj-lt"/>
              <a:buAutoNum type="arabicPeriod"/>
            </a:pPr>
            <a:r>
              <a:rPr lang="en-US" sz="2400" dirty="0">
                <a:latin typeface="Century Gothic" panose="020B0502020202020204" pitchFamily="34" charset="0"/>
              </a:rPr>
              <a:t>Nutrient recycling</a:t>
            </a:r>
          </a:p>
          <a:p>
            <a:pPr marL="514350" indent="-514350">
              <a:buFont typeface="+mj-lt"/>
              <a:buAutoNum type="arabicPeriod"/>
            </a:pPr>
            <a:r>
              <a:rPr lang="en-US" sz="2400" dirty="0">
                <a:latin typeface="Century Gothic" panose="020B0502020202020204" pitchFamily="34" charset="0"/>
              </a:rPr>
              <a:t>Social occasions e.g. dowry, fines</a:t>
            </a:r>
          </a:p>
          <a:p>
            <a:pPr marL="514350" indent="-514350">
              <a:buFont typeface="+mj-lt"/>
              <a:buAutoNum type="arabicPeriod"/>
            </a:pPr>
            <a:r>
              <a:rPr lang="en-US" sz="2400" dirty="0">
                <a:latin typeface="Century Gothic" panose="020B0502020202020204" pitchFamily="34" charset="0"/>
              </a:rPr>
              <a:t>Social status e.g. assets or insurance</a:t>
            </a:r>
          </a:p>
          <a:p>
            <a:pPr marL="514350" indent="-514350">
              <a:buFont typeface="+mj-lt"/>
              <a:buAutoNum type="arabicPeriod"/>
            </a:pPr>
            <a:r>
              <a:rPr lang="en-US" sz="2400" dirty="0">
                <a:latin typeface="Century Gothic" panose="020B0502020202020204" pitchFamily="34" charset="0"/>
              </a:rPr>
              <a:t>Raw materials e.g. leather</a:t>
            </a:r>
          </a:p>
          <a:p>
            <a:pPr marL="514350" indent="-514350">
              <a:buFont typeface="+mj-lt"/>
              <a:buAutoNum type="arabicPeriod"/>
            </a:pPr>
            <a:r>
              <a:rPr lang="en-US" sz="2400" dirty="0">
                <a:latin typeface="Century Gothic" panose="020B0502020202020204" pitchFamily="34" charset="0"/>
              </a:rPr>
              <a:t>Draught power </a:t>
            </a:r>
          </a:p>
          <a:p>
            <a:pPr marL="514350" indent="-514350">
              <a:buFont typeface="+mj-lt"/>
              <a:buAutoNum type="arabicPeriod"/>
            </a:pPr>
            <a:r>
              <a:rPr lang="en-US" sz="2400" dirty="0">
                <a:latin typeface="Century Gothic" panose="020B0502020202020204" pitchFamily="34" charset="0"/>
              </a:rPr>
              <a:t>Provide efficient utilization of farm resources</a:t>
            </a:r>
          </a:p>
          <a:p>
            <a:endParaRPr lang="en-GB" sz="2400" dirty="0">
              <a:latin typeface="Century Gothic" panose="020B0502020202020204" pitchFamily="34" charset="0"/>
            </a:endParaRP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744560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p:txBody>
          <a:bodyPr>
            <a:normAutofit/>
          </a:bodyPr>
          <a:lstStyle/>
          <a:p>
            <a:r>
              <a:rPr lang="en-GB" sz="2400" dirty="0">
                <a:latin typeface="Century Gothic" panose="020B0502020202020204" pitchFamily="34" charset="0"/>
              </a:rPr>
              <a:t>The livestock sector in Malawi has been undergoing change at an unprecedented pace over the past few decades.</a:t>
            </a:r>
          </a:p>
          <a:p>
            <a:r>
              <a:rPr lang="en-GB" sz="2400" dirty="0">
                <a:latin typeface="Century Gothic" panose="020B0502020202020204" pitchFamily="34" charset="0"/>
              </a:rPr>
              <a:t>Increased demand for food of animal origin has led to large increase in livestock production supported by major technological innovations and structural changes in the sector.</a:t>
            </a:r>
          </a:p>
          <a:p>
            <a:r>
              <a:rPr lang="en-GB" sz="2400" dirty="0">
                <a:latin typeface="Century Gothic" panose="020B0502020202020204" pitchFamily="34" charset="0"/>
              </a:rPr>
              <a:t>Despite such changes, millions of smallholder farmers continue to keep their livestock in traditional production systems.</a:t>
            </a:r>
          </a:p>
        </p:txBody>
      </p:sp>
    </p:spTree>
    <p:extLst>
      <p:ext uri="{BB962C8B-B14F-4D97-AF65-F5344CB8AC3E}">
        <p14:creationId xmlns:p14="http://schemas.microsoft.com/office/powerpoint/2010/main" val="2900006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86940" y="367843"/>
            <a:ext cx="8218120" cy="6059949"/>
          </a:xfrm>
          <a:prstGeom prst="rect">
            <a:avLst/>
          </a:prstGeom>
        </p:spPr>
      </p:pic>
    </p:spTree>
    <p:extLst>
      <p:ext uri="{BB962C8B-B14F-4D97-AF65-F5344CB8AC3E}">
        <p14:creationId xmlns:p14="http://schemas.microsoft.com/office/powerpoint/2010/main" val="2105521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8" name="Content Placeholder 7"/>
          <p:cNvSpPr>
            <a:spLocks noGrp="1"/>
          </p:cNvSpPr>
          <p:nvPr>
            <p:ph idx="1"/>
          </p:nvPr>
        </p:nvSpPr>
        <p:spPr/>
        <p:txBody>
          <a:bodyPr>
            <a:normAutofit/>
          </a:bodyPr>
          <a:lstStyle/>
          <a:p>
            <a:r>
              <a:rPr lang="en-GB" sz="2400" dirty="0">
                <a:latin typeface="Century Gothic" panose="020B0502020202020204" pitchFamily="34" charset="0"/>
              </a:rPr>
              <a:t>Malawi’s milk consumption is the lowest in Africa at 5litres  per capita compared with Africa’s 80litres and the WHO’s recommended intake of 200litres per year (</a:t>
            </a:r>
            <a:r>
              <a:rPr lang="en-GB" sz="2400" i="1" dirty="0">
                <a:latin typeface="Century Gothic" panose="020B0502020202020204" pitchFamily="34" charset="0"/>
              </a:rPr>
              <a:t>www.export.gov</a:t>
            </a:r>
            <a:r>
              <a:rPr lang="en-GB" sz="2400" dirty="0">
                <a:latin typeface="Century Gothic" panose="020B0502020202020204" pitchFamily="34" charset="0"/>
              </a:rPr>
              <a:t>)</a:t>
            </a:r>
          </a:p>
          <a:p>
            <a:r>
              <a:rPr lang="en-GB" sz="2400" dirty="0">
                <a:latin typeface="Century Gothic" panose="020B0502020202020204" pitchFamily="34" charset="0"/>
              </a:rPr>
              <a:t>In 2013, per capita meat for Malawi was at 7.90kg compared with the average for Africa estimated at 15kg and an average of 41.90kg per capita for the world (FAO, 2013)</a:t>
            </a:r>
          </a:p>
        </p:txBody>
      </p:sp>
    </p:spTree>
    <p:extLst>
      <p:ext uri="{BB962C8B-B14F-4D97-AF65-F5344CB8AC3E}">
        <p14:creationId xmlns:p14="http://schemas.microsoft.com/office/powerpoint/2010/main" val="1138398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a:xfrm>
            <a:off x="2152650" y="1825625"/>
            <a:ext cx="8286750" cy="4807931"/>
          </a:xfrm>
        </p:spPr>
        <p:txBody>
          <a:bodyPr>
            <a:noAutofit/>
          </a:bodyPr>
          <a:lstStyle/>
          <a:p>
            <a:pPr marL="514350" indent="-514350">
              <a:buFont typeface="+mj-lt"/>
              <a:buAutoNum type="alphaLcPeriod"/>
            </a:pPr>
            <a:r>
              <a:rPr lang="en-GB" sz="2400" b="1" dirty="0">
                <a:latin typeface="Times New Roman" panose="02020603050405020304" pitchFamily="18" charset="0"/>
                <a:cs typeface="Times New Roman" panose="02020603050405020304" pitchFamily="18" charset="0"/>
              </a:rPr>
              <a:t>Dairy Industry</a:t>
            </a:r>
          </a:p>
          <a:p>
            <a:r>
              <a:rPr lang="en-GB" sz="2400" dirty="0">
                <a:latin typeface="Times New Roman" panose="02020603050405020304" pitchFamily="18" charset="0"/>
                <a:cs typeface="Times New Roman" panose="02020603050405020304" pitchFamily="18" charset="0"/>
              </a:rPr>
              <a:t>The smallholder dairy is concentrated around the major cities of Blantyre, Lilongwe, Zomba and Mzuzu. </a:t>
            </a:r>
          </a:p>
          <a:p>
            <a:r>
              <a:rPr lang="en-GB" sz="2400" dirty="0">
                <a:latin typeface="Times New Roman" panose="02020603050405020304" pitchFamily="18" charset="0"/>
                <a:cs typeface="Times New Roman" panose="02020603050405020304" pitchFamily="18" charset="0"/>
              </a:rPr>
              <a:t>Dairying also being done in other districts e.g. Mchinji</a:t>
            </a:r>
          </a:p>
          <a:p>
            <a:r>
              <a:rPr lang="en-GB" sz="2400" dirty="0">
                <a:latin typeface="Times New Roman" panose="02020603050405020304" pitchFamily="18" charset="0"/>
                <a:cs typeface="Times New Roman" panose="02020603050405020304" pitchFamily="18" charset="0"/>
              </a:rPr>
              <a:t>Common dairy breeds in Malawi are Holstein Friesian and Jersey </a:t>
            </a:r>
          </a:p>
          <a:p>
            <a:r>
              <a:rPr lang="en-GB" sz="2400" dirty="0">
                <a:latin typeface="Times New Roman" panose="02020603050405020304" pitchFamily="18" charset="0"/>
                <a:cs typeface="Times New Roman" panose="02020603050405020304" pitchFamily="18" charset="0"/>
              </a:rPr>
              <a:t>There are 3 dairy associations in Malawi:</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Mpoto Dairy Farmers Association (MDFA)</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Central Region Milk Producers Association (CREMPA)</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Shire Highlands Milk Producers Association (SHMPA)</a:t>
            </a:r>
          </a:p>
        </p:txBody>
      </p:sp>
    </p:spTree>
    <p:extLst>
      <p:ext uri="{BB962C8B-B14F-4D97-AF65-F5344CB8AC3E}">
        <p14:creationId xmlns:p14="http://schemas.microsoft.com/office/powerpoint/2010/main" val="1872461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2725"/>
            <a:ext cx="7886700" cy="1325563"/>
          </a:xfrm>
        </p:spPr>
        <p:txBody>
          <a:bodyPr/>
          <a:lstStyle/>
          <a:p>
            <a:r>
              <a:rPr lang="en-GB" b="1" dirty="0">
                <a:solidFill>
                  <a:srgbClr val="0070C0"/>
                </a:solidFill>
              </a:rPr>
              <a:t>Common Dairy Breeds of Cattle in Malawi</a:t>
            </a:r>
          </a:p>
        </p:txBody>
      </p:sp>
      <p:pic>
        <p:nvPicPr>
          <p:cNvPr id="12" name="Picture 11" descr="1 Principles of Livestock Production 1 BTCD 2303.pptx - Microsoft PowerPoint"/>
          <p:cNvPicPr>
            <a:picLocks noChangeAspect="1"/>
          </p:cNvPicPr>
          <p:nvPr/>
        </p:nvPicPr>
        <p:blipFill rotWithShape="1">
          <a:blip r:embed="rId3">
            <a:extLst>
              <a:ext uri="{28A0092B-C50C-407E-A947-70E740481C1C}">
                <a14:useLocalDpi xmlns:a14="http://schemas.microsoft.com/office/drawing/2010/main" val="0"/>
              </a:ext>
            </a:extLst>
          </a:blip>
          <a:srcRect l="37400" t="39760" r="16926" b="36981"/>
          <a:stretch/>
        </p:blipFill>
        <p:spPr>
          <a:xfrm>
            <a:off x="2152651" y="2181226"/>
            <a:ext cx="7886700" cy="2849561"/>
          </a:xfrm>
          <a:prstGeom prst="rect">
            <a:avLst/>
          </a:prstGeom>
        </p:spPr>
      </p:pic>
      <p:sp>
        <p:nvSpPr>
          <p:cNvPr id="4" name="Rectangle 3"/>
          <p:cNvSpPr/>
          <p:nvPr/>
        </p:nvSpPr>
        <p:spPr>
          <a:xfrm>
            <a:off x="2738439" y="5200650"/>
            <a:ext cx="2200275" cy="342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Holstein Friesian</a:t>
            </a:r>
          </a:p>
        </p:txBody>
      </p:sp>
      <p:sp>
        <p:nvSpPr>
          <p:cNvPr id="6" name="Rectangle 5"/>
          <p:cNvSpPr/>
          <p:nvPr/>
        </p:nvSpPr>
        <p:spPr>
          <a:xfrm>
            <a:off x="7562852" y="5200650"/>
            <a:ext cx="2200275" cy="342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Jersey</a:t>
            </a:r>
          </a:p>
        </p:txBody>
      </p:sp>
    </p:spTree>
    <p:extLst>
      <p:ext uri="{BB962C8B-B14F-4D97-AF65-F5344CB8AC3E}">
        <p14:creationId xmlns:p14="http://schemas.microsoft.com/office/powerpoint/2010/main" val="35702166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371475"/>
            <a:ext cx="8301038" cy="5805488"/>
          </a:xfrm>
        </p:spPr>
        <p:txBody>
          <a:bodyPr>
            <a:noAutofit/>
          </a:bodyPr>
          <a:lstStyle/>
          <a:p>
            <a:pPr marL="0" indent="0">
              <a:buNone/>
            </a:pPr>
            <a:r>
              <a:rPr lang="en-GB" b="1" dirty="0">
                <a:latin typeface="Times New Roman" panose="02020603050405020304" pitchFamily="18" charset="0"/>
                <a:cs typeface="Times New Roman" panose="02020603050405020304" pitchFamily="18" charset="0"/>
              </a:rPr>
              <a:t>Dairy Processing</a:t>
            </a:r>
          </a:p>
          <a:p>
            <a:r>
              <a:rPr lang="en-GB" dirty="0">
                <a:latin typeface="Times New Roman" panose="02020603050405020304" pitchFamily="18" charset="0"/>
                <a:cs typeface="Times New Roman" panose="02020603050405020304" pitchFamily="18" charset="0"/>
              </a:rPr>
              <a:t>Dairy processing in Malawi is very limited in scale and extent. It stands between the farmers and their Milk Bulking Groups (MBGs) and the formal distribution system which ranges from street vendors to multiple retailers. </a:t>
            </a:r>
          </a:p>
          <a:p>
            <a:r>
              <a:rPr lang="en-GB" dirty="0">
                <a:latin typeface="Times New Roman" panose="02020603050405020304" pitchFamily="18" charset="0"/>
                <a:cs typeface="Times New Roman" panose="02020603050405020304" pitchFamily="18" charset="0"/>
              </a:rPr>
              <a:t>There are basically three types of processor:</a:t>
            </a:r>
          </a:p>
          <a:p>
            <a:pPr marL="800100" lvl="1" indent="-571500">
              <a:buFont typeface="+mj-lt"/>
              <a:buAutoNum type="romanLcPeriod"/>
            </a:pPr>
            <a:r>
              <a:rPr lang="en-GB" sz="2800" dirty="0">
                <a:latin typeface="Times New Roman" panose="02020603050405020304" pitchFamily="18" charset="0"/>
                <a:cs typeface="Times New Roman" panose="02020603050405020304" pitchFamily="18" charset="0"/>
              </a:rPr>
              <a:t>Commercial Dairies</a:t>
            </a:r>
          </a:p>
          <a:p>
            <a:pPr marL="800100" lvl="1" indent="-571500">
              <a:buFont typeface="+mj-lt"/>
              <a:buAutoNum type="romanLcPeriod"/>
            </a:pPr>
            <a:r>
              <a:rPr lang="en-GB" sz="2800" dirty="0">
                <a:latin typeface="Times New Roman" panose="02020603050405020304" pitchFamily="18" charset="0"/>
                <a:cs typeface="Times New Roman" panose="02020603050405020304" pitchFamily="18" charset="0"/>
              </a:rPr>
              <a:t>Privately owned small scale dairies </a:t>
            </a:r>
          </a:p>
          <a:p>
            <a:pPr marL="800100" lvl="1" indent="-571500">
              <a:buFont typeface="+mj-lt"/>
              <a:buAutoNum type="romanLcPeriod"/>
            </a:pPr>
            <a:r>
              <a:rPr lang="en-GB" sz="2800" dirty="0">
                <a:latin typeface="Times New Roman" panose="02020603050405020304" pitchFamily="18" charset="0"/>
                <a:cs typeface="Times New Roman" panose="02020603050405020304" pitchFamily="18" charset="0"/>
              </a:rPr>
              <a:t>Micro processors</a:t>
            </a:r>
          </a:p>
          <a:p>
            <a:r>
              <a:rPr lang="en-GB" dirty="0">
                <a:latin typeface="Times New Roman" panose="02020603050405020304" pitchFamily="18" charset="0"/>
                <a:cs typeface="Times New Roman" panose="02020603050405020304" pitchFamily="18" charset="0"/>
              </a:rPr>
              <a:t>During the last decade attempts have been made in Malawi by Non Governmental Organizations to encourage the dissemination of improved technologies on credit</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363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p:txBody>
          <a:bodyPr>
            <a:normAutofit/>
          </a:bodyPr>
          <a:lstStyle/>
          <a:p>
            <a:pPr marL="514350" indent="-514350">
              <a:buFont typeface="+mj-lt"/>
              <a:buAutoNum type="alphaLcPeriod" startAt="2"/>
            </a:pPr>
            <a:r>
              <a:rPr lang="en-GB" sz="2400" b="1" dirty="0">
                <a:latin typeface="Century Gothic" panose="020B0502020202020204" pitchFamily="34" charset="0"/>
              </a:rPr>
              <a:t>Beef Production</a:t>
            </a:r>
          </a:p>
          <a:p>
            <a:r>
              <a:rPr lang="en-GB" sz="2400" dirty="0">
                <a:latin typeface="Century Gothic" panose="020B0502020202020204" pitchFamily="34" charset="0"/>
              </a:rPr>
              <a:t>The majority of beef cattle raised under smallholder system of production.</a:t>
            </a:r>
          </a:p>
          <a:p>
            <a:r>
              <a:rPr lang="en-GB" sz="2400" dirty="0">
                <a:latin typeface="Century Gothic" panose="020B0502020202020204" pitchFamily="34" charset="0"/>
              </a:rPr>
              <a:t>Few commercial farmers involved in </a:t>
            </a:r>
            <a:r>
              <a:rPr lang="en-GB" sz="2400" dirty="0" err="1">
                <a:latin typeface="Century Gothic" panose="020B0502020202020204" pitchFamily="34" charset="0"/>
              </a:rPr>
              <a:t>feedlotting</a:t>
            </a:r>
            <a:r>
              <a:rPr lang="en-GB" sz="2400" dirty="0">
                <a:latin typeface="Century Gothic" panose="020B0502020202020204" pitchFamily="34" charset="0"/>
              </a:rPr>
              <a:t> </a:t>
            </a:r>
          </a:p>
          <a:p>
            <a:r>
              <a:rPr lang="en-GB" sz="2400" dirty="0">
                <a:latin typeface="Century Gothic" panose="020B0502020202020204" pitchFamily="34" charset="0"/>
              </a:rPr>
              <a:t>Government farms act as a source of some improved breeds</a:t>
            </a:r>
          </a:p>
          <a:p>
            <a:r>
              <a:rPr lang="en-GB" sz="2400" dirty="0">
                <a:latin typeface="Century Gothic" panose="020B0502020202020204" pitchFamily="34" charset="0"/>
              </a:rPr>
              <a:t>Common beef breeds in Malawi are Malawi Zebu, Brahman, </a:t>
            </a:r>
            <a:r>
              <a:rPr lang="en-GB" sz="2400" dirty="0" err="1">
                <a:latin typeface="Century Gothic" panose="020B0502020202020204" pitchFamily="34" charset="0"/>
              </a:rPr>
              <a:t>Bonsmara</a:t>
            </a:r>
            <a:r>
              <a:rPr lang="en-GB" sz="2400" dirty="0">
                <a:latin typeface="Century Gothic" panose="020B0502020202020204" pitchFamily="34" charset="0"/>
              </a:rPr>
              <a:t> and </a:t>
            </a:r>
            <a:r>
              <a:rPr lang="en-GB" sz="2400" dirty="0" err="1">
                <a:latin typeface="Century Gothic" panose="020B0502020202020204" pitchFamily="34" charset="0"/>
              </a:rPr>
              <a:t>Boran</a:t>
            </a:r>
            <a:r>
              <a:rPr lang="en-GB" sz="2400" dirty="0">
                <a:latin typeface="Century Gothic" panose="020B0502020202020204" pitchFamily="34" charset="0"/>
              </a:rPr>
              <a:t>.</a:t>
            </a:r>
          </a:p>
          <a:p>
            <a:r>
              <a:rPr lang="en-GB" sz="2400" dirty="0">
                <a:latin typeface="Century Gothic" panose="020B0502020202020204" pitchFamily="34" charset="0"/>
              </a:rPr>
              <a:t>Hides are the only animal product being exported</a:t>
            </a:r>
          </a:p>
        </p:txBody>
      </p:sp>
    </p:spTree>
    <p:extLst>
      <p:ext uri="{BB962C8B-B14F-4D97-AF65-F5344CB8AC3E}">
        <p14:creationId xmlns:p14="http://schemas.microsoft.com/office/powerpoint/2010/main" val="2299138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148498" y="520956"/>
            <a:ext cx="7895004" cy="5816088"/>
          </a:xfrm>
          <a:prstGeom prst="rect">
            <a:avLst/>
          </a:prstGeom>
        </p:spPr>
      </p:pic>
    </p:spTree>
    <p:extLst>
      <p:ext uri="{BB962C8B-B14F-4D97-AF65-F5344CB8AC3E}">
        <p14:creationId xmlns:p14="http://schemas.microsoft.com/office/powerpoint/2010/main" val="820533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2725"/>
            <a:ext cx="7886700" cy="1325563"/>
          </a:xfrm>
        </p:spPr>
        <p:txBody>
          <a:bodyPr/>
          <a:lstStyle/>
          <a:p>
            <a:r>
              <a:rPr lang="en-GB" b="1" dirty="0">
                <a:solidFill>
                  <a:srgbClr val="0070C0"/>
                </a:solidFill>
              </a:rPr>
              <a:t>Common Beef Breeds of Cattle in Malawi</a:t>
            </a:r>
          </a:p>
        </p:txBody>
      </p:sp>
      <p:sp>
        <p:nvSpPr>
          <p:cNvPr id="4" name="Rounded Rectangle 3"/>
          <p:cNvSpPr/>
          <p:nvPr/>
        </p:nvSpPr>
        <p:spPr>
          <a:xfrm>
            <a:off x="2595562" y="1473992"/>
            <a:ext cx="2943225" cy="203200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le 4"/>
          <p:cNvSpPr/>
          <p:nvPr/>
        </p:nvSpPr>
        <p:spPr>
          <a:xfrm>
            <a:off x="2595562" y="4106465"/>
            <a:ext cx="2943225" cy="2032000"/>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6646069" y="1444623"/>
            <a:ext cx="2943225" cy="2032000"/>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2895598" y="3529805"/>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Malawi Zebu</a:t>
            </a:r>
          </a:p>
        </p:txBody>
      </p:sp>
      <p:sp>
        <p:nvSpPr>
          <p:cNvPr id="9" name="Rectangle 8"/>
          <p:cNvSpPr/>
          <p:nvPr/>
        </p:nvSpPr>
        <p:spPr>
          <a:xfrm>
            <a:off x="2895598" y="6138465"/>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Boran</a:t>
            </a:r>
            <a:endParaRPr lang="en-GB" b="1" dirty="0">
              <a:solidFill>
                <a:schemeClr val="tx1"/>
              </a:solidFill>
            </a:endParaRPr>
          </a:p>
        </p:txBody>
      </p:sp>
      <p:sp>
        <p:nvSpPr>
          <p:cNvPr id="10" name="Rectangle 9"/>
          <p:cNvSpPr/>
          <p:nvPr/>
        </p:nvSpPr>
        <p:spPr>
          <a:xfrm>
            <a:off x="6946103" y="3529805"/>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Brahman</a:t>
            </a:r>
          </a:p>
        </p:txBody>
      </p:sp>
      <p:sp>
        <p:nvSpPr>
          <p:cNvPr id="11" name="Rounded Rectangle 10"/>
          <p:cNvSpPr/>
          <p:nvPr/>
        </p:nvSpPr>
        <p:spPr>
          <a:xfrm>
            <a:off x="6646068" y="4044155"/>
            <a:ext cx="2943225" cy="2032000"/>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6946104" y="6099176"/>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Bonsmara</a:t>
            </a:r>
            <a:endParaRPr lang="en-GB" b="1" dirty="0">
              <a:solidFill>
                <a:schemeClr val="tx1"/>
              </a:solidFill>
            </a:endParaRPr>
          </a:p>
        </p:txBody>
      </p:sp>
    </p:spTree>
    <p:extLst>
      <p:ext uri="{BB962C8B-B14F-4D97-AF65-F5344CB8AC3E}">
        <p14:creationId xmlns:p14="http://schemas.microsoft.com/office/powerpoint/2010/main" val="1472883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p:txBody>
          <a:bodyPr>
            <a:normAutofit lnSpcReduction="10000"/>
          </a:bodyPr>
          <a:lstStyle/>
          <a:p>
            <a:pPr marL="514350" indent="-514350">
              <a:buFont typeface="+mj-lt"/>
              <a:buAutoNum type="alphaLcPeriod" startAt="3"/>
            </a:pPr>
            <a:r>
              <a:rPr lang="en-GB" sz="2400" b="1" dirty="0">
                <a:latin typeface="Century Gothic" panose="020B0502020202020204" pitchFamily="34" charset="0"/>
              </a:rPr>
              <a:t>Sheep and Goat Production</a:t>
            </a:r>
          </a:p>
          <a:p>
            <a:r>
              <a:rPr lang="en-GB" sz="2400" dirty="0">
                <a:latin typeface="Century Gothic" panose="020B0502020202020204" pitchFamily="34" charset="0"/>
              </a:rPr>
              <a:t>Mostly raised by smallholder farmer.</a:t>
            </a:r>
          </a:p>
          <a:p>
            <a:r>
              <a:rPr lang="en-GB" sz="2400" dirty="0">
                <a:latin typeface="Century Gothic" panose="020B0502020202020204" pitchFamily="34" charset="0"/>
              </a:rPr>
              <a:t>Common goat breeds in Malawi are Local (Small East African), Boer, Alpine and </a:t>
            </a:r>
            <a:r>
              <a:rPr lang="en-GB" sz="2400" dirty="0" err="1">
                <a:latin typeface="Century Gothic" panose="020B0502020202020204" pitchFamily="34" charset="0"/>
              </a:rPr>
              <a:t>Saneen</a:t>
            </a:r>
            <a:endParaRPr lang="en-GB" sz="2400" dirty="0">
              <a:latin typeface="Century Gothic" panose="020B0502020202020204" pitchFamily="34" charset="0"/>
            </a:endParaRPr>
          </a:p>
          <a:p>
            <a:r>
              <a:rPr lang="en-GB" sz="2400" dirty="0">
                <a:latin typeface="Century Gothic" panose="020B0502020202020204" pitchFamily="34" charset="0"/>
              </a:rPr>
              <a:t>Boer goat is mostly used for meat while Alpine and </a:t>
            </a:r>
            <a:r>
              <a:rPr lang="en-GB" sz="2400" dirty="0" err="1">
                <a:latin typeface="Century Gothic" panose="020B0502020202020204" pitchFamily="34" charset="0"/>
              </a:rPr>
              <a:t>Saneen</a:t>
            </a:r>
            <a:r>
              <a:rPr lang="en-GB" sz="2400" dirty="0">
                <a:latin typeface="Century Gothic" panose="020B0502020202020204" pitchFamily="34" charset="0"/>
              </a:rPr>
              <a:t> breeds are for milk</a:t>
            </a:r>
          </a:p>
          <a:p>
            <a:r>
              <a:rPr lang="en-GB" sz="2400" dirty="0">
                <a:latin typeface="Century Gothic" panose="020B0502020202020204" pitchFamily="34" charset="0"/>
              </a:rPr>
              <a:t>Sheep breed which are common in Malawi are Local (African Long Fat tailed) and </a:t>
            </a:r>
            <a:r>
              <a:rPr lang="en-GB" sz="2400" dirty="0" err="1">
                <a:latin typeface="Century Gothic" panose="020B0502020202020204" pitchFamily="34" charset="0"/>
              </a:rPr>
              <a:t>Dorper</a:t>
            </a:r>
            <a:r>
              <a:rPr lang="en-GB" sz="2400" dirty="0">
                <a:latin typeface="Century Gothic" panose="020B0502020202020204" pitchFamily="34" charset="0"/>
              </a:rPr>
              <a:t>.</a:t>
            </a:r>
          </a:p>
          <a:p>
            <a:r>
              <a:rPr lang="en-GB" sz="2400" dirty="0">
                <a:latin typeface="Century Gothic" panose="020B0502020202020204" pitchFamily="34" charset="0"/>
              </a:rPr>
              <a:t>There has been a number of </a:t>
            </a:r>
            <a:r>
              <a:rPr lang="en-GB" sz="2400" dirty="0" err="1">
                <a:latin typeface="Century Gothic" panose="020B0502020202020204" pitchFamily="34" charset="0"/>
              </a:rPr>
              <a:t>smallstock</a:t>
            </a:r>
            <a:r>
              <a:rPr lang="en-GB" sz="2400" dirty="0">
                <a:latin typeface="Century Gothic" panose="020B0502020202020204" pitchFamily="34" charset="0"/>
              </a:rPr>
              <a:t> projects aimed at improving smallholder’s livelihoods.</a:t>
            </a:r>
          </a:p>
        </p:txBody>
      </p:sp>
    </p:spTree>
    <p:extLst>
      <p:ext uri="{BB962C8B-B14F-4D97-AF65-F5344CB8AC3E}">
        <p14:creationId xmlns:p14="http://schemas.microsoft.com/office/powerpoint/2010/main" val="3954534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10050" y="6203952"/>
            <a:ext cx="582930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dirty="0">
                <a:solidFill>
                  <a:schemeClr val="tx1"/>
                </a:solidFill>
              </a:rPr>
              <a:t>Source: DAHLD, 2017 APES Report</a:t>
            </a:r>
          </a:p>
        </p:txBody>
      </p:sp>
      <p:sp>
        <p:nvSpPr>
          <p:cNvPr id="2" name="Content Placeholder 1"/>
          <p:cNvSpPr>
            <a:spLocks noGrp="1"/>
          </p:cNvSpPr>
          <p:nvPr>
            <p:ph idx="1"/>
          </p:nvPr>
        </p:nvSpPr>
        <p:spPr/>
        <p:txBody>
          <a:bodyPr/>
          <a:lstStyle/>
          <a:p>
            <a:endParaRPr lang="en-GB"/>
          </a:p>
        </p:txBody>
      </p:sp>
      <p:pic>
        <p:nvPicPr>
          <p:cNvPr id="3" name="Picture 2"/>
          <p:cNvPicPr>
            <a:picLocks noChangeAspect="1"/>
          </p:cNvPicPr>
          <p:nvPr/>
        </p:nvPicPr>
        <p:blipFill>
          <a:blip r:embed="rId2"/>
          <a:stretch>
            <a:fillRect/>
          </a:stretch>
        </p:blipFill>
        <p:spPr>
          <a:xfrm>
            <a:off x="1838325" y="485776"/>
            <a:ext cx="8472488" cy="5691188"/>
          </a:xfrm>
          <a:prstGeom prst="rect">
            <a:avLst/>
          </a:prstGeom>
        </p:spPr>
      </p:pic>
    </p:spTree>
    <p:extLst>
      <p:ext uri="{BB962C8B-B14F-4D97-AF65-F5344CB8AC3E}">
        <p14:creationId xmlns:p14="http://schemas.microsoft.com/office/powerpoint/2010/main" val="659515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2725"/>
            <a:ext cx="7886700" cy="1325563"/>
          </a:xfrm>
        </p:spPr>
        <p:txBody>
          <a:bodyPr/>
          <a:lstStyle/>
          <a:p>
            <a:r>
              <a:rPr lang="en-GB" b="1" dirty="0">
                <a:solidFill>
                  <a:srgbClr val="0070C0"/>
                </a:solidFill>
              </a:rPr>
              <a:t>Common Goat Breeds in Malawi</a:t>
            </a:r>
          </a:p>
        </p:txBody>
      </p:sp>
      <p:sp>
        <p:nvSpPr>
          <p:cNvPr id="4" name="Rounded Rectangle 3"/>
          <p:cNvSpPr/>
          <p:nvPr/>
        </p:nvSpPr>
        <p:spPr>
          <a:xfrm>
            <a:off x="1966914" y="1825625"/>
            <a:ext cx="2943225" cy="2032000"/>
          </a:xfrm>
          <a:prstGeom prst="roundRect">
            <a:avLst/>
          </a:prstGeom>
          <a:blipFill dpi="0" rotWithShape="1">
            <a:blip r:embed="rId2">
              <a:extLst>
                <a:ext uri="{28A0092B-C50C-407E-A947-70E740481C1C}">
                  <a14:useLocalDpi xmlns:a14="http://schemas.microsoft.com/office/drawing/2010/main" val="0"/>
                </a:ext>
              </a:extLst>
            </a:blip>
            <a:srcRect/>
            <a:stretch>
              <a:fillRect l="-10000" t="-39000" r="-9000" b="-9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le 4"/>
          <p:cNvSpPr/>
          <p:nvPr/>
        </p:nvSpPr>
        <p:spPr>
          <a:xfrm>
            <a:off x="4624388" y="4144963"/>
            <a:ext cx="2943225" cy="2032000"/>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7429501" y="1801020"/>
            <a:ext cx="2943225" cy="2032000"/>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2152650" y="3986213"/>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Local breed</a:t>
            </a:r>
          </a:p>
        </p:txBody>
      </p:sp>
      <p:sp>
        <p:nvSpPr>
          <p:cNvPr id="9" name="Rectangle 8"/>
          <p:cNvSpPr/>
          <p:nvPr/>
        </p:nvSpPr>
        <p:spPr>
          <a:xfrm>
            <a:off x="4910139" y="6231731"/>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Saneen</a:t>
            </a:r>
            <a:endParaRPr lang="en-GB" b="1" dirty="0">
              <a:solidFill>
                <a:schemeClr val="tx1"/>
              </a:solidFill>
            </a:endParaRPr>
          </a:p>
        </p:txBody>
      </p:sp>
      <p:sp>
        <p:nvSpPr>
          <p:cNvPr id="10" name="Rectangle 9"/>
          <p:cNvSpPr/>
          <p:nvPr/>
        </p:nvSpPr>
        <p:spPr>
          <a:xfrm>
            <a:off x="7881937" y="3952876"/>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Boer</a:t>
            </a:r>
          </a:p>
        </p:txBody>
      </p:sp>
    </p:spTree>
    <p:extLst>
      <p:ext uri="{BB962C8B-B14F-4D97-AF65-F5344CB8AC3E}">
        <p14:creationId xmlns:p14="http://schemas.microsoft.com/office/powerpoint/2010/main" val="783084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2725"/>
            <a:ext cx="7886700" cy="1325563"/>
          </a:xfrm>
        </p:spPr>
        <p:txBody>
          <a:bodyPr/>
          <a:lstStyle/>
          <a:p>
            <a:r>
              <a:rPr lang="en-GB" b="1" dirty="0">
                <a:solidFill>
                  <a:srgbClr val="0070C0"/>
                </a:solidFill>
              </a:rPr>
              <a:t>Common Breeds of Sheep in Malawi</a:t>
            </a:r>
          </a:p>
        </p:txBody>
      </p:sp>
      <p:sp>
        <p:nvSpPr>
          <p:cNvPr id="4" name="Rounded Rectangle 3"/>
          <p:cNvSpPr/>
          <p:nvPr/>
        </p:nvSpPr>
        <p:spPr>
          <a:xfrm>
            <a:off x="2466976" y="1889919"/>
            <a:ext cx="3743325" cy="3282156"/>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6572250" y="1889919"/>
            <a:ext cx="3467100" cy="3282156"/>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3038475" y="5244306"/>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Local</a:t>
            </a:r>
          </a:p>
        </p:txBody>
      </p:sp>
      <p:sp>
        <p:nvSpPr>
          <p:cNvPr id="10" name="Rectangle 9"/>
          <p:cNvSpPr/>
          <p:nvPr/>
        </p:nvSpPr>
        <p:spPr>
          <a:xfrm>
            <a:off x="7134225" y="5244306"/>
            <a:ext cx="2343151"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Dorper</a:t>
            </a:r>
          </a:p>
        </p:txBody>
      </p:sp>
    </p:spTree>
    <p:extLst>
      <p:ext uri="{BB962C8B-B14F-4D97-AF65-F5344CB8AC3E}">
        <p14:creationId xmlns:p14="http://schemas.microsoft.com/office/powerpoint/2010/main" val="2402369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p:txBody>
          <a:bodyPr>
            <a:normAutofit/>
          </a:bodyPr>
          <a:lstStyle/>
          <a:p>
            <a:pPr marL="514350" indent="-514350">
              <a:buFont typeface="+mj-lt"/>
              <a:buAutoNum type="alphaLcPeriod" startAt="5"/>
            </a:pPr>
            <a:r>
              <a:rPr lang="en-GB" sz="2400" b="1" dirty="0">
                <a:latin typeface="Century Gothic" panose="020B0502020202020204" pitchFamily="34" charset="0"/>
              </a:rPr>
              <a:t>Poultry Industry</a:t>
            </a:r>
          </a:p>
          <a:p>
            <a:r>
              <a:rPr lang="en-GB" sz="2400" dirty="0">
                <a:latin typeface="Century Gothic" panose="020B0502020202020204" pitchFamily="34" charset="0"/>
              </a:rPr>
              <a:t>The genesis of commercial poultry production in Malawi can be traced way back in the early 1970s.</a:t>
            </a:r>
          </a:p>
          <a:p>
            <a:r>
              <a:rPr lang="en-GB" sz="2400" dirty="0">
                <a:latin typeface="Century Gothic" panose="020B0502020202020204" pitchFamily="34" charset="0"/>
              </a:rPr>
              <a:t>The common breeds in Malawi are:</a:t>
            </a:r>
          </a:p>
          <a:p>
            <a:pPr lvl="1"/>
            <a:r>
              <a:rPr lang="en-GB" dirty="0">
                <a:latin typeface="Century Gothic" panose="020B0502020202020204" pitchFamily="34" charset="0"/>
              </a:rPr>
              <a:t>Local</a:t>
            </a:r>
          </a:p>
          <a:p>
            <a:pPr lvl="1"/>
            <a:r>
              <a:rPr lang="en-GB" dirty="0">
                <a:latin typeface="Century Gothic" panose="020B0502020202020204" pitchFamily="34" charset="0"/>
              </a:rPr>
              <a:t>Hyaline</a:t>
            </a:r>
          </a:p>
          <a:p>
            <a:pPr lvl="1"/>
            <a:r>
              <a:rPr lang="en-GB" dirty="0">
                <a:latin typeface="Century Gothic" panose="020B0502020202020204" pitchFamily="34" charset="0"/>
              </a:rPr>
              <a:t>Cobb</a:t>
            </a:r>
          </a:p>
          <a:p>
            <a:pPr lvl="1"/>
            <a:r>
              <a:rPr lang="en-GB" dirty="0">
                <a:latin typeface="Century Gothic" panose="020B0502020202020204" pitchFamily="34" charset="0"/>
              </a:rPr>
              <a:t>Ross</a:t>
            </a:r>
          </a:p>
          <a:p>
            <a:pPr lvl="1"/>
            <a:r>
              <a:rPr lang="en-GB" dirty="0">
                <a:latin typeface="Century Gothic" panose="020B0502020202020204" pitchFamily="34" charset="0"/>
              </a:rPr>
              <a:t>Black </a:t>
            </a:r>
            <a:r>
              <a:rPr lang="en-GB" dirty="0" err="1">
                <a:latin typeface="Century Gothic" panose="020B0502020202020204" pitchFamily="34" charset="0"/>
              </a:rPr>
              <a:t>Australorp</a:t>
            </a:r>
            <a:r>
              <a:rPr lang="en-GB" dirty="0">
                <a:latin typeface="Century Gothic" panose="020B0502020202020204" pitchFamily="34" charset="0"/>
              </a:rPr>
              <a:t> (</a:t>
            </a:r>
            <a:r>
              <a:rPr lang="en-GB" dirty="0" err="1">
                <a:latin typeface="Century Gothic" panose="020B0502020202020204" pitchFamily="34" charset="0"/>
              </a:rPr>
              <a:t>Mikolongwe</a:t>
            </a:r>
            <a:r>
              <a:rPr lang="en-GB" dirty="0">
                <a:latin typeface="Century Gothic" panose="020B0502020202020204" pitchFamily="34" charset="0"/>
              </a:rPr>
              <a:t>)</a:t>
            </a:r>
          </a:p>
        </p:txBody>
      </p:sp>
    </p:spTree>
    <p:extLst>
      <p:ext uri="{BB962C8B-B14F-4D97-AF65-F5344CB8AC3E}">
        <p14:creationId xmlns:p14="http://schemas.microsoft.com/office/powerpoint/2010/main" val="750995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Overview of the animal and allied industries in Malawi </a:t>
            </a:r>
          </a:p>
        </p:txBody>
      </p:sp>
      <p:sp>
        <p:nvSpPr>
          <p:cNvPr id="3" name="Content Placeholder 2"/>
          <p:cNvSpPr>
            <a:spLocks noGrp="1"/>
          </p:cNvSpPr>
          <p:nvPr>
            <p:ph idx="1"/>
          </p:nvPr>
        </p:nvSpPr>
        <p:spPr/>
        <p:txBody>
          <a:bodyPr>
            <a:normAutofit/>
          </a:bodyPr>
          <a:lstStyle/>
          <a:p>
            <a:pPr marL="514350" indent="-514350">
              <a:buFont typeface="+mj-lt"/>
              <a:buAutoNum type="alphaLcPeriod" startAt="6"/>
            </a:pPr>
            <a:r>
              <a:rPr lang="en-GB" sz="2400" b="1" dirty="0">
                <a:latin typeface="Century Gothic" panose="020B0502020202020204" pitchFamily="34" charset="0"/>
              </a:rPr>
              <a:t>Pig Industry</a:t>
            </a:r>
          </a:p>
          <a:p>
            <a:r>
              <a:rPr lang="en-GB" sz="2400" dirty="0">
                <a:latin typeface="Century Gothic" panose="020B0502020202020204" pitchFamily="34" charset="0"/>
              </a:rPr>
              <a:t>Common pig breeds are local, Landrace, Large White and Tristar.</a:t>
            </a:r>
          </a:p>
          <a:p>
            <a:r>
              <a:rPr lang="en-GB" sz="2400" dirty="0">
                <a:latin typeface="Century Gothic" panose="020B0502020202020204" pitchFamily="34" charset="0"/>
              </a:rPr>
              <a:t>Inbreeding and poor feeding have negatively affected the performance of the improved breeds.</a:t>
            </a:r>
          </a:p>
          <a:p>
            <a:r>
              <a:rPr lang="en-GB" sz="2400" dirty="0">
                <a:latin typeface="Century Gothic" panose="020B0502020202020204" pitchFamily="34" charset="0"/>
              </a:rPr>
              <a:t>The other challenge has been African Swine Fever outbreaks.</a:t>
            </a:r>
          </a:p>
        </p:txBody>
      </p:sp>
    </p:spTree>
    <p:extLst>
      <p:ext uri="{BB962C8B-B14F-4D97-AF65-F5344CB8AC3E}">
        <p14:creationId xmlns:p14="http://schemas.microsoft.com/office/powerpoint/2010/main" val="4092709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880" y="365127"/>
            <a:ext cx="8728364" cy="565899"/>
          </a:xfrm>
        </p:spPr>
        <p:txBody>
          <a:bodyPr>
            <a:normAutofit fontScale="90000"/>
          </a:bodyPr>
          <a:lstStyle/>
          <a:p>
            <a:r>
              <a:rPr lang="en-GB" sz="3200" b="1" dirty="0">
                <a:solidFill>
                  <a:schemeClr val="accent1">
                    <a:lumMod val="75000"/>
                  </a:schemeClr>
                </a:solidFill>
                <a:latin typeface="Century Gothic" panose="020B0502020202020204" pitchFamily="34" charset="0"/>
              </a:rPr>
              <a:t> Drivers to growth in livestock populations </a:t>
            </a:r>
            <a:endParaRPr lang="en-GB" sz="3200" b="1" dirty="0">
              <a:solidFill>
                <a:schemeClr val="accent1">
                  <a:lumMod val="75000"/>
                </a:schemeClr>
              </a:solidFill>
            </a:endParaRPr>
          </a:p>
        </p:txBody>
      </p:sp>
      <p:sp>
        <p:nvSpPr>
          <p:cNvPr id="8" name="Content Placeholder 7"/>
          <p:cNvSpPr>
            <a:spLocks noGrp="1"/>
          </p:cNvSpPr>
          <p:nvPr>
            <p:ph idx="1"/>
          </p:nvPr>
        </p:nvSpPr>
        <p:spPr>
          <a:xfrm>
            <a:off x="2127712" y="1276985"/>
            <a:ext cx="7886700" cy="4351338"/>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Some of the key drivers to growth in livestock populations include:</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Increasing human population</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Increased urbanisation</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Increased household income that induces demand for livestock products</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Increased NGOs involvement in implementing livestock projects</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Existence of a livestock policy that provides direction for livestock development</a:t>
            </a:r>
          </a:p>
        </p:txBody>
      </p:sp>
    </p:spTree>
    <p:extLst>
      <p:ext uri="{BB962C8B-B14F-4D97-AF65-F5344CB8AC3E}">
        <p14:creationId xmlns:p14="http://schemas.microsoft.com/office/powerpoint/2010/main" val="279375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12125"/>
            <a:ext cx="8172450" cy="643944"/>
          </a:xfrm>
        </p:spPr>
        <p:txBody>
          <a:bodyPr>
            <a:normAutofit fontScale="90000"/>
          </a:bodyPr>
          <a:lstStyle/>
          <a:p>
            <a:r>
              <a:rPr lang="en-GB" sz="3200" b="1" dirty="0">
                <a:solidFill>
                  <a:srgbClr val="0070C0"/>
                </a:solidFill>
              </a:rPr>
              <a:t>Limitations/Constraints to Livestock Productivity</a:t>
            </a:r>
          </a:p>
        </p:txBody>
      </p:sp>
      <p:sp>
        <p:nvSpPr>
          <p:cNvPr id="3" name="Content Placeholder 2"/>
          <p:cNvSpPr>
            <a:spLocks noGrp="1"/>
          </p:cNvSpPr>
          <p:nvPr>
            <p:ph idx="1"/>
          </p:nvPr>
        </p:nvSpPr>
        <p:spPr>
          <a:xfrm>
            <a:off x="2152650" y="1300164"/>
            <a:ext cx="7886700" cy="5035322"/>
          </a:xfrm>
        </p:spPr>
        <p:txBody>
          <a:bodyPr>
            <a:noAutofit/>
          </a:bodyPr>
          <a:lstStyle/>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Inadequate and high cost of feed </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Parasites and diseases</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Unavailability of breeding stock due to limited supply of quality breeding stock and slaughter of </a:t>
            </a:r>
            <a:r>
              <a:rPr lang="en-GB" sz="2400" dirty="0" err="1">
                <a:latin typeface="Times New Roman" panose="02020603050405020304" pitchFamily="18" charset="0"/>
                <a:cs typeface="Times New Roman" panose="02020603050405020304" pitchFamily="18" charset="0"/>
              </a:rPr>
              <a:t>breedable</a:t>
            </a:r>
            <a:r>
              <a:rPr lang="en-GB" sz="2400" dirty="0">
                <a:latin typeface="Times New Roman" panose="02020603050405020304" pitchFamily="18" charset="0"/>
                <a:cs typeface="Times New Roman" panose="02020603050405020304" pitchFamily="18" charset="0"/>
              </a:rPr>
              <a:t> stock </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Inadequate human capacity </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Limited regulatory services</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Inadequate coordination and networking </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Inadequate capital</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Theft</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Poor marketing system</a:t>
            </a:r>
          </a:p>
          <a:p>
            <a:pPr marL="514350" indent="-514350">
              <a:buFont typeface="+mj-lt"/>
              <a:buAutoNum type="arabicPeriod"/>
            </a:pPr>
            <a:r>
              <a:rPr lang="en-GB" sz="2400" dirty="0">
                <a:latin typeface="Times New Roman" panose="02020603050405020304" pitchFamily="18" charset="0"/>
                <a:cs typeface="Times New Roman" panose="02020603050405020304" pitchFamily="18" charset="0"/>
              </a:rPr>
              <a:t>Reduced land holding sizes </a:t>
            </a:r>
            <a:r>
              <a:rPr lang="en-GB" sz="2400" b="1"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land tenure</a:t>
            </a:r>
          </a:p>
          <a:p>
            <a:pPr marL="514350" indent="-514350">
              <a:buFont typeface="+mj-lt"/>
              <a:buAutoNum type="arabicPeriod"/>
            </a:pPr>
            <a:endParaRPr lang="en-GB" sz="2400" dirty="0">
              <a:latin typeface="Century Gothic" panose="020B0502020202020204" pitchFamily="34" charset="0"/>
            </a:endParaRPr>
          </a:p>
        </p:txBody>
      </p:sp>
    </p:spTree>
    <p:extLst>
      <p:ext uri="{BB962C8B-B14F-4D97-AF65-F5344CB8AC3E}">
        <p14:creationId xmlns:p14="http://schemas.microsoft.com/office/powerpoint/2010/main" val="1701020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008710" y="452718"/>
            <a:ext cx="7989439" cy="1400530"/>
          </a:xfrm>
        </p:spPr>
        <p:txBody>
          <a:bodyPr/>
          <a:lstStyle/>
          <a:p>
            <a:r>
              <a:rPr lang="en-GB" b="1" dirty="0">
                <a:solidFill>
                  <a:srgbClr val="0070C0"/>
                </a:solidFill>
              </a:rPr>
              <a:t>Prospects for Improvement</a:t>
            </a:r>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ZA" dirty="0">
                <a:latin typeface="Century Gothic" panose="020B0502020202020204" pitchFamily="34" charset="0"/>
              </a:rPr>
              <a:t>Availability of labour</a:t>
            </a:r>
          </a:p>
          <a:p>
            <a:pPr marL="914400" lvl="1" indent="-457200">
              <a:buFont typeface="+mj-lt"/>
              <a:buAutoNum type="arabicPeriod"/>
            </a:pPr>
            <a:r>
              <a:rPr lang="en-ZA" dirty="0">
                <a:latin typeface="Century Gothic" panose="020B0502020202020204" pitchFamily="34" charset="0"/>
              </a:rPr>
              <a:t>New technologies development</a:t>
            </a:r>
          </a:p>
          <a:p>
            <a:pPr marL="914400" lvl="1" indent="-457200">
              <a:buFont typeface="+mj-lt"/>
              <a:buAutoNum type="arabicPeriod"/>
            </a:pPr>
            <a:r>
              <a:rPr lang="en-ZA" dirty="0">
                <a:latin typeface="Century Gothic" panose="020B0502020202020204" pitchFamily="34" charset="0"/>
              </a:rPr>
              <a:t>Integrated farming system of crop and livestock</a:t>
            </a:r>
          </a:p>
          <a:p>
            <a:pPr marL="914400" lvl="1" indent="-457200">
              <a:buFont typeface="+mj-lt"/>
              <a:buAutoNum type="arabicPeriod"/>
            </a:pPr>
            <a:r>
              <a:rPr lang="en-ZA" dirty="0">
                <a:latin typeface="Century Gothic" panose="020B0502020202020204" pitchFamily="34" charset="0"/>
              </a:rPr>
              <a:t>Increased demand for the livestock and livestock products due to the ever increasing human population</a:t>
            </a:r>
          </a:p>
          <a:p>
            <a:pPr marL="514350" indent="-514350">
              <a:buFont typeface="+mj-lt"/>
              <a:buAutoNum type="arabicPeriod"/>
            </a:pPr>
            <a:endParaRPr lang="en-GB" sz="2400" dirty="0">
              <a:latin typeface="Century Gothic" panose="020B0502020202020204" pitchFamily="34" charset="0"/>
            </a:endParaRPr>
          </a:p>
        </p:txBody>
      </p:sp>
    </p:spTree>
    <p:extLst>
      <p:ext uri="{BB962C8B-B14F-4D97-AF65-F5344CB8AC3E}">
        <p14:creationId xmlns:p14="http://schemas.microsoft.com/office/powerpoint/2010/main" val="638828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566671"/>
            <a:ext cx="7886700" cy="1124019"/>
          </a:xfrm>
        </p:spPr>
        <p:txBody>
          <a:bodyPr>
            <a:normAutofit fontScale="90000"/>
          </a:bodyPr>
          <a:lstStyle/>
          <a:p>
            <a:r>
              <a:rPr lang="en-GB" b="1" dirty="0">
                <a:solidFill>
                  <a:srgbClr val="0070C0"/>
                </a:solidFill>
              </a:rPr>
              <a:t>Key concepts and techniques in livestock management </a:t>
            </a:r>
            <a:endParaRPr lang="en-US" dirty="0"/>
          </a:p>
        </p:txBody>
      </p:sp>
      <p:sp>
        <p:nvSpPr>
          <p:cNvPr id="3" name="Content Placeholder 2"/>
          <p:cNvSpPr>
            <a:spLocks noGrp="1"/>
          </p:cNvSpPr>
          <p:nvPr>
            <p:ph idx="1"/>
          </p:nvPr>
        </p:nvSpPr>
        <p:spPr>
          <a:xfrm>
            <a:off x="2152650" y="1825625"/>
            <a:ext cx="7886700" cy="3673654"/>
          </a:xfrm>
        </p:spPr>
        <p:txBody>
          <a:bodyPr/>
          <a:lstStyle/>
          <a:p>
            <a:pPr marL="514350" indent="-514350">
              <a:buFont typeface="+mj-lt"/>
              <a:buAutoNum type="arabicPeriod"/>
            </a:pPr>
            <a:r>
              <a:rPr lang="en-US" dirty="0"/>
              <a:t>Housing </a:t>
            </a:r>
          </a:p>
          <a:p>
            <a:pPr marL="514350" indent="-514350">
              <a:buFont typeface="+mj-lt"/>
              <a:buAutoNum type="arabicPeriod"/>
            </a:pPr>
            <a:r>
              <a:rPr lang="en-GB" dirty="0"/>
              <a:t>Feeding</a:t>
            </a:r>
          </a:p>
          <a:p>
            <a:pPr marL="514350" indent="-514350">
              <a:buFont typeface="+mj-lt"/>
              <a:buAutoNum type="arabicPeriod"/>
            </a:pPr>
            <a:r>
              <a:rPr lang="en-GB" dirty="0"/>
              <a:t>Breeding</a:t>
            </a:r>
          </a:p>
          <a:p>
            <a:pPr marL="514350" indent="-514350">
              <a:buFont typeface="+mj-lt"/>
              <a:buAutoNum type="arabicPeriod"/>
            </a:pPr>
            <a:r>
              <a:rPr lang="en-GB" dirty="0"/>
              <a:t>Identification  </a:t>
            </a:r>
          </a:p>
          <a:p>
            <a:pPr marL="514350" indent="-514350">
              <a:buFont typeface="+mj-lt"/>
              <a:buAutoNum type="arabicPeriod"/>
            </a:pPr>
            <a:r>
              <a:rPr lang="en-GB" dirty="0"/>
              <a:t>Record keeping </a:t>
            </a:r>
          </a:p>
          <a:p>
            <a:pPr marL="514350" indent="-514350">
              <a:buFont typeface="+mj-lt"/>
              <a:buAutoNum type="arabicPeriod"/>
            </a:pPr>
            <a:r>
              <a:rPr lang="en-GB" dirty="0"/>
              <a:t>Disease prevention and control </a:t>
            </a:r>
          </a:p>
          <a:p>
            <a:pPr marL="514350" indent="-514350">
              <a:buFont typeface="+mj-lt"/>
              <a:buAutoNum type="arabicPeriod"/>
            </a:pPr>
            <a:r>
              <a:rPr lang="en-GB" dirty="0"/>
              <a:t>Animal welfare</a:t>
            </a:r>
          </a:p>
        </p:txBody>
      </p:sp>
    </p:spTree>
    <p:extLst>
      <p:ext uri="{BB962C8B-B14F-4D97-AF65-F5344CB8AC3E}">
        <p14:creationId xmlns:p14="http://schemas.microsoft.com/office/powerpoint/2010/main" val="1773435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8021337" cy="1400530"/>
          </a:xfrm>
        </p:spPr>
        <p:txBody>
          <a:bodyPr>
            <a:normAutofit/>
          </a:bodyPr>
          <a:lstStyle/>
          <a:p>
            <a:r>
              <a:rPr lang="en-GB" b="1" dirty="0">
                <a:solidFill>
                  <a:srgbClr val="0070C0"/>
                </a:solidFill>
              </a:rPr>
              <a:t>Key concepts and techniques in livestock management </a:t>
            </a:r>
          </a:p>
        </p:txBody>
      </p:sp>
      <p:sp>
        <p:nvSpPr>
          <p:cNvPr id="3" name="Content Placeholder 2"/>
          <p:cNvSpPr>
            <a:spLocks noGrp="1"/>
          </p:cNvSpPr>
          <p:nvPr>
            <p:ph idx="1"/>
          </p:nvPr>
        </p:nvSpPr>
        <p:spPr>
          <a:xfrm>
            <a:off x="1720703" y="1722475"/>
            <a:ext cx="8750595" cy="4557830"/>
          </a:xfrm>
        </p:spPr>
        <p:txBody>
          <a:bodyPr>
            <a:noAutofit/>
          </a:bodyPr>
          <a:lstStyle/>
          <a:p>
            <a:pPr marL="514350" indent="-514350">
              <a:buFont typeface="+mj-lt"/>
              <a:buAutoNum type="arabicPeriod"/>
            </a:pPr>
            <a:r>
              <a:rPr lang="en-GB" sz="2400" b="1" dirty="0">
                <a:latin typeface="Century Gothic" panose="020B0502020202020204" pitchFamily="34" charset="0"/>
              </a:rPr>
              <a:t>Housing</a:t>
            </a:r>
          </a:p>
          <a:p>
            <a:r>
              <a:rPr lang="en-GB" sz="2400" dirty="0">
                <a:latin typeface="Century Gothic" panose="020B0502020202020204" pitchFamily="34" charset="0"/>
              </a:rPr>
              <a:t>Housing is a essential for maintaining health, comfort and protection in order to get maximum productivity from the livestock.</a:t>
            </a:r>
          </a:p>
          <a:p>
            <a:r>
              <a:rPr lang="en-GB" sz="2400" dirty="0">
                <a:latin typeface="Century Gothic" panose="020B0502020202020204" pitchFamily="34" charset="0"/>
              </a:rPr>
              <a:t>The exact design depends on the species reared, intended use, the local environmental conditions, capital, and a range of other factors.</a:t>
            </a:r>
          </a:p>
          <a:p>
            <a:r>
              <a:rPr lang="en-GB" sz="2400" dirty="0">
                <a:latin typeface="Century Gothic" panose="020B0502020202020204" pitchFamily="34" charset="0"/>
              </a:rPr>
              <a:t>Animals that can exercise their natural species-specific movements and behaviour patterns as far as possible are less likely to be stressed or injured and will therefore be more productive. </a:t>
            </a:r>
          </a:p>
        </p:txBody>
      </p:sp>
    </p:spTree>
    <p:extLst>
      <p:ext uri="{BB962C8B-B14F-4D97-AF65-F5344CB8AC3E}">
        <p14:creationId xmlns:p14="http://schemas.microsoft.com/office/powerpoint/2010/main" val="3539059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152" y="99858"/>
            <a:ext cx="9940198" cy="626547"/>
          </a:xfrm>
        </p:spPr>
        <p:txBody>
          <a:bodyPr>
            <a:normAutofit fontScale="90000"/>
          </a:bodyPr>
          <a:lstStyle/>
          <a:p>
            <a:r>
              <a:rPr lang="en-GB" sz="2800" b="1" dirty="0">
                <a:solidFill>
                  <a:srgbClr val="FFFF00"/>
                </a:solidFill>
                <a:latin typeface="Times New Roman" panose="02020603050405020304" pitchFamily="18" charset="0"/>
                <a:cs typeface="Times New Roman" panose="02020603050405020304" pitchFamily="18" charset="0"/>
              </a:rPr>
              <a:t>Factors to consider when selecting a site for </a:t>
            </a:r>
            <a:r>
              <a:rPr lang="en-GB" sz="2800" b="1" dirty="0">
                <a:solidFill>
                  <a:srgbClr val="FFFF00"/>
                </a:solidFill>
              </a:rPr>
              <a:t>livestock management </a:t>
            </a:r>
          </a:p>
        </p:txBody>
      </p:sp>
      <p:sp>
        <p:nvSpPr>
          <p:cNvPr id="3" name="Content Placeholder 2"/>
          <p:cNvSpPr>
            <a:spLocks noGrp="1"/>
          </p:cNvSpPr>
          <p:nvPr>
            <p:ph idx="1"/>
          </p:nvPr>
        </p:nvSpPr>
        <p:spPr>
          <a:xfrm>
            <a:off x="286439" y="726404"/>
            <a:ext cx="11027884" cy="5373771"/>
          </a:xfrm>
        </p:spPr>
        <p:txBody>
          <a:bodyPr numCol="2">
            <a:noAutofit/>
          </a:bodyPr>
          <a:lstStyle/>
          <a:p>
            <a:r>
              <a:rPr lang="en-GB" dirty="0">
                <a:latin typeface="Times New Roman" panose="02020603050405020304" pitchFamily="18" charset="0"/>
                <a:cs typeface="Times New Roman" panose="02020603050405020304" pitchFamily="18" charset="0"/>
              </a:rPr>
              <a:t>Consider the following when selecting of site:</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Topography and Drainage</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Soil Type</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Water Supply</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Accessibility</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Labour</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Marketing</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Electricity</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Ventilation</a:t>
            </a:r>
          </a:p>
          <a:p>
            <a:pPr marL="914400" lvl="1" indent="-457200">
              <a:buFont typeface="+mj-lt"/>
              <a:buAutoNum type="arabicPeriod"/>
            </a:pPr>
            <a:r>
              <a:rPr lang="en-GB" sz="2000" dirty="0">
                <a:latin typeface="Times New Roman" panose="02020603050405020304" pitchFamily="18" charset="0"/>
                <a:cs typeface="Times New Roman" panose="02020603050405020304" pitchFamily="18" charset="0"/>
              </a:rPr>
              <a:t>Thermo-comfort zone</a:t>
            </a:r>
          </a:p>
          <a:p>
            <a:pPr>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The design of the structures should also take into account the animals behaviour</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Types of animal housing:</a:t>
            </a:r>
          </a:p>
          <a:p>
            <a:pPr lvl="1">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Conventional barns</a:t>
            </a:r>
          </a:p>
          <a:p>
            <a:pPr lvl="1">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Loose housing</a:t>
            </a:r>
          </a:p>
          <a:p>
            <a:pPr lvl="1">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Free Ranges</a:t>
            </a:r>
          </a:p>
        </p:txBody>
      </p:sp>
    </p:spTree>
    <p:extLst>
      <p:ext uri="{BB962C8B-B14F-4D97-AF65-F5344CB8AC3E}">
        <p14:creationId xmlns:p14="http://schemas.microsoft.com/office/powerpoint/2010/main" val="3409028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6037"/>
            <a:ext cx="7886700" cy="1325563"/>
          </a:xfrm>
        </p:spPr>
        <p:txBody>
          <a:bodyPr>
            <a:normAutofit fontScale="90000"/>
          </a:bodyPr>
          <a:lstStyle/>
          <a:p>
            <a:r>
              <a:rPr lang="en-GB" b="1" dirty="0">
                <a:solidFill>
                  <a:srgbClr val="0070C0"/>
                </a:solidFill>
              </a:rPr>
              <a:t>Key concepts and techniques in livestock management </a:t>
            </a:r>
          </a:p>
        </p:txBody>
      </p:sp>
      <p:sp>
        <p:nvSpPr>
          <p:cNvPr id="3" name="Content Placeholder 2"/>
          <p:cNvSpPr>
            <a:spLocks noGrp="1"/>
          </p:cNvSpPr>
          <p:nvPr>
            <p:ph idx="1"/>
          </p:nvPr>
        </p:nvSpPr>
        <p:spPr>
          <a:xfrm>
            <a:off x="2152650" y="1582737"/>
            <a:ext cx="7886700" cy="4351338"/>
          </a:xfrm>
        </p:spPr>
        <p:txBody>
          <a:bodyPr>
            <a:noAutofit/>
          </a:bodyPr>
          <a:lstStyle/>
          <a:p>
            <a:pPr marL="514350" indent="-514350">
              <a:buFont typeface="+mj-lt"/>
              <a:buAutoNum type="arabicPeriod" startAt="2"/>
            </a:pPr>
            <a:r>
              <a:rPr lang="en-GB" sz="2400" b="1" dirty="0">
                <a:latin typeface="Century Gothic" panose="020B0502020202020204" pitchFamily="34" charset="0"/>
              </a:rPr>
              <a:t>Feeding</a:t>
            </a:r>
          </a:p>
          <a:p>
            <a:r>
              <a:rPr lang="en-GB" sz="2400" dirty="0">
                <a:latin typeface="Century Gothic" panose="020B0502020202020204" pitchFamily="34" charset="0"/>
              </a:rPr>
              <a:t>Animal feeding stuff can be classified as:</a:t>
            </a:r>
          </a:p>
          <a:p>
            <a:pPr lvl="1"/>
            <a:r>
              <a:rPr lang="en-GB" dirty="0">
                <a:latin typeface="Century Gothic" panose="020B0502020202020204" pitchFamily="34" charset="0"/>
              </a:rPr>
              <a:t>Roughages – dry or succulent</a:t>
            </a:r>
          </a:p>
          <a:p>
            <a:pPr lvl="1"/>
            <a:r>
              <a:rPr lang="en-GB" dirty="0">
                <a:latin typeface="Century Gothic" panose="020B0502020202020204" pitchFamily="34" charset="0"/>
              </a:rPr>
              <a:t>Concentrates – animal or vegetable source</a:t>
            </a:r>
          </a:p>
          <a:p>
            <a:pPr lvl="1"/>
            <a:r>
              <a:rPr lang="en-GB" dirty="0">
                <a:latin typeface="Century Gothic" panose="020B0502020202020204" pitchFamily="34" charset="0"/>
              </a:rPr>
              <a:t>Additives</a:t>
            </a:r>
          </a:p>
          <a:p>
            <a:r>
              <a:rPr lang="en-GB" sz="2400" dirty="0">
                <a:latin typeface="Century Gothic" panose="020B0502020202020204" pitchFamily="34" charset="0"/>
              </a:rPr>
              <a:t>Different feeding methods can be employed depending on management system e.g. cut–and–carry, tethering, restricted feeding, free range</a:t>
            </a: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25485665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Key concepts and techniques in livestock management </a:t>
            </a:r>
          </a:p>
        </p:txBody>
      </p:sp>
      <p:sp>
        <p:nvSpPr>
          <p:cNvPr id="3" name="Content Placeholder 2"/>
          <p:cNvSpPr>
            <a:spLocks noGrp="1"/>
          </p:cNvSpPr>
          <p:nvPr>
            <p:ph idx="1"/>
          </p:nvPr>
        </p:nvSpPr>
        <p:spPr>
          <a:xfrm>
            <a:off x="751562" y="1853248"/>
            <a:ext cx="11173216" cy="4503102"/>
          </a:xfrm>
        </p:spPr>
        <p:txBody>
          <a:bodyPr>
            <a:noAutofit/>
          </a:bodyPr>
          <a:lstStyle/>
          <a:p>
            <a:pPr marL="514350" indent="-514350">
              <a:buFont typeface="+mj-lt"/>
              <a:buAutoNum type="arabicPeriod" startAt="3"/>
            </a:pPr>
            <a:r>
              <a:rPr lang="en-GB" sz="2400" b="1" dirty="0">
                <a:latin typeface="Century Gothic" panose="020B0502020202020204" pitchFamily="34" charset="0"/>
              </a:rPr>
              <a:t>Breeding</a:t>
            </a:r>
          </a:p>
          <a:p>
            <a:r>
              <a:rPr lang="en-GB" sz="2400" dirty="0">
                <a:latin typeface="Century Gothic" panose="020B0502020202020204" pitchFamily="34" charset="0"/>
              </a:rPr>
              <a:t>Animal Breeding is the application of genetic principles to the improvement of farm animals.</a:t>
            </a:r>
          </a:p>
          <a:p>
            <a:r>
              <a:rPr lang="en-GB" sz="2400" dirty="0">
                <a:latin typeface="Century Gothic" panose="020B0502020202020204" pitchFamily="34" charset="0"/>
              </a:rPr>
              <a:t>Breeding is defined as the crossing of the male and female parents to get the offspring for the characters desired.</a:t>
            </a:r>
          </a:p>
          <a:p>
            <a:r>
              <a:rPr lang="en-GB" sz="2400" dirty="0">
                <a:latin typeface="Century Gothic" panose="020B0502020202020204" pitchFamily="34" charset="0"/>
              </a:rPr>
              <a:t>Animals can mate naturally or be artificially inseminated; and two basic systems of breeding used: </a:t>
            </a:r>
          </a:p>
          <a:p>
            <a:pPr marL="971550" lvl="1" indent="-514350">
              <a:buFont typeface="+mj-lt"/>
              <a:buAutoNum type="alphaLcPeriod"/>
            </a:pPr>
            <a:r>
              <a:rPr lang="en-GB" dirty="0">
                <a:latin typeface="Century Gothic" panose="020B0502020202020204" pitchFamily="34" charset="0"/>
              </a:rPr>
              <a:t>Straight-breeding – mating animals of the same breed. </a:t>
            </a:r>
          </a:p>
          <a:p>
            <a:pPr marL="971550" lvl="1" indent="-514350">
              <a:buFont typeface="+mj-lt"/>
              <a:buAutoNum type="alphaLcPeriod"/>
            </a:pPr>
            <a:r>
              <a:rPr lang="en-GB" dirty="0">
                <a:latin typeface="Century Gothic" panose="020B0502020202020204" pitchFamily="34" charset="0"/>
              </a:rPr>
              <a:t>Cross-breeding – mating of two animals from different breeds.</a:t>
            </a:r>
            <a:endParaRPr lang="en-GB" b="1" dirty="0">
              <a:latin typeface="Century Gothic" panose="020B0502020202020204" pitchFamily="34" charset="0"/>
            </a:endParaRPr>
          </a:p>
        </p:txBody>
      </p:sp>
    </p:spTree>
    <p:extLst>
      <p:ext uri="{BB962C8B-B14F-4D97-AF65-F5344CB8AC3E}">
        <p14:creationId xmlns:p14="http://schemas.microsoft.com/office/powerpoint/2010/main" val="1937376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70C0"/>
                </a:solidFill>
              </a:rPr>
              <a:t>Key concepts and techniques in livestock management </a:t>
            </a:r>
          </a:p>
        </p:txBody>
      </p:sp>
      <p:sp>
        <p:nvSpPr>
          <p:cNvPr id="3" name="Content Placeholder 2"/>
          <p:cNvSpPr>
            <a:spLocks noGrp="1"/>
          </p:cNvSpPr>
          <p:nvPr>
            <p:ph idx="1"/>
          </p:nvPr>
        </p:nvSpPr>
        <p:spPr/>
        <p:txBody>
          <a:bodyPr>
            <a:normAutofit/>
          </a:bodyPr>
          <a:lstStyle/>
          <a:p>
            <a:pPr marL="514350" indent="-514350">
              <a:buFont typeface="+mj-lt"/>
              <a:buAutoNum type="arabicPeriod" startAt="3"/>
            </a:pPr>
            <a:r>
              <a:rPr lang="en-GB" b="1" dirty="0"/>
              <a:t>Breeding</a:t>
            </a:r>
          </a:p>
          <a:p>
            <a:endParaRPr lang="en-GB" dirty="0"/>
          </a:p>
        </p:txBody>
      </p:sp>
      <p:sp>
        <p:nvSpPr>
          <p:cNvPr id="5" name="Right Arrow 4"/>
          <p:cNvSpPr/>
          <p:nvPr/>
        </p:nvSpPr>
        <p:spPr>
          <a:xfrm>
            <a:off x="2831306" y="2293144"/>
            <a:ext cx="2757488" cy="1314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Andalus" panose="02020603050405020304" pitchFamily="18" charset="-78"/>
                <a:cs typeface="Andalus" panose="02020603050405020304" pitchFamily="18" charset="-78"/>
              </a:rPr>
              <a:t>Straight-breeding</a:t>
            </a:r>
          </a:p>
        </p:txBody>
      </p:sp>
      <p:sp>
        <p:nvSpPr>
          <p:cNvPr id="6" name="Right Arrow 5"/>
          <p:cNvSpPr/>
          <p:nvPr/>
        </p:nvSpPr>
        <p:spPr>
          <a:xfrm>
            <a:off x="2831306" y="4722020"/>
            <a:ext cx="2757488" cy="1314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Andalus" panose="02020603050405020304" pitchFamily="18" charset="-78"/>
                <a:cs typeface="Andalus" panose="02020603050405020304" pitchFamily="18" charset="-78"/>
              </a:rPr>
              <a:t>Cross-breeding</a:t>
            </a:r>
          </a:p>
        </p:txBody>
      </p:sp>
      <p:sp>
        <p:nvSpPr>
          <p:cNvPr id="7" name="Double Brace 6"/>
          <p:cNvSpPr/>
          <p:nvPr/>
        </p:nvSpPr>
        <p:spPr>
          <a:xfrm>
            <a:off x="5881688" y="1957388"/>
            <a:ext cx="3586162" cy="198596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Double Brace 7"/>
          <p:cNvSpPr/>
          <p:nvPr/>
        </p:nvSpPr>
        <p:spPr>
          <a:xfrm>
            <a:off x="5881688" y="4243389"/>
            <a:ext cx="3586162" cy="227171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Rectangle 8"/>
          <p:cNvSpPr/>
          <p:nvPr/>
        </p:nvSpPr>
        <p:spPr>
          <a:xfrm>
            <a:off x="6196013" y="2100263"/>
            <a:ext cx="2743200" cy="16716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indent="-185738">
              <a:buFont typeface="+mj-lt"/>
              <a:buAutoNum type="romanLcPeriod"/>
            </a:pPr>
            <a:r>
              <a:rPr lang="en-GB" sz="2400" dirty="0">
                <a:solidFill>
                  <a:schemeClr val="tx1"/>
                </a:solidFill>
                <a:latin typeface="Andalus" panose="02020603050405020304" pitchFamily="18" charset="-78"/>
                <a:cs typeface="Andalus" panose="02020603050405020304" pitchFamily="18" charset="-78"/>
              </a:rPr>
              <a:t>Purebred breeding</a:t>
            </a:r>
          </a:p>
          <a:p>
            <a:pPr marL="185738" indent="-185738">
              <a:buFont typeface="+mj-lt"/>
              <a:buAutoNum type="romanLcPeriod"/>
            </a:pPr>
            <a:r>
              <a:rPr lang="en-GB" sz="2400" dirty="0">
                <a:solidFill>
                  <a:schemeClr val="tx1"/>
                </a:solidFill>
                <a:latin typeface="Andalus" panose="02020603050405020304" pitchFamily="18" charset="-78"/>
                <a:cs typeface="Andalus" panose="02020603050405020304" pitchFamily="18" charset="-78"/>
              </a:rPr>
              <a:t> Inbreeding</a:t>
            </a:r>
          </a:p>
          <a:p>
            <a:pPr marL="185738" indent="-185738">
              <a:buFont typeface="+mj-lt"/>
              <a:buAutoNum type="romanLcPeriod"/>
            </a:pPr>
            <a:r>
              <a:rPr lang="en-GB" sz="2400" dirty="0">
                <a:solidFill>
                  <a:schemeClr val="tx1"/>
                </a:solidFill>
                <a:latin typeface="Andalus" panose="02020603050405020304" pitchFamily="18" charset="-78"/>
                <a:cs typeface="Andalus" panose="02020603050405020304" pitchFamily="18" charset="-78"/>
              </a:rPr>
              <a:t> Outcrossing, and </a:t>
            </a:r>
          </a:p>
          <a:p>
            <a:pPr marL="185738" indent="-185738">
              <a:buFont typeface="+mj-lt"/>
              <a:buAutoNum type="romanLcPeriod"/>
            </a:pPr>
            <a:r>
              <a:rPr lang="en-GB" sz="2400" dirty="0">
                <a:solidFill>
                  <a:schemeClr val="tx1"/>
                </a:solidFill>
                <a:latin typeface="Andalus" panose="02020603050405020304" pitchFamily="18" charset="-78"/>
                <a:cs typeface="Andalus" panose="02020603050405020304" pitchFamily="18" charset="-78"/>
              </a:rPr>
              <a:t> grading up</a:t>
            </a:r>
          </a:p>
        </p:txBody>
      </p:sp>
      <p:sp>
        <p:nvSpPr>
          <p:cNvPr id="10" name="Rectangle 9"/>
          <p:cNvSpPr/>
          <p:nvPr/>
        </p:nvSpPr>
        <p:spPr>
          <a:xfrm>
            <a:off x="6103144" y="4418807"/>
            <a:ext cx="3021806" cy="18478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1463" indent="-271463">
              <a:buFont typeface="+mj-lt"/>
              <a:buAutoNum type="romanLcPeriod"/>
            </a:pPr>
            <a:r>
              <a:rPr lang="en-GB" sz="2400" dirty="0">
                <a:solidFill>
                  <a:schemeClr val="tx1"/>
                </a:solidFill>
                <a:latin typeface="Andalus" panose="02020603050405020304" pitchFamily="18" charset="-78"/>
                <a:cs typeface="Andalus" panose="02020603050405020304" pitchFamily="18" charset="-78"/>
              </a:rPr>
              <a:t>Two-breed crosses</a:t>
            </a:r>
          </a:p>
          <a:p>
            <a:pPr marL="271463" indent="-271463">
              <a:buFont typeface="+mj-lt"/>
              <a:buAutoNum type="romanLcPeriod"/>
            </a:pPr>
            <a:r>
              <a:rPr lang="en-GB" sz="2400" dirty="0">
                <a:solidFill>
                  <a:schemeClr val="tx1"/>
                </a:solidFill>
                <a:latin typeface="Andalus" panose="02020603050405020304" pitchFamily="18" charset="-78"/>
                <a:cs typeface="Andalus" panose="02020603050405020304" pitchFamily="18" charset="-78"/>
              </a:rPr>
              <a:t>Three-breed crosses, and </a:t>
            </a:r>
          </a:p>
          <a:p>
            <a:pPr marL="271463" indent="-271463">
              <a:buFont typeface="+mj-lt"/>
              <a:buAutoNum type="romanLcPeriod"/>
            </a:pPr>
            <a:r>
              <a:rPr lang="en-GB" sz="2400" dirty="0">
                <a:solidFill>
                  <a:schemeClr val="tx1"/>
                </a:solidFill>
                <a:latin typeface="Andalus" panose="02020603050405020304" pitchFamily="18" charset="-78"/>
                <a:cs typeface="Andalus" panose="02020603050405020304" pitchFamily="18" charset="-78"/>
              </a:rPr>
              <a:t>Rotation breeding</a:t>
            </a:r>
          </a:p>
        </p:txBody>
      </p:sp>
    </p:spTree>
    <p:extLst>
      <p:ext uri="{BB962C8B-B14F-4D97-AF65-F5344CB8AC3E}">
        <p14:creationId xmlns:p14="http://schemas.microsoft.com/office/powerpoint/2010/main" val="2762039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573" y="275573"/>
            <a:ext cx="11373631" cy="6350695"/>
          </a:xfrm>
        </p:spPr>
        <p:txBody>
          <a:bodyPr>
            <a:normAutofit/>
          </a:bodyPr>
          <a:lstStyle/>
          <a:p>
            <a:pPr marL="571500" indent="-571500">
              <a:buFont typeface="+mj-lt"/>
              <a:buAutoNum type="romanLcPeriod"/>
            </a:pPr>
            <a:r>
              <a:rPr lang="en-GB" sz="2800" b="1" dirty="0">
                <a:latin typeface="Times New Roman" panose="02020603050405020304" pitchFamily="18" charset="0"/>
                <a:cs typeface="Times New Roman" panose="02020603050405020304" pitchFamily="18" charset="0"/>
              </a:rPr>
              <a:t>Straight Breeding</a:t>
            </a:r>
            <a:endParaRPr lang="en-GB" sz="2400" b="1" dirty="0">
              <a:latin typeface="Times New Roman" panose="02020603050405020304" pitchFamily="18" charset="0"/>
              <a:cs typeface="Times New Roman" panose="02020603050405020304" pitchFamily="18" charset="0"/>
            </a:endParaRPr>
          </a:p>
          <a:p>
            <a:pPr marL="1257300" lvl="2" indent="-457200">
              <a:buFont typeface="+mj-lt"/>
              <a:buAutoNum type="alphaLcPeriod"/>
            </a:pPr>
            <a:r>
              <a:rPr lang="en-GB" sz="2400" b="1" dirty="0">
                <a:solidFill>
                  <a:srgbClr val="FFFF00"/>
                </a:solidFill>
                <a:latin typeface="Times New Roman" panose="02020603050405020304" pitchFamily="18" charset="0"/>
                <a:cs typeface="Times New Roman" panose="02020603050405020304" pitchFamily="18" charset="0"/>
              </a:rPr>
              <a:t>Purebred breeding </a:t>
            </a:r>
            <a:r>
              <a:rPr lang="en-GB" sz="2400" dirty="0">
                <a:latin typeface="Times New Roman" panose="02020603050405020304" pitchFamily="18" charset="0"/>
                <a:cs typeface="Times New Roman" panose="02020603050405020304" pitchFamily="18" charset="0"/>
              </a:rPr>
              <a:t>is the mating of animals within the same breed whose parents can be traced to the same breed.</a:t>
            </a:r>
          </a:p>
          <a:p>
            <a:pPr marL="1257300" lvl="2" indent="-457200">
              <a:buFont typeface="+mj-lt"/>
              <a:buAutoNum type="alphaLcPeriod"/>
            </a:pPr>
            <a:r>
              <a:rPr lang="en-GB" sz="2400" b="1" dirty="0">
                <a:solidFill>
                  <a:srgbClr val="FFFF00"/>
                </a:solidFill>
                <a:latin typeface="Times New Roman" panose="02020603050405020304" pitchFamily="18" charset="0"/>
                <a:cs typeface="Times New Roman" panose="02020603050405020304" pitchFamily="18" charset="0"/>
              </a:rPr>
              <a:t>Inbreeding</a:t>
            </a:r>
            <a:r>
              <a:rPr lang="en-GB" sz="2400" dirty="0">
                <a:latin typeface="Times New Roman" panose="02020603050405020304" pitchFamily="18" charset="0"/>
                <a:cs typeface="Times New Roman" panose="02020603050405020304" pitchFamily="18" charset="0"/>
              </a:rPr>
              <a:t> is the mating of closely related animals. </a:t>
            </a:r>
          </a:p>
          <a:p>
            <a:pPr marL="1257300" lvl="2" indent="-457200">
              <a:buFont typeface="+mj-lt"/>
              <a:buAutoNum type="alphaLcPeriod"/>
            </a:pPr>
            <a:r>
              <a:rPr lang="en-GB" sz="2400" b="1" dirty="0">
                <a:solidFill>
                  <a:srgbClr val="FFFF00"/>
                </a:solidFill>
                <a:latin typeface="Times New Roman" panose="02020603050405020304" pitchFamily="18" charset="0"/>
                <a:cs typeface="Times New Roman" panose="02020603050405020304" pitchFamily="18" charset="0"/>
              </a:rPr>
              <a:t>Outcrossing</a:t>
            </a:r>
            <a:r>
              <a:rPr lang="en-GB" sz="2400" dirty="0">
                <a:latin typeface="Times New Roman" panose="02020603050405020304" pitchFamily="18" charset="0"/>
                <a:cs typeface="Times New Roman" panose="02020603050405020304" pitchFamily="18" charset="0"/>
              </a:rPr>
              <a:t> is the mating of animals of different families within the same breed. The animals bred do not have a common ancestor.</a:t>
            </a:r>
          </a:p>
          <a:p>
            <a:pPr marL="1257300" lvl="2" indent="-457200">
              <a:buFont typeface="+mj-lt"/>
              <a:buAutoNum type="alphaLcPeriod"/>
            </a:pPr>
            <a:r>
              <a:rPr lang="en-GB" sz="2400" b="1" dirty="0">
                <a:solidFill>
                  <a:srgbClr val="FFFF00"/>
                </a:solidFill>
                <a:latin typeface="Times New Roman" panose="02020603050405020304" pitchFamily="18" charset="0"/>
                <a:cs typeface="Times New Roman" panose="02020603050405020304" pitchFamily="18" charset="0"/>
              </a:rPr>
              <a:t>Grading up </a:t>
            </a:r>
            <a:r>
              <a:rPr lang="en-GB" sz="2400" dirty="0">
                <a:latin typeface="Times New Roman" panose="02020603050405020304" pitchFamily="18" charset="0"/>
                <a:cs typeface="Times New Roman" panose="02020603050405020304" pitchFamily="18" charset="0"/>
              </a:rPr>
              <a:t>is the mating of non-descript females and their offspring from generation to generation with sires of the exotic breed.</a:t>
            </a:r>
          </a:p>
          <a:p>
            <a:pPr marL="571500" indent="-571500" algn="just">
              <a:buFont typeface="+mj-lt"/>
              <a:buAutoNum type="romanLcPeriod" startAt="2"/>
            </a:pPr>
            <a:r>
              <a:rPr lang="en-GB" sz="2800" b="1" dirty="0">
                <a:latin typeface="Times New Roman" panose="02020603050405020304" pitchFamily="18" charset="0"/>
                <a:cs typeface="Times New Roman" panose="02020603050405020304" pitchFamily="18" charset="0"/>
              </a:rPr>
              <a:t>Cross-breeding</a:t>
            </a:r>
          </a:p>
          <a:p>
            <a:pPr lvl="2" indent="-342900" algn="just">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Crossbreeding usually results in improved traits in the off-spring. The resulting offspring is a </a:t>
            </a:r>
            <a:r>
              <a:rPr lang="en-GB" sz="2400" dirty="0">
                <a:solidFill>
                  <a:srgbClr val="FFFF00"/>
                </a:solidFill>
                <a:latin typeface="Times New Roman" panose="02020603050405020304" pitchFamily="18" charset="0"/>
                <a:cs typeface="Times New Roman" panose="02020603050405020304" pitchFamily="18" charset="0"/>
              </a:rPr>
              <a:t>hybrid.  </a:t>
            </a:r>
          </a:p>
          <a:p>
            <a:pPr lvl="2" indent="-342900" algn="just">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Dominant genes tend to mask undesirable recessive genes and the resulting superior traits are called </a:t>
            </a:r>
            <a:r>
              <a:rPr lang="en-GB" sz="2400" dirty="0">
                <a:solidFill>
                  <a:srgbClr val="FFFF00"/>
                </a:solidFill>
                <a:latin typeface="Times New Roman" panose="02020603050405020304" pitchFamily="18" charset="0"/>
                <a:cs typeface="Times New Roman" panose="02020603050405020304" pitchFamily="18" charset="0"/>
              </a:rPr>
              <a:t>Hybrid </a:t>
            </a:r>
            <a:r>
              <a:rPr lang="en-GB" sz="2400" dirty="0" err="1">
                <a:solidFill>
                  <a:srgbClr val="FFFF00"/>
                </a:solidFill>
                <a:latin typeface="Times New Roman" panose="02020603050405020304" pitchFamily="18" charset="0"/>
                <a:cs typeface="Times New Roman" panose="02020603050405020304" pitchFamily="18" charset="0"/>
              </a:rPr>
              <a:t>vigor</a:t>
            </a:r>
            <a:r>
              <a:rPr lang="en-GB" sz="2400" dirty="0">
                <a:solidFill>
                  <a:srgbClr val="FFFF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or </a:t>
            </a:r>
            <a:r>
              <a:rPr lang="en-GB" sz="2400" dirty="0">
                <a:solidFill>
                  <a:srgbClr val="FFFF00"/>
                </a:solidFill>
                <a:latin typeface="Times New Roman" panose="02020603050405020304" pitchFamily="18" charset="0"/>
                <a:cs typeface="Times New Roman" panose="02020603050405020304" pitchFamily="18" charset="0"/>
              </a:rPr>
              <a:t>heterosis</a:t>
            </a:r>
            <a:r>
              <a:rPr lang="en-GB"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438146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6197" y="713984"/>
            <a:ext cx="10709754" cy="5622421"/>
          </a:xfrm>
        </p:spPr>
        <p:txBody>
          <a:bodyPr>
            <a:noAutofit/>
          </a:bodyPr>
          <a:lstStyle/>
          <a:p>
            <a:pPr marL="0" indent="0" algn="just">
              <a:buNone/>
            </a:pPr>
            <a:r>
              <a:rPr lang="en-GB" sz="2400" dirty="0">
                <a:solidFill>
                  <a:srgbClr val="FF0000"/>
                </a:solidFill>
                <a:latin typeface="Times New Roman" panose="02020603050405020304" pitchFamily="18" charset="0"/>
                <a:cs typeface="Times New Roman" panose="02020603050405020304" pitchFamily="18" charset="0"/>
              </a:rPr>
              <a:t>Kinds of cross breeding</a:t>
            </a:r>
          </a:p>
          <a:p>
            <a:pPr marL="457200" indent="-457200" algn="just">
              <a:buFont typeface="+mj-lt"/>
              <a:buAutoNum type="alphaLcPeriod"/>
            </a:pPr>
            <a:r>
              <a:rPr lang="en-GB" sz="2400" u="sng" dirty="0">
                <a:latin typeface="Times New Roman" panose="02020603050405020304" pitchFamily="18" charset="0"/>
                <a:cs typeface="Times New Roman" panose="02020603050405020304" pitchFamily="18" charset="0"/>
              </a:rPr>
              <a:t>Two-Breed Rotation</a:t>
            </a:r>
            <a:r>
              <a:rPr lang="en-GB" sz="2400" dirty="0">
                <a:latin typeface="Times New Roman" panose="02020603050405020304" pitchFamily="18" charset="0"/>
                <a:cs typeface="Times New Roman" panose="02020603050405020304" pitchFamily="18" charset="0"/>
              </a:rPr>
              <a:t>. Bulls from breed A are crossed with cows from breed B. The resulting heifers are bred to bulls from breed B for the duration of their productive life. Replacement heifers chosen from these </a:t>
            </a:r>
            <a:r>
              <a:rPr lang="en-GB" sz="2400" dirty="0" err="1">
                <a:latin typeface="Times New Roman" panose="02020603050405020304" pitchFamily="18" charset="0"/>
                <a:cs typeface="Times New Roman" panose="02020603050405020304" pitchFamily="18" charset="0"/>
              </a:rPr>
              <a:t>matings</a:t>
            </a:r>
            <a:r>
              <a:rPr lang="en-GB" sz="2400" dirty="0">
                <a:latin typeface="Times New Roman" panose="02020603050405020304" pitchFamily="18" charset="0"/>
                <a:cs typeface="Times New Roman" panose="02020603050405020304" pitchFamily="18" charset="0"/>
              </a:rPr>
              <a:t> are bred to bulls from breed A. Each succeeding generation of replacement heifers is bred to a bull from the opposite breed used to sire the replacement heifer.</a:t>
            </a:r>
          </a:p>
          <a:p>
            <a:pPr marL="457200" indent="-457200" algn="just">
              <a:buFont typeface="+mj-lt"/>
              <a:buAutoNum type="alphaLcPeriod" startAt="2"/>
            </a:pPr>
            <a:r>
              <a:rPr lang="en-GB" sz="2400" u="sng" dirty="0">
                <a:latin typeface="Times New Roman" panose="02020603050405020304" pitchFamily="18" charset="0"/>
                <a:cs typeface="Times New Roman" panose="02020603050405020304" pitchFamily="18" charset="0"/>
              </a:rPr>
              <a:t>Three-Breed Rotation</a:t>
            </a:r>
            <a:r>
              <a:rPr lang="en-GB" sz="2400" dirty="0">
                <a:latin typeface="Times New Roman" panose="02020603050405020304" pitchFamily="18" charset="0"/>
                <a:cs typeface="Times New Roman" panose="02020603050405020304" pitchFamily="18" charset="0"/>
              </a:rPr>
              <a:t>. The pattern of breeding is the same as in a two-breed system, except that a bull from a third breed is used in the rotation of sires.</a:t>
            </a:r>
          </a:p>
          <a:p>
            <a:pPr marL="457200" indent="-457200" algn="just">
              <a:buFont typeface="+mj-lt"/>
              <a:buAutoNum type="alphaLcPeriod" startAt="2"/>
            </a:pPr>
            <a:r>
              <a:rPr lang="en-GB" sz="2400" u="sng" dirty="0">
                <a:latin typeface="Times New Roman" panose="02020603050405020304" pitchFamily="18" charset="0"/>
                <a:cs typeface="Times New Roman" panose="02020603050405020304" pitchFamily="18" charset="0"/>
              </a:rPr>
              <a:t>Four- and Five-Breed Rotations</a:t>
            </a:r>
            <a:r>
              <a:rPr lang="en-GB" sz="2400" dirty="0">
                <a:latin typeface="Times New Roman" panose="02020603050405020304" pitchFamily="18" charset="0"/>
                <a:cs typeface="Times New Roman" panose="02020603050405020304" pitchFamily="18" charset="0"/>
              </a:rPr>
              <a:t>. In larger herds, bulls from a fourth or fifth breed may be used in the rotation of sires. This system requires a higher level of management than two- and three-breed systems.</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385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364" y="200972"/>
            <a:ext cx="11599102" cy="6337614"/>
          </a:xfrm>
        </p:spPr>
        <p:txBody>
          <a:bodyPr>
            <a:noAutofit/>
          </a:bodyPr>
          <a:lstStyle/>
          <a:p>
            <a:pPr marL="514350" indent="-514350">
              <a:buFont typeface="+mj-lt"/>
              <a:buAutoNum type="arabicPeriod" startAt="4"/>
            </a:pPr>
            <a:r>
              <a:rPr lang="en-GB" sz="2200" b="1" dirty="0">
                <a:latin typeface="Times New Roman" panose="02020603050405020304" pitchFamily="18" charset="0"/>
                <a:cs typeface="Times New Roman" panose="02020603050405020304" pitchFamily="18" charset="0"/>
              </a:rPr>
              <a:t>Identification</a:t>
            </a:r>
          </a:p>
          <a:p>
            <a:r>
              <a:rPr lang="en-GB" sz="2200" dirty="0">
                <a:latin typeface="Times New Roman" panose="02020603050405020304" pitchFamily="18" charset="0"/>
                <a:cs typeface="Times New Roman" panose="02020603050405020304" pitchFamily="18" charset="0"/>
              </a:rPr>
              <a:t>Livestock identification essentially refers to the combination of the identification and registration of an animal individually, with a unique identifier, or collectively by its epidemiological unit or group, with a unique group symbol or identifier.</a:t>
            </a:r>
          </a:p>
          <a:p>
            <a:r>
              <a:rPr lang="en-US" sz="2200" dirty="0"/>
              <a:t>Livestock Identification System (</a:t>
            </a:r>
            <a:r>
              <a:rPr lang="en-GB" sz="2200" dirty="0">
                <a:latin typeface="Times New Roman" panose="02020603050405020304" pitchFamily="18" charset="0"/>
                <a:cs typeface="Times New Roman" panose="02020603050405020304" pitchFamily="18" charset="0"/>
              </a:rPr>
              <a:t>LIS) is important because it promotes control of animals and ensures traceability.</a:t>
            </a:r>
          </a:p>
          <a:p>
            <a:r>
              <a:rPr lang="en-GB" sz="2200" dirty="0">
                <a:latin typeface="Times New Roman" panose="02020603050405020304" pitchFamily="18" charset="0"/>
                <a:cs typeface="Times New Roman" panose="02020603050405020304" pitchFamily="18" charset="0"/>
              </a:rPr>
              <a:t>LIS can be classified into 3:</a:t>
            </a:r>
          </a:p>
          <a:p>
            <a:pPr marL="914400" lvl="1" indent="-457200">
              <a:buFont typeface="+mj-lt"/>
              <a:buAutoNum type="alphaLcPeriod"/>
            </a:pPr>
            <a:r>
              <a:rPr lang="en-GB" sz="2200" dirty="0">
                <a:latin typeface="Times New Roman" panose="02020603050405020304" pitchFamily="18" charset="0"/>
                <a:cs typeface="Times New Roman" panose="02020603050405020304" pitchFamily="18" charset="0"/>
              </a:rPr>
              <a:t>Mechanical e.g. ear tags, paint marks, ear notching</a:t>
            </a:r>
          </a:p>
          <a:p>
            <a:pPr marL="914400" lvl="1" indent="-457200">
              <a:buFont typeface="+mj-lt"/>
              <a:buAutoNum type="alphaLcPeriod"/>
            </a:pPr>
            <a:r>
              <a:rPr lang="en-GB" sz="2200" dirty="0">
                <a:latin typeface="Times New Roman" panose="02020603050405020304" pitchFamily="18" charset="0"/>
                <a:cs typeface="Times New Roman" panose="02020603050405020304" pitchFamily="18" charset="0"/>
              </a:rPr>
              <a:t>Biological e.g. nose imprints</a:t>
            </a:r>
          </a:p>
          <a:p>
            <a:pPr marL="914400" lvl="1" indent="-457200">
              <a:buFont typeface="+mj-lt"/>
              <a:buAutoNum type="alphaLcPeriod"/>
            </a:pPr>
            <a:r>
              <a:rPr lang="en-GB" sz="2200" dirty="0">
                <a:latin typeface="Times New Roman" panose="02020603050405020304" pitchFamily="18" charset="0"/>
                <a:cs typeface="Times New Roman" panose="02020603050405020304" pitchFamily="18" charset="0"/>
              </a:rPr>
              <a:t>Electronic e.g. microchip implants</a:t>
            </a:r>
          </a:p>
          <a:p>
            <a:r>
              <a:rPr lang="en-GB" sz="2200" dirty="0">
                <a:solidFill>
                  <a:srgbClr val="FFFF00"/>
                </a:solidFill>
                <a:latin typeface="Times New Roman" panose="02020603050405020304" pitchFamily="18" charset="0"/>
                <a:cs typeface="Times New Roman" panose="02020603050405020304" pitchFamily="18" charset="0"/>
              </a:rPr>
              <a:t>an epidemiological unit refers to a group of animals with a defined relationship that share approximately the same likelihood of exposure to a pathogen. This may be because they share a common environment (e.g. animals in a pen), or because of common management practices.</a:t>
            </a:r>
          </a:p>
          <a:p>
            <a:r>
              <a:rPr lang="en-GB" sz="2200" dirty="0">
                <a:solidFill>
                  <a:srgbClr val="FFFF00"/>
                </a:solidFill>
                <a:latin typeface="Times New Roman" panose="02020603050405020304" pitchFamily="18" charset="0"/>
                <a:cs typeface="Times New Roman" panose="02020603050405020304" pitchFamily="18" charset="0"/>
              </a:rPr>
              <a:t>Electronic e.g. Rumen Boluses Radio Frequency Identification Devices (RFID)</a:t>
            </a:r>
          </a:p>
        </p:txBody>
      </p:sp>
    </p:spTree>
    <p:extLst>
      <p:ext uri="{BB962C8B-B14F-4D97-AF65-F5344CB8AC3E}">
        <p14:creationId xmlns:p14="http://schemas.microsoft.com/office/powerpoint/2010/main" val="7220638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300" y="300626"/>
            <a:ext cx="11110587" cy="6212908"/>
          </a:xfrm>
        </p:spPr>
        <p:txBody>
          <a:bodyPr>
            <a:normAutofit fontScale="92500" lnSpcReduction="10000"/>
          </a:bodyPr>
          <a:lstStyle/>
          <a:p>
            <a:pPr marL="514350" indent="-514350">
              <a:buFont typeface="+mj-lt"/>
              <a:buAutoNum type="arabicPeriod" startAt="5"/>
            </a:pPr>
            <a:r>
              <a:rPr lang="en-GB" sz="2400" b="1" dirty="0">
                <a:latin typeface="Times New Roman" panose="02020603050405020304" pitchFamily="18" charset="0"/>
                <a:cs typeface="Times New Roman" panose="02020603050405020304" pitchFamily="18" charset="0"/>
              </a:rPr>
              <a:t>Record keeping</a:t>
            </a:r>
          </a:p>
          <a:p>
            <a:r>
              <a:rPr lang="en-GB" sz="2400" dirty="0">
                <a:latin typeface="Times New Roman" panose="02020603050405020304" pitchFamily="18" charset="0"/>
                <a:cs typeface="Times New Roman" panose="02020603050405020304" pitchFamily="18" charset="0"/>
              </a:rPr>
              <a:t>In order to maintain records, all animals must be identified using an agreed identification method.</a:t>
            </a:r>
          </a:p>
          <a:p>
            <a:r>
              <a:rPr lang="en-GB" sz="2400" dirty="0">
                <a:latin typeface="Times New Roman" panose="02020603050405020304" pitchFamily="18" charset="0"/>
                <a:cs typeface="Times New Roman" panose="02020603050405020304" pitchFamily="18" charset="0"/>
              </a:rPr>
              <a:t>Different types of records kept on a farm</a:t>
            </a:r>
          </a:p>
          <a:p>
            <a:r>
              <a:rPr lang="en-GB" sz="2400" dirty="0">
                <a:latin typeface="Times New Roman" panose="02020603050405020304" pitchFamily="18" charset="0"/>
                <a:cs typeface="Times New Roman" panose="02020603050405020304" pitchFamily="18" charset="0"/>
              </a:rPr>
              <a:t>Examples of types of farm records are:</a:t>
            </a:r>
          </a:p>
          <a:p>
            <a:pPr marL="971550" lvl="1" indent="-514350">
              <a:buFont typeface="+mj-lt"/>
              <a:buAutoNum type="romanLcPeriod"/>
            </a:pPr>
            <a:r>
              <a:rPr lang="en-GB" dirty="0">
                <a:latin typeface="Times New Roman" panose="02020603050405020304" pitchFamily="18" charset="0"/>
                <a:cs typeface="Times New Roman" panose="02020603050405020304" pitchFamily="18" charset="0"/>
              </a:rPr>
              <a:t>Individual animal records</a:t>
            </a:r>
          </a:p>
          <a:p>
            <a:pPr marL="971550" lvl="1" indent="-514350">
              <a:buFont typeface="+mj-lt"/>
              <a:buAutoNum type="romanLcPeriod"/>
            </a:pPr>
            <a:r>
              <a:rPr lang="en-GB" dirty="0">
                <a:latin typeface="Times New Roman" panose="02020603050405020304" pitchFamily="18" charset="0"/>
                <a:cs typeface="Times New Roman" panose="02020603050405020304" pitchFamily="18" charset="0"/>
              </a:rPr>
              <a:t>Milk Production records</a:t>
            </a:r>
          </a:p>
          <a:p>
            <a:pPr marL="971550" lvl="1" indent="-514350">
              <a:buFont typeface="+mj-lt"/>
              <a:buAutoNum type="romanLcPeriod"/>
            </a:pPr>
            <a:r>
              <a:rPr lang="en-GB" dirty="0">
                <a:latin typeface="Times New Roman" panose="02020603050405020304" pitchFamily="18" charset="0"/>
                <a:cs typeface="Times New Roman" panose="02020603050405020304" pitchFamily="18" charset="0"/>
              </a:rPr>
              <a:t>Reproduction records</a:t>
            </a:r>
          </a:p>
          <a:p>
            <a:pPr marL="971550" lvl="1" indent="-514350">
              <a:buFont typeface="+mj-lt"/>
              <a:buAutoNum type="romanLcPeriod"/>
            </a:pPr>
            <a:r>
              <a:rPr lang="en-GB" dirty="0">
                <a:latin typeface="Times New Roman" panose="02020603050405020304" pitchFamily="18" charset="0"/>
                <a:cs typeface="Times New Roman" panose="02020603050405020304" pitchFamily="18" charset="0"/>
              </a:rPr>
              <a:t>Financial records</a:t>
            </a:r>
          </a:p>
          <a:p>
            <a:pPr marL="457200" lvl="1" indent="0">
              <a:buNone/>
            </a:pPr>
            <a:endParaRPr lang="en-GB" sz="2400" dirty="0">
              <a:solidFill>
                <a:srgbClr val="FFFF00"/>
              </a:solidFill>
              <a:latin typeface="Times New Roman" panose="02020603050405020304" pitchFamily="18" charset="0"/>
              <a:cs typeface="Times New Roman" panose="02020603050405020304" pitchFamily="18" charset="0"/>
            </a:endParaRPr>
          </a:p>
          <a:p>
            <a:pPr marL="0" indent="0">
              <a:buNone/>
            </a:pPr>
            <a:r>
              <a:rPr lang="en-GB" sz="2400" b="1" dirty="0">
                <a:solidFill>
                  <a:srgbClr val="FFFF00"/>
                </a:solidFill>
                <a:latin typeface="Times New Roman" panose="02020603050405020304" pitchFamily="18" charset="0"/>
                <a:cs typeface="Times New Roman" panose="02020603050405020304" pitchFamily="18" charset="0"/>
              </a:rPr>
              <a:t>Functions of records:</a:t>
            </a:r>
            <a:endParaRPr lang="en-US" altLang="en-US" sz="2400" b="1" dirty="0">
              <a:solidFill>
                <a:srgbClr val="FFFF00"/>
              </a:solidFill>
              <a:latin typeface="Times New Roman" panose="02020603050405020304" pitchFamily="18" charset="0"/>
              <a:cs typeface="Times New Roman" panose="02020603050405020304" pitchFamily="18" charset="0"/>
            </a:endParaRPr>
          </a:p>
          <a:p>
            <a:pPr marL="514350" indent="-514350">
              <a:buFont typeface="+mj-lt"/>
              <a:buAutoNum type="alphaLcPeriod"/>
            </a:pPr>
            <a:r>
              <a:rPr lang="en-GB" sz="2400" dirty="0">
                <a:latin typeface="Times New Roman" panose="02020603050405020304" pitchFamily="18" charset="0"/>
                <a:cs typeface="Times New Roman" panose="02020603050405020304" pitchFamily="18" charset="0"/>
              </a:rPr>
              <a:t>They are used as a service tool e.g. managing credit</a:t>
            </a:r>
          </a:p>
          <a:p>
            <a:pPr marL="514350" indent="-514350">
              <a:buFont typeface="+mj-lt"/>
              <a:buAutoNum type="alphaLcPeriod"/>
            </a:pPr>
            <a:r>
              <a:rPr lang="en-GB" sz="2400" dirty="0">
                <a:latin typeface="Times New Roman" panose="02020603050405020304" pitchFamily="18" charset="0"/>
                <a:cs typeface="Times New Roman" panose="02020603050405020304" pitchFamily="18" charset="0"/>
              </a:rPr>
              <a:t>Provides efficiency indicators of the livestock business enterprises – monitoring progress</a:t>
            </a:r>
          </a:p>
          <a:p>
            <a:pPr marL="514350" indent="-514350">
              <a:buFont typeface="+mj-lt"/>
              <a:buAutoNum type="alphaLcPeriod"/>
            </a:pPr>
            <a:r>
              <a:rPr lang="en-GB" sz="2400" dirty="0">
                <a:latin typeface="Times New Roman" panose="02020603050405020304" pitchFamily="18" charset="0"/>
                <a:cs typeface="Times New Roman" panose="02020603050405020304" pitchFamily="18" charset="0"/>
              </a:rPr>
              <a:t>They provide data for financial analysis and other diagnostic instruments</a:t>
            </a:r>
          </a:p>
          <a:p>
            <a:pPr marL="514350" indent="-514350">
              <a:buFont typeface="+mj-lt"/>
              <a:buAutoNum type="alphaLcPeriod"/>
            </a:pPr>
            <a:r>
              <a:rPr lang="en-GB" sz="2400" dirty="0">
                <a:latin typeface="Times New Roman" panose="02020603050405020304" pitchFamily="18" charset="0"/>
                <a:cs typeface="Times New Roman" panose="02020603050405020304" pitchFamily="18" charset="0"/>
              </a:rPr>
              <a:t>Planning tool – past records used to project the future</a:t>
            </a:r>
          </a:p>
        </p:txBody>
      </p:sp>
    </p:spTree>
    <p:extLst>
      <p:ext uri="{BB962C8B-B14F-4D97-AF65-F5344CB8AC3E}">
        <p14:creationId xmlns:p14="http://schemas.microsoft.com/office/powerpoint/2010/main" val="30780063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255" y="175364"/>
            <a:ext cx="11548997" cy="6463431"/>
          </a:xfrm>
        </p:spPr>
        <p:txBody>
          <a:bodyPr>
            <a:normAutofit/>
          </a:bodyPr>
          <a:lstStyle/>
          <a:p>
            <a:pPr marL="514350" indent="-514350">
              <a:buFont typeface="+mj-lt"/>
              <a:buAutoNum type="arabicPeriod" startAt="6"/>
            </a:pPr>
            <a:r>
              <a:rPr lang="en-GB" sz="1800" b="1" dirty="0">
                <a:latin typeface="Times New Roman" panose="02020603050405020304" pitchFamily="18" charset="0"/>
                <a:cs typeface="Times New Roman" panose="02020603050405020304" pitchFamily="18" charset="0"/>
              </a:rPr>
              <a:t>Disease Prevention and Control </a:t>
            </a:r>
          </a:p>
          <a:p>
            <a:pPr>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Various measures can be instituted to prevent diseases at a farm.</a:t>
            </a:r>
          </a:p>
          <a:p>
            <a:pPr>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Vaccination, deworming, good plane of nutrition, dipping, biosecurity and proper housing are crucial in disease prevention and control.</a:t>
            </a:r>
          </a:p>
          <a:p>
            <a:pPr>
              <a:buFont typeface="Wingdings" panose="05000000000000000000" pitchFamily="2" charset="2"/>
              <a:buChar char="Ø"/>
            </a:pPr>
            <a:r>
              <a:rPr lang="en-GB" sz="1800" dirty="0">
                <a:latin typeface="Times New Roman" panose="02020603050405020304" pitchFamily="18" charset="0"/>
                <a:cs typeface="Times New Roman" panose="02020603050405020304" pitchFamily="18" charset="0"/>
              </a:rPr>
              <a:t> Curative and supportive therapy can be given whenever an animal is diseased but this depends on the disease being dealt with. Certain diseases require destruction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Prevention means all the measures taken to stop disease or problems before they occur, while treatment means the actions taken to cure or control a disease after animals are already sick.</a:t>
            </a:r>
          </a:p>
          <a:p>
            <a:pPr marL="0" indent="0">
              <a:buNone/>
            </a:pPr>
            <a:r>
              <a:rPr lang="en-US" sz="1800" dirty="0">
                <a:solidFill>
                  <a:srgbClr val="FFFF00"/>
                </a:solidFill>
                <a:latin typeface="Times New Roman" panose="02020603050405020304" pitchFamily="18" charset="0"/>
                <a:cs typeface="Times New Roman" panose="02020603050405020304" pitchFamily="18" charset="0"/>
              </a:rPr>
              <a:t>Prevention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Focuses on keeping animals healthy through vaccination, biosecurity, good housing, balanced feeding, hygiene, and regular deworming.​</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Reduces the need for medicines (especially antibiotics), lowers costs in the long run, improves productivity, and helps avoid drug resistance.​</a:t>
            </a:r>
          </a:p>
          <a:p>
            <a:pPr marL="0" indent="0">
              <a:buNone/>
            </a:pPr>
            <a:r>
              <a:rPr lang="en-US" sz="1800" dirty="0">
                <a:solidFill>
                  <a:srgbClr val="FFFF00"/>
                </a:solidFill>
                <a:latin typeface="Times New Roman" panose="02020603050405020304" pitchFamily="18" charset="0"/>
                <a:cs typeface="Times New Roman" panose="02020603050405020304" pitchFamily="18" charset="0"/>
              </a:rPr>
              <a:t>Treatment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Applies only when disease is present, using drugs (e.g. antibiotics, </a:t>
            </a:r>
            <a:r>
              <a:rPr lang="en-US" sz="1800" dirty="0" err="1">
                <a:latin typeface="Times New Roman" panose="02020603050405020304" pitchFamily="18" charset="0"/>
                <a:cs typeface="Times New Roman" panose="02020603050405020304" pitchFamily="18" charset="0"/>
              </a:rPr>
              <a:t>dewormers</a:t>
            </a:r>
            <a:r>
              <a:rPr lang="en-US" sz="1800" dirty="0">
                <a:latin typeface="Times New Roman" panose="02020603050405020304" pitchFamily="18" charset="0"/>
                <a:cs typeface="Times New Roman" panose="02020603050405020304" pitchFamily="18" charset="0"/>
              </a:rPr>
              <a:t>), surgery, or other veterinary procedures to restore health.​</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Is usually more expensive, may not fully restore performance, and if drugs are misused can lead to residues in animal products and antimicrobial resistance.</a:t>
            </a:r>
          </a:p>
        </p:txBody>
      </p:sp>
    </p:spTree>
    <p:extLst>
      <p:ext uri="{BB962C8B-B14F-4D97-AF65-F5344CB8AC3E}">
        <p14:creationId xmlns:p14="http://schemas.microsoft.com/office/powerpoint/2010/main" val="802409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6509" y="187890"/>
            <a:ext cx="10747331" cy="6338170"/>
          </a:xfrm>
        </p:spPr>
        <p:txBody>
          <a:bodyPr>
            <a:normAutofit/>
          </a:bodyPr>
          <a:lstStyle/>
          <a:p>
            <a:pPr marL="514350" indent="-514350">
              <a:buFont typeface="+mj-lt"/>
              <a:buAutoNum type="arabicPeriod" startAt="7"/>
            </a:pPr>
            <a:r>
              <a:rPr lang="en-GB" sz="2400" b="1" dirty="0">
                <a:latin typeface="Times New Roman" panose="02020603050405020304" pitchFamily="18" charset="0"/>
                <a:cs typeface="Times New Roman" panose="02020603050405020304" pitchFamily="18" charset="0"/>
              </a:rPr>
              <a:t>Animal Welfare</a:t>
            </a:r>
          </a:p>
          <a:p>
            <a:r>
              <a:rPr lang="en-GB" sz="2400" dirty="0">
                <a:latin typeface="Times New Roman" panose="02020603050405020304" pitchFamily="18" charset="0"/>
                <a:cs typeface="Times New Roman" panose="02020603050405020304" pitchFamily="18" charset="0"/>
              </a:rPr>
              <a:t>Animal welfare is defined as ‘how an animal is coping with the conditions in which it lives’. (OIE)</a:t>
            </a:r>
          </a:p>
          <a:p>
            <a:r>
              <a:rPr lang="en-GB" sz="2400" dirty="0">
                <a:latin typeface="Times New Roman" panose="02020603050405020304" pitchFamily="18" charset="0"/>
                <a:cs typeface="Times New Roman" panose="02020603050405020304" pitchFamily="18" charset="0"/>
              </a:rPr>
              <a:t>Good animal welfare requires disease prevention and veterinary treatment, appropriate shelter, management, nutrition, humane handling and humane slaughter</a:t>
            </a:r>
            <a:br>
              <a:rPr lang="en-GB" sz="2400"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a:p>
            <a:pPr marL="0" indent="0">
              <a:buNone/>
            </a:pPr>
            <a:r>
              <a:rPr lang="en-GB" sz="2400" dirty="0">
                <a:solidFill>
                  <a:srgbClr val="FFFF00"/>
                </a:solidFill>
                <a:latin typeface="Times New Roman" panose="02020603050405020304" pitchFamily="18" charset="0"/>
                <a:cs typeface="Times New Roman" panose="02020603050405020304" pitchFamily="18" charset="0"/>
              </a:rPr>
              <a:t>Five freedoms:</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Freedom from thirst and hunger</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Freedom from discomfort</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Freedom from pain, injury, and disease</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Freedom to express normal behaviour</a:t>
            </a:r>
          </a:p>
          <a:p>
            <a:pPr marL="571500" indent="-571500">
              <a:buFont typeface="+mj-lt"/>
              <a:buAutoNum type="romanLcPeriod"/>
            </a:pPr>
            <a:r>
              <a:rPr lang="en-GB" sz="2400" dirty="0">
                <a:latin typeface="Times New Roman" panose="02020603050405020304" pitchFamily="18" charset="0"/>
                <a:cs typeface="Times New Roman" panose="02020603050405020304" pitchFamily="18" charset="0"/>
              </a:rPr>
              <a:t>Freedom from fear and distress</a:t>
            </a:r>
          </a:p>
        </p:txBody>
      </p:sp>
    </p:spTree>
    <p:extLst>
      <p:ext uri="{BB962C8B-B14F-4D97-AF65-F5344CB8AC3E}">
        <p14:creationId xmlns:p14="http://schemas.microsoft.com/office/powerpoint/2010/main" val="1462435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729" y="491905"/>
            <a:ext cx="7886700" cy="898484"/>
          </a:xfrm>
        </p:spPr>
        <p:txBody>
          <a:bodyPr>
            <a:normAutofit/>
          </a:bodyPr>
          <a:lstStyle/>
          <a:p>
            <a:r>
              <a:rPr lang="en-GB" sz="3200" b="1" dirty="0"/>
              <a:t>7. Animal Welfare</a:t>
            </a:r>
          </a:p>
        </p:txBody>
      </p:sp>
      <p:sp>
        <p:nvSpPr>
          <p:cNvPr id="5" name="Rounded Rectangle 4"/>
          <p:cNvSpPr/>
          <p:nvPr/>
        </p:nvSpPr>
        <p:spPr>
          <a:xfrm>
            <a:off x="658729" y="2414588"/>
            <a:ext cx="3014662" cy="2386012"/>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9056111" y="2480974"/>
            <a:ext cx="2491456" cy="2169102"/>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4499373" y="2385626"/>
            <a:ext cx="3331369" cy="2486025"/>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04941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566671"/>
            <a:ext cx="7886700" cy="1111817"/>
          </a:xfrm>
        </p:spPr>
        <p:txBody>
          <a:bodyPr>
            <a:noAutofit/>
          </a:bodyPr>
          <a:lstStyle/>
          <a:p>
            <a:r>
              <a:rPr lang="en-GB" sz="2800" b="1" dirty="0">
                <a:solidFill>
                  <a:srgbClr val="FFFF00"/>
                </a:solidFill>
                <a:latin typeface="Times New Roman" panose="02020603050405020304" pitchFamily="18" charset="0"/>
                <a:cs typeface="Times New Roman" panose="02020603050405020304" pitchFamily="18" charset="0"/>
              </a:rPr>
              <a:t>Key summary of concepts and techniques in livestock management </a:t>
            </a:r>
            <a:endParaRPr lang="en-US" sz="2800" dirty="0">
              <a:solidFill>
                <a:srgbClr val="FFFF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52650" y="1825625"/>
            <a:ext cx="7886700" cy="3673654"/>
          </a:xfrm>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Housing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Feeding</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Breeding</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Identification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Record keeping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Disease prevention and control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Animal welfare</a:t>
            </a:r>
          </a:p>
        </p:txBody>
      </p:sp>
    </p:spTree>
    <p:extLst>
      <p:ext uri="{BB962C8B-B14F-4D97-AF65-F5344CB8AC3E}">
        <p14:creationId xmlns:p14="http://schemas.microsoft.com/office/powerpoint/2010/main" val="1316727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6432</TotalTime>
  <Words>3983</Words>
  <Application>Microsoft Office PowerPoint</Application>
  <PresentationFormat>Widescreen</PresentationFormat>
  <Paragraphs>502</Paragraphs>
  <Slides>56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Aharoni</vt:lpstr>
      <vt:lpstr>Andalus</vt:lpstr>
      <vt:lpstr>Arial</vt:lpstr>
      <vt:lpstr>Calibri</vt:lpstr>
      <vt:lpstr>Century Gothic</vt:lpstr>
      <vt:lpstr>Times New Roman</vt:lpstr>
      <vt:lpstr>Wingdings</vt:lpstr>
      <vt:lpstr>Wingdings 3</vt:lpstr>
      <vt:lpstr>Ion</vt:lpstr>
      <vt:lpstr>Principles of Livestock Production 1</vt:lpstr>
      <vt:lpstr>Assessment</vt:lpstr>
      <vt:lpstr> Introduction to Livestock Management  </vt:lpstr>
      <vt:lpstr> Introduction to Livestock Management  </vt:lpstr>
      <vt:lpstr>Examples of livestock</vt:lpstr>
      <vt:lpstr>PowerPoint Presentation</vt:lpstr>
      <vt:lpstr>Classification of Livestock Production Systems based on management</vt:lpstr>
      <vt:lpstr>Classification of production Systems based on management</vt:lpstr>
      <vt:lpstr>Classification of production Systems based on management</vt:lpstr>
      <vt:lpstr>Classification of production Systems based on economic value</vt:lpstr>
      <vt:lpstr>PowerPoint Presentation</vt:lpstr>
      <vt:lpstr>Characteristics of the LPS</vt:lpstr>
      <vt:lpstr>Classification of Animals based on the type of food they eat</vt:lpstr>
      <vt:lpstr>Classification of Livestock based on digestive System</vt:lpstr>
      <vt:lpstr>Classification of Animals based on dependence</vt:lpstr>
      <vt:lpstr>PowerPoint Presentation</vt:lpstr>
      <vt:lpstr>PowerPoint Presentation</vt:lpstr>
      <vt:lpstr>PowerPoint Presentation</vt:lpstr>
      <vt:lpstr>PowerPoint Presentation</vt:lpstr>
      <vt:lpstr>PowerPoint Presentation</vt:lpstr>
      <vt:lpstr>PowerPoint Presentation</vt:lpstr>
      <vt:lpstr>Importance of livestock globally, regionally and nationally </vt:lpstr>
      <vt:lpstr>Importance of livestock globally, regionally and nationally </vt:lpstr>
      <vt:lpstr>Importance of Livestock</vt:lpstr>
      <vt:lpstr>Overview of the animal and allied industries in Malawi </vt:lpstr>
      <vt:lpstr>PowerPoint Presentation</vt:lpstr>
      <vt:lpstr>Overview of the animal and allied industries in Malawi </vt:lpstr>
      <vt:lpstr>Overview of the animal and allied industries in Malawi </vt:lpstr>
      <vt:lpstr>Common Dairy Breeds of Cattle in Malawi</vt:lpstr>
      <vt:lpstr>PowerPoint Presentation</vt:lpstr>
      <vt:lpstr>Overview of the animal and allied industries in Malawi </vt:lpstr>
      <vt:lpstr>PowerPoint Presentation</vt:lpstr>
      <vt:lpstr>Common Beef Breeds of Cattle in Malawi</vt:lpstr>
      <vt:lpstr>Overview of the animal and allied industries in Malawi </vt:lpstr>
      <vt:lpstr>PowerPoint Presentation</vt:lpstr>
      <vt:lpstr>Common Goat Breeds in Malawi</vt:lpstr>
      <vt:lpstr>Common Breeds of Sheep in Malawi</vt:lpstr>
      <vt:lpstr>Overview of the animal and allied industries in Malawi </vt:lpstr>
      <vt:lpstr>Overview of the animal and allied industries in Malawi </vt:lpstr>
      <vt:lpstr> Drivers to growth in livestock populations </vt:lpstr>
      <vt:lpstr>Limitations/Constraints to Livestock Productivity</vt:lpstr>
      <vt:lpstr>Prospects for Improvement</vt:lpstr>
      <vt:lpstr>Key concepts and techniques in livestock management </vt:lpstr>
      <vt:lpstr>Key concepts and techniques in livestock management </vt:lpstr>
      <vt:lpstr>Factors to consider when selecting a site for livestock management </vt:lpstr>
      <vt:lpstr>Key concepts and techniques in livestock management </vt:lpstr>
      <vt:lpstr>Key concepts and techniques in livestock management </vt:lpstr>
      <vt:lpstr>Key concepts and techniques in livestock management </vt:lpstr>
      <vt:lpstr>PowerPoint Presentation</vt:lpstr>
      <vt:lpstr>PowerPoint Presentation</vt:lpstr>
      <vt:lpstr>PowerPoint Presentation</vt:lpstr>
      <vt:lpstr>PowerPoint Presentation</vt:lpstr>
      <vt:lpstr>PowerPoint Presentation</vt:lpstr>
      <vt:lpstr>PowerPoint Presentation</vt:lpstr>
      <vt:lpstr>7. Animal Welfare</vt:lpstr>
      <vt:lpstr>Key summary of concepts and techniques in livestock management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LIVESTOCK MANAGEMENT</dc:title>
  <dc:creator>Mike Luwe</dc:creator>
  <cp:lastModifiedBy>JOSEPH D. LIWONDE</cp:lastModifiedBy>
  <cp:revision>339</cp:revision>
  <dcterms:created xsi:type="dcterms:W3CDTF">2018-04-23T17:42:51Z</dcterms:created>
  <dcterms:modified xsi:type="dcterms:W3CDTF">2026-02-10T14:10:32Z</dcterms:modified>
</cp:coreProperties>
</file>