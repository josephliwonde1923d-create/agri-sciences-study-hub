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
  </p:notesMasterIdLst>
  <p:sldIdLst>
    <p:sldId id="256" r:id="rId2"/>
    <p:sldId id="257" r:id="rId3"/>
    <p:sldId id="280" r:id="rId4"/>
    <p:sldId id="260" r:id="rId5"/>
    <p:sldId id="272" r:id="rId6"/>
    <p:sldId id="275" r:id="rId7"/>
    <p:sldId id="273" r:id="rId8"/>
    <p:sldId id="274" r:id="rId9"/>
    <p:sldId id="276" r:id="rId10"/>
    <p:sldId id="283" r:id="rId11"/>
    <p:sldId id="281" r:id="rId12"/>
    <p:sldId id="284" r:id="rId13"/>
    <p:sldId id="285" r:id="rId14"/>
    <p:sldId id="286" r:id="rId15"/>
    <p:sldId id="330" r:id="rId16"/>
    <p:sldId id="288" r:id="rId17"/>
    <p:sldId id="287" r:id="rId18"/>
    <p:sldId id="278" r:id="rId19"/>
    <p:sldId id="289" r:id="rId20"/>
    <p:sldId id="279" r:id="rId21"/>
    <p:sldId id="290" r:id="rId22"/>
    <p:sldId id="291" r:id="rId23"/>
    <p:sldId id="292" r:id="rId24"/>
    <p:sldId id="293"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03" autoAdjust="0"/>
    <p:restoredTop sz="94719" autoAdjust="0"/>
  </p:normalViewPr>
  <p:slideViewPr>
    <p:cSldViewPr snapToGrid="0">
      <p:cViewPr varScale="1">
        <p:scale>
          <a:sx n="85" d="100"/>
          <a:sy n="85" d="100"/>
        </p:scale>
        <p:origin x="840"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4C18B1-72DE-48AA-BFD7-0D5A7F933011}" type="datetimeFigureOut">
              <a:rPr lang="en-GB" smtClean="0"/>
              <a:t>10/02/2026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71D7C1-5A09-4F0A-AD83-58B77AAF2BC1}" type="slidenum">
              <a:rPr lang="en-GB" smtClean="0"/>
              <a:t>‹#›</a:t>
            </a:fld>
            <a:endParaRPr lang="en-GB"/>
          </a:p>
        </p:txBody>
      </p:sp>
    </p:spTree>
    <p:extLst>
      <p:ext uri="{BB962C8B-B14F-4D97-AF65-F5344CB8AC3E}">
        <p14:creationId xmlns:p14="http://schemas.microsoft.com/office/powerpoint/2010/main" val="2820461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In a more general sense we use the term ‘food’ to describe edible material.</a:t>
            </a:r>
          </a:p>
          <a:p>
            <a:r>
              <a:rPr lang="en-GB" sz="1200" b="0" i="0" u="none" strike="noStrike" kern="1200" baseline="0" dirty="0">
                <a:solidFill>
                  <a:schemeClr val="tx1"/>
                </a:solidFill>
                <a:latin typeface="+mn-lt"/>
                <a:ea typeface="+mn-ea"/>
                <a:cs typeface="+mn-cs"/>
              </a:rPr>
              <a:t>Grass and hay, for example, are described as foods, but not all their components are</a:t>
            </a:r>
          </a:p>
          <a:p>
            <a:r>
              <a:rPr lang="en-GB" sz="1200" b="0" i="0" u="none" strike="noStrike" kern="1200" baseline="0" dirty="0">
                <a:solidFill>
                  <a:schemeClr val="tx1"/>
                </a:solidFill>
                <a:latin typeface="+mn-lt"/>
                <a:ea typeface="+mn-ea"/>
                <a:cs typeface="+mn-cs"/>
              </a:rPr>
              <a:t>digestible.</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a:t>
            </a:fld>
            <a:endParaRPr lang="en-GB" dirty="0"/>
          </a:p>
        </p:txBody>
      </p:sp>
    </p:spTree>
    <p:extLst>
      <p:ext uri="{BB962C8B-B14F-4D97-AF65-F5344CB8AC3E}">
        <p14:creationId xmlns:p14="http://schemas.microsoft.com/office/powerpoint/2010/main" val="1046040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a:t>
            </a:fld>
            <a:endParaRPr lang="en-GB" dirty="0"/>
          </a:p>
        </p:txBody>
      </p:sp>
    </p:spTree>
    <p:extLst>
      <p:ext uri="{BB962C8B-B14F-4D97-AF65-F5344CB8AC3E}">
        <p14:creationId xmlns:p14="http://schemas.microsoft.com/office/powerpoint/2010/main" val="2078922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6</a:t>
            </a:fld>
            <a:endParaRPr lang="en-GB"/>
          </a:p>
        </p:txBody>
      </p:sp>
    </p:spTree>
    <p:extLst>
      <p:ext uri="{BB962C8B-B14F-4D97-AF65-F5344CB8AC3E}">
        <p14:creationId xmlns:p14="http://schemas.microsoft.com/office/powerpoint/2010/main" val="187859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a:t>
            </a:r>
            <a:r>
              <a:rPr lang="en-GB" sz="1200" b="0" i="0" u="none" strike="noStrike" kern="1200" baseline="0" dirty="0" err="1">
                <a:solidFill>
                  <a:schemeClr val="tx1"/>
                </a:solidFill>
                <a:latin typeface="+mn-lt"/>
                <a:ea typeface="+mn-ea"/>
                <a:cs typeface="+mn-cs"/>
              </a:rPr>
              <a:t>newborn</a:t>
            </a:r>
            <a:r>
              <a:rPr lang="en-GB" sz="1200" b="0" i="0" u="none" strike="noStrike" kern="1200" baseline="0" dirty="0">
                <a:solidFill>
                  <a:schemeClr val="tx1"/>
                </a:solidFill>
                <a:latin typeface="+mn-lt"/>
                <a:ea typeface="+mn-ea"/>
                <a:cs typeface="+mn-cs"/>
              </a:rPr>
              <a:t> animal contains 750–800 g/kg water but this falls to about 500 g/kg in the mature fat animal. It is vital to the life of the organism that the water content of the body be maintained: an animal will die more rapidly if deprived of water than if deprived of food.</a:t>
            </a:r>
          </a:p>
          <a:p>
            <a:r>
              <a:rPr lang="en-GB" sz="1200" b="0" i="0" u="none" strike="noStrike" kern="1200" baseline="0" dirty="0">
                <a:solidFill>
                  <a:schemeClr val="tx1"/>
                </a:solidFill>
                <a:latin typeface="+mn-lt"/>
                <a:ea typeface="+mn-ea"/>
                <a:cs typeface="+mn-cs"/>
              </a:rPr>
              <a:t>metabolic water, this last being formed during metabolism by the oxidation of hydrogen-containing organic nutrients.</a:t>
            </a:r>
          </a:p>
          <a:p>
            <a:r>
              <a:rPr lang="en-GB" sz="1200" b="0" i="0" u="none" strike="noStrike" kern="1200" baseline="0" dirty="0">
                <a:solidFill>
                  <a:schemeClr val="tx1"/>
                </a:solidFill>
                <a:latin typeface="+mn-lt"/>
                <a:ea typeface="+mn-ea"/>
                <a:cs typeface="+mn-cs"/>
              </a:rPr>
              <a:t>Metabolic water is formed during metabolism by the oxidation of hydrogen-containing organic nutrients</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7</a:t>
            </a:fld>
            <a:endParaRPr lang="en-GB"/>
          </a:p>
        </p:txBody>
      </p:sp>
    </p:spTree>
    <p:extLst>
      <p:ext uri="{BB962C8B-B14F-4D97-AF65-F5344CB8AC3E}">
        <p14:creationId xmlns:p14="http://schemas.microsoft.com/office/powerpoint/2010/main" val="1801028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dry matter (DM) of foods is conveniently divided into organic and inorganic material, although in living organisms there is no such sharp distinction. Many organic compounds contain mineral elements as structural components.</a:t>
            </a:r>
          </a:p>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8</a:t>
            </a:fld>
            <a:endParaRPr lang="en-GB"/>
          </a:p>
        </p:txBody>
      </p:sp>
    </p:spTree>
    <p:extLst>
      <p:ext uri="{BB962C8B-B14F-4D97-AF65-F5344CB8AC3E}">
        <p14:creationId xmlns:p14="http://schemas.microsoft.com/office/powerpoint/2010/main" val="1072882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9</a:t>
            </a:fld>
            <a:endParaRPr lang="en-GB"/>
          </a:p>
        </p:txBody>
      </p:sp>
    </p:spTree>
    <p:extLst>
      <p:ext uri="{BB962C8B-B14F-4D97-AF65-F5344CB8AC3E}">
        <p14:creationId xmlns:p14="http://schemas.microsoft.com/office/powerpoint/2010/main" val="1185491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10</a:t>
            </a:fld>
            <a:endParaRPr lang="en-GB"/>
          </a:p>
        </p:txBody>
      </p:sp>
    </p:spTree>
    <p:extLst>
      <p:ext uri="{BB962C8B-B14F-4D97-AF65-F5344CB8AC3E}">
        <p14:creationId xmlns:p14="http://schemas.microsoft.com/office/powerpoint/2010/main" val="3936570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12</a:t>
            </a:fld>
            <a:endParaRPr lang="en-GB"/>
          </a:p>
        </p:txBody>
      </p:sp>
    </p:spTree>
    <p:extLst>
      <p:ext uri="{BB962C8B-B14F-4D97-AF65-F5344CB8AC3E}">
        <p14:creationId xmlns:p14="http://schemas.microsoft.com/office/powerpoint/2010/main" val="2176818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13</a:t>
            </a:fld>
            <a:endParaRPr lang="en-GB"/>
          </a:p>
        </p:txBody>
      </p:sp>
    </p:spTree>
    <p:extLst>
      <p:ext uri="{BB962C8B-B14F-4D97-AF65-F5344CB8AC3E}">
        <p14:creationId xmlns:p14="http://schemas.microsoft.com/office/powerpoint/2010/main" val="39736906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It is assumed that the nitrogen is derived from</a:t>
            </a:r>
          </a:p>
          <a:p>
            <a:r>
              <a:rPr lang="en-GB" sz="1200" b="0" i="0" u="none" strike="noStrike" kern="1200" baseline="0" dirty="0">
                <a:solidFill>
                  <a:schemeClr val="tx1"/>
                </a:solidFill>
                <a:latin typeface="+mn-lt"/>
                <a:ea typeface="+mn-ea"/>
                <a:cs typeface="+mn-cs"/>
              </a:rPr>
              <a:t>protein containing 16 per cent nitrogen, and by multiplying the nitrogen figure by 6.25</a:t>
            </a:r>
          </a:p>
          <a:p>
            <a:r>
              <a:rPr lang="en-GB" sz="1200" b="0" i="0" u="none" strike="noStrike" kern="1200" baseline="0" dirty="0">
                <a:solidFill>
                  <a:schemeClr val="tx1"/>
                </a:solidFill>
                <a:latin typeface="+mn-lt"/>
                <a:ea typeface="+mn-ea"/>
                <a:cs typeface="+mn-cs"/>
              </a:rPr>
              <a:t>(i.e. 100/16) an approximate protein value is obtained</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17</a:t>
            </a:fld>
            <a:endParaRPr lang="en-GB"/>
          </a:p>
        </p:txBody>
      </p:sp>
    </p:spTree>
    <p:extLst>
      <p:ext uri="{BB962C8B-B14F-4D97-AF65-F5344CB8AC3E}">
        <p14:creationId xmlns:p14="http://schemas.microsoft.com/office/powerpoint/2010/main" val="8050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Fat-soluble vitamins can be dissolved in fat. Water-soluble vitamins can be dissolved in water.</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20</a:t>
            </a:fld>
            <a:endParaRPr lang="en-GB"/>
          </a:p>
        </p:txBody>
      </p:sp>
    </p:spTree>
    <p:extLst>
      <p:ext uri="{BB962C8B-B14F-4D97-AF65-F5344CB8AC3E}">
        <p14:creationId xmlns:p14="http://schemas.microsoft.com/office/powerpoint/2010/main" val="2127946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Fat-soluble vitamins can be dissolved in fat. Water-soluble vitamins can be dissolved in water.</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21</a:t>
            </a:fld>
            <a:endParaRPr lang="en-GB"/>
          </a:p>
        </p:txBody>
      </p:sp>
    </p:spTree>
    <p:extLst>
      <p:ext uri="{BB962C8B-B14F-4D97-AF65-F5344CB8AC3E}">
        <p14:creationId xmlns:p14="http://schemas.microsoft.com/office/powerpoint/2010/main" val="275570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Fat-soluble vitamins can be dissolved in fat. Water-soluble vitamins can be dissolved in water.</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22</a:t>
            </a:fld>
            <a:endParaRPr lang="en-GB"/>
          </a:p>
        </p:txBody>
      </p:sp>
    </p:spTree>
    <p:extLst>
      <p:ext uri="{BB962C8B-B14F-4D97-AF65-F5344CB8AC3E}">
        <p14:creationId xmlns:p14="http://schemas.microsoft.com/office/powerpoint/2010/main" val="28968198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Fat-soluble vitamins can be dissolved in fat. Water-soluble vitamins can be dissolved in water.</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23</a:t>
            </a:fld>
            <a:endParaRPr lang="en-GB"/>
          </a:p>
        </p:txBody>
      </p:sp>
    </p:spTree>
    <p:extLst>
      <p:ext uri="{BB962C8B-B14F-4D97-AF65-F5344CB8AC3E}">
        <p14:creationId xmlns:p14="http://schemas.microsoft.com/office/powerpoint/2010/main" val="10094376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Fat-soluble vitamins can be dissolved in fat. Water-soluble vitamins can be dissolved in water.</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24</a:t>
            </a:fld>
            <a:endParaRPr lang="en-GB"/>
          </a:p>
        </p:txBody>
      </p:sp>
    </p:spTree>
    <p:extLst>
      <p:ext uri="{BB962C8B-B14F-4D97-AF65-F5344CB8AC3E}">
        <p14:creationId xmlns:p14="http://schemas.microsoft.com/office/powerpoint/2010/main" val="1249956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481169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944927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314595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ACF3B9-C39F-47CA-9493-2CE341F9200B}" type="datetimeFigureOut">
              <a:rPr lang="en-GB" smtClean="0"/>
              <a:t>10/02/2026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272363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ACF3B9-C39F-47CA-9493-2CE341F9200B}" type="datetimeFigureOut">
              <a:rPr lang="en-GB" smtClean="0"/>
              <a:t>10/02/2026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021084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260690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969917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009499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DACF3B9-C39F-47CA-9493-2CE341F9200B}" type="datetimeFigureOut">
              <a:rPr lang="en-GB" smtClean="0"/>
              <a:t>10/02/2026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725516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DACF3B9-C39F-47CA-9493-2CE341F9200B}" type="datetimeFigureOut">
              <a:rPr lang="en-GB" smtClean="0"/>
              <a:t>10/02/2026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928286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7815551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3295370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8865374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4480539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42122094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699357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796605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DACF3B9-C39F-47CA-9493-2CE341F9200B}" type="datetimeFigureOut">
              <a:rPr lang="en-GB" smtClean="0"/>
              <a:t>10/02/2026</a:t>
            </a:fld>
            <a:endParaRPr lang="en-GB"/>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A0E2BB90-863B-4217-96DC-A8B9EB50A318}" type="slidenum">
              <a:rPr lang="en-GB" smtClean="0"/>
              <a:t>‹#›</a:t>
            </a:fld>
            <a:endParaRPr lang="en-GB"/>
          </a:p>
        </p:txBody>
      </p:sp>
    </p:spTree>
    <p:extLst>
      <p:ext uri="{BB962C8B-B14F-4D97-AF65-F5344CB8AC3E}">
        <p14:creationId xmlns:p14="http://schemas.microsoft.com/office/powerpoint/2010/main" val="2644516445"/>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727277" y="1614311"/>
            <a:ext cx="7329291" cy="2756671"/>
          </a:xfrm>
        </p:spPr>
        <p:txBody>
          <a:bodyPr>
            <a:noAutofit/>
          </a:bodyPr>
          <a:lstStyle/>
          <a:p>
            <a:pPr algn="ctr"/>
            <a:r>
              <a:rPr lang="en-GB" sz="5400" b="1" dirty="0"/>
              <a:t>Animal Nutrition and Feed Formulation Technology </a:t>
            </a:r>
          </a:p>
        </p:txBody>
      </p:sp>
      <p:sp>
        <p:nvSpPr>
          <p:cNvPr id="6" name="Subtitle 2"/>
          <p:cNvSpPr>
            <a:spLocks noGrp="1"/>
          </p:cNvSpPr>
          <p:nvPr>
            <p:ph type="subTitle" idx="1"/>
          </p:nvPr>
        </p:nvSpPr>
        <p:spPr>
          <a:xfrm>
            <a:off x="727277" y="4933243"/>
            <a:ext cx="7897434" cy="1384973"/>
          </a:xfrm>
        </p:spPr>
        <p:txBody>
          <a:bodyPr>
            <a:normAutofit fontScale="92500"/>
          </a:bodyPr>
          <a:lstStyle/>
          <a:p>
            <a:pPr algn="ctr"/>
            <a:r>
              <a:rPr lang="en-GB" b="1" dirty="0">
                <a:solidFill>
                  <a:srgbClr val="FFFF00"/>
                </a:solidFill>
              </a:rPr>
              <a:t>Michael Luwe</a:t>
            </a:r>
          </a:p>
          <a:p>
            <a:pPr algn="ctr"/>
            <a:r>
              <a:rPr lang="en-GB" b="1" dirty="0">
                <a:solidFill>
                  <a:srgbClr val="FFFF00"/>
                </a:solidFill>
              </a:rPr>
              <a:t>Veterinarian</a:t>
            </a:r>
          </a:p>
          <a:p>
            <a:pPr algn="ctr"/>
            <a:r>
              <a:rPr lang="en-GB" b="1" dirty="0">
                <a:solidFill>
                  <a:srgbClr val="FFFF00"/>
                </a:solidFill>
              </a:rPr>
              <a:t>Department of Animal Health and Livestock Development</a:t>
            </a:r>
          </a:p>
        </p:txBody>
      </p:sp>
      <p:pic>
        <p:nvPicPr>
          <p:cNvPr id="5" name="Picture 4" descr="1 Principles of Livestock Production 1 BTCD 2303.pptx [Autosaved] - Microsoft PowerPoint"/>
          <p:cNvPicPr>
            <a:picLocks noChangeAspect="1"/>
          </p:cNvPicPr>
          <p:nvPr/>
        </p:nvPicPr>
        <p:blipFill rotWithShape="1">
          <a:blip r:embed="rId2">
            <a:extLst>
              <a:ext uri="{28A0092B-C50C-407E-A947-70E740481C1C}">
                <a14:useLocalDpi xmlns:a14="http://schemas.microsoft.com/office/drawing/2010/main" val="0"/>
              </a:ext>
            </a:extLst>
          </a:blip>
          <a:srcRect l="45591" t="28367" r="21406" b="65887"/>
          <a:stretch/>
        </p:blipFill>
        <p:spPr>
          <a:xfrm>
            <a:off x="389744" y="284812"/>
            <a:ext cx="8475649" cy="1329499"/>
          </a:xfrm>
          <a:prstGeom prst="rect">
            <a:avLst/>
          </a:prstGeom>
        </p:spPr>
      </p:pic>
    </p:spTree>
    <p:extLst>
      <p:ext uri="{BB962C8B-B14F-4D97-AF65-F5344CB8AC3E}">
        <p14:creationId xmlns:p14="http://schemas.microsoft.com/office/powerpoint/2010/main" val="2895718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fontScale="90000"/>
          </a:bodyPr>
          <a:lstStyle/>
          <a:p>
            <a:r>
              <a:rPr lang="en-GB" b="1" dirty="0">
                <a:solidFill>
                  <a:srgbClr val="00B0F0"/>
                </a:solidFill>
              </a:rPr>
              <a:t>Animal Nutrition and Feed Formulation Technology </a:t>
            </a:r>
          </a:p>
        </p:txBody>
      </p:sp>
      <p:sp>
        <p:nvSpPr>
          <p:cNvPr id="3" name="Content Placeholder 2"/>
          <p:cNvSpPr>
            <a:spLocks noGrp="1"/>
          </p:cNvSpPr>
          <p:nvPr>
            <p:ph idx="1"/>
          </p:nvPr>
        </p:nvSpPr>
        <p:spPr>
          <a:xfrm>
            <a:off x="628649" y="1825624"/>
            <a:ext cx="8323440" cy="4681537"/>
          </a:xfrm>
        </p:spPr>
        <p:txBody>
          <a:bodyPr>
            <a:noAutofit/>
          </a:bodyPr>
          <a:lstStyle/>
          <a:p>
            <a:r>
              <a:rPr lang="en-GB" sz="2200" b="1" dirty="0">
                <a:latin typeface="Century Gothic" panose="020B0502020202020204" pitchFamily="34" charset="0"/>
              </a:rPr>
              <a:t>Definitions</a:t>
            </a:r>
          </a:p>
          <a:p>
            <a:r>
              <a:rPr lang="en-GB" sz="2200" dirty="0">
                <a:latin typeface="Century Gothic" panose="020B0502020202020204" pitchFamily="34" charset="0"/>
              </a:rPr>
              <a:t>Nutrition is the science that interprets the interaction of nutrients and other substances in food that influence the maintenance, growth, development, reproduction, and health of animals. </a:t>
            </a:r>
          </a:p>
          <a:p>
            <a:r>
              <a:rPr lang="en-GB" sz="2200" dirty="0">
                <a:latin typeface="Century Gothic" panose="020B0502020202020204" pitchFamily="34" charset="0"/>
              </a:rPr>
              <a:t>Digestion denotes the process of breaking feed down into simple substances that can be absorbed by the body. </a:t>
            </a:r>
          </a:p>
          <a:p>
            <a:r>
              <a:rPr lang="en-GB" sz="2200" dirty="0">
                <a:latin typeface="Century Gothic" panose="020B0502020202020204" pitchFamily="34" charset="0"/>
              </a:rPr>
              <a:t>Absorption refers to taking the digested parts of the feed into the bloodstream. </a:t>
            </a:r>
          </a:p>
          <a:p>
            <a:r>
              <a:rPr lang="en-GB" sz="2200" dirty="0">
                <a:latin typeface="Century Gothic" panose="020B0502020202020204" pitchFamily="34" charset="0"/>
              </a:rPr>
              <a:t>Food/feed is material that, after ingestion by animals, is capable of being digested, absorbed and utilised.</a:t>
            </a:r>
          </a:p>
        </p:txBody>
      </p:sp>
    </p:spTree>
    <p:extLst>
      <p:ext uri="{BB962C8B-B14F-4D97-AF65-F5344CB8AC3E}">
        <p14:creationId xmlns:p14="http://schemas.microsoft.com/office/powerpoint/2010/main" val="414711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0838"/>
            <a:ext cx="7886700" cy="1325563"/>
          </a:xfrm>
        </p:spPr>
        <p:txBody>
          <a:bodyPr>
            <a:normAutofit fontScale="90000"/>
          </a:bodyPr>
          <a:lstStyle/>
          <a:p>
            <a:r>
              <a:rPr lang="en-GB" b="1" dirty="0">
                <a:solidFill>
                  <a:srgbClr val="00B0F0"/>
                </a:solidFill>
              </a:rPr>
              <a:t>Animal Nutrition and Feed Formulation Technology </a:t>
            </a:r>
          </a:p>
        </p:txBody>
      </p:sp>
      <p:sp>
        <p:nvSpPr>
          <p:cNvPr id="3" name="Content Placeholder 2"/>
          <p:cNvSpPr>
            <a:spLocks noGrp="1"/>
          </p:cNvSpPr>
          <p:nvPr>
            <p:ph idx="1"/>
          </p:nvPr>
        </p:nvSpPr>
        <p:spPr>
          <a:xfrm>
            <a:off x="628649" y="1825625"/>
            <a:ext cx="8086725" cy="4351338"/>
          </a:xfrm>
        </p:spPr>
        <p:txBody>
          <a:bodyPr>
            <a:normAutofit/>
          </a:bodyPr>
          <a:lstStyle/>
          <a:p>
            <a:r>
              <a:rPr lang="en-GB" sz="2200" b="1" dirty="0">
                <a:latin typeface="Century Gothic" panose="020B0502020202020204" pitchFamily="34" charset="0"/>
              </a:rPr>
              <a:t>Definitions</a:t>
            </a:r>
          </a:p>
          <a:p>
            <a:r>
              <a:rPr lang="en-GB" sz="2200" dirty="0">
                <a:latin typeface="Century Gothic" panose="020B0502020202020204" pitchFamily="34" charset="0"/>
              </a:rPr>
              <a:t>Nutrients are components capable of being utilised by animals.</a:t>
            </a:r>
          </a:p>
          <a:p>
            <a:r>
              <a:rPr lang="en-GB" sz="2200" dirty="0">
                <a:latin typeface="Century Gothic" panose="020B0502020202020204" pitchFamily="34" charset="0"/>
              </a:rPr>
              <a:t>Feedstuff is any material used for feed.</a:t>
            </a:r>
          </a:p>
          <a:p>
            <a:r>
              <a:rPr lang="en-GB" sz="2200" dirty="0">
                <a:latin typeface="Century Gothic" panose="020B0502020202020204" pitchFamily="34" charset="0"/>
              </a:rPr>
              <a:t>An ingredient in feed is a component or constituent that comprises the feed. Thus, feedstuff and feed ingredient are interchangeable terms. </a:t>
            </a:r>
          </a:p>
          <a:p>
            <a:r>
              <a:rPr lang="en-GB" sz="2200" dirty="0">
                <a:latin typeface="Century Gothic" panose="020B0502020202020204" pitchFamily="34" charset="0"/>
              </a:rPr>
              <a:t>Enzymes</a:t>
            </a:r>
            <a:r>
              <a:rPr lang="en-GB" sz="2200" b="1" dirty="0">
                <a:latin typeface="Century Gothic" panose="020B0502020202020204" pitchFamily="34" charset="0"/>
              </a:rPr>
              <a:t> </a:t>
            </a:r>
            <a:r>
              <a:rPr lang="en-GB" sz="2200" dirty="0">
                <a:latin typeface="Century Gothic" panose="020B0502020202020204" pitchFamily="34" charset="0"/>
              </a:rPr>
              <a:t>are substances called organic catalysts that speed up the digestive process.</a:t>
            </a:r>
          </a:p>
        </p:txBody>
      </p:sp>
    </p:spTree>
    <p:extLst>
      <p:ext uri="{BB962C8B-B14F-4D97-AF65-F5344CB8AC3E}">
        <p14:creationId xmlns:p14="http://schemas.microsoft.com/office/powerpoint/2010/main" val="3240576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01076"/>
            <a:ext cx="4690325" cy="597414"/>
          </a:xfrm>
        </p:spPr>
        <p:txBody>
          <a:bodyPr>
            <a:normAutofit fontScale="90000"/>
          </a:bodyPr>
          <a:lstStyle/>
          <a:p>
            <a:r>
              <a:rPr lang="en-GB" sz="3600" b="1" dirty="0">
                <a:solidFill>
                  <a:srgbClr val="00B0F0"/>
                </a:solidFill>
              </a:rPr>
              <a:t>Animal Nutrition</a:t>
            </a:r>
          </a:p>
        </p:txBody>
      </p:sp>
      <p:sp>
        <p:nvSpPr>
          <p:cNvPr id="3" name="Content Placeholder 2"/>
          <p:cNvSpPr>
            <a:spLocks noGrp="1"/>
          </p:cNvSpPr>
          <p:nvPr>
            <p:ph idx="1"/>
          </p:nvPr>
        </p:nvSpPr>
        <p:spPr>
          <a:xfrm>
            <a:off x="167640" y="798489"/>
            <a:ext cx="8625839" cy="5907111"/>
          </a:xfrm>
        </p:spPr>
        <p:txBody>
          <a:bodyPr>
            <a:noAutofit/>
          </a:bodyPr>
          <a:lstStyle/>
          <a:p>
            <a:r>
              <a:rPr lang="en-GB" sz="1800" dirty="0">
                <a:latin typeface="Century Gothic" panose="020B0502020202020204" pitchFamily="34" charset="0"/>
              </a:rPr>
              <a:t>Animals can be classified into 3 groups based on what they eat:</a:t>
            </a:r>
          </a:p>
          <a:p>
            <a:pPr marL="1028700" lvl="1" indent="-571500">
              <a:buFont typeface="+mj-lt"/>
              <a:buAutoNum type="romanLcPeriod"/>
            </a:pPr>
            <a:r>
              <a:rPr lang="en-GB" dirty="0">
                <a:latin typeface="Century Gothic" panose="020B0502020202020204" pitchFamily="34" charset="0"/>
              </a:rPr>
              <a:t>Herbivores – which eat plant </a:t>
            </a:r>
          </a:p>
          <a:p>
            <a:pPr marL="1028700" lvl="1" indent="-571500">
              <a:buFont typeface="+mj-lt"/>
              <a:buAutoNum type="romanLcPeriod"/>
            </a:pPr>
            <a:r>
              <a:rPr lang="en-GB" dirty="0">
                <a:latin typeface="Century Gothic" panose="020B0502020202020204" pitchFamily="34" charset="0"/>
              </a:rPr>
              <a:t>Omnivores – they eat both plants and meat</a:t>
            </a:r>
          </a:p>
          <a:p>
            <a:pPr marL="1028700" lvl="1" indent="-571500">
              <a:buFont typeface="+mj-lt"/>
              <a:buAutoNum type="romanLcPeriod"/>
            </a:pPr>
            <a:r>
              <a:rPr lang="en-GB" dirty="0">
                <a:latin typeface="Century Gothic" panose="020B0502020202020204" pitchFamily="34" charset="0"/>
              </a:rPr>
              <a:t>Carnivores - which eat chiefly meat</a:t>
            </a:r>
          </a:p>
          <a:p>
            <a:r>
              <a:rPr lang="en-GB" sz="1800" dirty="0">
                <a:latin typeface="Century Gothic" panose="020B0502020202020204" pitchFamily="34" charset="0"/>
              </a:rPr>
              <a:t>The diet of farm animals in particular consists of plants and plant products, although some foods of animal origin such as fishmeal and milk are used in limited amounts.</a:t>
            </a:r>
          </a:p>
          <a:p>
            <a:r>
              <a:rPr lang="en-GB" sz="1800" dirty="0">
                <a:latin typeface="Century Gothic" panose="020B0502020202020204" pitchFamily="34" charset="0"/>
              </a:rPr>
              <a:t>Animals differ in the kinds and amounts of nutrients they need.</a:t>
            </a:r>
          </a:p>
          <a:p>
            <a:r>
              <a:rPr lang="en-GB" sz="1800" dirty="0">
                <a:latin typeface="Century Gothic" panose="020B0502020202020204" pitchFamily="34" charset="0"/>
              </a:rPr>
              <a:t>Nutrients are divided into five groups: </a:t>
            </a:r>
          </a:p>
          <a:p>
            <a:pPr marL="400056" lvl="1" indent="0">
              <a:buNone/>
            </a:pPr>
            <a:r>
              <a:rPr lang="en-GB" sz="1600" dirty="0">
                <a:latin typeface="Century Gothic" panose="020B0502020202020204" pitchFamily="34" charset="0"/>
              </a:rPr>
              <a:t>(1) energy nutrients (carbohydrates, fats, and oils), </a:t>
            </a:r>
          </a:p>
          <a:p>
            <a:pPr marL="400056" lvl="1" indent="0">
              <a:buNone/>
            </a:pPr>
            <a:r>
              <a:rPr lang="en-GB" sz="1600" dirty="0">
                <a:latin typeface="Century Gothic" panose="020B0502020202020204" pitchFamily="34" charset="0"/>
              </a:rPr>
              <a:t>(2) proteins, </a:t>
            </a:r>
          </a:p>
          <a:p>
            <a:pPr marL="400056" lvl="1" indent="0">
              <a:buNone/>
            </a:pPr>
            <a:r>
              <a:rPr lang="en-GB" sz="1600" dirty="0">
                <a:latin typeface="Century Gothic" panose="020B0502020202020204" pitchFamily="34" charset="0"/>
              </a:rPr>
              <a:t>(3) vitamins, </a:t>
            </a:r>
          </a:p>
          <a:p>
            <a:pPr marL="400056" lvl="1" indent="0">
              <a:buNone/>
            </a:pPr>
            <a:r>
              <a:rPr lang="en-GB" sz="1600" dirty="0">
                <a:latin typeface="Century Gothic" panose="020B0502020202020204" pitchFamily="34" charset="0"/>
              </a:rPr>
              <a:t>(4) minerals, and </a:t>
            </a:r>
          </a:p>
          <a:p>
            <a:pPr marL="400056" lvl="1" indent="0">
              <a:buNone/>
            </a:pPr>
            <a:r>
              <a:rPr lang="en-GB" sz="1600" dirty="0">
                <a:latin typeface="Century Gothic" panose="020B0502020202020204" pitchFamily="34" charset="0"/>
              </a:rPr>
              <a:t>(5) water.</a:t>
            </a:r>
          </a:p>
          <a:p>
            <a:pPr marL="400056" lvl="1" indent="0">
              <a:buNone/>
            </a:pPr>
            <a:r>
              <a:rPr lang="en-GB" sz="1600" dirty="0"/>
              <a:t>Plants and animals contain similar types of chemical substances, and we can group these into classes according to constitution, properties and function.</a:t>
            </a:r>
          </a:p>
          <a:p>
            <a:pPr marL="400056" lvl="1" indent="0">
              <a:buNone/>
            </a:pPr>
            <a:endParaRPr lang="en-GB" sz="1600" dirty="0">
              <a:latin typeface="Century Gothic" panose="020B0502020202020204" pitchFamily="34" charset="0"/>
            </a:endParaRPr>
          </a:p>
        </p:txBody>
      </p:sp>
    </p:spTree>
    <p:extLst>
      <p:ext uri="{BB962C8B-B14F-4D97-AF65-F5344CB8AC3E}">
        <p14:creationId xmlns:p14="http://schemas.microsoft.com/office/powerpoint/2010/main" val="1627664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957263"/>
            <a:ext cx="7886700" cy="5219700"/>
          </a:xfrm>
        </p:spPr>
        <p:txBody>
          <a:bodyPr>
            <a:normAutofit/>
          </a:bodyPr>
          <a:lstStyle/>
          <a:p>
            <a:r>
              <a:rPr lang="en-GB" sz="2200" dirty="0">
                <a:latin typeface="Century Gothic" panose="020B0502020202020204" pitchFamily="34" charset="0"/>
              </a:rPr>
              <a:t>The main components of foods (plants and animals) are:</a:t>
            </a:r>
          </a:p>
          <a:p>
            <a:pPr marL="457200" lvl="1" indent="0">
              <a:buNone/>
            </a:pPr>
            <a:endParaRPr lang="en-GB" sz="2200" dirty="0">
              <a:latin typeface="Century Gothic" panose="020B0502020202020204" pitchFamily="34" charset="0"/>
            </a:endParaRPr>
          </a:p>
        </p:txBody>
      </p:sp>
      <p:pic>
        <p:nvPicPr>
          <p:cNvPr id="4" name="Picture 3"/>
          <p:cNvPicPr>
            <a:picLocks noChangeAspect="1"/>
          </p:cNvPicPr>
          <p:nvPr/>
        </p:nvPicPr>
        <p:blipFill>
          <a:blip r:embed="rId2"/>
          <a:stretch>
            <a:fillRect/>
          </a:stretch>
        </p:blipFill>
        <p:spPr>
          <a:xfrm>
            <a:off x="955431" y="1971676"/>
            <a:ext cx="6816970" cy="3886199"/>
          </a:xfrm>
          <a:prstGeom prst="rect">
            <a:avLst/>
          </a:prstGeom>
        </p:spPr>
      </p:pic>
    </p:spTree>
    <p:extLst>
      <p:ext uri="{BB962C8B-B14F-4D97-AF65-F5344CB8AC3E}">
        <p14:creationId xmlns:p14="http://schemas.microsoft.com/office/powerpoint/2010/main" val="293082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1381" y="323385"/>
            <a:ext cx="7886700" cy="4987940"/>
          </a:xfrm>
        </p:spPr>
        <p:txBody>
          <a:bodyPr>
            <a:normAutofit/>
          </a:bodyPr>
          <a:lstStyle/>
          <a:p>
            <a:pPr marL="0" indent="0">
              <a:buNone/>
            </a:pPr>
            <a:r>
              <a:rPr lang="en-GB" sz="1800" b="1" dirty="0">
                <a:solidFill>
                  <a:srgbClr val="00B0F0"/>
                </a:solidFill>
                <a:latin typeface="Century Gothic" panose="020B0502020202020204" pitchFamily="34" charset="0"/>
              </a:rPr>
              <a:t>ANALYSIS AND CHARACTERISATION </a:t>
            </a:r>
            <a:r>
              <a:rPr lang="en-GB" sz="1800" b="1">
                <a:solidFill>
                  <a:srgbClr val="00B0F0"/>
                </a:solidFill>
                <a:latin typeface="Century Gothic" panose="020B0502020202020204" pitchFamily="34" charset="0"/>
              </a:rPr>
              <a:t>OF FOOD</a:t>
            </a:r>
            <a:endParaRPr lang="en-GB" sz="1800" dirty="0">
              <a:latin typeface="Century Gothic" panose="020B0502020202020204" pitchFamily="34" charset="0"/>
            </a:endParaRPr>
          </a:p>
          <a:p>
            <a:r>
              <a:rPr lang="en-GB" sz="1800" i="1" dirty="0">
                <a:latin typeface="Century Gothic" panose="020B0502020202020204" pitchFamily="34" charset="0"/>
              </a:rPr>
              <a:t>Proximate analysis of foods is </a:t>
            </a:r>
            <a:r>
              <a:rPr lang="en-GB" sz="1800" dirty="0">
                <a:latin typeface="Century Gothic" panose="020B0502020202020204" pitchFamily="34" charset="0"/>
              </a:rPr>
              <a:t>a system of analysis of the composition of foods.</a:t>
            </a:r>
          </a:p>
          <a:p>
            <a:r>
              <a:rPr lang="en-GB" sz="1800" dirty="0">
                <a:latin typeface="Century Gothic" panose="020B0502020202020204" pitchFamily="34" charset="0"/>
              </a:rPr>
              <a:t>More recently, new analytical techniques have been introduced, and the information about food composition is rapidly expanding.</a:t>
            </a:r>
          </a:p>
          <a:p>
            <a:r>
              <a:rPr lang="en-GB" sz="1800" dirty="0">
                <a:latin typeface="Century Gothic" panose="020B0502020202020204" pitchFamily="34" charset="0"/>
              </a:rPr>
              <a:t>This system of analysis divides the food into six fractions: moisture, ash, crude protein, ether extract, crude fibre and nitrogen-free extractives.</a:t>
            </a:r>
          </a:p>
          <a:p>
            <a:r>
              <a:rPr lang="en-GB" sz="1800" dirty="0"/>
              <a:t>composition of foods was based on a system of analysis described as the </a:t>
            </a:r>
            <a:r>
              <a:rPr lang="en-GB" sz="1800" i="1" dirty="0"/>
              <a:t>proximate analysis of foods</a:t>
            </a:r>
            <a:r>
              <a:rPr lang="en-GB" sz="1800" dirty="0"/>
              <a:t>, which was devised over 100 years ago by two German scientists, </a:t>
            </a:r>
            <a:r>
              <a:rPr lang="en-GB" sz="1800" dirty="0" err="1"/>
              <a:t>Henneberg</a:t>
            </a:r>
            <a:r>
              <a:rPr lang="en-GB" sz="1800" dirty="0"/>
              <a:t> and </a:t>
            </a:r>
            <a:r>
              <a:rPr lang="en-GB" sz="1800" dirty="0" err="1"/>
              <a:t>Stohmann</a:t>
            </a:r>
            <a:r>
              <a:rPr lang="en-GB" sz="1800" dirty="0"/>
              <a:t>. More recently, new analytical techniques have been introduced, and the information about food composition is rapidly expanding (see below).</a:t>
            </a:r>
          </a:p>
          <a:p>
            <a:endParaRPr lang="en-GB" sz="2200" dirty="0">
              <a:latin typeface="Century Gothic" panose="020B0502020202020204" pitchFamily="34" charset="0"/>
            </a:endParaRPr>
          </a:p>
        </p:txBody>
      </p:sp>
    </p:spTree>
    <p:extLst>
      <p:ext uri="{BB962C8B-B14F-4D97-AF65-F5344CB8AC3E}">
        <p14:creationId xmlns:p14="http://schemas.microsoft.com/office/powerpoint/2010/main" val="1493022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350" y="570276"/>
            <a:ext cx="8015288" cy="5138193"/>
          </a:xfrm>
        </p:spPr>
        <p:txBody>
          <a:bodyPr>
            <a:noAutofit/>
          </a:bodyPr>
          <a:lstStyle/>
          <a:p>
            <a:pPr marL="0" indent="0">
              <a:buNone/>
            </a:pPr>
            <a:r>
              <a:rPr lang="en-GB" sz="2400" b="1" dirty="0">
                <a:latin typeface="Century Gothic" panose="020B0502020202020204" pitchFamily="34" charset="0"/>
              </a:rPr>
              <a:t>Water</a:t>
            </a:r>
          </a:p>
          <a:p>
            <a:r>
              <a:rPr lang="en-GB" sz="2200" dirty="0">
                <a:latin typeface="Century Gothic" panose="020B0502020202020204" pitchFamily="34" charset="0"/>
              </a:rPr>
              <a:t>It is the largest constituent of animal.</a:t>
            </a:r>
          </a:p>
          <a:p>
            <a:r>
              <a:rPr lang="en-GB" sz="2200" dirty="0">
                <a:latin typeface="Century Gothic" panose="020B0502020202020204" pitchFamily="34" charset="0"/>
              </a:rPr>
              <a:t>Water functions in the body as a solvent in which nutrients are transported about the body, a vehicle for evaporative cooling and as a solvent in which waste products are excreted.</a:t>
            </a:r>
          </a:p>
          <a:p>
            <a:r>
              <a:rPr lang="en-GB" sz="2200" dirty="0">
                <a:latin typeface="Century Gothic" panose="020B0502020202020204" pitchFamily="34" charset="0"/>
              </a:rPr>
              <a:t>The animal obtains its water from three sources: </a:t>
            </a:r>
          </a:p>
          <a:p>
            <a:pPr marL="971550" lvl="1" indent="-514350">
              <a:buFont typeface="+mj-lt"/>
              <a:buAutoNum type="alphaLcPeriod"/>
            </a:pPr>
            <a:r>
              <a:rPr lang="en-GB" sz="2200" dirty="0">
                <a:latin typeface="Century Gothic" panose="020B0502020202020204" pitchFamily="34" charset="0"/>
              </a:rPr>
              <a:t>drinking water, </a:t>
            </a:r>
          </a:p>
          <a:p>
            <a:pPr marL="971550" lvl="1" indent="-514350">
              <a:buFont typeface="+mj-lt"/>
              <a:buAutoNum type="alphaLcPeriod"/>
            </a:pPr>
            <a:r>
              <a:rPr lang="en-GB" sz="2200" dirty="0">
                <a:latin typeface="Century Gothic" panose="020B0502020202020204" pitchFamily="34" charset="0"/>
              </a:rPr>
              <a:t>water present in its food, and </a:t>
            </a:r>
          </a:p>
          <a:p>
            <a:pPr marL="971550" lvl="1" indent="-514350">
              <a:buFont typeface="+mj-lt"/>
              <a:buAutoNum type="alphaLcPeriod"/>
            </a:pPr>
            <a:r>
              <a:rPr lang="en-GB" sz="2200" dirty="0">
                <a:latin typeface="Century Gothic" panose="020B0502020202020204" pitchFamily="34" charset="0"/>
              </a:rPr>
              <a:t>metabolic water.</a:t>
            </a:r>
          </a:p>
          <a:p>
            <a:r>
              <a:rPr lang="en-GB" sz="2200" dirty="0">
                <a:latin typeface="Century Gothic" panose="020B0502020202020204" pitchFamily="34" charset="0"/>
              </a:rPr>
              <a:t>Water losses occur through sweat, urine, faecal matter, and vapour </a:t>
            </a:r>
          </a:p>
        </p:txBody>
      </p:sp>
    </p:spTree>
    <p:extLst>
      <p:ext uri="{BB962C8B-B14F-4D97-AF65-F5344CB8AC3E}">
        <p14:creationId xmlns:p14="http://schemas.microsoft.com/office/powerpoint/2010/main" val="2611148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9643" y="274320"/>
            <a:ext cx="8329613" cy="5172891"/>
          </a:xfrm>
        </p:spPr>
        <p:txBody>
          <a:bodyPr>
            <a:noAutofit/>
          </a:bodyPr>
          <a:lstStyle/>
          <a:p>
            <a:pPr marL="0" indent="0">
              <a:buNone/>
            </a:pPr>
            <a:r>
              <a:rPr lang="en-GB" b="1" dirty="0">
                <a:latin typeface="Century Gothic" panose="020B0502020202020204" pitchFamily="34" charset="0"/>
              </a:rPr>
              <a:t>Dry Matter</a:t>
            </a:r>
          </a:p>
          <a:p>
            <a:r>
              <a:rPr lang="en-GB" dirty="0">
                <a:latin typeface="Century Gothic" panose="020B0502020202020204" pitchFamily="34" charset="0"/>
              </a:rPr>
              <a:t>The dry matter (DM) of foods is conveniently divided into organic and inorganic material.</a:t>
            </a:r>
          </a:p>
          <a:p>
            <a:r>
              <a:rPr lang="en-GB" dirty="0">
                <a:latin typeface="Century Gothic" panose="020B0502020202020204" pitchFamily="34" charset="0"/>
              </a:rPr>
              <a:t>Plants store energy largely in the form of carbohydrates such as starch and </a:t>
            </a:r>
            <a:r>
              <a:rPr lang="en-GB" dirty="0" err="1">
                <a:latin typeface="Century Gothic" panose="020B0502020202020204" pitchFamily="34" charset="0"/>
              </a:rPr>
              <a:t>fructans</a:t>
            </a:r>
            <a:r>
              <a:rPr lang="en-GB" dirty="0">
                <a:latin typeface="Century Gothic" panose="020B0502020202020204" pitchFamily="34" charset="0"/>
              </a:rPr>
              <a:t>, whereas an animal’s main energy store is in the form of lipid.</a:t>
            </a:r>
          </a:p>
          <a:p>
            <a:r>
              <a:rPr lang="en-GB" dirty="0">
                <a:latin typeface="Century Gothic" panose="020B0502020202020204" pitchFamily="34" charset="0"/>
              </a:rPr>
              <a:t>In both plants and animals, proteins are the major nitrogen-containing compounds.</a:t>
            </a:r>
          </a:p>
          <a:p>
            <a:r>
              <a:rPr lang="en-GB" dirty="0">
                <a:latin typeface="Century Gothic" panose="020B0502020202020204" pitchFamily="34" charset="0"/>
              </a:rPr>
              <a:t>The inorganic matter contains all those elements present in plants and animals other than carbon, hydrogen, oxygen and nitrogen.</a:t>
            </a:r>
          </a:p>
          <a:p>
            <a:r>
              <a:rPr lang="en-GB" dirty="0">
                <a:latin typeface="Century Gothic" panose="020B0502020202020204" pitchFamily="34" charset="0"/>
              </a:rPr>
              <a:t>Calcium and phosphorus are the major inorganic components of animals, whereas potassium and silicon are the main inorganic elements in plants.</a:t>
            </a:r>
          </a:p>
        </p:txBody>
      </p:sp>
    </p:spTree>
    <p:extLst>
      <p:ext uri="{BB962C8B-B14F-4D97-AF65-F5344CB8AC3E}">
        <p14:creationId xmlns:p14="http://schemas.microsoft.com/office/powerpoint/2010/main" val="3618870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492" y="800100"/>
            <a:ext cx="8101013" cy="5148263"/>
          </a:xfrm>
        </p:spPr>
        <p:txBody>
          <a:bodyPr>
            <a:noAutofit/>
          </a:bodyPr>
          <a:lstStyle/>
          <a:p>
            <a:pPr marL="0" indent="0">
              <a:buNone/>
            </a:pPr>
            <a:r>
              <a:rPr lang="en-GB" sz="2400" b="1" dirty="0">
                <a:latin typeface="Century Gothic" panose="020B0502020202020204" pitchFamily="34" charset="0"/>
              </a:rPr>
              <a:t>Carbohydrates</a:t>
            </a:r>
            <a:endParaRPr lang="en-GB" sz="2400" dirty="0">
              <a:latin typeface="Century Gothic" panose="020B0502020202020204" pitchFamily="34" charset="0"/>
            </a:endParaRPr>
          </a:p>
          <a:p>
            <a:r>
              <a:rPr lang="en-GB" sz="2400" dirty="0">
                <a:latin typeface="Century Gothic" panose="020B0502020202020204" pitchFamily="34" charset="0"/>
              </a:rPr>
              <a:t>The main energy nutrients found in animal rations are carbohydrates. They are made up of sugars, starches, cellulose, and lignin. </a:t>
            </a:r>
          </a:p>
          <a:p>
            <a:r>
              <a:rPr lang="en-GB" sz="2400" dirty="0">
                <a:latin typeface="Century Gothic" panose="020B0502020202020204" pitchFamily="34" charset="0"/>
              </a:rPr>
              <a:t>Carbohydrates are chemically composed of carbon, hydrogen, and oxygen.</a:t>
            </a:r>
          </a:p>
          <a:p>
            <a:r>
              <a:rPr lang="en-GB" sz="2400" dirty="0">
                <a:latin typeface="Century Gothic" panose="020B0502020202020204" pitchFamily="34" charset="0"/>
              </a:rPr>
              <a:t>Monosaccharides and disaccharides are highly soluble.</a:t>
            </a:r>
          </a:p>
          <a:p>
            <a:r>
              <a:rPr lang="en-GB" sz="2400" dirty="0">
                <a:latin typeface="Century Gothic" panose="020B0502020202020204" pitchFamily="34" charset="0"/>
              </a:rPr>
              <a:t>Starch is the most important non-fibrous polysaccharide in plants and comes in two types: amylose and amylopectin.</a:t>
            </a:r>
          </a:p>
        </p:txBody>
      </p:sp>
    </p:spTree>
    <p:extLst>
      <p:ext uri="{BB962C8B-B14F-4D97-AF65-F5344CB8AC3E}">
        <p14:creationId xmlns:p14="http://schemas.microsoft.com/office/powerpoint/2010/main" val="1267462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714375"/>
            <a:ext cx="7886700" cy="5462588"/>
          </a:xfrm>
        </p:spPr>
        <p:txBody>
          <a:bodyPr>
            <a:normAutofit/>
          </a:bodyPr>
          <a:lstStyle/>
          <a:p>
            <a:pPr marL="0" indent="0">
              <a:buNone/>
            </a:pPr>
            <a:r>
              <a:rPr lang="en-GB" sz="2400" b="1" dirty="0">
                <a:latin typeface="Century Gothic" panose="020B0502020202020204" pitchFamily="34" charset="0"/>
              </a:rPr>
              <a:t>Carbohydrates</a:t>
            </a:r>
            <a:endParaRPr lang="en-GB" sz="2400" dirty="0">
              <a:latin typeface="Century Gothic" panose="020B0502020202020204" pitchFamily="34" charset="0"/>
            </a:endParaRPr>
          </a:p>
          <a:p>
            <a:r>
              <a:rPr lang="en-GB" sz="2400" dirty="0">
                <a:latin typeface="Century Gothic" panose="020B0502020202020204" pitchFamily="34" charset="0"/>
              </a:rPr>
              <a:t>Cellulose and hemicellulose are fibrous polysaccharides and are insoluble and difficult to digest.</a:t>
            </a:r>
          </a:p>
          <a:p>
            <a:r>
              <a:rPr lang="en-GB" sz="2400" dirty="0">
                <a:latin typeface="Century Gothic" panose="020B0502020202020204" pitchFamily="34" charset="0"/>
              </a:rPr>
              <a:t>Lignin is indigestible and its concentration is higher in stems than leaves. </a:t>
            </a:r>
          </a:p>
          <a:p>
            <a:r>
              <a:rPr lang="en-GB" sz="2400" dirty="0">
                <a:latin typeface="Century Gothic" panose="020B0502020202020204" pitchFamily="34" charset="0"/>
              </a:rPr>
              <a:t>Simple carbohydrates (starch and sugars) are referred to as nitrogen-free extract (NFE) and come from the cereal grains, such as maize, wheat, oats, barley, rye, and sorghum.</a:t>
            </a:r>
          </a:p>
        </p:txBody>
      </p:sp>
    </p:spTree>
    <p:extLst>
      <p:ext uri="{BB962C8B-B14F-4D97-AF65-F5344CB8AC3E}">
        <p14:creationId xmlns:p14="http://schemas.microsoft.com/office/powerpoint/2010/main" val="2769315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700088"/>
            <a:ext cx="7886700" cy="5691188"/>
          </a:xfrm>
        </p:spPr>
        <p:txBody>
          <a:bodyPr>
            <a:normAutofit/>
          </a:bodyPr>
          <a:lstStyle/>
          <a:p>
            <a:pPr marL="0" indent="0">
              <a:buNone/>
            </a:pPr>
            <a:r>
              <a:rPr lang="en-GB" sz="2400" b="1" dirty="0">
                <a:latin typeface="Century Gothic" panose="020B0502020202020204" pitchFamily="34" charset="0"/>
              </a:rPr>
              <a:t>Carbohydrates</a:t>
            </a:r>
          </a:p>
          <a:p>
            <a:r>
              <a:rPr lang="en-GB" sz="2400" dirty="0">
                <a:latin typeface="Century Gothic" panose="020B0502020202020204" pitchFamily="34" charset="0"/>
              </a:rPr>
              <a:t>The complex carbohydrates, called </a:t>
            </a:r>
            <a:r>
              <a:rPr lang="en-GB" sz="2400" u="sng" dirty="0" err="1">
                <a:latin typeface="Century Gothic" panose="020B0502020202020204" pitchFamily="34" charset="0"/>
              </a:rPr>
              <a:t>fiber</a:t>
            </a:r>
            <a:r>
              <a:rPr lang="en-GB" sz="2400" dirty="0">
                <a:latin typeface="Century Gothic" panose="020B0502020202020204" pitchFamily="34" charset="0"/>
              </a:rPr>
              <a:t>, are cellulose and lignin. These substances are more difficult to digest than simple carbohydrates. </a:t>
            </a:r>
            <a:r>
              <a:rPr lang="en-GB" sz="2400" dirty="0" err="1">
                <a:latin typeface="Century Gothic" panose="020B0502020202020204" pitchFamily="34" charset="0"/>
              </a:rPr>
              <a:t>Fiber</a:t>
            </a:r>
            <a:r>
              <a:rPr lang="en-GB" sz="2400" dirty="0">
                <a:latin typeface="Century Gothic" panose="020B0502020202020204" pitchFamily="34" charset="0"/>
              </a:rPr>
              <a:t> is found mainly in roughages such as hay and pasture plants.</a:t>
            </a:r>
          </a:p>
          <a:p>
            <a:r>
              <a:rPr lang="en-GB" sz="2400" dirty="0">
                <a:latin typeface="Century Gothic" panose="020B0502020202020204" pitchFamily="34" charset="0"/>
              </a:rPr>
              <a:t>The carbohydrate of the food is contained in two fractions, the crude fibre (CF) and the nitrogen-free extractives (NFE).The former is determined by subjecting the residual food from ether extraction to successive treatments with boiling acid and alkali of defined concentration; the organic residue is the crude fibre.</a:t>
            </a:r>
          </a:p>
        </p:txBody>
      </p:sp>
    </p:spTree>
    <p:extLst>
      <p:ext uri="{BB962C8B-B14F-4D97-AF65-F5344CB8AC3E}">
        <p14:creationId xmlns:p14="http://schemas.microsoft.com/office/powerpoint/2010/main" val="2410008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571500"/>
            <a:ext cx="8072438" cy="5476875"/>
          </a:xfrm>
        </p:spPr>
        <p:txBody>
          <a:bodyPr>
            <a:noAutofit/>
          </a:bodyPr>
          <a:lstStyle/>
          <a:p>
            <a:pPr marL="0" indent="0">
              <a:buNone/>
            </a:pPr>
            <a:r>
              <a:rPr lang="en-GB" sz="2400" b="1" dirty="0">
                <a:latin typeface="Century Gothic" panose="020B0502020202020204" pitchFamily="34" charset="0"/>
              </a:rPr>
              <a:t>Fats/Lipids</a:t>
            </a:r>
            <a:endParaRPr lang="en-GB" sz="2400" dirty="0">
              <a:latin typeface="Century Gothic" panose="020B0502020202020204" pitchFamily="34" charset="0"/>
            </a:endParaRPr>
          </a:p>
          <a:p>
            <a:r>
              <a:rPr lang="en-GB" sz="2400" dirty="0">
                <a:latin typeface="Century Gothic" panose="020B0502020202020204" pitchFamily="34" charset="0"/>
              </a:rPr>
              <a:t>Fats and oils are also energy nutrients. They are chemically composed of carbon, hydrogen, and oxygen. In animal nutrition, both fats and oils are commonly referred to as fats.</a:t>
            </a:r>
          </a:p>
          <a:p>
            <a:r>
              <a:rPr lang="en-GB" sz="2400" dirty="0">
                <a:latin typeface="Century Gothic" panose="020B0502020202020204" pitchFamily="34" charset="0"/>
              </a:rPr>
              <a:t>Fats are easily digested by animals. They provide energy and improves palatability. They also carry the fat-soluble vitamins that are in the feed.</a:t>
            </a:r>
          </a:p>
          <a:p>
            <a:r>
              <a:rPr lang="en-GB" sz="2400" dirty="0">
                <a:latin typeface="Century Gothic" panose="020B0502020202020204" pitchFamily="34" charset="0"/>
              </a:rPr>
              <a:t>Lipids can be classified as simple – esters of fatty acids with various alcohols; compound – esters of fatty acids with alcohol and other groups e.g. lipoprotein, and sterols – lipids with complex </a:t>
            </a:r>
            <a:r>
              <a:rPr lang="en-GB" sz="2400" dirty="0" err="1">
                <a:latin typeface="Century Gothic" panose="020B0502020202020204" pitchFamily="34" charset="0"/>
              </a:rPr>
              <a:t>phenanthrene</a:t>
            </a:r>
            <a:r>
              <a:rPr lang="en-GB" sz="2400" dirty="0">
                <a:latin typeface="Century Gothic" panose="020B0502020202020204" pitchFamily="34" charset="0"/>
              </a:rPr>
              <a:t> ring structures e.g. cholesterol</a:t>
            </a:r>
          </a:p>
          <a:p>
            <a:endParaRPr lang="en-GB" sz="2400" dirty="0">
              <a:latin typeface="Century Gothic" panose="020B0502020202020204" pitchFamily="34" charset="0"/>
            </a:endParaRPr>
          </a:p>
        </p:txBody>
      </p:sp>
    </p:spTree>
    <p:extLst>
      <p:ext uri="{BB962C8B-B14F-4D97-AF65-F5344CB8AC3E}">
        <p14:creationId xmlns:p14="http://schemas.microsoft.com/office/powerpoint/2010/main" val="361228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7224" y="671512"/>
            <a:ext cx="8072438" cy="5676900"/>
          </a:xfrm>
        </p:spPr>
        <p:txBody>
          <a:bodyPr>
            <a:noAutofit/>
          </a:bodyPr>
          <a:lstStyle/>
          <a:p>
            <a:pPr marL="0" indent="0">
              <a:buNone/>
            </a:pPr>
            <a:r>
              <a:rPr lang="en-GB" sz="2400" b="1" dirty="0">
                <a:latin typeface="Century Gothic" panose="020B0502020202020204" pitchFamily="34" charset="0"/>
              </a:rPr>
              <a:t>Fats/Lipids</a:t>
            </a:r>
            <a:endParaRPr lang="en-GB" sz="2400" dirty="0">
              <a:latin typeface="Century Gothic" panose="020B0502020202020204" pitchFamily="34" charset="0"/>
            </a:endParaRPr>
          </a:p>
          <a:p>
            <a:r>
              <a:rPr lang="en-GB" sz="2400" dirty="0">
                <a:latin typeface="Century Gothic" panose="020B0502020202020204" pitchFamily="34" charset="0"/>
              </a:rPr>
              <a:t>Commonest fatty acids in plant and animal tissues are butyric, palmitic, </a:t>
            </a:r>
            <a:r>
              <a:rPr lang="en-GB" sz="2400" dirty="0" err="1">
                <a:latin typeface="Century Gothic" panose="020B0502020202020204" pitchFamily="34" charset="0"/>
              </a:rPr>
              <a:t>myristic</a:t>
            </a:r>
            <a:r>
              <a:rPr lang="en-GB" sz="2400" dirty="0">
                <a:latin typeface="Century Gothic" panose="020B0502020202020204" pitchFamily="34" charset="0"/>
              </a:rPr>
              <a:t>, oleic, linoleic, arachidonic, </a:t>
            </a:r>
            <a:r>
              <a:rPr lang="en-GB" sz="2400" dirty="0" err="1">
                <a:latin typeface="Century Gothic" panose="020B0502020202020204" pitchFamily="34" charset="0"/>
              </a:rPr>
              <a:t>lauric</a:t>
            </a:r>
            <a:r>
              <a:rPr lang="en-GB" sz="2400" dirty="0">
                <a:latin typeface="Century Gothic" panose="020B0502020202020204" pitchFamily="34" charset="0"/>
              </a:rPr>
              <a:t>, </a:t>
            </a:r>
            <a:r>
              <a:rPr lang="en-GB" sz="2400" dirty="0" err="1">
                <a:latin typeface="Century Gothic" panose="020B0502020202020204" pitchFamily="34" charset="0"/>
              </a:rPr>
              <a:t>capric</a:t>
            </a:r>
            <a:r>
              <a:rPr lang="en-GB" sz="2400" dirty="0">
                <a:latin typeface="Century Gothic" panose="020B0502020202020204" pitchFamily="34" charset="0"/>
              </a:rPr>
              <a:t> and stearic acids.</a:t>
            </a:r>
          </a:p>
          <a:p>
            <a:r>
              <a:rPr lang="en-GB" sz="2400" dirty="0">
                <a:latin typeface="Century Gothic" panose="020B0502020202020204" pitchFamily="34" charset="0"/>
              </a:rPr>
              <a:t>Essential fatty acids – fatty acids that the body cannot synthesize but are required by animals e.g. linoleic, oleic and arachidonic acids.</a:t>
            </a:r>
          </a:p>
          <a:p>
            <a:r>
              <a:rPr lang="en-GB" sz="2400" dirty="0">
                <a:latin typeface="Century Gothic" panose="020B0502020202020204" pitchFamily="34" charset="0"/>
              </a:rPr>
              <a:t>The ether extract (EE) fraction is determined by subjecting the food to a continuous extraction with petroleum ether for a defined period. The residue, after evaporation of the solvent, is the ether extract.</a:t>
            </a:r>
          </a:p>
          <a:p>
            <a:endParaRPr lang="en-GB" sz="2400" dirty="0">
              <a:latin typeface="Century Gothic" panose="020B0502020202020204" pitchFamily="34" charset="0"/>
            </a:endParaRPr>
          </a:p>
          <a:p>
            <a:endParaRPr lang="en-GB" sz="2400" dirty="0">
              <a:latin typeface="Century Gothic" panose="020B0502020202020204" pitchFamily="34" charset="0"/>
            </a:endParaRPr>
          </a:p>
        </p:txBody>
      </p:sp>
    </p:spTree>
    <p:extLst>
      <p:ext uri="{BB962C8B-B14F-4D97-AF65-F5344CB8AC3E}">
        <p14:creationId xmlns:p14="http://schemas.microsoft.com/office/powerpoint/2010/main" val="311733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320" y="297180"/>
            <a:ext cx="8634549" cy="5829300"/>
          </a:xfrm>
        </p:spPr>
        <p:txBody>
          <a:bodyPr>
            <a:noAutofit/>
          </a:bodyPr>
          <a:lstStyle/>
          <a:p>
            <a:pPr marL="0" indent="0">
              <a:buNone/>
            </a:pPr>
            <a:r>
              <a:rPr lang="en-GB" sz="2200" b="1" dirty="0">
                <a:latin typeface="Century Gothic" panose="020B0502020202020204" pitchFamily="34" charset="0"/>
              </a:rPr>
              <a:t>Proteins</a:t>
            </a:r>
          </a:p>
          <a:p>
            <a:r>
              <a:rPr lang="en-GB" sz="2200" dirty="0">
                <a:latin typeface="Century Gothic" panose="020B0502020202020204" pitchFamily="34" charset="0"/>
              </a:rPr>
              <a:t>Proteins</a:t>
            </a:r>
            <a:r>
              <a:rPr lang="en-GB" sz="2200" b="1" dirty="0">
                <a:latin typeface="Century Gothic" panose="020B0502020202020204" pitchFamily="34" charset="0"/>
              </a:rPr>
              <a:t> </a:t>
            </a:r>
            <a:r>
              <a:rPr lang="en-GB" sz="2200" dirty="0">
                <a:latin typeface="Century Gothic" panose="020B0502020202020204" pitchFamily="34" charset="0"/>
              </a:rPr>
              <a:t>are organic compounds made up of amino acids. Amino acids contain carbon, hydrogen, oxygen, and nitrogen. Some amino acids also contain sulphur, phosphorus, and iron.</a:t>
            </a:r>
          </a:p>
          <a:p>
            <a:r>
              <a:rPr lang="en-GB" sz="2200" dirty="0">
                <a:latin typeface="Century Gothic" panose="020B0502020202020204" pitchFamily="34" charset="0"/>
              </a:rPr>
              <a:t>Proteins supply material to build body tissues and also play a role in metabolic functions.</a:t>
            </a:r>
          </a:p>
          <a:p>
            <a:r>
              <a:rPr lang="en-GB" sz="2200" dirty="0">
                <a:latin typeface="Century Gothic" panose="020B0502020202020204" pitchFamily="34" charset="0"/>
              </a:rPr>
              <a:t>Plants can synthesize all amino acids from inorganic nitrogen sources such as ammonia.</a:t>
            </a:r>
          </a:p>
          <a:p>
            <a:r>
              <a:rPr lang="en-GB" sz="2200" dirty="0">
                <a:latin typeface="Century Gothic" panose="020B0502020202020204" pitchFamily="34" charset="0"/>
              </a:rPr>
              <a:t>The liver is the principal site of amino acid synthesis in animals.</a:t>
            </a:r>
          </a:p>
          <a:p>
            <a:r>
              <a:rPr lang="en-GB" sz="2200" dirty="0">
                <a:latin typeface="Century Gothic" panose="020B0502020202020204" pitchFamily="34" charset="0"/>
              </a:rPr>
              <a:t>Amino acids differ in terms of their essentiality in animal</a:t>
            </a:r>
            <a:r>
              <a:rPr lang="en-US" sz="2200" dirty="0">
                <a:latin typeface="Century Gothic" panose="020B0502020202020204" pitchFamily="34" charset="0"/>
              </a:rPr>
              <a:t>’s tissue.</a:t>
            </a:r>
          </a:p>
          <a:p>
            <a:r>
              <a:rPr lang="en-US" sz="2200" dirty="0">
                <a:latin typeface="Century Gothic" panose="020B0502020202020204" pitchFamily="34" charset="0"/>
              </a:rPr>
              <a:t>Essential amino acid is an amino acid that is needed by an animal but cannot be synthesized by the body.</a:t>
            </a:r>
          </a:p>
        </p:txBody>
      </p:sp>
    </p:spTree>
    <p:extLst>
      <p:ext uri="{BB962C8B-B14F-4D97-AF65-F5344CB8AC3E}">
        <p14:creationId xmlns:p14="http://schemas.microsoft.com/office/powerpoint/2010/main" val="2727335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 y="101237"/>
            <a:ext cx="8765177" cy="6103620"/>
          </a:xfrm>
        </p:spPr>
        <p:txBody>
          <a:bodyPr>
            <a:noAutofit/>
          </a:bodyPr>
          <a:lstStyle/>
          <a:p>
            <a:pPr marL="0" indent="0">
              <a:buNone/>
            </a:pPr>
            <a:r>
              <a:rPr lang="en-GB" sz="2200" b="1" dirty="0">
                <a:latin typeface="Century Gothic" panose="020B0502020202020204" pitchFamily="34" charset="0"/>
              </a:rPr>
              <a:t>Proteins</a:t>
            </a:r>
          </a:p>
          <a:p>
            <a:r>
              <a:rPr lang="en-US" sz="2200" dirty="0">
                <a:latin typeface="Century Gothic" panose="020B0502020202020204" pitchFamily="34" charset="0"/>
              </a:rPr>
              <a:t>Non-essential amino is an amino acid needed by the animal but can be partly or completely synthesized by the animal’s tissue from other amino acids.</a:t>
            </a:r>
          </a:p>
          <a:p>
            <a:r>
              <a:rPr lang="en-GB" sz="2200" dirty="0">
                <a:latin typeface="Century Gothic" panose="020B0502020202020204" pitchFamily="34" charset="0"/>
              </a:rPr>
              <a:t>Limiting amino acid is an amino acid which is present in a protein in the least amount in relation to the animal’s needs for that particular amino acid.</a:t>
            </a:r>
          </a:p>
          <a:p>
            <a:r>
              <a:rPr lang="en-GB" sz="2200" dirty="0">
                <a:latin typeface="Century Gothic" panose="020B0502020202020204" pitchFamily="34" charset="0"/>
              </a:rPr>
              <a:t>If an animal takes in more protein than it needs, the nitrogen is separated and given off in the urine. The material that is left is converted into energy or body fat by the animal.</a:t>
            </a:r>
          </a:p>
          <a:p>
            <a:r>
              <a:rPr lang="en-GB" sz="2200" dirty="0">
                <a:latin typeface="Century Gothic" panose="020B0502020202020204" pitchFamily="34" charset="0"/>
              </a:rPr>
              <a:t>Ten amino acids are considered to be essential for swine, and 14 are essential for poultry.</a:t>
            </a:r>
          </a:p>
          <a:p>
            <a:r>
              <a:rPr lang="en-GB" sz="2200" dirty="0">
                <a:latin typeface="Century Gothic" panose="020B0502020202020204" pitchFamily="34" charset="0"/>
              </a:rPr>
              <a:t>Essential amino acids include Arginine (</a:t>
            </a:r>
            <a:r>
              <a:rPr lang="en-GB" sz="2200" dirty="0" err="1">
                <a:latin typeface="Century Gothic" panose="020B0502020202020204" pitchFamily="34" charset="0"/>
              </a:rPr>
              <a:t>Arg</a:t>
            </a:r>
            <a:r>
              <a:rPr lang="en-GB" sz="2200" dirty="0">
                <a:latin typeface="Century Gothic" panose="020B0502020202020204" pitchFamily="34" charset="0"/>
              </a:rPr>
              <a:t>), Histidine (His), Leucine (</a:t>
            </a:r>
            <a:r>
              <a:rPr lang="en-GB" sz="2200" dirty="0" err="1">
                <a:latin typeface="Century Gothic" panose="020B0502020202020204" pitchFamily="34" charset="0"/>
              </a:rPr>
              <a:t>Leu</a:t>
            </a:r>
            <a:r>
              <a:rPr lang="en-GB" sz="2200" dirty="0">
                <a:latin typeface="Century Gothic" panose="020B0502020202020204" pitchFamily="34" charset="0"/>
              </a:rPr>
              <a:t>), Isoleucine (</a:t>
            </a:r>
            <a:r>
              <a:rPr lang="en-GB" sz="2200" dirty="0" err="1">
                <a:latin typeface="Century Gothic" panose="020B0502020202020204" pitchFamily="34" charset="0"/>
              </a:rPr>
              <a:t>Iso</a:t>
            </a:r>
            <a:r>
              <a:rPr lang="en-GB" sz="2200" dirty="0">
                <a:latin typeface="Century Gothic" panose="020B0502020202020204" pitchFamily="34" charset="0"/>
              </a:rPr>
              <a:t>), Lysine (Lys), Methionine (Met), Threonine (</a:t>
            </a:r>
            <a:r>
              <a:rPr lang="en-GB" sz="2200" dirty="0" err="1">
                <a:latin typeface="Century Gothic" panose="020B0502020202020204" pitchFamily="34" charset="0"/>
              </a:rPr>
              <a:t>Thr</a:t>
            </a:r>
            <a:r>
              <a:rPr lang="en-GB" sz="2200" dirty="0">
                <a:latin typeface="Century Gothic" panose="020B0502020202020204" pitchFamily="34" charset="0"/>
              </a:rPr>
              <a:t>), Phenylalanine (</a:t>
            </a:r>
            <a:r>
              <a:rPr lang="en-GB" sz="2200" dirty="0" err="1">
                <a:latin typeface="Century Gothic" panose="020B0502020202020204" pitchFamily="34" charset="0"/>
              </a:rPr>
              <a:t>Phe</a:t>
            </a:r>
            <a:r>
              <a:rPr lang="en-GB" sz="2200" dirty="0">
                <a:latin typeface="Century Gothic" panose="020B0502020202020204" pitchFamily="34" charset="0"/>
              </a:rPr>
              <a:t>), Tryptophan (</a:t>
            </a:r>
            <a:r>
              <a:rPr lang="en-GB" sz="2200" dirty="0" err="1">
                <a:latin typeface="Century Gothic" panose="020B0502020202020204" pitchFamily="34" charset="0"/>
              </a:rPr>
              <a:t>Trp</a:t>
            </a:r>
            <a:r>
              <a:rPr lang="en-GB" sz="2200" dirty="0">
                <a:latin typeface="Century Gothic" panose="020B0502020202020204" pitchFamily="34" charset="0"/>
              </a:rPr>
              <a:t>) and Valine (Val)</a:t>
            </a:r>
          </a:p>
        </p:txBody>
      </p:sp>
    </p:spTree>
    <p:extLst>
      <p:ext uri="{BB962C8B-B14F-4D97-AF65-F5344CB8AC3E}">
        <p14:creationId xmlns:p14="http://schemas.microsoft.com/office/powerpoint/2010/main" val="974541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7211" y="336776"/>
            <a:ext cx="7886700" cy="6037897"/>
          </a:xfrm>
        </p:spPr>
        <p:txBody>
          <a:bodyPr>
            <a:noAutofit/>
          </a:bodyPr>
          <a:lstStyle/>
          <a:p>
            <a:pPr marL="0" indent="0">
              <a:buNone/>
            </a:pPr>
            <a:r>
              <a:rPr lang="en-GB" sz="2400" b="1" dirty="0">
                <a:latin typeface="Century Gothic" panose="020B0502020202020204" pitchFamily="34" charset="0"/>
              </a:rPr>
              <a:t>Proteins</a:t>
            </a:r>
          </a:p>
          <a:p>
            <a:r>
              <a:rPr lang="en-GB" sz="2400" dirty="0">
                <a:latin typeface="Century Gothic" panose="020B0502020202020204" pitchFamily="34" charset="0"/>
              </a:rPr>
              <a:t>Non-essential amino acids are needed by animals, but are synthesized in the body from other amino acids.</a:t>
            </a:r>
          </a:p>
          <a:p>
            <a:r>
              <a:rPr lang="en-GB" sz="2400" dirty="0" err="1">
                <a:latin typeface="Century Gothic" panose="020B0502020202020204" pitchFamily="34" charset="0"/>
              </a:rPr>
              <a:t>Monogastric</a:t>
            </a:r>
            <a:r>
              <a:rPr lang="en-GB" sz="2400" dirty="0">
                <a:latin typeface="Century Gothic" panose="020B0502020202020204" pitchFamily="34" charset="0"/>
              </a:rPr>
              <a:t> animals cannot synthesize the essential amino acids fast enough to meet their needs; therefore, those amino acids must be provided in their rations. </a:t>
            </a:r>
          </a:p>
          <a:p>
            <a:r>
              <a:rPr lang="en-GB" sz="2400" dirty="0">
                <a:latin typeface="Century Gothic" panose="020B0502020202020204" pitchFamily="34" charset="0"/>
              </a:rPr>
              <a:t>Ruminants can generally synthesize the essential amino acids by rumen bacterial action at a rate sufficient to meet their needs.</a:t>
            </a:r>
          </a:p>
          <a:p>
            <a:r>
              <a:rPr lang="en-GB" sz="2400" dirty="0">
                <a:latin typeface="Century Gothic" panose="020B0502020202020204" pitchFamily="34" charset="0"/>
              </a:rPr>
              <a:t>Animal protein sources are considered to be good-quality proteins since they usually contain a good balance of the essential amino acids.</a:t>
            </a:r>
          </a:p>
        </p:txBody>
      </p:sp>
    </p:spTree>
    <p:extLst>
      <p:ext uri="{BB962C8B-B14F-4D97-AF65-F5344CB8AC3E}">
        <p14:creationId xmlns:p14="http://schemas.microsoft.com/office/powerpoint/2010/main" val="1795726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714375"/>
            <a:ext cx="7886700" cy="5462588"/>
          </a:xfrm>
        </p:spPr>
        <p:txBody>
          <a:bodyPr>
            <a:normAutofit lnSpcReduction="10000"/>
          </a:bodyPr>
          <a:lstStyle/>
          <a:p>
            <a:pPr marL="0" indent="0">
              <a:buNone/>
            </a:pPr>
            <a:r>
              <a:rPr lang="en-GB" sz="2400" b="1" dirty="0">
                <a:latin typeface="Century Gothic" panose="020B0502020202020204" pitchFamily="34" charset="0"/>
              </a:rPr>
              <a:t>Proteins</a:t>
            </a:r>
          </a:p>
          <a:p>
            <a:r>
              <a:rPr lang="en-GB" sz="2400" dirty="0">
                <a:latin typeface="Century Gothic" panose="020B0502020202020204" pitchFamily="34" charset="0"/>
              </a:rPr>
              <a:t>The amino acid needs of ruminants can be met by feeding proteins from vegetable sources. They can also be met by including urea in the ration.</a:t>
            </a:r>
          </a:p>
          <a:p>
            <a:r>
              <a:rPr lang="en-GB" sz="2400" dirty="0">
                <a:latin typeface="Century Gothic" panose="020B0502020202020204" pitchFamily="34" charset="0"/>
              </a:rPr>
              <a:t>The amount of crude protein (total protein) is the amount of </a:t>
            </a:r>
            <a:r>
              <a:rPr lang="en-GB" sz="2400" dirty="0" err="1">
                <a:latin typeface="Century Gothic" panose="020B0502020202020204" pitchFamily="34" charset="0"/>
              </a:rPr>
              <a:t>ammoniacal</a:t>
            </a:r>
            <a:r>
              <a:rPr lang="en-GB" sz="2400" dirty="0">
                <a:latin typeface="Century Gothic" panose="020B0502020202020204" pitchFamily="34" charset="0"/>
              </a:rPr>
              <a:t> nitrogen in the feed multiplied by 6.25.</a:t>
            </a:r>
          </a:p>
          <a:p>
            <a:r>
              <a:rPr lang="en-GB" sz="2400" dirty="0">
                <a:latin typeface="Century Gothic" panose="020B0502020202020204" pitchFamily="34" charset="0"/>
              </a:rPr>
              <a:t>Not all of the crude protein in a feed is digestible. Digestible protein is approximately the amount of true protein in a feed.</a:t>
            </a:r>
          </a:p>
          <a:p>
            <a:r>
              <a:rPr lang="en-GB" sz="2400" dirty="0">
                <a:latin typeface="Century Gothic" panose="020B0502020202020204" pitchFamily="34" charset="0"/>
              </a:rPr>
              <a:t>The crude protein (CP) content is calculated from the nitrogen content of the food, determined by a modification of a technique originally devised by </a:t>
            </a:r>
            <a:r>
              <a:rPr lang="en-GB" sz="2400" dirty="0" err="1">
                <a:latin typeface="Century Gothic" panose="020B0502020202020204" pitchFamily="34" charset="0"/>
              </a:rPr>
              <a:t>Kjeldahl</a:t>
            </a:r>
            <a:r>
              <a:rPr lang="en-GB" sz="2400" dirty="0">
                <a:latin typeface="Century Gothic" panose="020B0502020202020204" pitchFamily="34" charset="0"/>
              </a:rPr>
              <a:t> over 100 years ago.</a:t>
            </a:r>
          </a:p>
        </p:txBody>
      </p:sp>
    </p:spTree>
    <p:extLst>
      <p:ext uri="{BB962C8B-B14F-4D97-AF65-F5344CB8AC3E}">
        <p14:creationId xmlns:p14="http://schemas.microsoft.com/office/powerpoint/2010/main" val="628927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585788"/>
            <a:ext cx="7886700" cy="5591175"/>
          </a:xfrm>
        </p:spPr>
        <p:txBody>
          <a:bodyPr>
            <a:normAutofit/>
          </a:bodyPr>
          <a:lstStyle/>
          <a:p>
            <a:pPr marL="0" indent="0">
              <a:buNone/>
            </a:pPr>
            <a:r>
              <a:rPr lang="en-GB" sz="2200" b="1" dirty="0">
                <a:latin typeface="Century Gothic" panose="020B0502020202020204" pitchFamily="34" charset="0"/>
              </a:rPr>
              <a:t>Minerals</a:t>
            </a:r>
          </a:p>
          <a:p>
            <a:pPr marL="0" indent="0">
              <a:buNone/>
            </a:pPr>
            <a:endParaRPr lang="en-GB" sz="2200" b="1" dirty="0">
              <a:latin typeface="Century Gothic" panose="020B0502020202020204" pitchFamily="34" charset="0"/>
            </a:endParaRPr>
          </a:p>
          <a:p>
            <a:r>
              <a:rPr lang="en-GB" sz="2200" dirty="0">
                <a:latin typeface="Century Gothic" panose="020B0502020202020204" pitchFamily="34" charset="0"/>
              </a:rPr>
              <a:t>Minerals</a:t>
            </a:r>
            <a:r>
              <a:rPr lang="en-GB" sz="2200" b="1" dirty="0">
                <a:latin typeface="Century Gothic" panose="020B0502020202020204" pitchFamily="34" charset="0"/>
              </a:rPr>
              <a:t> </a:t>
            </a:r>
            <a:r>
              <a:rPr lang="en-GB" sz="2200" dirty="0">
                <a:latin typeface="Century Gothic" panose="020B0502020202020204" pitchFamily="34" charset="0"/>
              </a:rPr>
              <a:t>are inorganic materials needed in various amounts by animals. Minerals contain no carbon. Thus, if a feed were completely burned, the ash that was left would be the mineral content of the feed.</a:t>
            </a:r>
          </a:p>
          <a:p>
            <a:r>
              <a:rPr lang="en-GB" sz="2200" dirty="0">
                <a:latin typeface="Century Gothic" panose="020B0502020202020204" pitchFamily="34" charset="0"/>
              </a:rPr>
              <a:t>They provide material for the growth of bones, teeth, and tissue. </a:t>
            </a:r>
          </a:p>
          <a:p>
            <a:r>
              <a:rPr lang="en-GB" sz="2200" dirty="0">
                <a:latin typeface="Century Gothic" panose="020B0502020202020204" pitchFamily="34" charset="0"/>
              </a:rPr>
              <a:t>Minerals also regulate many of the vital chemical processes of the body. </a:t>
            </a:r>
          </a:p>
          <a:p>
            <a:r>
              <a:rPr lang="en-GB" sz="2200" dirty="0">
                <a:latin typeface="Century Gothic" panose="020B0502020202020204" pitchFamily="34" charset="0"/>
              </a:rPr>
              <a:t>They aid in muscular activities, reproduction, digestion of feed, repair of body tissues, formation of new tissue, and release of energy for body heat.</a:t>
            </a:r>
          </a:p>
          <a:p>
            <a:endParaRPr lang="en-GB" sz="2200" dirty="0">
              <a:latin typeface="Century Gothic" panose="020B0502020202020204" pitchFamily="34" charset="0"/>
            </a:endParaRPr>
          </a:p>
        </p:txBody>
      </p:sp>
    </p:spTree>
    <p:extLst>
      <p:ext uri="{BB962C8B-B14F-4D97-AF65-F5344CB8AC3E}">
        <p14:creationId xmlns:p14="http://schemas.microsoft.com/office/powerpoint/2010/main" val="1270753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8817" y="312782"/>
            <a:ext cx="8426360" cy="6061891"/>
          </a:xfrm>
        </p:spPr>
        <p:txBody>
          <a:bodyPr>
            <a:noAutofit/>
          </a:bodyPr>
          <a:lstStyle/>
          <a:p>
            <a:pPr marL="0" indent="0">
              <a:buNone/>
            </a:pPr>
            <a:r>
              <a:rPr lang="en-GB" sz="2200" b="1" dirty="0">
                <a:latin typeface="Century Gothic" panose="020B0502020202020204" pitchFamily="34" charset="0"/>
              </a:rPr>
              <a:t>Minerals</a:t>
            </a:r>
          </a:p>
          <a:p>
            <a:r>
              <a:rPr lang="en-GB" sz="2200" dirty="0">
                <a:latin typeface="Century Gothic" panose="020B0502020202020204" pitchFamily="34" charset="0"/>
              </a:rPr>
              <a:t>Minerals are divided into two groups. Major minerals are those needed in large amounts. Trace minerals are those needed in small amounts.</a:t>
            </a:r>
          </a:p>
          <a:p>
            <a:r>
              <a:rPr lang="en-GB" sz="2200" dirty="0">
                <a:latin typeface="Century Gothic" panose="020B0502020202020204" pitchFamily="34" charset="0"/>
              </a:rPr>
              <a:t>Major minerals that are often lacking in animal rations are salt (sodium and chlorine), calcium, and phosphorus. It is important to make sure that these minerals are included in the animal’s ration. The ratio of calcium to phosphorus in swine rations should not be greater than 1.5 to 1. The ratio of calcium to phosphorus for ruminants can be as high as 7 to 1.</a:t>
            </a:r>
          </a:p>
          <a:p>
            <a:r>
              <a:rPr lang="en-GB" sz="2200" dirty="0">
                <a:latin typeface="Century Gothic" panose="020B0502020202020204" pitchFamily="34" charset="0"/>
              </a:rPr>
              <a:t>Trace minerals that are necessary for animals include potassium, sulphur, magnesium, iron, iodine, copper, cobalt, zinc, manganese, boron, molybdenum, fluorine, and selenium. Most of these trace minerals are found in common animal feeds.</a:t>
            </a:r>
            <a:endParaRPr lang="en-GB" sz="2200" b="1" dirty="0">
              <a:latin typeface="Century Gothic" panose="020B0502020202020204" pitchFamily="34" charset="0"/>
            </a:endParaRPr>
          </a:p>
        </p:txBody>
      </p:sp>
    </p:spTree>
    <p:extLst>
      <p:ext uri="{BB962C8B-B14F-4D97-AF65-F5344CB8AC3E}">
        <p14:creationId xmlns:p14="http://schemas.microsoft.com/office/powerpoint/2010/main" val="3435975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8638" y="482600"/>
            <a:ext cx="7886700" cy="6166394"/>
          </a:xfrm>
        </p:spPr>
        <p:txBody>
          <a:bodyPr>
            <a:noAutofit/>
          </a:bodyPr>
          <a:lstStyle/>
          <a:p>
            <a:pPr marL="0" indent="0">
              <a:buNone/>
            </a:pPr>
            <a:r>
              <a:rPr lang="en-GB" sz="2200" b="1" dirty="0">
                <a:latin typeface="Century Gothic" panose="020B0502020202020204" pitchFamily="34" charset="0"/>
              </a:rPr>
              <a:t>Vitamins </a:t>
            </a:r>
          </a:p>
          <a:p>
            <a:r>
              <a:rPr lang="en-GB" sz="2200" dirty="0">
                <a:latin typeface="Century Gothic" panose="020B0502020202020204" pitchFamily="34" charset="0"/>
              </a:rPr>
              <a:t>They are trace organic compounds. In other words, they are needed only in very small amounts by animals. All vitamins contain carbon, but they are not like chemically.</a:t>
            </a:r>
          </a:p>
          <a:p>
            <a:r>
              <a:rPr lang="en-GB" sz="2200" dirty="0">
                <a:latin typeface="Century Gothic" panose="020B0502020202020204" pitchFamily="34" charset="0"/>
              </a:rPr>
              <a:t>Vitamins are divided into two groups: fat-soluble and water-soluble.</a:t>
            </a:r>
          </a:p>
          <a:p>
            <a:r>
              <a:rPr lang="en-GB" sz="2200" dirty="0">
                <a:latin typeface="Century Gothic" panose="020B0502020202020204" pitchFamily="34" charset="0"/>
              </a:rPr>
              <a:t>The fat-soluble vitamins are A, D, E, and K. Vitamin A is associated with healthy eyes, good conception rate, and disease resistance. Vitamin D is associated with good bone development and the mineral balance of the blood. </a:t>
            </a:r>
          </a:p>
          <a:p>
            <a:r>
              <a:rPr lang="en-GB" sz="2200" dirty="0">
                <a:latin typeface="Century Gothic" panose="020B0502020202020204" pitchFamily="34" charset="0"/>
              </a:rPr>
              <a:t>Vitamin E is necessary for normal reproduction and muscle development.</a:t>
            </a:r>
          </a:p>
        </p:txBody>
      </p:sp>
    </p:spTree>
    <p:extLst>
      <p:ext uri="{BB962C8B-B14F-4D97-AF65-F5344CB8AC3E}">
        <p14:creationId xmlns:p14="http://schemas.microsoft.com/office/powerpoint/2010/main" val="1110089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8638" y="482600"/>
            <a:ext cx="7886700" cy="4351338"/>
          </a:xfrm>
        </p:spPr>
        <p:txBody>
          <a:bodyPr>
            <a:noAutofit/>
          </a:bodyPr>
          <a:lstStyle/>
          <a:p>
            <a:pPr marL="0" indent="0">
              <a:buNone/>
            </a:pPr>
            <a:r>
              <a:rPr lang="en-GB" sz="2200" b="1" dirty="0">
                <a:latin typeface="Century Gothic" panose="020B0502020202020204" pitchFamily="34" charset="0"/>
              </a:rPr>
              <a:t>Vitamins </a:t>
            </a:r>
          </a:p>
          <a:p>
            <a:pPr marL="0" indent="0">
              <a:buNone/>
            </a:pPr>
            <a:endParaRPr lang="en-GB" sz="2200" b="1" dirty="0">
              <a:latin typeface="Century Gothic" panose="020B0502020202020204" pitchFamily="34" charset="0"/>
            </a:endParaRPr>
          </a:p>
          <a:p>
            <a:r>
              <a:rPr lang="en-GB" sz="2200" dirty="0">
                <a:latin typeface="Century Gothic" panose="020B0502020202020204" pitchFamily="34" charset="0"/>
              </a:rPr>
              <a:t>Recent research suggests that increasing the level of vitamin E alone or in combination with selenium in the diet may help strengthen the immune system of several animal species. </a:t>
            </a:r>
          </a:p>
          <a:p>
            <a:r>
              <a:rPr lang="en-GB" sz="2200" dirty="0">
                <a:latin typeface="Century Gothic" panose="020B0502020202020204" pitchFamily="34" charset="0"/>
              </a:rPr>
              <a:t>Vitamin K helps the blood to clot and prevents excessive bleeding from injuries. </a:t>
            </a:r>
          </a:p>
          <a:p>
            <a:r>
              <a:rPr lang="en-GB" sz="2200" dirty="0">
                <a:latin typeface="Century Gothic" panose="020B0502020202020204" pitchFamily="34" charset="0"/>
              </a:rPr>
              <a:t>Some sources of the fat-soluble vitamins are green leafy hay, yellow maize, fish oils, wheat germ oil, and green pastures. Vitamin D is produced in the animal’s body if the animal is in direct sunlight part of the day.</a:t>
            </a:r>
          </a:p>
        </p:txBody>
      </p:sp>
    </p:spTree>
    <p:extLst>
      <p:ext uri="{BB962C8B-B14F-4D97-AF65-F5344CB8AC3E}">
        <p14:creationId xmlns:p14="http://schemas.microsoft.com/office/powerpoint/2010/main" val="1836997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7" y="299719"/>
            <a:ext cx="8660673" cy="6244771"/>
          </a:xfrm>
        </p:spPr>
        <p:txBody>
          <a:bodyPr>
            <a:noAutofit/>
          </a:bodyPr>
          <a:lstStyle/>
          <a:p>
            <a:pPr marL="0" indent="0">
              <a:buNone/>
            </a:pPr>
            <a:r>
              <a:rPr lang="en-GB" sz="2200" b="1" dirty="0">
                <a:latin typeface="Century Gothic" panose="020B0502020202020204" pitchFamily="34" charset="0"/>
              </a:rPr>
              <a:t>Vitamins </a:t>
            </a:r>
          </a:p>
          <a:p>
            <a:r>
              <a:rPr lang="en-GB" sz="2200" dirty="0">
                <a:latin typeface="Century Gothic" panose="020B0502020202020204" pitchFamily="34" charset="0"/>
              </a:rPr>
              <a:t>The water-soluble vitamins include vitamin C and the B-complex vitamins.</a:t>
            </a:r>
          </a:p>
          <a:p>
            <a:r>
              <a:rPr lang="en-GB" sz="2200" dirty="0">
                <a:latin typeface="Century Gothic" panose="020B0502020202020204" pitchFamily="34" charset="0"/>
              </a:rPr>
              <a:t>The B-complex includes many different vitamins. These are: B1 (thiamine), riboflavin, niacin, pyridoxine, pantothenic acid, biotin, folic acid, benzoic acid, choline, and vitamin B12.</a:t>
            </a:r>
          </a:p>
          <a:p>
            <a:r>
              <a:rPr lang="en-GB" sz="2200" dirty="0">
                <a:latin typeface="Century Gothic" panose="020B0502020202020204" pitchFamily="34" charset="0"/>
              </a:rPr>
              <a:t>Vitamin C helps in teeth and bone formation and the prevention of infections.</a:t>
            </a:r>
          </a:p>
          <a:p>
            <a:r>
              <a:rPr lang="en-GB" sz="2200" dirty="0">
                <a:latin typeface="Century Gothic" panose="020B0502020202020204" pitchFamily="34" charset="0"/>
              </a:rPr>
              <a:t>The B-complex vitamins are necessary for chemical reactions in the animal’s body. They help improve appetite, growth, and reproduction.</a:t>
            </a:r>
          </a:p>
          <a:p>
            <a:r>
              <a:rPr lang="en-GB" sz="2200" dirty="0">
                <a:latin typeface="Century Gothic" panose="020B0502020202020204" pitchFamily="34" charset="0"/>
              </a:rPr>
              <a:t>Some sources of vitamin C are green pastures and hay. Some sources of the B-complex vitamins are green pastures, cereal grains, green leafy hay, milk, fish </a:t>
            </a:r>
            <a:r>
              <a:rPr lang="en-GB" sz="2200" dirty="0" err="1">
                <a:latin typeface="Century Gothic" panose="020B0502020202020204" pitchFamily="34" charset="0"/>
              </a:rPr>
              <a:t>solubles</a:t>
            </a:r>
            <a:r>
              <a:rPr lang="en-GB" sz="2200" dirty="0">
                <a:latin typeface="Century Gothic" panose="020B0502020202020204" pitchFamily="34" charset="0"/>
              </a:rPr>
              <a:t>, and certain animal proteins.</a:t>
            </a:r>
          </a:p>
        </p:txBody>
      </p:sp>
    </p:spTree>
    <p:extLst>
      <p:ext uri="{BB962C8B-B14F-4D97-AF65-F5344CB8AC3E}">
        <p14:creationId xmlns:p14="http://schemas.microsoft.com/office/powerpoint/2010/main" val="3759818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9006" y="225425"/>
            <a:ext cx="8712925" cy="6501945"/>
          </a:xfrm>
        </p:spPr>
        <p:txBody>
          <a:bodyPr>
            <a:noAutofit/>
          </a:bodyPr>
          <a:lstStyle/>
          <a:p>
            <a:pPr marL="0" indent="0">
              <a:lnSpc>
                <a:spcPct val="150000"/>
              </a:lnSpc>
              <a:buNone/>
            </a:pPr>
            <a:r>
              <a:rPr lang="en-GB" b="1" dirty="0">
                <a:solidFill>
                  <a:srgbClr val="00B0F0"/>
                </a:solidFill>
                <a:latin typeface="Century Gothic" panose="020B0502020202020204" pitchFamily="34" charset="0"/>
              </a:rPr>
              <a:t>FEEDS CLASSIFICATION</a:t>
            </a:r>
          </a:p>
          <a:p>
            <a:pPr marL="514350" indent="-514350">
              <a:buFont typeface="+mj-lt"/>
              <a:buAutoNum type="romanLcPeriod"/>
            </a:pPr>
            <a:r>
              <a:rPr lang="en-GB" sz="2200" u="sng" dirty="0">
                <a:latin typeface="Century Gothic" panose="020B0502020202020204" pitchFamily="34" charset="0"/>
              </a:rPr>
              <a:t>Roughages</a:t>
            </a:r>
          </a:p>
          <a:p>
            <a:r>
              <a:rPr lang="en-GB" sz="2200" dirty="0">
                <a:latin typeface="Century Gothic" panose="020B0502020202020204" pitchFamily="34" charset="0"/>
              </a:rPr>
              <a:t>They have more than 18% Crude Fibre.</a:t>
            </a:r>
          </a:p>
          <a:p>
            <a:pPr marL="457200" indent="-457200">
              <a:buFont typeface="+mj-lt"/>
              <a:buAutoNum type="alphaLcPeriod"/>
            </a:pPr>
            <a:r>
              <a:rPr lang="en-GB" sz="2200" dirty="0">
                <a:latin typeface="Century Gothic" panose="020B0502020202020204" pitchFamily="34" charset="0"/>
              </a:rPr>
              <a:t>Succulents - pasture, grazed plants</a:t>
            </a:r>
          </a:p>
          <a:p>
            <a:pPr marL="457200" indent="-457200">
              <a:buFont typeface="+mj-lt"/>
              <a:buAutoNum type="alphaLcPeriod"/>
            </a:pPr>
            <a:r>
              <a:rPr lang="en-GB" sz="2200" dirty="0">
                <a:latin typeface="Century Gothic" panose="020B0502020202020204" pitchFamily="34" charset="0"/>
              </a:rPr>
              <a:t>Dry roughages – hay (grass, straw, legume), maize cobs, cotton hulls</a:t>
            </a:r>
          </a:p>
          <a:p>
            <a:pPr marL="457200" indent="-457200">
              <a:buFont typeface="+mj-lt"/>
              <a:buAutoNum type="alphaLcPeriod"/>
            </a:pPr>
            <a:endParaRPr lang="en-GB" sz="2200" dirty="0">
              <a:latin typeface="Century Gothic" panose="020B0502020202020204" pitchFamily="34" charset="0"/>
            </a:endParaRPr>
          </a:p>
          <a:p>
            <a:pPr marL="514350" indent="-514350">
              <a:buFont typeface="+mj-lt"/>
              <a:buAutoNum type="romanLcPeriod" startAt="2"/>
            </a:pPr>
            <a:r>
              <a:rPr lang="en-GB" sz="2200" u="sng" dirty="0">
                <a:latin typeface="Century Gothic" panose="020B0502020202020204" pitchFamily="34" charset="0"/>
              </a:rPr>
              <a:t>Energy Feeds</a:t>
            </a:r>
          </a:p>
          <a:p>
            <a:r>
              <a:rPr lang="en-GB" sz="2200" dirty="0">
                <a:latin typeface="Century Gothic" panose="020B0502020202020204" pitchFamily="34" charset="0"/>
              </a:rPr>
              <a:t>Have less than 18% CF and less than 20% CP</a:t>
            </a:r>
          </a:p>
          <a:p>
            <a:r>
              <a:rPr lang="en-GB" sz="2200" dirty="0">
                <a:latin typeface="Century Gothic" panose="020B0502020202020204" pitchFamily="34" charset="0"/>
              </a:rPr>
              <a:t>Examples include cereal grains, bran, molasses, roots</a:t>
            </a:r>
          </a:p>
          <a:p>
            <a:endParaRPr lang="en-GB" sz="2200" dirty="0">
              <a:latin typeface="Century Gothic" panose="020B0502020202020204" pitchFamily="34" charset="0"/>
            </a:endParaRPr>
          </a:p>
          <a:p>
            <a:pPr marL="514350" indent="-514350">
              <a:buFont typeface="+mj-lt"/>
              <a:buAutoNum type="romanLcPeriod" startAt="3"/>
            </a:pPr>
            <a:r>
              <a:rPr lang="en-GB" sz="2200" u="sng" dirty="0">
                <a:latin typeface="Century Gothic" panose="020B0502020202020204" pitchFamily="34" charset="0"/>
              </a:rPr>
              <a:t>Protein feeds/Supplements</a:t>
            </a:r>
          </a:p>
          <a:p>
            <a:r>
              <a:rPr lang="en-GB" sz="2200" dirty="0">
                <a:latin typeface="Century Gothic" panose="020B0502020202020204" pitchFamily="34" charset="0"/>
              </a:rPr>
              <a:t>They have more than 20% CP e.g. methionine</a:t>
            </a:r>
          </a:p>
          <a:p>
            <a:r>
              <a:rPr lang="en-GB" sz="2200" dirty="0">
                <a:latin typeface="Century Gothic" panose="020B0502020202020204" pitchFamily="34" charset="0"/>
              </a:rPr>
              <a:t>They can originate from animal and plants</a:t>
            </a:r>
          </a:p>
        </p:txBody>
      </p:sp>
    </p:spTree>
    <p:extLst>
      <p:ext uri="{BB962C8B-B14F-4D97-AF65-F5344CB8AC3E}">
        <p14:creationId xmlns:p14="http://schemas.microsoft.com/office/powerpoint/2010/main" val="143929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8638" y="482600"/>
            <a:ext cx="7886700" cy="4351338"/>
          </a:xfrm>
        </p:spPr>
        <p:txBody>
          <a:bodyPr>
            <a:noAutofit/>
          </a:bodyPr>
          <a:lstStyle/>
          <a:p>
            <a:pPr marL="0" indent="0">
              <a:buNone/>
            </a:pPr>
            <a:r>
              <a:rPr lang="en-GB" sz="2400" b="1" dirty="0">
                <a:latin typeface="Century Gothic" panose="020B0502020202020204" pitchFamily="34" charset="0"/>
              </a:rPr>
              <a:t>Feeds Classification</a:t>
            </a:r>
          </a:p>
          <a:p>
            <a:pPr marL="0" indent="0">
              <a:buNone/>
            </a:pPr>
            <a:endParaRPr lang="en-GB" sz="2200" b="1" dirty="0">
              <a:latin typeface="Century Gothic" panose="020B0502020202020204" pitchFamily="34" charset="0"/>
            </a:endParaRPr>
          </a:p>
          <a:p>
            <a:pPr marL="514350" indent="-514350">
              <a:buFont typeface="+mj-lt"/>
              <a:buAutoNum type="romanLcPeriod" startAt="4"/>
            </a:pPr>
            <a:r>
              <a:rPr lang="en-GB" sz="2200" u="sng" dirty="0">
                <a:latin typeface="Century Gothic" panose="020B0502020202020204" pitchFamily="34" charset="0"/>
              </a:rPr>
              <a:t>Mineral Supplement</a:t>
            </a:r>
          </a:p>
          <a:p>
            <a:r>
              <a:rPr lang="en-GB" sz="2200" dirty="0">
                <a:latin typeface="Century Gothic" panose="020B0502020202020204" pitchFamily="34" charset="0"/>
              </a:rPr>
              <a:t>They provide different types of minerals e.g. Calcium carbonate, Limestone, Ferrous sulphate</a:t>
            </a:r>
          </a:p>
          <a:p>
            <a:pPr marL="457200" indent="-457200">
              <a:buFont typeface="+mj-lt"/>
              <a:buAutoNum type="alphaLcPeriod"/>
            </a:pPr>
            <a:endParaRPr lang="en-GB" sz="2200" dirty="0">
              <a:latin typeface="Century Gothic" panose="020B0502020202020204" pitchFamily="34" charset="0"/>
            </a:endParaRPr>
          </a:p>
          <a:p>
            <a:pPr marL="514350" indent="-514350">
              <a:buFont typeface="+mj-lt"/>
              <a:buAutoNum type="romanLcPeriod" startAt="5"/>
            </a:pPr>
            <a:r>
              <a:rPr lang="en-GB" sz="2200" u="sng" dirty="0">
                <a:latin typeface="Century Gothic" panose="020B0502020202020204" pitchFamily="34" charset="0"/>
              </a:rPr>
              <a:t>Vitamin Supplements</a:t>
            </a:r>
          </a:p>
          <a:p>
            <a:r>
              <a:rPr lang="en-GB" sz="2200" dirty="0">
                <a:latin typeface="Century Gothic" panose="020B0502020202020204" pitchFamily="34" charset="0"/>
              </a:rPr>
              <a:t>Provide vitamins e.g. Biotin, Niacin, riboflavin</a:t>
            </a:r>
          </a:p>
          <a:p>
            <a:endParaRPr lang="en-GB" sz="2200" dirty="0">
              <a:latin typeface="Century Gothic" panose="020B0502020202020204" pitchFamily="34" charset="0"/>
            </a:endParaRPr>
          </a:p>
          <a:p>
            <a:pPr marL="514350" indent="-514350">
              <a:buFont typeface="+mj-lt"/>
              <a:buAutoNum type="romanLcPeriod" startAt="3"/>
            </a:pPr>
            <a:r>
              <a:rPr lang="en-GB" sz="2200" u="sng" dirty="0">
                <a:latin typeface="Century Gothic" panose="020B0502020202020204" pitchFamily="34" charset="0"/>
              </a:rPr>
              <a:t>Non-nutritive Additives</a:t>
            </a:r>
          </a:p>
          <a:p>
            <a:r>
              <a:rPr lang="en-GB" sz="2200" dirty="0">
                <a:latin typeface="Century Gothic" panose="020B0502020202020204" pitchFamily="34" charset="0"/>
              </a:rPr>
              <a:t>These include antibiotics, antioxidants, </a:t>
            </a:r>
            <a:r>
              <a:rPr lang="en-GB" sz="2200" dirty="0" err="1">
                <a:latin typeface="Century Gothic" panose="020B0502020202020204" pitchFamily="34" charset="0"/>
              </a:rPr>
              <a:t>coccidiostats</a:t>
            </a:r>
            <a:r>
              <a:rPr lang="en-GB" sz="2200" dirty="0">
                <a:latin typeface="Century Gothic" panose="020B0502020202020204" pitchFamily="34" charset="0"/>
              </a:rPr>
              <a:t>, enzymes and hormones.</a:t>
            </a:r>
          </a:p>
        </p:txBody>
      </p:sp>
    </p:spTree>
    <p:extLst>
      <p:ext uri="{BB962C8B-B14F-4D97-AF65-F5344CB8AC3E}">
        <p14:creationId xmlns:p14="http://schemas.microsoft.com/office/powerpoint/2010/main" val="41046406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13921</TotalTime>
  <Words>2513</Words>
  <Application>Microsoft Office PowerPoint</Application>
  <PresentationFormat>On-screen Show (4:3)</PresentationFormat>
  <Paragraphs>173</Paragraphs>
  <Slides>24</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Century Gothic</vt:lpstr>
      <vt:lpstr>Wingdings 3</vt:lpstr>
      <vt:lpstr>Ion</vt:lpstr>
      <vt:lpstr>Animal Nutrition and Feed Formulation Technology </vt:lpstr>
      <vt:lpstr>Animal Nutrition and Feed Formulation Technology </vt:lpstr>
      <vt:lpstr>Animal Nutrition and Feed Formulation Technology </vt:lpstr>
      <vt:lpstr>Animal Nutrition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Mike Luwe</dc:creator>
  <cp:lastModifiedBy>JOSEPH D. LIWONDE</cp:lastModifiedBy>
  <cp:revision>314</cp:revision>
  <dcterms:created xsi:type="dcterms:W3CDTF">2018-04-27T21:44:57Z</dcterms:created>
  <dcterms:modified xsi:type="dcterms:W3CDTF">2026-02-10T16:45:33Z</dcterms:modified>
</cp:coreProperties>
</file>