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416" r:id="rId3"/>
    <p:sldId id="503" r:id="rId4"/>
    <p:sldId id="450" r:id="rId5"/>
    <p:sldId id="451" r:id="rId6"/>
    <p:sldId id="472" r:id="rId7"/>
    <p:sldId id="499" r:id="rId8"/>
    <p:sldId id="476" r:id="rId9"/>
    <p:sldId id="475" r:id="rId10"/>
    <p:sldId id="502" r:id="rId11"/>
    <p:sldId id="445" r:id="rId12"/>
    <p:sldId id="501" r:id="rId13"/>
    <p:sldId id="437" r:id="rId14"/>
    <p:sldId id="456" r:id="rId15"/>
    <p:sldId id="507" r:id="rId16"/>
    <p:sldId id="508" r:id="rId17"/>
    <p:sldId id="506" r:id="rId18"/>
    <p:sldId id="509" r:id="rId19"/>
    <p:sldId id="483" r:id="rId20"/>
    <p:sldId id="510" r:id="rId21"/>
    <p:sldId id="512" r:id="rId22"/>
    <p:sldId id="511" r:id="rId23"/>
    <p:sldId id="504" r:id="rId24"/>
    <p:sldId id="482" r:id="rId25"/>
    <p:sldId id="513" r:id="rId26"/>
    <p:sldId id="467" r:id="rId27"/>
    <p:sldId id="468" r:id="rId28"/>
    <p:sldId id="44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622" autoAdjust="0"/>
  </p:normalViewPr>
  <p:slideViewPr>
    <p:cSldViewPr snapToGrid="0">
      <p:cViewPr varScale="1">
        <p:scale>
          <a:sx n="73" d="100"/>
          <a:sy n="73" d="100"/>
        </p:scale>
        <p:origin x="12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C18B1-72DE-48AA-BFD7-0D5A7F9330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1D7C1-5A09-4F0A-AD83-58B77AAF2B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46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06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52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56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53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84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40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46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77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97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37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90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CF3B9-C39F-47CA-9493-2CE341F9200B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0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9745" y="1122363"/>
            <a:ext cx="8475648" cy="2726306"/>
          </a:xfrm>
        </p:spPr>
        <p:txBody>
          <a:bodyPr>
            <a:normAutofit/>
          </a:bodyPr>
          <a:lstStyle/>
          <a:p>
            <a:r>
              <a:rPr lang="en-GB" b="1" dirty="0"/>
              <a:t>Dairy Production and Management</a:t>
            </a:r>
          </a:p>
        </p:txBody>
      </p:sp>
      <p:pic>
        <p:nvPicPr>
          <p:cNvPr id="5" name="Picture 4" descr="1 Principles of Livestock Production 1 BTCD 2303.pptx [Autosaved] - Microsoft PowerPoint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1" t="28367" r="21406" b="65887"/>
          <a:stretch/>
        </p:blipFill>
        <p:spPr>
          <a:xfrm>
            <a:off x="389744" y="284813"/>
            <a:ext cx="8475649" cy="794479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971550" y="4987925"/>
            <a:ext cx="6858000" cy="165576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Michael Luwe</a:t>
            </a:r>
          </a:p>
          <a:p>
            <a:r>
              <a:rPr lang="en-GB" b="1" dirty="0">
                <a:solidFill>
                  <a:srgbClr val="0070C0"/>
                </a:solidFill>
              </a:rPr>
              <a:t>Department of Animal Health and Livestock Development</a:t>
            </a:r>
          </a:p>
        </p:txBody>
      </p:sp>
    </p:spTree>
    <p:extLst>
      <p:ext uri="{BB962C8B-B14F-4D97-AF65-F5344CB8AC3E}">
        <p14:creationId xmlns:p14="http://schemas.microsoft.com/office/powerpoint/2010/main" val="2895718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Advantages of Dairy Animals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576243"/>
            <a:ext cx="814647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noProof="1">
                <a:latin typeface="Century Gothic" panose="020B0502020202020204" pitchFamily="34" charset="0"/>
              </a:rPr>
              <a:t>Milk availability as long as the cow is lactating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Improved nutrition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Stable income from sales</a:t>
            </a:r>
          </a:p>
          <a:p>
            <a:pPr>
              <a:lnSpc>
                <a:spcPct val="100000"/>
              </a:lnSpc>
            </a:pPr>
            <a:r>
              <a:rPr lang="en-US" sz="2400" noProof="1">
                <a:latin typeface="Century Gothic" panose="020B0502020202020204" pitchFamily="34" charset="0"/>
              </a:rPr>
              <a:t>Compliments well in mixed farming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Nutrient recycling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Wastes from crops = feed/bedding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Dung + bedding = manure for crops</a:t>
            </a:r>
          </a:p>
          <a:p>
            <a:pPr>
              <a:lnSpc>
                <a:spcPct val="100000"/>
              </a:lnSpc>
            </a:pPr>
            <a:r>
              <a:rPr lang="en-US" sz="2400" noProof="1">
                <a:latin typeface="Century Gothic" panose="020B0502020202020204" pitchFamily="34" charset="0"/>
              </a:rPr>
              <a:t>High profits with good management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Feeding, disease control, housing</a:t>
            </a:r>
          </a:p>
        </p:txBody>
      </p:sp>
    </p:spTree>
    <p:extLst>
      <p:ext uri="{BB962C8B-B14F-4D97-AF65-F5344CB8AC3E}">
        <p14:creationId xmlns:p14="http://schemas.microsoft.com/office/powerpoint/2010/main" val="155867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Disadvantages of Dairy Animals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576243"/>
            <a:ext cx="814647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noProof="1">
                <a:latin typeface="Century Gothic" panose="020B0502020202020204" pitchFamily="34" charset="0"/>
              </a:rPr>
              <a:t>Capital intensive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Purchase of initial stock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Running costs – buckets, cooling system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Buildings, milking yard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Pasture development</a:t>
            </a:r>
          </a:p>
          <a:p>
            <a:pPr>
              <a:lnSpc>
                <a:spcPct val="100000"/>
              </a:lnSpc>
            </a:pPr>
            <a:r>
              <a:rPr lang="en-US" sz="2400" noProof="1">
                <a:latin typeface="Century Gothic" panose="020B0502020202020204" pitchFamily="34" charset="0"/>
              </a:rPr>
              <a:t>Proper management requires training</a:t>
            </a:r>
          </a:p>
          <a:p>
            <a:pPr>
              <a:lnSpc>
                <a:spcPct val="100000"/>
              </a:lnSpc>
            </a:pPr>
            <a:r>
              <a:rPr lang="en-US" sz="2400" noProof="1">
                <a:latin typeface="Century Gothic" panose="020B0502020202020204" pitchFamily="34" charset="0"/>
              </a:rPr>
              <a:t>Disease control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Mastitis chances increase with increased yield</a:t>
            </a:r>
          </a:p>
          <a:p>
            <a:pPr>
              <a:lnSpc>
                <a:spcPct val="100000"/>
              </a:lnSpc>
            </a:pPr>
            <a:r>
              <a:rPr lang="en-US" sz="2400" noProof="1">
                <a:latin typeface="Century Gothic" panose="020B0502020202020204" pitchFamily="34" charset="0"/>
              </a:rPr>
              <a:t>Competition with milk substitutes –e.g soya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noProof="1">
                <a:latin typeface="Century Gothic" panose="020B0502020202020204" pitchFamily="34" charset="0"/>
              </a:rPr>
              <a:t>However not yet an issue in Mw</a:t>
            </a:r>
          </a:p>
        </p:txBody>
      </p:sp>
    </p:spTree>
    <p:extLst>
      <p:ext uri="{BB962C8B-B14F-4D97-AF65-F5344CB8AC3E}">
        <p14:creationId xmlns:p14="http://schemas.microsoft.com/office/powerpoint/2010/main" val="285004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Cattle Breeds for Dairy Production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576243"/>
            <a:ext cx="8146472" cy="435133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entury Gothic" panose="020B0502020202020204" pitchFamily="34" charset="0"/>
              </a:rPr>
              <a:t>Holstein-Friesian</a:t>
            </a:r>
          </a:p>
          <a:p>
            <a:r>
              <a:rPr lang="en-US" sz="2400" dirty="0">
                <a:solidFill>
                  <a:srgbClr val="FF0000"/>
                </a:solidFill>
                <a:latin typeface="Century Gothic" panose="020B0502020202020204" pitchFamily="34" charset="0"/>
              </a:rPr>
              <a:t>Jersey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Guernsey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Ayrshire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Brown Swiss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Milking Shorthorns</a:t>
            </a:r>
            <a:endParaRPr lang="nl-BE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4" name="Tekstvak 3"/>
          <p:cNvSpPr txBox="1"/>
          <p:nvPr/>
        </p:nvSpPr>
        <p:spPr>
          <a:xfrm>
            <a:off x="1637730" y="4749421"/>
            <a:ext cx="6810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gency FB" panose="020B0503020202020204" pitchFamily="34" charset="0"/>
              </a:rPr>
              <a:t>**Only Holstein-Friesian and Jersey are commonly found in Malawi</a:t>
            </a:r>
          </a:p>
        </p:txBody>
      </p:sp>
    </p:spTree>
    <p:extLst>
      <p:ext uri="{BB962C8B-B14F-4D97-AF65-F5344CB8AC3E}">
        <p14:creationId xmlns:p14="http://schemas.microsoft.com/office/powerpoint/2010/main" val="144978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Beef breeds in Malawi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924329"/>
            <a:ext cx="4645408" cy="28933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Breed originated in the Netherlands.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Black and white but a red and </a:t>
            </a:r>
            <a:r>
              <a:rPr lang="en-GB" sz="2400" dirty="0">
                <a:latin typeface="Century Gothic" panose="020B0502020202020204" pitchFamily="34" charset="0"/>
              </a:rPr>
              <a:t>white colour may appear </a:t>
            </a:r>
            <a:r>
              <a:rPr lang="en-US" sz="2400" dirty="0">
                <a:latin typeface="Century Gothic" panose="020B0502020202020204" pitchFamily="34" charset="0"/>
              </a:rPr>
              <a:t>occasionally </a:t>
            </a:r>
            <a:r>
              <a:rPr lang="en-GB" sz="2400" dirty="0">
                <a:latin typeface="Century Gothic" panose="020B0502020202020204" pitchFamily="34" charset="0"/>
              </a:rPr>
              <a:t>due to the </a:t>
            </a:r>
            <a:r>
              <a:rPr lang="en-US" sz="2400" dirty="0">
                <a:latin typeface="Century Gothic" panose="020B0502020202020204" pitchFamily="34" charset="0"/>
              </a:rPr>
              <a:t>presence of a recessive gene</a:t>
            </a:r>
            <a:r>
              <a:rPr lang="en-GB" sz="2400" dirty="0">
                <a:latin typeface="Century Gothic" panose="020B0502020202020204" pitchFamily="34" charset="0"/>
              </a:rPr>
              <a:t>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4" name="Rechthoek 3"/>
          <p:cNvSpPr/>
          <p:nvPr/>
        </p:nvSpPr>
        <p:spPr>
          <a:xfrm>
            <a:off x="573206" y="1364773"/>
            <a:ext cx="5895833" cy="597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lnSpc>
                <a:spcPct val="100000"/>
              </a:lnSpc>
              <a:buFont typeface="+mj-lt"/>
              <a:buAutoNum type="romanLcPeriod"/>
            </a:pPr>
            <a:r>
              <a:rPr lang="en-GB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Holstein-Friesian</a:t>
            </a:r>
          </a:p>
        </p:txBody>
      </p:sp>
      <p:sp>
        <p:nvSpPr>
          <p:cNvPr id="5" name="Rechthoek 4"/>
          <p:cNvSpPr/>
          <p:nvPr/>
        </p:nvSpPr>
        <p:spPr>
          <a:xfrm>
            <a:off x="545910" y="5076961"/>
            <a:ext cx="8161362" cy="8734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0" indent="-258763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They are 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adaptable to a wide range of conditions.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Holsteins are the largest of the dairy breeds. Mature cows weigh about 680 kg and bulls weigh about 998 kg. 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Cows have large </a:t>
            </a: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udders; and 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average about 3.5 percent butter fat</a:t>
            </a: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  <a:endParaRPr lang="en-US" sz="2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5" descr="img110621137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445" y="1772608"/>
            <a:ext cx="3275458" cy="24765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055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Beef breeds in Malawi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2224583"/>
            <a:ext cx="4522578" cy="231141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Originated on the Isle of Jersey, which is located in the English Channel off the coast of France.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Cream to light fawn to almost black in color.</a:t>
            </a:r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4" name="Rechthoek 3"/>
          <p:cNvSpPr/>
          <p:nvPr/>
        </p:nvSpPr>
        <p:spPr>
          <a:xfrm>
            <a:off x="573206" y="1569493"/>
            <a:ext cx="5895833" cy="597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lnSpc>
                <a:spcPct val="100000"/>
              </a:lnSpc>
              <a:buFont typeface="+mj-lt"/>
              <a:buAutoNum type="romanLcPeriod" startAt="2"/>
            </a:pPr>
            <a:r>
              <a:rPr lang="en-GB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Jersey</a:t>
            </a:r>
          </a:p>
        </p:txBody>
      </p:sp>
      <p:sp>
        <p:nvSpPr>
          <p:cNvPr id="5" name="Rechthoek 4"/>
          <p:cNvSpPr/>
          <p:nvPr/>
        </p:nvSpPr>
        <p:spPr>
          <a:xfrm>
            <a:off x="559558" y="4408227"/>
            <a:ext cx="8161361" cy="2060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Smallest of the dairy breeds. Mature cows weigh about 453 kg and bulls weigh about 725 kg.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They average about 5.4 percent milkfat and rank first among the dairy breeds in average milkfat produced per cow.</a:t>
            </a:r>
            <a:endParaRPr lang="en-GB" sz="2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5" descr="Sandy002m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95" b="9340"/>
          <a:stretch/>
        </p:blipFill>
        <p:spPr bwMode="auto">
          <a:xfrm>
            <a:off x="4974942" y="1736938"/>
            <a:ext cx="3350192" cy="271669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05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kstvak 69"/>
          <p:cNvSpPr txBox="1"/>
          <p:nvPr/>
        </p:nvSpPr>
        <p:spPr>
          <a:xfrm>
            <a:off x="6487306" y="2815185"/>
            <a:ext cx="83706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Dry period</a:t>
            </a:r>
          </a:p>
        </p:txBody>
      </p:sp>
      <p:sp>
        <p:nvSpPr>
          <p:cNvPr id="40" name="Rechthoek 39"/>
          <p:cNvSpPr/>
          <p:nvPr/>
        </p:nvSpPr>
        <p:spPr>
          <a:xfrm>
            <a:off x="3698544" y="4915474"/>
            <a:ext cx="2279176" cy="297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Gestation period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74241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Lactation Curve and Pregnancy</a:t>
            </a:r>
          </a:p>
        </p:txBody>
      </p:sp>
      <p:cxnSp>
        <p:nvCxnSpPr>
          <p:cNvPr id="7" name="Rechte verbindingslijn 6"/>
          <p:cNvCxnSpPr/>
          <p:nvPr/>
        </p:nvCxnSpPr>
        <p:spPr>
          <a:xfrm flipV="1">
            <a:off x="1719618" y="5254388"/>
            <a:ext cx="5909481" cy="136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/>
          <p:cNvCxnSpPr/>
          <p:nvPr/>
        </p:nvCxnSpPr>
        <p:spPr>
          <a:xfrm>
            <a:off x="2197276" y="2579427"/>
            <a:ext cx="0" cy="29342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15"/>
          <p:cNvCxnSpPr/>
          <p:nvPr/>
        </p:nvCxnSpPr>
        <p:spPr>
          <a:xfrm>
            <a:off x="7426732" y="2595347"/>
            <a:ext cx="0" cy="29342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/>
          <p:cNvCxnSpPr/>
          <p:nvPr/>
        </p:nvCxnSpPr>
        <p:spPr>
          <a:xfrm flipV="1">
            <a:off x="3261815" y="5268037"/>
            <a:ext cx="0" cy="245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/>
          <p:cNvCxnSpPr/>
          <p:nvPr/>
        </p:nvCxnSpPr>
        <p:spPr>
          <a:xfrm flipV="1">
            <a:off x="6539607" y="5270309"/>
            <a:ext cx="0" cy="245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hte verbindingslijn 25"/>
          <p:cNvCxnSpPr/>
          <p:nvPr/>
        </p:nvCxnSpPr>
        <p:spPr>
          <a:xfrm>
            <a:off x="6475863" y="2579427"/>
            <a:ext cx="61415" cy="270225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/>
          <p:cNvCxnSpPr/>
          <p:nvPr/>
        </p:nvCxnSpPr>
        <p:spPr>
          <a:xfrm>
            <a:off x="3275463" y="4804012"/>
            <a:ext cx="0" cy="58685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hoek 31"/>
          <p:cNvSpPr/>
          <p:nvPr/>
        </p:nvSpPr>
        <p:spPr>
          <a:xfrm>
            <a:off x="2320119" y="4271749"/>
            <a:ext cx="832514" cy="677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Open period</a:t>
            </a:r>
          </a:p>
        </p:txBody>
      </p:sp>
      <p:cxnSp>
        <p:nvCxnSpPr>
          <p:cNvPr id="34" name="Rechte verbindingslijn met pijl 33"/>
          <p:cNvCxnSpPr/>
          <p:nvPr/>
        </p:nvCxnSpPr>
        <p:spPr>
          <a:xfrm>
            <a:off x="3152633" y="4760795"/>
            <a:ext cx="12283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met pijl 34"/>
          <p:cNvCxnSpPr/>
          <p:nvPr/>
        </p:nvCxnSpPr>
        <p:spPr>
          <a:xfrm flipH="1">
            <a:off x="2169994" y="4763067"/>
            <a:ext cx="24793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/>
          <p:nvPr/>
        </p:nvCxnSpPr>
        <p:spPr>
          <a:xfrm flipH="1">
            <a:off x="3277754" y="5092891"/>
            <a:ext cx="66644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met pijl 37"/>
          <p:cNvCxnSpPr/>
          <p:nvPr/>
        </p:nvCxnSpPr>
        <p:spPr>
          <a:xfrm>
            <a:off x="5704764" y="5108812"/>
            <a:ext cx="78254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47"/>
          <p:cNvCxnSpPr/>
          <p:nvPr/>
        </p:nvCxnSpPr>
        <p:spPr>
          <a:xfrm>
            <a:off x="2901291" y="2513731"/>
            <a:ext cx="0" cy="64759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50"/>
          <p:cNvCxnSpPr/>
          <p:nvPr/>
        </p:nvCxnSpPr>
        <p:spPr>
          <a:xfrm flipV="1">
            <a:off x="2901295" y="3161325"/>
            <a:ext cx="1936837" cy="432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chte verbindingslijn 51"/>
          <p:cNvCxnSpPr/>
          <p:nvPr/>
        </p:nvCxnSpPr>
        <p:spPr>
          <a:xfrm>
            <a:off x="4833577" y="3161325"/>
            <a:ext cx="0" cy="72105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53"/>
          <p:cNvCxnSpPr>
            <a:endCxn id="113" idx="2"/>
          </p:cNvCxnSpPr>
          <p:nvPr/>
        </p:nvCxnSpPr>
        <p:spPr>
          <a:xfrm flipV="1">
            <a:off x="4838132" y="3875964"/>
            <a:ext cx="1081121" cy="142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Rechte verbindingslijn 57"/>
          <p:cNvCxnSpPr/>
          <p:nvPr/>
        </p:nvCxnSpPr>
        <p:spPr>
          <a:xfrm flipH="1">
            <a:off x="504960" y="5268036"/>
            <a:ext cx="5072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/>
          <p:cNvCxnSpPr/>
          <p:nvPr/>
        </p:nvCxnSpPr>
        <p:spPr>
          <a:xfrm flipH="1">
            <a:off x="1012208" y="5270308"/>
            <a:ext cx="818866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Rechte verbindingslijn 62"/>
          <p:cNvCxnSpPr/>
          <p:nvPr/>
        </p:nvCxnSpPr>
        <p:spPr>
          <a:xfrm>
            <a:off x="504960" y="5268036"/>
            <a:ext cx="0" cy="2456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echte verbindingslijn 65"/>
          <p:cNvCxnSpPr/>
          <p:nvPr/>
        </p:nvCxnSpPr>
        <p:spPr>
          <a:xfrm>
            <a:off x="7533564" y="5254388"/>
            <a:ext cx="1241946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echte verbindingslijn met pijl 66"/>
          <p:cNvCxnSpPr/>
          <p:nvPr/>
        </p:nvCxnSpPr>
        <p:spPr>
          <a:xfrm>
            <a:off x="7262953" y="3029771"/>
            <a:ext cx="12283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echte verbindingslijn met pijl 67"/>
          <p:cNvCxnSpPr/>
          <p:nvPr/>
        </p:nvCxnSpPr>
        <p:spPr>
          <a:xfrm flipH="1">
            <a:off x="6506570" y="3045692"/>
            <a:ext cx="123967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kstvak 70"/>
          <p:cNvSpPr txBox="1"/>
          <p:nvPr/>
        </p:nvSpPr>
        <p:spPr>
          <a:xfrm>
            <a:off x="2061947" y="5529616"/>
            <a:ext cx="354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72" name="Tekstvak 71"/>
          <p:cNvSpPr txBox="1"/>
          <p:nvPr/>
        </p:nvSpPr>
        <p:spPr>
          <a:xfrm>
            <a:off x="7262953" y="5492803"/>
            <a:ext cx="48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52</a:t>
            </a:r>
          </a:p>
        </p:txBody>
      </p:sp>
      <p:sp>
        <p:nvSpPr>
          <p:cNvPr id="73" name="Tekstvak 72"/>
          <p:cNvSpPr txBox="1"/>
          <p:nvPr/>
        </p:nvSpPr>
        <p:spPr>
          <a:xfrm>
            <a:off x="6056198" y="5504589"/>
            <a:ext cx="93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40 - 42</a:t>
            </a:r>
          </a:p>
        </p:txBody>
      </p:sp>
      <p:sp>
        <p:nvSpPr>
          <p:cNvPr id="76" name="Tekstvak 75"/>
          <p:cNvSpPr txBox="1"/>
          <p:nvPr/>
        </p:nvSpPr>
        <p:spPr>
          <a:xfrm>
            <a:off x="3084394" y="5529616"/>
            <a:ext cx="47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</a:t>
            </a:r>
          </a:p>
        </p:txBody>
      </p:sp>
      <p:sp>
        <p:nvSpPr>
          <p:cNvPr id="77" name="Tekstvak 76"/>
          <p:cNvSpPr txBox="1"/>
          <p:nvPr/>
        </p:nvSpPr>
        <p:spPr>
          <a:xfrm>
            <a:off x="3277754" y="6100549"/>
            <a:ext cx="325952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of lactation</a:t>
            </a:r>
          </a:p>
        </p:txBody>
      </p:sp>
      <p:sp>
        <p:nvSpPr>
          <p:cNvPr id="78" name="Tekstvak 77"/>
          <p:cNvSpPr txBox="1"/>
          <p:nvPr/>
        </p:nvSpPr>
        <p:spPr>
          <a:xfrm>
            <a:off x="1665026" y="2033516"/>
            <a:ext cx="461665" cy="27295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 yield (kg/day)</a:t>
            </a:r>
          </a:p>
        </p:txBody>
      </p:sp>
      <p:sp>
        <p:nvSpPr>
          <p:cNvPr id="79" name="Tekstvak 78"/>
          <p:cNvSpPr txBox="1"/>
          <p:nvPr/>
        </p:nvSpPr>
        <p:spPr>
          <a:xfrm>
            <a:off x="779103" y="4569723"/>
            <a:ext cx="122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Pregnant</a:t>
            </a:r>
          </a:p>
        </p:txBody>
      </p:sp>
      <p:sp>
        <p:nvSpPr>
          <p:cNvPr id="80" name="Tekstvak 79"/>
          <p:cNvSpPr txBox="1"/>
          <p:nvPr/>
        </p:nvSpPr>
        <p:spPr>
          <a:xfrm>
            <a:off x="7629099" y="2388358"/>
            <a:ext cx="1337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Next lactation</a:t>
            </a:r>
          </a:p>
        </p:txBody>
      </p:sp>
      <p:sp>
        <p:nvSpPr>
          <p:cNvPr id="81" name="Tekstvak 80"/>
          <p:cNvSpPr txBox="1"/>
          <p:nvPr/>
        </p:nvSpPr>
        <p:spPr>
          <a:xfrm>
            <a:off x="1719618" y="5862135"/>
            <a:ext cx="136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Calving</a:t>
            </a:r>
          </a:p>
        </p:txBody>
      </p:sp>
      <p:sp>
        <p:nvSpPr>
          <p:cNvPr id="82" name="Tekstvak 81"/>
          <p:cNvSpPr txBox="1"/>
          <p:nvPr/>
        </p:nvSpPr>
        <p:spPr>
          <a:xfrm>
            <a:off x="6785298" y="5878055"/>
            <a:ext cx="136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 Calving</a:t>
            </a:r>
          </a:p>
        </p:txBody>
      </p:sp>
      <p:sp>
        <p:nvSpPr>
          <p:cNvPr id="83" name="Tekstvak 82"/>
          <p:cNvSpPr txBox="1"/>
          <p:nvPr/>
        </p:nvSpPr>
        <p:spPr>
          <a:xfrm>
            <a:off x="2340592" y="1848850"/>
            <a:ext cx="11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Peak yield</a:t>
            </a:r>
          </a:p>
        </p:txBody>
      </p:sp>
      <p:cxnSp>
        <p:nvCxnSpPr>
          <p:cNvPr id="85" name="Rechte verbindingslijn met pijl 84"/>
          <p:cNvCxnSpPr/>
          <p:nvPr/>
        </p:nvCxnSpPr>
        <p:spPr>
          <a:xfrm>
            <a:off x="2914943" y="2265528"/>
            <a:ext cx="0" cy="1910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chte verbindingslijn met pijl 88"/>
          <p:cNvCxnSpPr/>
          <p:nvPr/>
        </p:nvCxnSpPr>
        <p:spPr>
          <a:xfrm flipH="1">
            <a:off x="4708481" y="2610465"/>
            <a:ext cx="304822" cy="2779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kstvak 89"/>
          <p:cNvSpPr txBox="1"/>
          <p:nvPr/>
        </p:nvSpPr>
        <p:spPr>
          <a:xfrm>
            <a:off x="4699399" y="2218182"/>
            <a:ext cx="189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Lactation curve</a:t>
            </a:r>
          </a:p>
        </p:txBody>
      </p:sp>
      <p:cxnSp>
        <p:nvCxnSpPr>
          <p:cNvPr id="91" name="Rechte verbindingslijn met pijl 90"/>
          <p:cNvCxnSpPr/>
          <p:nvPr/>
        </p:nvCxnSpPr>
        <p:spPr>
          <a:xfrm flipH="1" flipV="1">
            <a:off x="7166244" y="3621490"/>
            <a:ext cx="520975" cy="2003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kstvak 92"/>
          <p:cNvSpPr txBox="1"/>
          <p:nvPr/>
        </p:nvSpPr>
        <p:spPr>
          <a:xfrm>
            <a:off x="7697333" y="3754471"/>
            <a:ext cx="105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Foetal Growth</a:t>
            </a:r>
          </a:p>
        </p:txBody>
      </p:sp>
      <p:sp>
        <p:nvSpPr>
          <p:cNvPr id="94" name="Vrije vorm 93"/>
          <p:cNvSpPr/>
          <p:nvPr/>
        </p:nvSpPr>
        <p:spPr>
          <a:xfrm>
            <a:off x="3275463" y="2402849"/>
            <a:ext cx="5627428" cy="2837892"/>
          </a:xfrm>
          <a:custGeom>
            <a:avLst/>
            <a:gdLst>
              <a:gd name="connsiteX0" fmla="*/ 0 w 4981433"/>
              <a:gd name="connsiteY0" fmla="*/ 2183641 h 2183641"/>
              <a:gd name="connsiteX1" fmla="*/ 1651379 w 4981433"/>
              <a:gd name="connsiteY1" fmla="*/ 1719617 h 2183641"/>
              <a:gd name="connsiteX2" fmla="*/ 3903259 w 4981433"/>
              <a:gd name="connsiteY2" fmla="*/ 668740 h 2183641"/>
              <a:gd name="connsiteX3" fmla="*/ 4981433 w 4981433"/>
              <a:gd name="connsiteY3" fmla="*/ 0 h 2183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1433" h="2183641">
                <a:moveTo>
                  <a:pt x="0" y="2183641"/>
                </a:moveTo>
                <a:cubicBezTo>
                  <a:pt x="500418" y="2077870"/>
                  <a:pt x="1000836" y="1972100"/>
                  <a:pt x="1651379" y="1719617"/>
                </a:cubicBezTo>
                <a:cubicBezTo>
                  <a:pt x="2301922" y="1467134"/>
                  <a:pt x="3348250" y="955343"/>
                  <a:pt x="3903259" y="668740"/>
                </a:cubicBezTo>
                <a:cubicBezTo>
                  <a:pt x="4458268" y="382137"/>
                  <a:pt x="4719850" y="191068"/>
                  <a:pt x="4981433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Rechte verbindingslijn met pijl 94"/>
          <p:cNvCxnSpPr/>
          <p:nvPr/>
        </p:nvCxnSpPr>
        <p:spPr>
          <a:xfrm flipH="1" flipV="1">
            <a:off x="7449403" y="2758113"/>
            <a:ext cx="400329" cy="492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Rechte verbindingslijn met pijl 96"/>
          <p:cNvCxnSpPr/>
          <p:nvPr/>
        </p:nvCxnSpPr>
        <p:spPr>
          <a:xfrm flipV="1">
            <a:off x="8755038" y="2749418"/>
            <a:ext cx="295706" cy="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Rechte verbindingslijn met pijl 98"/>
          <p:cNvCxnSpPr/>
          <p:nvPr/>
        </p:nvCxnSpPr>
        <p:spPr>
          <a:xfrm flipV="1">
            <a:off x="1814026" y="4763068"/>
            <a:ext cx="295706" cy="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Rechte verbindingslijn met pijl 99"/>
          <p:cNvCxnSpPr>
            <a:stCxn id="79" idx="1"/>
          </p:cNvCxnSpPr>
          <p:nvPr/>
        </p:nvCxnSpPr>
        <p:spPr>
          <a:xfrm flipH="1" flipV="1">
            <a:off x="504961" y="4751929"/>
            <a:ext cx="274142" cy="246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Vrije vorm 112"/>
          <p:cNvSpPr/>
          <p:nvPr/>
        </p:nvSpPr>
        <p:spPr>
          <a:xfrm>
            <a:off x="2197290" y="2450735"/>
            <a:ext cx="4326947" cy="2803653"/>
          </a:xfrm>
          <a:custGeom>
            <a:avLst/>
            <a:gdLst>
              <a:gd name="connsiteX0" fmla="*/ 0 w 4490113"/>
              <a:gd name="connsiteY0" fmla="*/ 1015796 h 2803653"/>
              <a:gd name="connsiteX1" fmla="*/ 928047 w 4490113"/>
              <a:gd name="connsiteY1" fmla="*/ 5862 h 2803653"/>
              <a:gd name="connsiteX2" fmla="*/ 3862316 w 4490113"/>
              <a:gd name="connsiteY2" fmla="*/ 1425229 h 2803653"/>
              <a:gd name="connsiteX3" fmla="*/ 4490113 w 4490113"/>
              <a:gd name="connsiteY3" fmla="*/ 2803653 h 2803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0113" h="2803653">
                <a:moveTo>
                  <a:pt x="0" y="1015796"/>
                </a:moveTo>
                <a:cubicBezTo>
                  <a:pt x="142164" y="476709"/>
                  <a:pt x="284328" y="-62377"/>
                  <a:pt x="928047" y="5862"/>
                </a:cubicBezTo>
                <a:cubicBezTo>
                  <a:pt x="1571766" y="74101"/>
                  <a:pt x="3268638" y="958931"/>
                  <a:pt x="3862316" y="1425229"/>
                </a:cubicBezTo>
                <a:cubicBezTo>
                  <a:pt x="4455994" y="1891527"/>
                  <a:pt x="4473053" y="2347590"/>
                  <a:pt x="4490113" y="2803653"/>
                </a:cubicBez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5847"/>
            <a:ext cx="8064974" cy="5131556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Milk yield increases gradually after parturition, reaching a peak in about 2 months, and it slowly decreases.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The lactation curve varies with the disposition of animals, seasons at parturition, feeding management, and the number of genetic calving.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Major factors determining the total milk yield in a lactation period are the maximum milk yield, persistency, and the length of the lactation period.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The maximum milk yield increases until 5</a:t>
            </a:r>
            <a:r>
              <a:rPr lang="en-GB" sz="2400" baseline="30000" dirty="0">
                <a:latin typeface="Century Gothic" panose="020B0502020202020204" pitchFamily="34" charset="0"/>
              </a:rPr>
              <a:t>th</a:t>
            </a:r>
            <a:r>
              <a:rPr lang="en-GB" sz="2400" dirty="0">
                <a:latin typeface="Century Gothic" panose="020B0502020202020204" pitchFamily="34" charset="0"/>
              </a:rPr>
              <a:t> to 7</a:t>
            </a:r>
            <a:r>
              <a:rPr lang="en-GB" sz="2400" baseline="30000" dirty="0">
                <a:latin typeface="Century Gothic" panose="020B0502020202020204" pitchFamily="34" charset="0"/>
              </a:rPr>
              <a:t>th</a:t>
            </a:r>
            <a:r>
              <a:rPr lang="en-GB" sz="2400" dirty="0">
                <a:latin typeface="Century Gothic" panose="020B0502020202020204" pitchFamily="34" charset="0"/>
              </a:rPr>
              <a:t> calving, and then decrease gradually.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Lactation Curve</a:t>
            </a:r>
          </a:p>
        </p:txBody>
      </p:sp>
    </p:spTree>
    <p:extLst>
      <p:ext uri="{BB962C8B-B14F-4D97-AF65-F5344CB8AC3E}">
        <p14:creationId xmlns:p14="http://schemas.microsoft.com/office/powerpoint/2010/main" val="171207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8064974" cy="47712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sz="2400" b="1" dirty="0">
                <a:latin typeface="Century Gothic" panose="020B0502020202020204" pitchFamily="34" charset="0"/>
              </a:rPr>
              <a:t>Reproductive cycle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>
                <a:latin typeface="Century Gothic" panose="020B0502020202020204" pitchFamily="34" charset="0"/>
              </a:rPr>
              <a:t>Gestation		-	40 weeks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>
                <a:latin typeface="Century Gothic" panose="020B0502020202020204" pitchFamily="34" charset="0"/>
              </a:rPr>
              <a:t>Open period	-	12 weeks</a:t>
            </a:r>
          </a:p>
          <a:p>
            <a:pPr marL="3657600" lvl="8" indent="0">
              <a:lnSpc>
                <a:spcPct val="150000"/>
              </a:lnSpc>
              <a:buNone/>
            </a:pPr>
            <a:r>
              <a:rPr lang="en-GB" sz="2400" dirty="0">
                <a:latin typeface="Century Gothic" panose="020B0502020202020204" pitchFamily="34" charset="0"/>
              </a:rPr>
              <a:t>	52 weeks</a:t>
            </a:r>
          </a:p>
          <a:p>
            <a:pPr marL="514350" indent="-514350">
              <a:buFont typeface="+mj-lt"/>
              <a:buAutoNum type="alphaLcPeriod"/>
            </a:pPr>
            <a:endParaRPr lang="en-GB" sz="24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sz="2400" b="1" dirty="0">
                <a:latin typeface="Century Gothic" panose="020B0502020202020204" pitchFamily="34" charset="0"/>
              </a:rPr>
              <a:t>Productive cycle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>
                <a:latin typeface="Century Gothic" panose="020B0502020202020204" pitchFamily="34" charset="0"/>
              </a:rPr>
              <a:t>Lactation		-	40 weeks	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>
                <a:latin typeface="Century Gothic" panose="020B0502020202020204" pitchFamily="34" charset="0"/>
              </a:rPr>
              <a:t>Dry period		-	12 weeks</a:t>
            </a:r>
          </a:p>
          <a:p>
            <a:pPr marL="3657600" lvl="8" indent="0">
              <a:lnSpc>
                <a:spcPct val="150000"/>
              </a:lnSpc>
              <a:buNone/>
            </a:pPr>
            <a:r>
              <a:rPr lang="en-GB" sz="2400" dirty="0">
                <a:latin typeface="Century Gothic" panose="020B0502020202020204" pitchFamily="34" charset="0"/>
              </a:rPr>
              <a:t>	52 weeks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Performance Cycles</a:t>
            </a:r>
          </a:p>
        </p:txBody>
      </p:sp>
      <p:cxnSp>
        <p:nvCxnSpPr>
          <p:cNvPr id="5" name="Rechte verbindingslijn 4"/>
          <p:cNvCxnSpPr/>
          <p:nvPr/>
        </p:nvCxnSpPr>
        <p:spPr>
          <a:xfrm>
            <a:off x="5199796" y="2647666"/>
            <a:ext cx="15967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/>
          <p:cNvCxnSpPr/>
          <p:nvPr/>
        </p:nvCxnSpPr>
        <p:spPr>
          <a:xfrm>
            <a:off x="5215716" y="4970098"/>
            <a:ext cx="15967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/>
          <p:cNvCxnSpPr/>
          <p:nvPr/>
        </p:nvCxnSpPr>
        <p:spPr>
          <a:xfrm>
            <a:off x="5217988" y="5504642"/>
            <a:ext cx="15967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/>
          <p:cNvCxnSpPr/>
          <p:nvPr/>
        </p:nvCxnSpPr>
        <p:spPr>
          <a:xfrm>
            <a:off x="5188420" y="3182210"/>
            <a:ext cx="15967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69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3139"/>
            <a:ext cx="8064974" cy="4593823"/>
          </a:xfrm>
        </p:spPr>
        <p:txBody>
          <a:bodyPr>
            <a:no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There are three stages of lactation: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US" altLang="nl-BE" sz="2400" b="1" dirty="0">
                <a:latin typeface="Century Gothic" pitchFamily="34" charset="0"/>
              </a:rPr>
              <a:t>Early lactation</a:t>
            </a:r>
            <a:r>
              <a:rPr lang="en-US" altLang="nl-BE" sz="2400" dirty="0">
                <a:latin typeface="Century Gothic" pitchFamily="34" charset="0"/>
              </a:rPr>
              <a:t> (</a:t>
            </a:r>
            <a:r>
              <a:rPr lang="en-US" altLang="nl-BE" sz="2000" dirty="0">
                <a:latin typeface="Century Gothic" pitchFamily="34" charset="0"/>
              </a:rPr>
              <a:t>1-5 weeks)</a:t>
            </a:r>
          </a:p>
          <a:p>
            <a:pPr lvl="1">
              <a:lnSpc>
                <a:spcPct val="100000"/>
              </a:lnSpc>
            </a:pPr>
            <a:r>
              <a:rPr lang="en-US" altLang="nl-BE" dirty="0">
                <a:latin typeface="Century Gothic" pitchFamily="34" charset="0"/>
              </a:rPr>
              <a:t>Milk production increases at increasing rate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US" altLang="nl-BE" sz="2400" b="1" dirty="0">
                <a:latin typeface="Century Gothic" pitchFamily="34" charset="0"/>
              </a:rPr>
              <a:t>Mid lactation </a:t>
            </a:r>
            <a:r>
              <a:rPr lang="en-US" altLang="nl-BE" sz="2400" dirty="0">
                <a:latin typeface="Century Gothic" pitchFamily="34" charset="0"/>
              </a:rPr>
              <a:t>(</a:t>
            </a:r>
            <a:r>
              <a:rPr lang="en-US" altLang="nl-BE" sz="2000" dirty="0">
                <a:latin typeface="Century Gothic" pitchFamily="34" charset="0"/>
              </a:rPr>
              <a:t>6-8 weeks)</a:t>
            </a:r>
          </a:p>
          <a:p>
            <a:pPr lvl="1">
              <a:lnSpc>
                <a:spcPct val="100000"/>
              </a:lnSpc>
            </a:pPr>
            <a:r>
              <a:rPr lang="en-US" altLang="nl-BE" dirty="0">
                <a:latin typeface="Century Gothic" pitchFamily="34" charset="0"/>
              </a:rPr>
              <a:t>peak milk yield </a:t>
            </a:r>
          </a:p>
          <a:p>
            <a:pPr lvl="1">
              <a:lnSpc>
                <a:spcPct val="100000"/>
              </a:lnSpc>
            </a:pPr>
            <a:r>
              <a:rPr lang="en-US" altLang="nl-BE" dirty="0">
                <a:latin typeface="Century Gothic" pitchFamily="34" charset="0"/>
              </a:rPr>
              <a:t>Milk production decreases gradually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US" altLang="nl-BE" sz="2400" b="1" dirty="0">
                <a:latin typeface="Century Gothic" pitchFamily="34" charset="0"/>
              </a:rPr>
              <a:t>Late lactation</a:t>
            </a:r>
            <a:r>
              <a:rPr lang="en-US" altLang="nl-BE" sz="2400" dirty="0">
                <a:latin typeface="Century Gothic" pitchFamily="34" charset="0"/>
              </a:rPr>
              <a:t> (Ends at dry off)</a:t>
            </a:r>
          </a:p>
          <a:p>
            <a:pPr lvl="1">
              <a:lnSpc>
                <a:spcPct val="100000"/>
              </a:lnSpc>
            </a:pPr>
            <a:r>
              <a:rPr lang="en-US" altLang="nl-BE" dirty="0">
                <a:latin typeface="Century Gothic" pitchFamily="34" charset="0"/>
              </a:rPr>
              <a:t>Milk production decreases at an increasing rate</a:t>
            </a:r>
            <a:endParaRPr lang="en-GB" altLang="nl-BE" dirty="0">
              <a:latin typeface="Century Gothic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Stages in the Lactation Curve</a:t>
            </a:r>
          </a:p>
        </p:txBody>
      </p:sp>
    </p:spTree>
    <p:extLst>
      <p:ext uri="{BB962C8B-B14F-4D97-AF65-F5344CB8AC3E}">
        <p14:creationId xmlns:p14="http://schemas.microsoft.com/office/powerpoint/2010/main" val="123535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8551"/>
            <a:ext cx="7886700" cy="477124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Milk quality also changes throughout a lactation period with the change of milk yield.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Milk until about 5 days after parturition is called colostrum, and is remarkably different in composition from normal milk. 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Colostrum contains more fat, protein and minerals than normal milk, and less lactose.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Composition of normal milk slightly changes with the progress of lactation period.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Changes of milk composition</a:t>
            </a:r>
          </a:p>
        </p:txBody>
      </p:sp>
    </p:spTree>
    <p:extLst>
      <p:ext uri="{BB962C8B-B14F-4D97-AF65-F5344CB8AC3E}">
        <p14:creationId xmlns:p14="http://schemas.microsoft.com/office/powerpoint/2010/main" val="215013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Changes of milk composition</a:t>
            </a:r>
          </a:p>
        </p:txBody>
      </p:sp>
      <p:graphicFrame>
        <p:nvGraphicFramePr>
          <p:cNvPr id="5" name="Tijdelijke aanduiding voor inhoud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658649"/>
              </p:ext>
            </p:extLst>
          </p:nvPr>
        </p:nvGraphicFramePr>
        <p:xfrm>
          <a:off x="859808" y="1470777"/>
          <a:ext cx="738344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0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Colostrum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Normal milk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Total solids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12.9%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Fat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Total</a:t>
                      </a:r>
                      <a:r>
                        <a:rPr lang="en-GB" sz="2200" baseline="0" dirty="0">
                          <a:latin typeface="Century Gothic" panose="020B0502020202020204" pitchFamily="34" charset="0"/>
                        </a:rPr>
                        <a:t> protein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Casein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Immunoglobulin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Lactose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Ash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200" dirty="0">
                          <a:latin typeface="Century Gothic" panose="020B0502020202020204" pitchFamily="34" charset="0"/>
                        </a:rPr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kstvak 5"/>
          <p:cNvSpPr txBox="1"/>
          <p:nvPr/>
        </p:nvSpPr>
        <p:spPr>
          <a:xfrm>
            <a:off x="5827668" y="5909490"/>
            <a:ext cx="2715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dirty="0" err="1">
                <a:latin typeface="Agency FB" panose="020B0503020202020204" pitchFamily="34" charset="0"/>
              </a:rPr>
              <a:t>Folley</a:t>
            </a:r>
            <a:r>
              <a:rPr lang="en-GB" sz="2000" dirty="0">
                <a:latin typeface="Agency FB" panose="020B0503020202020204" pitchFamily="34" charset="0"/>
              </a:rPr>
              <a:t> et al., 1978</a:t>
            </a:r>
          </a:p>
        </p:txBody>
      </p:sp>
    </p:spTree>
    <p:extLst>
      <p:ext uri="{BB962C8B-B14F-4D97-AF65-F5344CB8AC3E}">
        <p14:creationId xmlns:p14="http://schemas.microsoft.com/office/powerpoint/2010/main" val="1266563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5027"/>
            <a:ext cx="7886700" cy="4511936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With the start of lactation, milk synthesis and increased utilisation of nutrients first occur in the mammary glands. 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Then, increased degradation of depot fat occurs in adipose tissue, and there is an increased flux of proteins in the liver and muscles.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In the liver, synthesis of glucose, necessary for milk synthesis becomes active.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In the bones, elution of calcium becomes active, and absorption of calcium from the intestines becomes active with the progress of lactation.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Physiological Changes Before and After Parturition in Dairy Cows</a:t>
            </a:r>
          </a:p>
        </p:txBody>
      </p:sp>
    </p:spTree>
    <p:extLst>
      <p:ext uri="{BB962C8B-B14F-4D97-AF65-F5344CB8AC3E}">
        <p14:creationId xmlns:p14="http://schemas.microsoft.com/office/powerpoint/2010/main" val="59014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4902"/>
            <a:ext cx="7886700" cy="466206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anose="020B0502020202020204" pitchFamily="34" charset="0"/>
              </a:rPr>
              <a:t>Heifers reach sexual maturity at around 15 months of age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anose="020B0502020202020204" pitchFamily="34" charset="0"/>
              </a:rPr>
              <a:t>Serve them once they reach 18 months of age or attain two-thirds of their mature body weight.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anose="020B0502020202020204" pitchFamily="34" charset="0"/>
              </a:rPr>
              <a:t>Cows can be served through AI or using bulls.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anose="020B0502020202020204" pitchFamily="34" charset="0"/>
              </a:rPr>
              <a:t>Duration of </a:t>
            </a:r>
            <a:r>
              <a:rPr lang="en-GB" altLang="en-US" sz="2400" dirty="0" err="1">
                <a:latin typeface="Century Gothic" panose="020B0502020202020204" pitchFamily="34" charset="0"/>
              </a:rPr>
              <a:t>estrus</a:t>
            </a:r>
            <a:r>
              <a:rPr lang="en-GB" altLang="en-US" sz="2400" dirty="0">
                <a:latin typeface="Century Gothic" panose="020B0502020202020204" pitchFamily="34" charset="0"/>
              </a:rPr>
              <a:t> in dairy cows is about 18 hours; and ovulation occurs towards the end of </a:t>
            </a:r>
            <a:r>
              <a:rPr lang="en-GB" altLang="en-US" sz="2400" dirty="0" err="1">
                <a:latin typeface="Century Gothic" panose="020B0502020202020204" pitchFamily="34" charset="0"/>
              </a:rPr>
              <a:t>estrus</a:t>
            </a:r>
            <a:r>
              <a:rPr lang="en-GB" altLang="en-US" sz="24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anose="020B0502020202020204" pitchFamily="34" charset="0"/>
              </a:rPr>
              <a:t>Inseminate in the evening if heat is first observed in the morning; and morning of the following day if observed in the evening. 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anose="020B0502020202020204" pitchFamily="34" charset="0"/>
              </a:rPr>
              <a:t>If using bull, leave it for 2 days.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Breeding</a:t>
            </a:r>
          </a:p>
        </p:txBody>
      </p:sp>
    </p:spTree>
    <p:extLst>
      <p:ext uri="{BB962C8B-B14F-4D97-AF65-F5344CB8AC3E}">
        <p14:creationId xmlns:p14="http://schemas.microsoft.com/office/powerpoint/2010/main" val="1960793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4902"/>
            <a:ext cx="7886700" cy="46620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entury Gothic" panose="020B0502020202020204" pitchFamily="34" charset="0"/>
              </a:rPr>
              <a:t>Chances of conception higher with longer period of rest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entury Gothic" panose="020B0502020202020204" pitchFamily="34" charset="0"/>
              </a:rPr>
              <a:t>Next heat @ 24 – 30 days after calving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entury Gothic" panose="020B0502020202020204" pitchFamily="34" charset="0"/>
              </a:rPr>
              <a:t>Subsequent heats occurs every 21 day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entury Gothic" panose="020B0502020202020204" pitchFamily="34" charset="0"/>
              </a:rPr>
              <a:t>Best time is after 50 days (requires excellent management)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entury Gothic" panose="020B0502020202020204" pitchFamily="34" charset="0"/>
              </a:rPr>
              <a:t>Recommended to serve within 90 days.</a:t>
            </a:r>
          </a:p>
          <a:p>
            <a:pPr>
              <a:lnSpc>
                <a:spcPct val="100000"/>
              </a:lnSpc>
            </a:pPr>
            <a:endParaRPr lang="en-US" altLang="en-US" sz="24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Breeding</a:t>
            </a:r>
          </a:p>
        </p:txBody>
      </p:sp>
    </p:spTree>
    <p:extLst>
      <p:ext uri="{BB962C8B-B14F-4D97-AF65-F5344CB8AC3E}">
        <p14:creationId xmlns:p14="http://schemas.microsoft.com/office/powerpoint/2010/main" val="237163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4902"/>
            <a:ext cx="7886700" cy="4662062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Century Gothic" panose="020B0502020202020204" pitchFamily="34" charset="0"/>
              </a:rPr>
              <a:t>Consider parental records (both sire &amp; dam)</a:t>
            </a:r>
          </a:p>
          <a:p>
            <a:r>
              <a:rPr lang="en-US" altLang="en-US" sz="2400" dirty="0">
                <a:latin typeface="Century Gothic" panose="020B0502020202020204" pitchFamily="34" charset="0"/>
              </a:rPr>
              <a:t>Size of animal vs age, do not select those smaller than their age</a:t>
            </a:r>
          </a:p>
          <a:p>
            <a:r>
              <a:rPr lang="en-US" altLang="en-US" sz="2400" dirty="0">
                <a:latin typeface="Century Gothic" panose="020B0502020202020204" pitchFamily="34" charset="0"/>
              </a:rPr>
              <a:t>Cows: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entury Gothic" panose="020B0502020202020204" pitchFamily="34" charset="0"/>
              </a:rPr>
              <a:t>lactation record to decide when to cull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entury Gothic" panose="020B0502020202020204" pitchFamily="34" charset="0"/>
              </a:rPr>
              <a:t>% butter fat content (3.6% average)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entury Gothic" panose="020B0502020202020204" pitchFamily="34" charset="0"/>
              </a:rPr>
              <a:t>Calving interval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entury Gothic" panose="020B0502020202020204" pitchFamily="34" charset="0"/>
              </a:rPr>
              <a:t>Lactation persistency – 305 days vs less (Persistency = rate of decline in milk yield following peak production)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Selection of Breeding Animals</a:t>
            </a:r>
          </a:p>
        </p:txBody>
      </p:sp>
    </p:spTree>
    <p:extLst>
      <p:ext uri="{BB962C8B-B14F-4D97-AF65-F5344CB8AC3E}">
        <p14:creationId xmlns:p14="http://schemas.microsoft.com/office/powerpoint/2010/main" val="4094611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6"/>
            <a:ext cx="7886700" cy="51042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Disinfect the navel with 2% diluted iodine.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Continue checking the navel for the next 2 weeks.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Allow the calf to suckle from the dam 24hrs in first 4 days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Thereafter, either leave a quarter (1 teat) for the calf to suckle for 30minutes or bucket feed it.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Bucket feeding not recommended for smallholder farmers.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Bucket feeding: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 Not &gt; 10% body </a:t>
            </a:r>
            <a:r>
              <a:rPr lang="en-US" dirty="0" err="1">
                <a:latin typeface="Century Gothic" panose="020B0502020202020204" pitchFamily="34" charset="0"/>
              </a:rPr>
              <a:t>wt</a:t>
            </a:r>
            <a:endParaRPr lang="en-US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Overfeeding, low temp milk causes scouring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082177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Dairy Calves</a:t>
            </a:r>
          </a:p>
        </p:txBody>
      </p:sp>
    </p:spTree>
    <p:extLst>
      <p:ext uri="{BB962C8B-B14F-4D97-AF65-F5344CB8AC3E}">
        <p14:creationId xmlns:p14="http://schemas.microsoft.com/office/powerpoint/2010/main" val="763951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0436"/>
            <a:ext cx="7886700" cy="4913193"/>
          </a:xfrm>
        </p:spPr>
        <p:txBody>
          <a:bodyPr>
            <a:no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Introduce roughages &amp; concentrates as soon as possible ~ able to </a:t>
            </a:r>
            <a:r>
              <a:rPr lang="en-GB" sz="2400" noProof="1">
                <a:latin typeface="Century Gothic" panose="020B0502020202020204" pitchFamily="34" charset="0"/>
              </a:rPr>
              <a:t>utilise</a:t>
            </a:r>
            <a:r>
              <a:rPr lang="en-GB" sz="2400" dirty="0">
                <a:latin typeface="Century Gothic" panose="020B0502020202020204" pitchFamily="34" charset="0"/>
              </a:rPr>
              <a:t> them by 3 weeks of age.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Weaning should be gradual, reduce milk, increase hay &amp; concentrates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Provide plenty of dry bedding.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Calves can be weaned between 6 and 8months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Dairy Calves</a:t>
            </a:r>
          </a:p>
        </p:txBody>
      </p:sp>
    </p:spTree>
    <p:extLst>
      <p:ext uri="{BB962C8B-B14F-4D97-AF65-F5344CB8AC3E}">
        <p14:creationId xmlns:p14="http://schemas.microsoft.com/office/powerpoint/2010/main" val="3457085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6"/>
            <a:ext cx="7886700" cy="51042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Ensure pastures contain legumes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Level of supplement depends on: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Season (better feed quality in rainy season)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Stage of gestation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Amount of milk produced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Use feeding standards available in most nutrition books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Formulate feed (12-16% CP &amp; minerals – salt, phosphorus, calcium)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Dairy &amp; calf mashes available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Cows and Heifers</a:t>
            </a:r>
          </a:p>
        </p:txBody>
      </p:sp>
    </p:spTree>
    <p:extLst>
      <p:ext uri="{BB962C8B-B14F-4D97-AF65-F5344CB8AC3E}">
        <p14:creationId xmlns:p14="http://schemas.microsoft.com/office/powerpoint/2010/main" val="86267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6"/>
            <a:ext cx="7886700" cy="5104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Cattle are limited on total dry matter intake by body size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Cattle (ruminants) require substantial </a:t>
            </a:r>
            <a:r>
              <a:rPr lang="en-US" sz="2400" dirty="0" err="1">
                <a:latin typeface="Century Gothic" panose="020B0502020202020204" pitchFamily="34" charset="0"/>
              </a:rPr>
              <a:t>fibre</a:t>
            </a:r>
            <a:r>
              <a:rPr lang="en-US" sz="2400" dirty="0">
                <a:latin typeface="Century Gothic" panose="020B0502020202020204" pitchFamily="34" charset="0"/>
              </a:rPr>
              <a:t> in their diet.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 Forages should constitute at least ½ of daily ration on dry matter basis.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 Milk is 87% water hence provision of plenty of clean, fresh, water ad lib. Cow needs 5litres of water for every 1 </a:t>
            </a:r>
            <a:r>
              <a:rPr lang="en-US" sz="2400" dirty="0" err="1">
                <a:latin typeface="Century Gothic" panose="020B0502020202020204" pitchFamily="34" charset="0"/>
              </a:rPr>
              <a:t>litre</a:t>
            </a:r>
            <a:r>
              <a:rPr lang="en-US" sz="2400" dirty="0">
                <a:latin typeface="Century Gothic" panose="020B0502020202020204" pitchFamily="34" charset="0"/>
              </a:rPr>
              <a:t> of milk.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As the level of milk production rises,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Cow must eat more feed or the feed must contain more nutrients per unit weight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Cows and Heifers</a:t>
            </a:r>
          </a:p>
        </p:txBody>
      </p:sp>
    </p:spTree>
    <p:extLst>
      <p:ext uri="{BB962C8B-B14F-4D97-AF65-F5344CB8AC3E}">
        <p14:creationId xmlns:p14="http://schemas.microsoft.com/office/powerpoint/2010/main" val="5640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6"/>
            <a:ext cx="7886700" cy="510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Century Gothic" panose="020B0502020202020204" pitchFamily="34" charset="0"/>
              </a:rPr>
              <a:t>Rule of the thumb: </a:t>
            </a:r>
            <a:r>
              <a:rPr lang="en-US" sz="2400" dirty="0">
                <a:latin typeface="Century Gothic" panose="020B0502020202020204" pitchFamily="34" charset="0"/>
              </a:rPr>
              <a:t>23 – 30% of the diet should be composed of protein ingredients and 60 – 79% energy ingredients and a small amount if salt and minerals.</a:t>
            </a:r>
            <a:endParaRPr lang="en-US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For example, a 100kg home made ration: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Cows and Heifers</a:t>
            </a: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12247"/>
              </p:ext>
            </p:extLst>
          </p:nvPr>
        </p:nvGraphicFramePr>
        <p:xfrm>
          <a:off x="791570" y="3662521"/>
          <a:ext cx="7465325" cy="2466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993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Source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Ingredient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Quantity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993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Energy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Maize bran or Rice bran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79kg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564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Protein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Soybean, Cotton seed cake, Peas,</a:t>
                      </a:r>
                      <a:r>
                        <a:rPr lang="en-GB" sz="2000" baseline="0" dirty="0">
                          <a:latin typeface="Century Gothic" panose="020B0502020202020204" pitchFamily="34" charset="0"/>
                        </a:rPr>
                        <a:t> G/nuts, </a:t>
                      </a:r>
                      <a:r>
                        <a:rPr lang="en-GB" sz="2000" baseline="0" dirty="0" err="1">
                          <a:latin typeface="Century Gothic" panose="020B0502020202020204" pitchFamily="34" charset="0"/>
                        </a:rPr>
                        <a:t>Leucaena</a:t>
                      </a:r>
                      <a:r>
                        <a:rPr lang="en-GB" sz="2000" baseline="0" dirty="0">
                          <a:latin typeface="Century Gothic" panose="020B0502020202020204" pitchFamily="34" charset="0"/>
                        </a:rPr>
                        <a:t> leaves or </a:t>
                      </a:r>
                      <a:r>
                        <a:rPr lang="en-GB" sz="2000" baseline="0" dirty="0" err="1">
                          <a:latin typeface="Century Gothic" panose="020B0502020202020204" pitchFamily="34" charset="0"/>
                        </a:rPr>
                        <a:t>Sesbania</a:t>
                      </a:r>
                      <a:r>
                        <a:rPr lang="en-GB" sz="2000" baseline="0" dirty="0">
                          <a:latin typeface="Century Gothic" panose="020B0502020202020204" pitchFamily="34" charset="0"/>
                        </a:rPr>
                        <a:t> leaves</a:t>
                      </a:r>
                      <a:endParaRPr lang="en-GB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20kg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993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Mineral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Salt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Century Gothic" panose="020B0502020202020204" pitchFamily="34" charset="0"/>
                        </a:rPr>
                        <a:t>1kg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985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6"/>
            <a:ext cx="7886700" cy="5104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It is recommended that 1Kg concentrates be given to the cow per 2 </a:t>
            </a:r>
            <a:r>
              <a:rPr lang="en-US" sz="2400" dirty="0" err="1">
                <a:latin typeface="Century Gothic" panose="020B0502020202020204" pitchFamily="34" charset="0"/>
              </a:rPr>
              <a:t>litres</a:t>
            </a:r>
            <a:r>
              <a:rPr lang="en-US" sz="2400" dirty="0">
                <a:latin typeface="Century Gothic" panose="020B0502020202020204" pitchFamily="34" charset="0"/>
              </a:rPr>
              <a:t> of milk produced in addition to what the cow needs for maintenance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Too high energy content of the ration with too low roughage – causes acidosis.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Require regular handling so that they get used to people.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Observe routine e.g. milking, feeding time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Need to exercise confined animals.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Control of internal and external parasites (drenching and dipping)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Cows and Heifers</a:t>
            </a:r>
          </a:p>
        </p:txBody>
      </p:sp>
    </p:spTree>
    <p:extLst>
      <p:ext uri="{BB962C8B-B14F-4D97-AF65-F5344CB8AC3E}">
        <p14:creationId xmlns:p14="http://schemas.microsoft.com/office/powerpoint/2010/main" val="969295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6"/>
            <a:ext cx="7886700" cy="51042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Cow is "challenged" to produce more milk by increasing concentrates 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Grain amounts are then increased until production no longer increases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Grain amounts are then adjusted according to milk production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Maximum production may not always be the most economical, especially on cows that are not real efficient feed converters or when grain prices are high.  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A cow's response to challenge feeding is best in early lactation.</a:t>
            </a:r>
          </a:p>
          <a:p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Challenge Feeding</a:t>
            </a:r>
          </a:p>
        </p:txBody>
      </p:sp>
    </p:spTree>
    <p:extLst>
      <p:ext uri="{BB962C8B-B14F-4D97-AF65-F5344CB8AC3E}">
        <p14:creationId xmlns:p14="http://schemas.microsoft.com/office/powerpoint/2010/main" val="2164988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7"/>
            <a:ext cx="7886700" cy="477124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The corral should be built on well drained soils.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Provide shelter to protect it from rain, wind, sun and predators.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Sloping side of the roof should face the direction of the prevailing winds. Put up drains to prevent water from going into the corral.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Corral should have a cow compartment, calf compartment, milking </a:t>
            </a:r>
            <a:r>
              <a:rPr lang="en-US" sz="2400" dirty="0" err="1">
                <a:latin typeface="Century Gothic" panose="020B0502020202020204" pitchFamily="34" charset="0"/>
              </a:rPr>
              <a:t>parlour</a:t>
            </a:r>
            <a:r>
              <a:rPr lang="en-US" sz="2400" dirty="0">
                <a:latin typeface="Century Gothic" panose="020B0502020202020204" pitchFamily="34" charset="0"/>
              </a:rPr>
              <a:t>, exercise yard and a crush.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Feed and water troughs should also be provided.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9"/>
            <a:ext cx="7886700" cy="1150416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Housing</a:t>
            </a:r>
          </a:p>
        </p:txBody>
      </p:sp>
    </p:spTree>
    <p:extLst>
      <p:ext uri="{BB962C8B-B14F-4D97-AF65-F5344CB8AC3E}">
        <p14:creationId xmlns:p14="http://schemas.microsoft.com/office/powerpoint/2010/main" val="846979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9367"/>
            <a:ext cx="7886700" cy="477124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Corral size: Two cows would require a corral of 3.7m wide, 6.1m long and 2.4m high. Each cow requires 9.3m</a:t>
            </a:r>
            <a:r>
              <a:rPr lang="en-US" sz="2400" baseline="30000" dirty="0">
                <a:latin typeface="Century Gothic" panose="020B0502020202020204" pitchFamily="34" charset="0"/>
              </a:rPr>
              <a:t>2</a:t>
            </a:r>
            <a:r>
              <a:rPr lang="en-US" sz="2400" dirty="0">
                <a:latin typeface="Century Gothic" panose="020B0502020202020204" pitchFamily="34" charset="0"/>
              </a:rPr>
              <a:t> and a calf need 2.3m</a:t>
            </a:r>
            <a:r>
              <a:rPr lang="en-US" sz="2400" baseline="30000" dirty="0">
                <a:latin typeface="Century Gothic" panose="020B0502020202020204" pitchFamily="34" charset="0"/>
              </a:rPr>
              <a:t>2</a:t>
            </a:r>
            <a:r>
              <a:rPr lang="en-US" sz="2400" dirty="0">
                <a:latin typeface="Century Gothic" panose="020B0502020202020204" pitchFamily="34" charset="0"/>
              </a:rPr>
              <a:t>. 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Milking </a:t>
            </a:r>
            <a:r>
              <a:rPr lang="en-US" sz="2400" dirty="0" err="1">
                <a:latin typeface="Century Gothic" panose="020B0502020202020204" pitchFamily="34" charset="0"/>
              </a:rPr>
              <a:t>parlour</a:t>
            </a:r>
            <a:r>
              <a:rPr lang="en-US" sz="2400" dirty="0">
                <a:latin typeface="Century Gothic" panose="020B0502020202020204" pitchFamily="34" charset="0"/>
              </a:rPr>
              <a:t>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entury Gothic" panose="020B0502020202020204" pitchFamily="34" charset="0"/>
              </a:rPr>
              <a:t>should be upwind from spray crush to avoid contamination with </a:t>
            </a:r>
            <a:r>
              <a:rPr lang="en-US" dirty="0" err="1">
                <a:latin typeface="Century Gothic" panose="020B0502020202020204" pitchFamily="34" charset="0"/>
              </a:rPr>
              <a:t>acaricides</a:t>
            </a:r>
            <a:r>
              <a:rPr lang="en-US" dirty="0">
                <a:latin typeface="Century Gothic" panose="020B0502020202020204" pitchFamily="34" charset="0"/>
              </a:rPr>
              <a:t> (dip).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entury Gothic" panose="020B0502020202020204" pitchFamily="34" charset="0"/>
              </a:rPr>
              <a:t>Walls can be constructed from reeds, poles, mud or brick and the roof be made of thatched grass.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Crush: This is required for inspection, treatment, and handling. It should be constructed away from the </a:t>
            </a:r>
            <a:r>
              <a:rPr lang="en-US" sz="2400" dirty="0" err="1">
                <a:latin typeface="Century Gothic" panose="020B0502020202020204" pitchFamily="34" charset="0"/>
              </a:rPr>
              <a:t>Khola</a:t>
            </a:r>
            <a:r>
              <a:rPr lang="en-US" sz="2400" dirty="0">
                <a:latin typeface="Century Gothic" panose="020B0502020202020204" pitchFamily="34" charset="0"/>
              </a:rPr>
              <a:t>, in a dry place.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entury Gothic" panose="020B0502020202020204" pitchFamily="34" charset="0"/>
              </a:rPr>
              <a:t>Vertical = 1200mm high x 610mm x 680mm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9"/>
            <a:ext cx="7886700" cy="1150416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Housing</a:t>
            </a:r>
          </a:p>
        </p:txBody>
      </p:sp>
    </p:spTree>
    <p:extLst>
      <p:ext uri="{BB962C8B-B14F-4D97-AF65-F5344CB8AC3E}">
        <p14:creationId xmlns:p14="http://schemas.microsoft.com/office/powerpoint/2010/main" val="3353198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Horns are usually removed to prevent injury to other cattle and to handlers.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It is best done when calves are under 3 months old as this will not cause no setbacks (normally between 3 – 4 weeks).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Common methods of dehorning include: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latin typeface="Century Gothic" panose="020B0502020202020204" pitchFamily="34" charset="0"/>
              </a:rPr>
              <a:t>Hot iron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latin typeface="Century Gothic" panose="020B0502020202020204" pitchFamily="34" charset="0"/>
              </a:rPr>
              <a:t>Dehorning knife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latin typeface="Century Gothic" panose="020B0502020202020204" pitchFamily="34" charset="0"/>
              </a:rPr>
              <a:t>Scoop or cup dehorners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latin typeface="Century Gothic" panose="020B0502020202020204" pitchFamily="34" charset="0"/>
              </a:rPr>
              <a:t>Hand saw – </a:t>
            </a:r>
            <a:r>
              <a:rPr lang="en-US" sz="2000" dirty="0">
                <a:latin typeface="Century Gothic" panose="020B0502020202020204" pitchFamily="34" charset="0"/>
              </a:rPr>
              <a:t>older cattle</a:t>
            </a:r>
            <a:endParaRPr lang="en-US" dirty="0">
              <a:latin typeface="Century Gothic" panose="020B050202020202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latin typeface="Century Gothic" panose="020B0502020202020204" pitchFamily="34" charset="0"/>
              </a:rPr>
              <a:t>Chemical : Liquid, paste, or caustic potash sticks – </a:t>
            </a:r>
            <a:r>
              <a:rPr lang="en-US" sz="2000" dirty="0">
                <a:latin typeface="Century Gothic" panose="020B0502020202020204" pitchFamily="34" charset="0"/>
              </a:rPr>
              <a:t>calves under 2 weeks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Dehorning</a:t>
            </a:r>
          </a:p>
        </p:txBody>
      </p:sp>
    </p:spTree>
    <p:extLst>
      <p:ext uri="{BB962C8B-B14F-4D97-AF65-F5344CB8AC3E}">
        <p14:creationId xmlns:p14="http://schemas.microsoft.com/office/powerpoint/2010/main" val="1509036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05969"/>
            <a:ext cx="7886700" cy="447099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Every cow has its own card, on which the sire (bull) and dam (cow) are noted. 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Further it notes: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date of birth of the cow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dates of heat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dates of service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expected calving date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true calving date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calving interval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total milk production per lactation</a:t>
            </a:r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Record Keeping</a:t>
            </a:r>
          </a:p>
        </p:txBody>
      </p:sp>
    </p:spTree>
    <p:extLst>
      <p:ext uri="{BB962C8B-B14F-4D97-AF65-F5344CB8AC3E}">
        <p14:creationId xmlns:p14="http://schemas.microsoft.com/office/powerpoint/2010/main" val="158166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The key to the success of the health plan is the prevention of problems. 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Being familiar with the diseases and parasites that affect beef cattle can help farmers plan preventive programs that reduce health problems and increase </a:t>
            </a:r>
            <a:r>
              <a:rPr lang="en-GB" sz="2400" dirty="0">
                <a:latin typeface="Century Gothic" panose="020B0502020202020204" pitchFamily="34" charset="0"/>
              </a:rPr>
              <a:t>profits.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Observing the vital signs (temperature, pulse rate, and respiration rate) in an animal can help in the early detection of health problems.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temperature (normal range is 38°C to 39.3°C).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pulse rate (normal range is 60 to 70 heartbeats per minute).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respiration rate (normal range is 10 to 30 breaths per minute).</a:t>
            </a:r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Herd Health</a:t>
            </a:r>
          </a:p>
        </p:txBody>
      </p:sp>
    </p:spTree>
    <p:extLst>
      <p:ext uri="{BB962C8B-B14F-4D97-AF65-F5344CB8AC3E}">
        <p14:creationId xmlns:p14="http://schemas.microsoft.com/office/powerpoint/2010/main" val="246883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39104</TotalTime>
  <Words>1887</Words>
  <Application>Microsoft Office PowerPoint</Application>
  <PresentationFormat>On-screen Show (4:3)</PresentationFormat>
  <Paragraphs>270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Agency FB</vt:lpstr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Dairy Production and Management</vt:lpstr>
      <vt:lpstr>Advantages of Dairy Animals</vt:lpstr>
      <vt:lpstr>Disadvantages of Dairy Animals</vt:lpstr>
      <vt:lpstr>Cattle Breeds for Dairy Production</vt:lpstr>
      <vt:lpstr>Beef breeds in Malawi</vt:lpstr>
      <vt:lpstr>Beef breeds in Malawi</vt:lpstr>
      <vt:lpstr>Lactation Curve and Pregnancy</vt:lpstr>
      <vt:lpstr>Lactation Curve</vt:lpstr>
      <vt:lpstr>Performance Cycles</vt:lpstr>
      <vt:lpstr>Stages in the Lactation Curve</vt:lpstr>
      <vt:lpstr>Changes of milk composition</vt:lpstr>
      <vt:lpstr>Changes of milk composition</vt:lpstr>
      <vt:lpstr>Physiological Changes Before and After Parturition in Dairy Cows</vt:lpstr>
      <vt:lpstr>Breeding</vt:lpstr>
      <vt:lpstr>Breeding</vt:lpstr>
      <vt:lpstr>Selection of Breeding Animals</vt:lpstr>
      <vt:lpstr>Management of Dairy Calves</vt:lpstr>
      <vt:lpstr>Management of Dairy Calves</vt:lpstr>
      <vt:lpstr>Management of Cows and Heifers</vt:lpstr>
      <vt:lpstr>Management of Cows and Heifers</vt:lpstr>
      <vt:lpstr>Management of Cows and Heifers</vt:lpstr>
      <vt:lpstr>Management of Cows and Heifers</vt:lpstr>
      <vt:lpstr>Challenge Feeding</vt:lpstr>
      <vt:lpstr>Housing</vt:lpstr>
      <vt:lpstr>Housing</vt:lpstr>
      <vt:lpstr>Dehorning</vt:lpstr>
      <vt:lpstr>Record Keeping</vt:lpstr>
      <vt:lpstr>Herd Health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Luwe</dc:creator>
  <cp:lastModifiedBy>JOSEPH D. LIWONDE</cp:lastModifiedBy>
  <cp:revision>661</cp:revision>
  <dcterms:created xsi:type="dcterms:W3CDTF">2018-04-27T21:44:57Z</dcterms:created>
  <dcterms:modified xsi:type="dcterms:W3CDTF">2026-01-15T13:47:55Z</dcterms:modified>
</cp:coreProperties>
</file>