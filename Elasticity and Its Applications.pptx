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85" d="100"/>
          <a:sy n="85" d="100"/>
        </p:scale>
        <p:origin x="96"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445329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3175819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95117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E99611A-A316-4FE9-955F-BA3A39484036}"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3390029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E99611A-A316-4FE9-955F-BA3A39484036}"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2833333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3751636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382969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2153892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E99611A-A316-4FE9-955F-BA3A39484036}"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2370428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E99611A-A316-4FE9-955F-BA3A39484036}"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3689886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3209255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44514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683015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3673612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5200719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37216140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E99611A-A316-4FE9-955F-BA3A39484036}"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4F10D-6DE7-4678-8AAE-B041D297E8B8}" type="slidenum">
              <a:rPr lang="en-US" smtClean="0"/>
              <a:t>‹#›</a:t>
            </a:fld>
            <a:endParaRPr lang="en-US"/>
          </a:p>
        </p:txBody>
      </p:sp>
    </p:spTree>
    <p:extLst>
      <p:ext uri="{BB962C8B-B14F-4D97-AF65-F5344CB8AC3E}">
        <p14:creationId xmlns:p14="http://schemas.microsoft.com/office/powerpoint/2010/main" val="2502845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E99611A-A316-4FE9-955F-BA3A39484036}" type="datetimeFigureOut">
              <a:rPr lang="en-US" smtClean="0"/>
              <a:t>3/11/2025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D04F10D-6DE7-4678-8AAE-B041D297E8B8}" type="slidenum">
              <a:rPr lang="en-US" smtClean="0"/>
              <a:t>‹#›</a:t>
            </a:fld>
            <a:endParaRPr lang="en-US"/>
          </a:p>
        </p:txBody>
      </p:sp>
    </p:spTree>
    <p:extLst>
      <p:ext uri="{BB962C8B-B14F-4D97-AF65-F5344CB8AC3E}">
        <p14:creationId xmlns:p14="http://schemas.microsoft.com/office/powerpoint/2010/main" val="423739592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CD7A2-CFD1-8A43-99BB-3D3A5AB1A52A}"/>
              </a:ext>
            </a:extLst>
          </p:cNvPr>
          <p:cNvSpPr>
            <a:spLocks noGrp="1"/>
          </p:cNvSpPr>
          <p:nvPr>
            <p:ph type="title"/>
          </p:nvPr>
        </p:nvSpPr>
        <p:spPr>
          <a:xfrm>
            <a:off x="838200" y="365125"/>
            <a:ext cx="10515600" cy="4664075"/>
          </a:xfrm>
        </p:spPr>
        <p:txBody>
          <a:bodyPr>
            <a:normAutofit/>
          </a:bodyPr>
          <a:lstStyle/>
          <a:p>
            <a:pPr algn="ctr"/>
            <a:r>
              <a:rPr lang="en-US" sz="5400" b="1" kern="100" dirty="0">
                <a:latin typeface="Century Gothic" panose="020B0502020202020204" pitchFamily="34" charset="0"/>
                <a:ea typeface="Calibri" panose="020F0502020204030204" pitchFamily="34" charset="0"/>
                <a:cs typeface="Times New Roman" panose="02020603050405020304" pitchFamily="18" charset="0"/>
              </a:rPr>
              <a:t>Elasticity and Its Applications</a:t>
            </a:r>
            <a:endParaRPr lang="en-US" sz="5400" dirty="0"/>
          </a:p>
        </p:txBody>
      </p:sp>
    </p:spTree>
    <p:extLst>
      <p:ext uri="{BB962C8B-B14F-4D97-AF65-F5344CB8AC3E}">
        <p14:creationId xmlns:p14="http://schemas.microsoft.com/office/powerpoint/2010/main" val="1482974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0044B-34AA-1F2C-BCD9-03B3D0E9A1E0}"/>
              </a:ext>
            </a:extLst>
          </p:cNvPr>
          <p:cNvSpPr>
            <a:spLocks noGrp="1"/>
          </p:cNvSpPr>
          <p:nvPr>
            <p:ph type="title"/>
          </p:nvPr>
        </p:nvSpPr>
        <p:spPr/>
        <p:txBody>
          <a:bodyPr/>
          <a:lstStyle/>
          <a:p>
            <a:pPr algn="ct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AD87299-D8D8-8BCE-73FF-45B16F0B070B}"/>
              </a:ext>
            </a:extLst>
          </p:cNvPr>
          <p:cNvSpPr>
            <a:spLocks noGrp="1"/>
          </p:cNvSpPr>
          <p:nvPr>
            <p:ph idx="1"/>
          </p:nvPr>
        </p:nvSpPr>
        <p:spPr/>
        <p:txBody>
          <a:bodyPr/>
          <a:lstStyle/>
          <a:p>
            <a:pPr algn="just">
              <a:lnSpc>
                <a:spcPct val="107000"/>
              </a:lnSpc>
              <a:spcBef>
                <a:spcPts val="0"/>
              </a:spcBef>
              <a:spcAft>
                <a:spcPts val="800"/>
              </a:spcAft>
            </a:pPr>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Elasticity measures the responsiveness of quantity demanded and quantity supplied to changes in price, influencing pricing decisions, revenue management, and market dynamics. </a:t>
            </a:r>
          </a:p>
          <a:p>
            <a:pPr marL="0" indent="0">
              <a:buNone/>
            </a:pPr>
            <a:endParaRPr lang="en-US" dirty="0"/>
          </a:p>
        </p:txBody>
      </p:sp>
    </p:spTree>
    <p:extLst>
      <p:ext uri="{BB962C8B-B14F-4D97-AF65-F5344CB8AC3E}">
        <p14:creationId xmlns:p14="http://schemas.microsoft.com/office/powerpoint/2010/main" val="2836251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902C9-5B07-F9B3-4E4C-B9BF6CEF95D8}"/>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Price Elasticity of Demand (PED)</a:t>
            </a:r>
            <a:r>
              <a:rPr lang="en-US"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800835-B23A-CC86-C6FB-7BD655F6E337}"/>
                  </a:ext>
                </a:extLst>
              </p:cNvPr>
              <p:cNvSpPr>
                <a:spLocks noGrp="1"/>
              </p:cNvSpPr>
              <p:nvPr>
                <p:ph idx="1"/>
              </p:nvPr>
            </p:nvSpPr>
            <p:spPr/>
            <p:txBody>
              <a:bodyPr/>
              <a:lstStyle/>
              <a:p>
                <a:pPr marL="0" marR="0"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Price Elasticity of Demand (PED) measures the percentage change in quantity demanded in response to a one percent change in price, all other factors remaining constant.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2514600" lvl="6" indent="0" algn="just">
                  <a:lnSpc>
                    <a:spcPct val="107000"/>
                  </a:lnSpc>
                  <a:spcBef>
                    <a:spcPts val="0"/>
                  </a:spcBef>
                  <a:spcAft>
                    <a:spcPts val="800"/>
                  </a:spcAft>
                  <a:buNone/>
                </a:pPr>
                <a:endParaRPr lang="en-US" kern="100" dirty="0">
                  <a:latin typeface="Cambria Math" panose="02040503050406030204" pitchFamily="18" charset="0"/>
                  <a:ea typeface="Calibri" panose="020F0502020204030204" pitchFamily="34" charset="0"/>
                  <a:cs typeface="Times New Roman" panose="02020603050405020304" pitchFamily="18" charset="0"/>
                </a:endParaRPr>
              </a:p>
              <a:p>
                <a:pPr marL="2514600" lvl="6"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PED</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Change</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in</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Quantity</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Demanded</m:t>
                          </m:r>
                        </m:num>
                        <m:den>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Change</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in</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Price</m:t>
                          </m:r>
                        </m:den>
                      </m:f>
                    </m:oMath>
                  </m:oMathPara>
                </a14:m>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5C800835-B23A-CC86-C6FB-7BD655F6E337}"/>
                  </a:ext>
                </a:extLst>
              </p:cNvPr>
              <p:cNvSpPr>
                <a:spLocks noGrp="1" noRot="1" noChangeAspect="1" noMove="1" noResize="1" noEditPoints="1" noAdjustHandles="1" noChangeArrowheads="1" noChangeShapeType="1" noTextEdit="1"/>
              </p:cNvSpPr>
              <p:nvPr>
                <p:ph idx="1"/>
              </p:nvPr>
            </p:nvSpPr>
            <p:spPr>
              <a:blipFill>
                <a:blip r:embed="rId2"/>
                <a:stretch>
                  <a:fillRect l="-1217" t="-1541" r="-1159"/>
                </a:stretch>
              </a:blipFill>
            </p:spPr>
            <p:txBody>
              <a:bodyPr/>
              <a:lstStyle/>
              <a:p>
                <a:r>
                  <a:rPr lang="en-US">
                    <a:noFill/>
                  </a:rPr>
                  <a:t> </a:t>
                </a:r>
              </a:p>
            </p:txBody>
          </p:sp>
        </mc:Fallback>
      </mc:AlternateContent>
    </p:spTree>
    <p:extLst>
      <p:ext uri="{BB962C8B-B14F-4D97-AF65-F5344CB8AC3E}">
        <p14:creationId xmlns:p14="http://schemas.microsoft.com/office/powerpoint/2010/main" val="184028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A857-6885-4596-BE31-9F74D3FA41D2}"/>
              </a:ext>
            </a:extLst>
          </p:cNvPr>
          <p:cNvSpPr>
            <a:spLocks noGrp="1"/>
          </p:cNvSpPr>
          <p:nvPr>
            <p:ph type="title"/>
          </p:nvPr>
        </p:nvSpPr>
        <p:spPr>
          <a:xfrm>
            <a:off x="838200" y="365125"/>
            <a:ext cx="10515600" cy="5676901"/>
          </a:xfrm>
        </p:spPr>
        <p:txBody>
          <a:bodyPr>
            <a:normAutofit/>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Interpretation of Price Elasticity Coefficients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42732B7-9267-1303-F461-0A35F3840541}"/>
              </a:ext>
            </a:extLst>
          </p:cNvPr>
          <p:cNvSpPr>
            <a:spLocks noGrp="1"/>
          </p:cNvSpPr>
          <p:nvPr>
            <p:ph idx="1"/>
          </p:nvPr>
        </p:nvSpPr>
        <p:spPr>
          <a:xfrm>
            <a:off x="838200" y="1690688"/>
            <a:ext cx="10515600" cy="4351338"/>
          </a:xfrm>
        </p:spPr>
        <p:txBody>
          <a:bodyPr>
            <a:normAutofit/>
          </a:bodyPr>
          <a:lstStyle/>
          <a:p>
            <a:pPr marL="0" marR="0" indent="0" algn="just">
              <a:lnSpc>
                <a:spcPct val="107000"/>
              </a:lnSpc>
              <a:spcBef>
                <a:spcPts val="0"/>
              </a:spcBef>
              <a:spcAft>
                <a:spcPts val="800"/>
              </a:spcAft>
              <a:buNone/>
            </a:pPr>
            <a:endParaRPr lang="en-US" sz="4400" b="1" kern="100" dirty="0">
              <a:latin typeface="Century Gothic" panose="020B050202020202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47240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DC969-A8C4-F8F3-1B5A-1A183EA6FD78}"/>
              </a:ext>
            </a:extLst>
          </p:cNvPr>
          <p:cNvSpPr>
            <a:spLocks noGrp="1"/>
          </p:cNvSpPr>
          <p:nvPr>
            <p:ph type="title"/>
          </p:nvPr>
        </p:nvSpPr>
        <p:spPr/>
        <p:txBody>
          <a:bodyPr/>
          <a:lstStyle/>
          <a:p>
            <a:r>
              <a:rPr lang="en-US" sz="4400" b="1" kern="100" dirty="0">
                <a:latin typeface="Century Gothic" panose="020B0502020202020204" pitchFamily="34" charset="0"/>
                <a:ea typeface="Calibri" panose="020F0502020204030204" pitchFamily="34" charset="0"/>
                <a:cs typeface="Times New Roman" panose="02020603050405020304" pitchFamily="18" charset="0"/>
              </a:rPr>
              <a:t>Elastic Demand: PED &gt; 1</a:t>
            </a:r>
            <a:r>
              <a:rPr lang="en-US" sz="4400" b="1" kern="100" dirty="0">
                <a:latin typeface="Calibri" panose="020F0502020204030204" pitchFamily="34" charset="0"/>
                <a:ea typeface="Calibri" panose="020F0502020204030204" pitchFamily="34" charset="0"/>
                <a:cs typeface="Times New Roman" panose="02020603050405020304" pitchFamily="18" charset="0"/>
              </a:rPr>
              <a:t/>
            </a:r>
            <a:br>
              <a:rPr lang="en-US" sz="4400" b="1"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0807284-162F-CB9C-E824-89DB8F140CD0}"/>
              </a:ext>
            </a:extLst>
          </p:cNvPr>
          <p:cNvSpPr>
            <a:spLocks noGrp="1"/>
          </p:cNvSpPr>
          <p:nvPr>
            <p:ph idx="1"/>
          </p:nvPr>
        </p:nvSpPr>
        <p:spPr/>
        <p:txBody>
          <a:bodyPr>
            <a:normAutofit/>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demanded is greater than the percentage change in price.</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Consumers are responsive to price changes.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e.g. Luxury goods</a:t>
            </a:r>
          </a:p>
          <a:p>
            <a:endParaRPr lang="en-US" dirty="0"/>
          </a:p>
        </p:txBody>
      </p:sp>
    </p:spTree>
    <p:extLst>
      <p:ext uri="{BB962C8B-B14F-4D97-AF65-F5344CB8AC3E}">
        <p14:creationId xmlns:p14="http://schemas.microsoft.com/office/powerpoint/2010/main" val="3859251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1A88B-E5CB-3E7E-498D-B84FEF6A9F7E}"/>
              </a:ext>
            </a:extLst>
          </p:cNvPr>
          <p:cNvSpPr>
            <a:spLocks noGrp="1"/>
          </p:cNvSpPr>
          <p:nvPr>
            <p:ph type="title"/>
          </p:nvPr>
        </p:nvSpPr>
        <p:spPr/>
        <p:txBody>
          <a:bodyPr/>
          <a:lstStyle/>
          <a:p>
            <a:r>
              <a:rPr lang="en-US" sz="4400" b="1" kern="100" dirty="0">
                <a:latin typeface="Century Gothic" panose="020B0502020202020204" pitchFamily="34" charset="0"/>
                <a:ea typeface="Calibri" panose="020F0502020204030204" pitchFamily="34" charset="0"/>
                <a:cs typeface="Times New Roman" panose="02020603050405020304" pitchFamily="18" charset="0"/>
              </a:rPr>
              <a:t>Unitary Demand: PED = 1</a:t>
            </a:r>
            <a:r>
              <a:rPr lang="en-US" sz="4400" b="1" kern="100" dirty="0">
                <a:latin typeface="Calibri" panose="020F0502020204030204" pitchFamily="34" charset="0"/>
                <a:ea typeface="Calibri" panose="020F0502020204030204" pitchFamily="34" charset="0"/>
                <a:cs typeface="Times New Roman" panose="02020603050405020304" pitchFamily="18" charset="0"/>
              </a:rPr>
              <a:t/>
            </a:r>
            <a:br>
              <a:rPr lang="en-US" sz="4400" b="1"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2CA850F-0B64-4383-B262-9654072A507A}"/>
              </a:ext>
            </a:extLst>
          </p:cNvPr>
          <p:cNvSpPr>
            <a:spLocks noGrp="1"/>
          </p:cNvSpPr>
          <p:nvPr>
            <p:ph idx="1"/>
          </p:nvPr>
        </p:nvSpPr>
        <p:spPr/>
        <p:txBody>
          <a:bodyPr>
            <a:normAutofit/>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demanded is equal to the percentage change in price.</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Total revenue remains constant when price changes.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e.g. Agricultural products with many substitutes.</a:t>
            </a:r>
          </a:p>
          <a:p>
            <a:endParaRPr lang="en-US" dirty="0"/>
          </a:p>
        </p:txBody>
      </p:sp>
    </p:spTree>
    <p:extLst>
      <p:ext uri="{BB962C8B-B14F-4D97-AF65-F5344CB8AC3E}">
        <p14:creationId xmlns:p14="http://schemas.microsoft.com/office/powerpoint/2010/main" val="763365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C176-4948-0E75-9432-96AB4321BF84}"/>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Inelastic Demand: PED &lt; 1</a:t>
            </a:r>
            <a:r>
              <a:rPr lang="en-US" sz="4400" kern="100" dirty="0">
                <a:latin typeface="Calibri" panose="020F0502020204030204" pitchFamily="34" charset="0"/>
                <a:ea typeface="Calibri" panose="020F0502020204030204" pitchFamily="34" charset="0"/>
                <a:cs typeface="Times New Roman" panose="02020603050405020304" pitchFamily="18" charset="0"/>
              </a:rPr>
              <a:t/>
            </a:r>
            <a:br>
              <a:rPr lang="en-US" sz="4400"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27DD096-B7A5-ABB6-BDC7-E01393DE117D}"/>
              </a:ext>
            </a:extLst>
          </p:cNvPr>
          <p:cNvSpPr>
            <a:spLocks noGrp="1"/>
          </p:cNvSpPr>
          <p:nvPr>
            <p:ph idx="1"/>
          </p:nvPr>
        </p:nvSpPr>
        <p:spPr/>
        <p:txBody>
          <a:bodyPr>
            <a:normAutofit/>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demanded is less than the percentage change in price.</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Consumers are less responsive to price changes.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e.g. Necessities, essential goods.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43587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D03E3-9946-C05C-6A29-97756D52D7FD}"/>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Calculating of Price Elasticity of Demand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7A67E7-1788-7A8A-960E-7598C58F9A09}"/>
                  </a:ext>
                </a:extLst>
              </p:cNvPr>
              <p:cNvSpPr>
                <a:spLocks noGrp="1"/>
              </p:cNvSpPr>
              <p:nvPr>
                <p:ph idx="1"/>
              </p:nvPr>
            </p:nvSpPr>
            <p:spPr/>
            <p:txBody>
              <a:bodyPr/>
              <a:lstStyle/>
              <a:p>
                <a:pPr marL="0" marR="0"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To calculate PED, </a:t>
                </a: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 </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PED</m:t>
                      </m:r>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Change</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in</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Quantity</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Demanded</m:t>
                          </m:r>
                        </m:num>
                        <m:den>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Change</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in</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Price</m:t>
                          </m:r>
                        </m:den>
                      </m:f>
                    </m:oMath>
                  </m:oMathPara>
                </a14:m>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927A67E7-1788-7A8A-960E-7598C58F9A09}"/>
                  </a:ext>
                </a:extLst>
              </p:cNvPr>
              <p:cNvSpPr>
                <a:spLocks noGrp="1" noRot="1" noChangeAspect="1" noMove="1" noResize="1" noEditPoints="1" noAdjustHandles="1" noChangeArrowheads="1" noChangeShapeType="1" noTextEdit="1"/>
              </p:cNvSpPr>
              <p:nvPr>
                <p:ph idx="1"/>
              </p:nvPr>
            </p:nvSpPr>
            <p:spPr>
              <a:blipFill>
                <a:blip r:embed="rId2"/>
                <a:stretch>
                  <a:fillRect l="-812" t="-140"/>
                </a:stretch>
              </a:blipFill>
            </p:spPr>
            <p:txBody>
              <a:bodyPr/>
              <a:lstStyle/>
              <a:p>
                <a:r>
                  <a:rPr lang="en-US">
                    <a:noFill/>
                  </a:rPr>
                  <a:t> </a:t>
                </a:r>
              </a:p>
            </p:txBody>
          </p:sp>
        </mc:Fallback>
      </mc:AlternateContent>
    </p:spTree>
    <p:extLst>
      <p:ext uri="{BB962C8B-B14F-4D97-AF65-F5344CB8AC3E}">
        <p14:creationId xmlns:p14="http://schemas.microsoft.com/office/powerpoint/2010/main" val="3179001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6E1E9-5006-A2DA-E9A4-78A484F053A1}"/>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Price Elasticity of Supply (PES)</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473230-E167-D351-B219-0E0E1F3A9F6D}"/>
                  </a:ext>
                </a:extLst>
              </p:cNvPr>
              <p:cNvSpPr>
                <a:spLocks noGrp="1"/>
              </p:cNvSpPr>
              <p:nvPr>
                <p:ph idx="1"/>
              </p:nvPr>
            </p:nvSpPr>
            <p:spPr/>
            <p:txBody>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Price Elasticity of Supply (PES) measures the percentage change in quantity supplied in response to a one percent change in price, all other factors remaining constant.</a:t>
                </a: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𝑃𝐸𝑆</m:t>
                      </m:r>
                      <m:r>
                        <a:rPr lang="en-US" i="1" kern="100">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𝑄𝑢𝑎𝑛𝑡𝑖𝑡𝑦</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𝑆𝑢𝑝𝑝𝑙𝑖𝑒𝑑</m:t>
                          </m:r>
                        </m:num>
                        <m:den>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𝑃𝑟𝑖𝑐𝑒</m:t>
                          </m:r>
                        </m:den>
                      </m:f>
                    </m:oMath>
                  </m:oMathPara>
                </a14:m>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20473230-E167-D351-B219-0E0E1F3A9F6D}"/>
                  </a:ext>
                </a:extLst>
              </p:cNvPr>
              <p:cNvSpPr>
                <a:spLocks noGrp="1" noRot="1" noChangeAspect="1" noMove="1" noResize="1" noEditPoints="1" noAdjustHandles="1" noChangeArrowheads="1" noChangeShapeType="1" noTextEdit="1"/>
              </p:cNvSpPr>
              <p:nvPr>
                <p:ph idx="1"/>
              </p:nvPr>
            </p:nvSpPr>
            <p:spPr>
              <a:blipFill>
                <a:blip r:embed="rId2"/>
                <a:stretch>
                  <a:fillRect l="-812" t="-1261" r="-870"/>
                </a:stretch>
              </a:blipFill>
            </p:spPr>
            <p:txBody>
              <a:bodyPr/>
              <a:lstStyle/>
              <a:p>
                <a:r>
                  <a:rPr lang="en-US">
                    <a:noFill/>
                  </a:rPr>
                  <a:t> </a:t>
                </a:r>
              </a:p>
            </p:txBody>
          </p:sp>
        </mc:Fallback>
      </mc:AlternateContent>
    </p:spTree>
    <p:extLst>
      <p:ext uri="{BB962C8B-B14F-4D97-AF65-F5344CB8AC3E}">
        <p14:creationId xmlns:p14="http://schemas.microsoft.com/office/powerpoint/2010/main" val="886092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BFA62-CA20-2B41-5CD8-6F0CC24885B3}"/>
              </a:ext>
            </a:extLst>
          </p:cNvPr>
          <p:cNvSpPr>
            <a:spLocks noGrp="1"/>
          </p:cNvSpPr>
          <p:nvPr>
            <p:ph type="title"/>
          </p:nvPr>
        </p:nvSpPr>
        <p:spPr>
          <a:xfrm>
            <a:off x="838200" y="365125"/>
            <a:ext cx="10515600" cy="6046066"/>
          </a:xfrm>
        </p:spPr>
        <p:txBody>
          <a:bodyPr>
            <a:normAutofit/>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Interpretation of Price Elasticity of Supply Coefficients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2828135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579C-52E3-2145-4618-6263EAA351ED}"/>
              </a:ext>
            </a:extLst>
          </p:cNvPr>
          <p:cNvSpPr>
            <a:spLocks noGrp="1"/>
          </p:cNvSpPr>
          <p:nvPr>
            <p:ph type="title"/>
          </p:nvPr>
        </p:nvSpPr>
        <p:spPr/>
        <p:txBody>
          <a:bodyPr/>
          <a:lstStyle/>
          <a:p>
            <a:r>
              <a:rPr lang="en-US" b="1" dirty="0">
                <a:latin typeface="Century Gothic" panose="020B0502020202020204" pitchFamily="34" charset="0"/>
              </a:rPr>
              <a:t>Elastic supply: </a:t>
            </a:r>
            <a:r>
              <a:rPr lang="en-US" b="1" kern="100" dirty="0">
                <a:latin typeface="Century Gothic" panose="020B0502020202020204" pitchFamily="34" charset="0"/>
                <a:ea typeface="Calibri" panose="020F0502020204030204" pitchFamily="34" charset="0"/>
                <a:cs typeface="Times New Roman" panose="02020603050405020304" pitchFamily="18" charset="0"/>
              </a:rPr>
              <a:t>PES &gt; 1</a:t>
            </a:r>
            <a:endParaRPr lang="en-US" b="1"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F39EB854-44D1-F1B6-3297-652EA4E6C71D}"/>
              </a:ext>
            </a:extLst>
          </p:cNvPr>
          <p:cNvSpPr>
            <a:spLocks noGrp="1"/>
          </p:cNvSpPr>
          <p:nvPr>
            <p:ph idx="1"/>
          </p:nvPr>
        </p:nvSpPr>
        <p:spPr/>
        <p:txBody>
          <a:bodyPr/>
          <a:lstStyle/>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Producers are responsive to price changes.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supplied is greater than the percentage change in price.</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e.g. Agricultural products with short production periods</a:t>
            </a:r>
            <a:endParaRPr lang="en-US" dirty="0"/>
          </a:p>
        </p:txBody>
      </p:sp>
    </p:spTree>
    <p:extLst>
      <p:ext uri="{BB962C8B-B14F-4D97-AF65-F5344CB8AC3E}">
        <p14:creationId xmlns:p14="http://schemas.microsoft.com/office/powerpoint/2010/main" val="2614200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5F995-3FCE-E1CA-50D0-B3A242D124D5}"/>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Unitary Elastic Supply: PES = 1</a:t>
            </a:r>
            <a:endParaRPr lang="en-US" b="1" dirty="0"/>
          </a:p>
        </p:txBody>
      </p:sp>
      <p:sp>
        <p:nvSpPr>
          <p:cNvPr id="3" name="Content Placeholder 2">
            <a:extLst>
              <a:ext uri="{FF2B5EF4-FFF2-40B4-BE49-F238E27FC236}">
                <a16:creationId xmlns:a16="http://schemas.microsoft.com/office/drawing/2014/main" id="{00D2D433-3AE3-625A-23B5-1A73792FC322}"/>
              </a:ext>
            </a:extLst>
          </p:cNvPr>
          <p:cNvSpPr>
            <a:spLocks noGrp="1"/>
          </p:cNvSpPr>
          <p:nvPr>
            <p:ph idx="1"/>
          </p:nvPr>
        </p:nvSpPr>
        <p:spPr/>
        <p:txBody>
          <a:bodyPr/>
          <a:lstStyle/>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supplied is equal to the percentage change in price.</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e.g. Some raw materials.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0771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197AF-3CB9-5D45-4120-E6347D83FB49}"/>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Inelastic Supply: PES &lt; 1</a:t>
            </a:r>
            <a:endParaRPr lang="en-US" dirty="0"/>
          </a:p>
        </p:txBody>
      </p:sp>
      <p:sp>
        <p:nvSpPr>
          <p:cNvPr id="3" name="Content Placeholder 2">
            <a:extLst>
              <a:ext uri="{FF2B5EF4-FFF2-40B4-BE49-F238E27FC236}">
                <a16:creationId xmlns:a16="http://schemas.microsoft.com/office/drawing/2014/main" id="{EBFC0323-C214-7577-4055-0D391BFAC47B}"/>
              </a:ext>
            </a:extLst>
          </p:cNvPr>
          <p:cNvSpPr>
            <a:spLocks noGrp="1"/>
          </p:cNvSpPr>
          <p:nvPr>
            <p:ph idx="1"/>
          </p:nvPr>
        </p:nvSpPr>
        <p:spPr/>
        <p:txBody>
          <a:bodyPr/>
          <a:lstStyle/>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Producers are less responsive to price changes.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supplied is less than the percentage change in price.</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Agricultural products with long production periods.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215364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7A030-EAA6-5A8A-9366-AA1ED78D95D2}"/>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Calculating of Price Elasticity of Supply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978BE4-9360-4874-A30D-EAF572FD47BC}"/>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To calculate PES: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𝑃𝐸𝑆</m:t>
                      </m:r>
                      <m:r>
                        <a:rPr lang="en-US" i="1" kern="100">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𝑄𝑢𝑎𝑛𝑡𝑖𝑡𝑦</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𝑆𝑢𝑝𝑝𝑙𝑖𝑒𝑑</m:t>
                          </m:r>
                        </m:num>
                        <m:den>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𝑃𝑟𝑖𝑐𝑒</m:t>
                          </m:r>
                        </m:den>
                      </m:f>
                    </m:oMath>
                  </m:oMathPara>
                </a14:m>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0E978BE4-9360-4874-A30D-EAF572FD47BC}"/>
                  </a:ext>
                </a:extLst>
              </p:cNvPr>
              <p:cNvSpPr>
                <a:spLocks noGrp="1" noRot="1" noChangeAspect="1" noMove="1" noResize="1" noEditPoints="1" noAdjustHandles="1" noChangeArrowheads="1" noChangeShapeType="1" noTextEdit="1"/>
              </p:cNvSpPr>
              <p:nvPr>
                <p:ph idx="1"/>
              </p:nvPr>
            </p:nvSpPr>
            <p:spPr>
              <a:blipFill>
                <a:blip r:embed="rId2"/>
                <a:stretch>
                  <a:fillRect l="-1043" t="-1541"/>
                </a:stretch>
              </a:blipFill>
            </p:spPr>
            <p:txBody>
              <a:bodyPr/>
              <a:lstStyle/>
              <a:p>
                <a:r>
                  <a:rPr lang="en-US">
                    <a:noFill/>
                  </a:rPr>
                  <a:t> </a:t>
                </a:r>
              </a:p>
            </p:txBody>
          </p:sp>
        </mc:Fallback>
      </mc:AlternateContent>
    </p:spTree>
    <p:extLst>
      <p:ext uri="{BB962C8B-B14F-4D97-AF65-F5344CB8AC3E}">
        <p14:creationId xmlns:p14="http://schemas.microsoft.com/office/powerpoint/2010/main" val="2972092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9FE65-4D66-57D2-5DE6-D7DF78F9166B}"/>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Income Elasticity of Demand (XED)</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B4FE400-4AA9-7EEA-82C9-E8932FB63F37}"/>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Income elasticity of demand (YED) is a crucial concept in economics that measures how the quantity demanded of a product or service changes in response to changes in consumers' income levels.</a:t>
            </a:r>
          </a:p>
          <a:p>
            <a:r>
              <a:rPr lang="en-US" kern="100" dirty="0">
                <a:latin typeface="Century Gothic" panose="020B0502020202020204" pitchFamily="34" charset="0"/>
                <a:ea typeface="Calibri" panose="020F0502020204030204" pitchFamily="34" charset="0"/>
                <a:cs typeface="Times New Roman" panose="02020603050405020304" pitchFamily="18" charset="0"/>
              </a:rPr>
              <a:t> It provides valuable insights into how sensitive consumer demand is to fluctuations in income.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91629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CA483-E052-EFCD-07B6-74F8A7F1CCD6}"/>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Calculating Income Elasticity of Demand:</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60B5D5-6EB2-E1AA-2910-10C53B118673}"/>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income elasticity of demand </a:t>
                </a:r>
                <a:r>
                  <a:rPr lang="en-US" i="1" kern="100" dirty="0">
                    <a:latin typeface="Century Gothic" panose="020B0502020202020204" pitchFamily="34" charset="0"/>
                    <a:ea typeface="Calibri" panose="020F0502020204030204" pitchFamily="34" charset="0"/>
                    <a:cs typeface="Times New Roman" panose="02020603050405020304" pitchFamily="18" charset="0"/>
                  </a:rPr>
                  <a:t>(YED) </a:t>
                </a:r>
                <a:r>
                  <a:rPr lang="en-US" kern="100" dirty="0">
                    <a:latin typeface="Century Gothic" panose="020B0502020202020204" pitchFamily="34" charset="0"/>
                    <a:ea typeface="Calibri" panose="020F0502020204030204" pitchFamily="34" charset="0"/>
                    <a:cs typeface="Times New Roman" panose="02020603050405020304" pitchFamily="18" charset="0"/>
                  </a:rPr>
                  <a:t>is calculated using the following formula:</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ea typeface="Calibri" panose="020F0502020204030204" pitchFamily="34" charset="0"/>
                    <a:cs typeface="Times New Roman" panose="02020603050405020304" pitchFamily="18" charset="0"/>
                  </a:rPr>
                  <a:t>		</a:t>
                </a:r>
                <a14:m>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𝑌𝐸𝐷</m:t>
                    </m:r>
                    <m:r>
                      <a:rPr lang="en-US" i="1" kern="100">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𝑄𝑢𝑎𝑛𝑡𝑖𝑡𝑦</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𝐷𝑒𝑚𝑎𝑛𝑑𝑒𝑑</m:t>
                        </m:r>
                      </m:num>
                      <m:den>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𝐼𝑛𝑐𝑜𝑚𝑒</m:t>
                        </m:r>
                      </m:den>
                    </m:f>
                  </m:oMath>
                </a14:m>
                <a:r>
                  <a:rPr lang="en-US" kern="100" dirty="0">
                    <a:latin typeface="Century Gothic" panose="020B0502020202020204" pitchFamily="34" charset="0"/>
                    <a:ea typeface="Calibri" panose="020F0502020204030204" pitchFamily="34" charset="0"/>
                    <a:cs typeface="Times New Roman" panose="02020603050405020304" pitchFamily="18" charset="0"/>
                  </a:rPr>
                  <a:t>			</a:t>
                </a: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p>
              <a:p>
                <a:pPr marL="0" marR="0" indent="0" algn="just">
                  <a:lnSpc>
                    <a:spcPct val="107000"/>
                  </a:lnSpc>
                  <a:spcBef>
                    <a:spcPts val="0"/>
                  </a:spcBef>
                  <a:spcAft>
                    <a:spcPts val="800"/>
                  </a:spcAft>
                  <a:buNone/>
                </a:pPr>
                <a:r>
                  <a:rPr lang="en-US" sz="1400" i="1" kern="100" dirty="0">
                    <a:latin typeface="Century Gothic" panose="020B0502020202020204" pitchFamily="34" charset="0"/>
                    <a:ea typeface="Calibri" panose="020F0502020204030204" pitchFamily="34" charset="0"/>
                    <a:cs typeface="Times New Roman" panose="02020603050405020304" pitchFamily="18" charset="0"/>
                  </a:rPr>
                  <a:t>			NB: Where Y represents Income </a:t>
                </a:r>
                <a:endParaRPr lang="en-US" sz="1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2260B5D5-6EB2-E1AA-2910-10C53B118673}"/>
                  </a:ext>
                </a:extLst>
              </p:cNvPr>
              <p:cNvSpPr>
                <a:spLocks noGrp="1" noRot="1" noChangeAspect="1" noMove="1" noResize="1" noEditPoints="1" noAdjustHandles="1" noChangeArrowheads="1" noChangeShapeType="1" noTextEdit="1"/>
              </p:cNvSpPr>
              <p:nvPr>
                <p:ph idx="1"/>
              </p:nvPr>
            </p:nvSpPr>
            <p:spPr>
              <a:blipFill>
                <a:blip r:embed="rId2"/>
                <a:stretch>
                  <a:fillRect l="-1043" t="-1541" r="-1159"/>
                </a:stretch>
              </a:blipFill>
            </p:spPr>
            <p:txBody>
              <a:bodyPr/>
              <a:lstStyle/>
              <a:p>
                <a:r>
                  <a:rPr lang="en-US">
                    <a:noFill/>
                  </a:rPr>
                  <a:t> </a:t>
                </a:r>
              </a:p>
            </p:txBody>
          </p:sp>
        </mc:Fallback>
      </mc:AlternateContent>
    </p:spTree>
    <p:extLst>
      <p:ext uri="{BB962C8B-B14F-4D97-AF65-F5344CB8AC3E}">
        <p14:creationId xmlns:p14="http://schemas.microsoft.com/office/powerpoint/2010/main" val="728914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CD09F-BCBD-D463-E0DA-B548835550C7}"/>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Interpreting Income Elasticity of Demand:</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6C53B79-5EFF-FD0C-1CFE-C7817DA5889E}"/>
              </a:ext>
            </a:extLst>
          </p:cNvPr>
          <p:cNvSpPr>
            <a:spLocks noGrp="1"/>
          </p:cNvSpPr>
          <p:nvPr>
            <p:ph idx="1"/>
          </p:nvPr>
        </p:nvSpPr>
        <p:spPr>
          <a:xfrm>
            <a:off x="218209" y="1309255"/>
            <a:ext cx="11658600" cy="5183620"/>
          </a:xfrm>
        </p:spPr>
        <p:txBody>
          <a:bodyPr>
            <a:normAutofit/>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Positive Income Elasticity (YED &gt; 0):</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YED &gt; 1:</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Indicates a luxury or superior good. As consumers' income increases, the demand for such products increases at a proportionally higher rate.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VCA need to recognize the importance of these goods in the market and explore opportunities to cater to consumers' changing preferences as income rises.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0&lt;YED&lt;1:</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Represents a necessity. As consumers' income increases, the demand for these goods also increases, but at a proportionally lower rate.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VCA professionals need to be aware of the significance of these goods for different income groups and identify potential shifts in demand patterns.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43454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F0DBC8-F654-C023-7A9A-C3F977A1B03D}"/>
              </a:ext>
            </a:extLst>
          </p:cNvPr>
          <p:cNvSpPr>
            <a:spLocks noGrp="1"/>
          </p:cNvSpPr>
          <p:nvPr>
            <p:ph idx="1"/>
          </p:nvPr>
        </p:nvSpPr>
        <p:spPr>
          <a:xfrm>
            <a:off x="838200" y="561109"/>
            <a:ext cx="10515600" cy="5615854"/>
          </a:xfrm>
        </p:spPr>
        <p:txBody>
          <a:bodyPr/>
          <a:lstStyle/>
          <a:p>
            <a:pPr marL="0" marR="0" lv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2. Negative Income Elasticity (YED &lt; 0):</a:t>
            </a:r>
          </a:p>
          <a:p>
            <a:pPr marL="0" marR="0" lv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Indicates an inferior good. As consumers' income rises, the demand for such products decreases.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VCA students must recognize the impact of income changes on the demand for inferior goods and identify strategies to adapt to evolving consumer preferences.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53532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CFAA4E-D443-E420-1CC5-D2D36C4D2263}"/>
              </a:ext>
            </a:extLst>
          </p:cNvPr>
          <p:cNvSpPr>
            <a:spLocks noGrp="1"/>
          </p:cNvSpPr>
          <p:nvPr>
            <p:ph idx="1"/>
          </p:nvPr>
        </p:nvSpPr>
        <p:spPr>
          <a:xfrm>
            <a:off x="644236" y="509156"/>
            <a:ext cx="10709564" cy="5667808"/>
          </a:xfrm>
        </p:spPr>
        <p:txBody>
          <a:bodyPr/>
          <a:lstStyle/>
          <a:p>
            <a:pPr marL="0" marR="0" lv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3. Zero Income Elasticity (YED = 0):</a:t>
            </a:r>
          </a:p>
          <a:p>
            <a:pPr marL="0" marR="0" lv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Represents income-inelastic goods. The quantity demanded remains constant regardless of changes in income.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Individuals should be aware of the stability of demand for these goods, as it helps in planning and managing supply chains.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72719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F472-2331-B9AD-DB65-2EA31282D18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Cross Elasticity of Demand (XED)</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EDB9C0F-63D0-E9FE-40DF-61713031C311}"/>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Cross elasticity of demand measures the responsiveness of the quantity demanded of one good to changes in the price of another related good. </a:t>
                </a: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XED</a:t>
                </a:r>
                <a:r>
                  <a:rPr lang="en-US" kern="100" dirty="0">
                    <a:latin typeface="Century Gothic" panose="020B0502020202020204" pitchFamily="34" charset="0"/>
                    <a:ea typeface="Calibri" panose="020F0502020204030204" pitchFamily="34" charset="0"/>
                    <a:cs typeface="Times New Roman" panose="02020603050405020304" pitchFamily="18" charset="0"/>
                  </a:rPr>
                  <a:t> helps to understand how the demand for a particular good is influenced by the price changes of another good.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Cross elasticity of demand is calculated using the following formula:</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𝑋𝐸𝐷</m:t>
                      </m:r>
                      <m:r>
                        <a:rPr lang="en-US" i="1" kern="100">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𝑄𝑢𝑎𝑛𝑡𝑖𝑡𝑦</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𝐷𝑒𝑚𝑎𝑛𝑑𝑒𝑑</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𝑜𝑓</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𝐺𝑜𝑜𝑑</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𝐴</m:t>
                          </m:r>
                        </m:num>
                        <m:den>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𝑃𝑟𝑖𝑐𝑒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𝑜𝑓</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𝐺𝑜𝑜𝑑</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𝐵</m:t>
                          </m:r>
                        </m:den>
                      </m:f>
                    </m:oMath>
                  </m:oMathPara>
                </a14:m>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p:sp>
            <p:nvSpPr>
              <p:cNvPr id="3" name="Content Placeholder 2">
                <a:extLst>
                  <a:ext uri="{FF2B5EF4-FFF2-40B4-BE49-F238E27FC236}">
                    <a16:creationId xmlns:a16="http://schemas.microsoft.com/office/drawing/2014/main" id="{7EDB9C0F-63D0-E9FE-40DF-61713031C311}"/>
                  </a:ext>
                </a:extLst>
              </p:cNvPr>
              <p:cNvSpPr>
                <a:spLocks noGrp="1" noRot="1" noChangeAspect="1" noMove="1" noResize="1" noEditPoints="1" noAdjustHandles="1" noChangeArrowheads="1" noChangeShapeType="1" noTextEdit="1"/>
              </p:cNvSpPr>
              <p:nvPr>
                <p:ph idx="1"/>
              </p:nvPr>
            </p:nvSpPr>
            <p:spPr>
              <a:blipFill>
                <a:blip r:embed="rId2"/>
                <a:stretch>
                  <a:fillRect l="-341" t="-1017" r="-681"/>
                </a:stretch>
              </a:blipFill>
            </p:spPr>
            <p:txBody>
              <a:bodyPr/>
              <a:lstStyle/>
              <a:p>
                <a:r>
                  <a:rPr lang="en-US">
                    <a:noFill/>
                  </a:rPr>
                  <a:t> </a:t>
                </a:r>
              </a:p>
            </p:txBody>
          </p:sp>
        </mc:Fallback>
      </mc:AlternateContent>
    </p:spTree>
    <p:extLst>
      <p:ext uri="{BB962C8B-B14F-4D97-AF65-F5344CB8AC3E}">
        <p14:creationId xmlns:p14="http://schemas.microsoft.com/office/powerpoint/2010/main" val="3377025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9747E-8044-53F3-FF62-9CFBE08D767A}"/>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Interpretating cross elasticity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291BB61-609C-55FC-061A-42953B4C9EB5}"/>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The cross elasticity of demand can be classified into three categories based on the sign of the value obtained: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1918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3ABD8-99E8-56D2-2610-03EB98CDAF73}"/>
              </a:ext>
            </a:extLst>
          </p:cNvPr>
          <p:cNvSpPr>
            <a:spLocks noGrp="1"/>
          </p:cNvSpPr>
          <p:nvPr>
            <p:ph type="title"/>
          </p:nvPr>
        </p:nvSpPr>
        <p:spPr/>
        <p:txBody>
          <a:bodyPr/>
          <a:lstStyle/>
          <a:p>
            <a:pPr algn="ctr"/>
            <a:r>
              <a:rPr lang="en-US" b="1" dirty="0">
                <a:latin typeface="Century Gothic" panose="020B0502020202020204" pitchFamily="34" charset="0"/>
                <a:ea typeface="Calibri" panose="020F0502020204030204" pitchFamily="34" charset="0"/>
                <a:cs typeface="Times New Roman" panose="02020603050405020304" pitchFamily="18" charset="0"/>
              </a:rPr>
              <a:t>1. Positive Cross Elasticity (Substitutes)</a:t>
            </a:r>
            <a:endParaRPr lang="en-US" dirty="0"/>
          </a:p>
        </p:txBody>
      </p:sp>
      <p:sp>
        <p:nvSpPr>
          <p:cNvPr id="3" name="Content Placeholder 2">
            <a:extLst>
              <a:ext uri="{FF2B5EF4-FFF2-40B4-BE49-F238E27FC236}">
                <a16:creationId xmlns:a16="http://schemas.microsoft.com/office/drawing/2014/main" id="{297F52E6-2CC9-2A9D-4DC8-3206768A37A9}"/>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positive cross elasticity of demand indicates that the two goods are </a:t>
            </a:r>
            <a:r>
              <a:rPr lang="en-US" b="1" i="1" kern="100" dirty="0">
                <a:latin typeface="Century Gothic" panose="020B0502020202020204" pitchFamily="34" charset="0"/>
                <a:ea typeface="Calibri" panose="020F0502020204030204" pitchFamily="34" charset="0"/>
                <a:cs typeface="Times New Roman" panose="02020603050405020304" pitchFamily="18" charset="0"/>
              </a:rPr>
              <a:t>substitutes </a:t>
            </a:r>
            <a:r>
              <a:rPr lang="en-US" kern="100" dirty="0">
                <a:latin typeface="Century Gothic" panose="020B0502020202020204" pitchFamily="34" charset="0"/>
                <a:ea typeface="Calibri" panose="020F0502020204030204" pitchFamily="34" charset="0"/>
                <a:cs typeface="Times New Roman" panose="02020603050405020304" pitchFamily="18" charset="0"/>
              </a:rPr>
              <a:t>for each other.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This implies that an increase in the price of one good leads to an increase in the quantity demanded of the other, and vice versa.</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If the price of tea increases, the demand for coffee might also increase, as consumers switch to the cheaper alternative.</a:t>
            </a:r>
            <a:endParaRPr lang="en-US" dirty="0"/>
          </a:p>
        </p:txBody>
      </p:sp>
    </p:spTree>
    <p:extLst>
      <p:ext uri="{BB962C8B-B14F-4D97-AF65-F5344CB8AC3E}">
        <p14:creationId xmlns:p14="http://schemas.microsoft.com/office/powerpoint/2010/main" val="191697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D2DDB-9BB0-36AF-47EF-AB7302F8219D}"/>
              </a:ext>
            </a:extLst>
          </p:cNvPr>
          <p:cNvSpPr>
            <a:spLocks noGrp="1"/>
          </p:cNvSpPr>
          <p:nvPr>
            <p:ph type="title"/>
          </p:nvPr>
        </p:nvSpPr>
        <p:spPr>
          <a:xfrm>
            <a:off x="838200" y="529935"/>
            <a:ext cx="10515600" cy="1631373"/>
          </a:xfrm>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2. Negative Cross Elasticity(Complements)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5BC3936-AE30-0C0A-4CD3-A511127723F5}"/>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negative cross elasticity of demand suggests that the two goods are </a:t>
            </a:r>
            <a:r>
              <a:rPr lang="en-US" b="1" i="1" kern="100" dirty="0">
                <a:latin typeface="Century Gothic" panose="020B0502020202020204" pitchFamily="34" charset="0"/>
                <a:ea typeface="Calibri" panose="020F0502020204030204" pitchFamily="34" charset="0"/>
                <a:cs typeface="Times New Roman" panose="02020603050405020304" pitchFamily="18" charset="0"/>
              </a:rPr>
              <a:t>complements</a:t>
            </a:r>
            <a:r>
              <a:rPr lang="en-US" kern="100" dirty="0">
                <a:latin typeface="Century Gothic" panose="020B0502020202020204" pitchFamily="34" charset="0"/>
                <a:ea typeface="Calibri" panose="020F0502020204030204" pitchFamily="34" charset="0"/>
                <a:cs typeface="Times New Roman" panose="02020603050405020304" pitchFamily="18" charset="0"/>
              </a:rPr>
              <a:t>, meaning they are consumed together.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negative cross elasticity means that an increase in the price of one good leads to a decrease in the quantity demanded of the other, and vice versa.</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If the price of smartphones increases, the demand for smartphone cases might decrease, as fewer people would be willing to buy smartphones without protective cases.</a:t>
            </a:r>
            <a:endParaRPr lang="en-US" dirty="0"/>
          </a:p>
        </p:txBody>
      </p:sp>
    </p:spTree>
    <p:extLst>
      <p:ext uri="{BB962C8B-B14F-4D97-AF65-F5344CB8AC3E}">
        <p14:creationId xmlns:p14="http://schemas.microsoft.com/office/powerpoint/2010/main" val="410613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A3F1-454F-C46D-6F63-4ABAD5CE4C0E}"/>
              </a:ext>
            </a:extLst>
          </p:cNvPr>
          <p:cNvSpPr>
            <a:spLocks noGrp="1"/>
          </p:cNvSpPr>
          <p:nvPr>
            <p:ph type="title"/>
          </p:nvPr>
        </p:nvSpPr>
        <p:spPr>
          <a:xfrm>
            <a:off x="838200" y="365125"/>
            <a:ext cx="10515600" cy="1796184"/>
          </a:xfrm>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3. Zero Cross Elasticity (Unrelated Goods)</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A1318E3-740E-490C-9D30-D5D064E400B5}"/>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If the cross elasticity of demand is zero, it indicates that the two goods are unrelated, and changes in the price of one good have no impact on the quantity demanded of the other.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Zero cross elasticity means that the goods are independent of each other, and consumers do not consider the price of one good when making choices about the other.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The demand for pens and ice cream is likely to be unrelated, as changes in the price of pens are unlikely to affect the demand for ice cream.</a:t>
            </a:r>
            <a:endParaRPr lang="en-US" dirty="0"/>
          </a:p>
        </p:txBody>
      </p:sp>
    </p:spTree>
    <p:extLst>
      <p:ext uri="{BB962C8B-B14F-4D97-AF65-F5344CB8AC3E}">
        <p14:creationId xmlns:p14="http://schemas.microsoft.com/office/powerpoint/2010/main" val="4187338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17A93-1863-A2C4-7655-6689642A5971}"/>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Elasticity's Role in Market Responsiveness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5CCC34F-27FF-1091-5EB8-C42B115F45DC}"/>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Elastic markets respond more quickly to price changes.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Inelastic markets are slower to respond, affecting market dynamics and competition.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4579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60A49-CAA6-5975-F3A5-D9FDC62E557C}"/>
              </a:ext>
            </a:extLst>
          </p:cNvPr>
          <p:cNvSpPr>
            <a:spLocks noGrp="1"/>
          </p:cNvSpPr>
          <p:nvPr>
            <p:ph type="title"/>
          </p:nvPr>
        </p:nvSpPr>
        <p:spPr/>
        <p:txBody>
          <a:bodyPr>
            <a:normAutofit fontScale="90000"/>
          </a:bodyPr>
          <a:lstStyle/>
          <a:p>
            <a:pPr marL="0" marR="0" algn="ctr">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sz="4900" b="1" kern="100" dirty="0">
                <a:latin typeface="Century Gothic" panose="020B0502020202020204" pitchFamily="34" charset="0"/>
                <a:ea typeface="Calibri" panose="020F0502020204030204" pitchFamily="34" charset="0"/>
                <a:cs typeface="Times New Roman" panose="02020603050405020304" pitchFamily="18" charset="0"/>
              </a:rPr>
              <a:t>Elasticity’s Role in Understanding Agent Behavior in VCA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4F45B55-00E0-9857-0CA9-1621DB979A84}"/>
              </a:ext>
            </a:extLst>
          </p:cNvPr>
          <p:cNvSpPr>
            <a:spLocks noGrp="1"/>
          </p:cNvSpPr>
          <p:nvPr>
            <p:ph idx="1"/>
          </p:nvPr>
        </p:nvSpPr>
        <p:spPr>
          <a:xfrm>
            <a:off x="838200" y="2285999"/>
            <a:ext cx="10515600" cy="3890963"/>
          </a:xfrm>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Elasticity helps value chain agriculture stakeholders comprehend how changes in prices impact demand for agricultural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Producers can adjust production based on price elasticity to optimize revenue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57281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8823C-7CEF-49D5-3B20-6BEFDA9217D0}"/>
              </a:ext>
            </a:extLst>
          </p:cNvPr>
          <p:cNvSpPr>
            <a:spLocks noGrp="1"/>
          </p:cNvSpPr>
          <p:nvPr>
            <p:ph type="title"/>
          </p:nvPr>
        </p:nvSpPr>
        <p:spPr>
          <a:xfrm>
            <a:off x="838200" y="365125"/>
            <a:ext cx="10515600" cy="5807075"/>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Practical Exercises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2440026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96871-BFB0-FD45-1F6D-74996590E242}"/>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1: Calculating Price Elasticity of Demand (PED)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0B3204A-9A0E-EF47-674A-1D0CF9E8346E}"/>
              </a:ext>
            </a:extLst>
          </p:cNvPr>
          <p:cNvSpPr>
            <a:spLocks noGrp="1"/>
          </p:cNvSpPr>
          <p:nvPr>
            <p:ph idx="1"/>
          </p:nvPr>
        </p:nvSpPr>
        <p:spPr/>
        <p:txBody>
          <a:bodyPr/>
          <a:lstStyle/>
          <a:p>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quantity demanded for maize in a local market change from 1000 kg to 1200 kg when the price decreases from MK 10 per kg to MK 8 per kg. Calculate the price elasticity of demand (PED) for maize.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09017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7784-7BAC-A928-312B-F531EB9CCE5E}"/>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2: Calculating Price Elasticity of Supply (PES)</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29AA1E-F060-EF8F-7778-D0847695A087}"/>
              </a:ext>
            </a:extLst>
          </p:cNvPr>
          <p:cNvSpPr>
            <a:spLocks noGrp="1"/>
          </p:cNvSpPr>
          <p:nvPr>
            <p:ph idx="1"/>
          </p:nvPr>
        </p:nvSpPr>
        <p:spPr>
          <a:xfrm>
            <a:off x="838200" y="2234045"/>
            <a:ext cx="10515600" cy="3942918"/>
          </a:xfrm>
        </p:spPr>
        <p:txBody>
          <a:bodyPr/>
          <a:lstStyle/>
          <a:p>
            <a:pPr algn="just"/>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quantity supplied for tomatoes in a local market change from 800 kg to 1000 kg when the price increases from MK 12 per kg to MK 15 per kg. Calculate the price elasticity of supply (PES) for tomatoes.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7011074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C06B6-9C67-F834-BB81-4523631E9CD0}"/>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3: Calculating Cross Price Elasticity of Demand (XED)</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38AEA31-E417-AF07-416E-69ACAA6AE8DB}"/>
              </a:ext>
            </a:extLst>
          </p:cNvPr>
          <p:cNvSpPr>
            <a:spLocks noGrp="1"/>
          </p:cNvSpPr>
          <p:nvPr>
            <p:ph idx="1"/>
          </p:nvPr>
        </p:nvSpPr>
        <p:spPr/>
        <p:txBody>
          <a:bodyPr/>
          <a:lstStyle/>
          <a:p>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quantity demanded for oranges (Good A) changes from 1200 units to 1000 units when the price of apples (Good B) increases from MK 150 per unit to MK 200 per unit. Calculate the cross-price elasticity of demand between oranges and apples.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21984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C43B-42BC-1074-E5F2-AEF462A0812D}"/>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4: Calculating Income Elasticity of Demand (YED)</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456AB29-3C4B-B93D-89F9-79F837441B2F}"/>
              </a:ext>
            </a:extLst>
          </p:cNvPr>
          <p:cNvSpPr>
            <a:spLocks noGrp="1"/>
          </p:cNvSpPr>
          <p:nvPr>
            <p:ph idx="1"/>
          </p:nvPr>
        </p:nvSpPr>
        <p:spPr/>
        <p:txBody>
          <a:bodyPr/>
          <a:lstStyle/>
          <a:p>
            <a:pPr algn="just"/>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quantity demanded for laptops changes from 300 units to 400 units when average income increases from MK 40,000 to MK50,000. Calculate the income elasticity of demand for laptops.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spTree>
    <p:extLst>
      <p:ext uri="{BB962C8B-B14F-4D97-AF65-F5344CB8AC3E}">
        <p14:creationId xmlns:p14="http://schemas.microsoft.com/office/powerpoint/2010/main" val="5800991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68F74-6A3F-5F51-77A1-91FA0EB8F750}"/>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Price Elasticity and Revenue Management in the Banana Market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8A1AC8D-5C5C-A537-E6DE-B676D6E63BD9}"/>
              </a:ext>
            </a:extLst>
          </p:cNvPr>
          <p:cNvSpPr>
            <a:spLocks noGrp="1"/>
          </p:cNvSpPr>
          <p:nvPr>
            <p:ph idx="1"/>
          </p:nvPr>
        </p:nvSpPr>
        <p:spPr/>
        <p:txBody>
          <a:bodyPr/>
          <a:lstStyle/>
          <a:p>
            <a:pPr marL="0" indent="0" algn="jus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a scenario in which the price of bananas in a local market increases by 10% due to a temporary shortage caused by unfavorable weather conditions. As a result, the quantity demanded decreases by 5%. </a:t>
            </a:r>
          </a:p>
          <a:p>
            <a:pPr marL="0" indent="0" algn="just">
              <a:buNone/>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r>
              <a:rPr lang="en-US" i="1" kern="100" dirty="0">
                <a:latin typeface="Century Gothic" panose="020B0502020202020204" pitchFamily="34" charset="0"/>
                <a:ea typeface="Calibri" panose="020F0502020204030204" pitchFamily="34" charset="0"/>
                <a:cs typeface="Times New Roman" panose="02020603050405020304" pitchFamily="18" charset="0"/>
              </a:rPr>
              <a:t>Evaluate the price elasticity of demand for bananas and its implications for revenue management by banana farmers.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294634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0</TotalTime>
  <Words>1368</Words>
  <Application>Microsoft Office PowerPoint</Application>
  <PresentationFormat>Widescreen</PresentationFormat>
  <Paragraphs>106</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Cambria Math</vt:lpstr>
      <vt:lpstr>Century Gothic</vt:lpstr>
      <vt:lpstr>Times New Roman</vt:lpstr>
      <vt:lpstr>Wingdings 3</vt:lpstr>
      <vt:lpstr>Ion</vt:lpstr>
      <vt:lpstr>Elasticity and Its Applications</vt:lpstr>
      <vt:lpstr> </vt:lpstr>
      <vt:lpstr>Price Elasticity of Demand (PED)  </vt:lpstr>
      <vt:lpstr>Interpretation of Price Elasticity Coefficients  </vt:lpstr>
      <vt:lpstr>Elastic Demand: PED &gt; 1 </vt:lpstr>
      <vt:lpstr>Unitary Demand: PED = 1 </vt:lpstr>
      <vt:lpstr>Inelastic Demand: PED &lt; 1 </vt:lpstr>
      <vt:lpstr>Calculating of Price Elasticity of Demand  </vt:lpstr>
      <vt:lpstr>Price Elasticity of Supply (PES) </vt:lpstr>
      <vt:lpstr>Interpretation of Price Elasticity of Supply Coefficients  </vt:lpstr>
      <vt:lpstr>Elastic supply: PES &gt; 1</vt:lpstr>
      <vt:lpstr>Unitary Elastic Supply: PES = 1</vt:lpstr>
      <vt:lpstr>Inelastic Supply: PES &lt; 1</vt:lpstr>
      <vt:lpstr>Calculating of Price Elasticity of Supply  </vt:lpstr>
      <vt:lpstr>Income Elasticity of Demand (XED) </vt:lpstr>
      <vt:lpstr>Calculating Income Elasticity of Demand: </vt:lpstr>
      <vt:lpstr>Interpreting Income Elasticity of Demand: </vt:lpstr>
      <vt:lpstr>PowerPoint Presentation</vt:lpstr>
      <vt:lpstr>PowerPoint Presentation</vt:lpstr>
      <vt:lpstr>Cross Elasticity of Demand (XED) </vt:lpstr>
      <vt:lpstr>Interpretating cross elasticity  </vt:lpstr>
      <vt:lpstr>1. Positive Cross Elasticity (Substitutes)</vt:lpstr>
      <vt:lpstr>2. Negative Cross Elasticity(Complements)  </vt:lpstr>
      <vt:lpstr>3. Zero Cross Elasticity (Unrelated Goods) </vt:lpstr>
      <vt:lpstr>Elasticity's Role in Market Responsiveness  </vt:lpstr>
      <vt:lpstr>  Elasticity’s Role in Understanding Agent Behavior in VCA  </vt:lpstr>
      <vt:lpstr>Practical Exercises  </vt:lpstr>
      <vt:lpstr>Exercise 1: Calculating Price Elasticity of Demand (PED)  </vt:lpstr>
      <vt:lpstr>Exercise 2: Calculating Price Elasticity of Supply (PES) </vt:lpstr>
      <vt:lpstr>Exercise 3: Calculating Cross Price Elasticity of Demand (XED) </vt:lpstr>
      <vt:lpstr>Exercise 4: Calculating Income Elasticity of Demand (YED) </vt:lpstr>
      <vt:lpstr>Case Study: Price Elasticity and Revenue Management in the Banana Market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Elasticity and Its Applications</dc:title>
  <dc:creator>hp</dc:creator>
  <cp:lastModifiedBy>hp</cp:lastModifiedBy>
  <cp:revision>1</cp:revision>
  <dcterms:created xsi:type="dcterms:W3CDTF">2025-03-11T05:00:00Z</dcterms:created>
  <dcterms:modified xsi:type="dcterms:W3CDTF">2025-03-11T05:00:44Z</dcterms:modified>
</cp:coreProperties>
</file>