
<file path=[Content_Types].xml><?xml version="1.0" encoding="utf-8"?>
<Types xmlns="http://schemas.openxmlformats.org/package/2006/content-types">
  <Default Extension="png" ContentType="image/png"/>
  <Default Extension="jpeg" ContentType="image/jpeg"/>
  <Default Extension="webp" ContentType="image/webp"/>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9" d="100"/>
          <a:sy n="79" d="100"/>
        </p:scale>
        <p:origin x="42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0767F8B4-75CE-43BF-BD15-FD980CC4A7AD}" type="datetimeFigureOut">
              <a:rPr lang="en-US" smtClean="0"/>
              <a:t>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9DB4EA-5439-4371-A221-10DFEB58F58E}" type="slidenum">
              <a:rPr lang="en-US" smtClean="0"/>
              <a:t>‹#›</a:t>
            </a:fld>
            <a:endParaRPr lang="en-US"/>
          </a:p>
        </p:txBody>
      </p:sp>
    </p:spTree>
    <p:extLst>
      <p:ext uri="{BB962C8B-B14F-4D97-AF65-F5344CB8AC3E}">
        <p14:creationId xmlns:p14="http://schemas.microsoft.com/office/powerpoint/2010/main" val="32566482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fld id="{0767F8B4-75CE-43BF-BD15-FD980CC4A7AD}" type="datetimeFigureOut">
              <a:rPr lang="en-US" smtClean="0"/>
              <a:t>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9DB4EA-5439-4371-A221-10DFEB58F58E}" type="slidenum">
              <a:rPr lang="en-US" smtClean="0"/>
              <a:t>‹#›</a:t>
            </a:fld>
            <a:endParaRPr lang="en-US"/>
          </a:p>
        </p:txBody>
      </p:sp>
    </p:spTree>
    <p:extLst>
      <p:ext uri="{BB962C8B-B14F-4D97-AF65-F5344CB8AC3E}">
        <p14:creationId xmlns:p14="http://schemas.microsoft.com/office/powerpoint/2010/main" val="19728702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767F8B4-75CE-43BF-BD15-FD980CC4A7AD}" type="datetimeFigureOut">
              <a:rPr lang="en-US" smtClean="0"/>
              <a:t>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9DB4EA-5439-4371-A221-10DFEB58F58E}" type="slidenum">
              <a:rPr lang="en-US" smtClean="0"/>
              <a:t>‹#›</a:t>
            </a:fld>
            <a:endParaRPr lang="en-US"/>
          </a:p>
        </p:txBody>
      </p:sp>
    </p:spTree>
    <p:extLst>
      <p:ext uri="{BB962C8B-B14F-4D97-AF65-F5344CB8AC3E}">
        <p14:creationId xmlns:p14="http://schemas.microsoft.com/office/powerpoint/2010/main" val="8995690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767F8B4-75CE-43BF-BD15-FD980CC4A7AD}" type="datetimeFigureOut">
              <a:rPr lang="en-US" smtClean="0"/>
              <a:t>2/23/2025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9DB4EA-5439-4371-A221-10DFEB58F58E}" type="slidenum">
              <a:rPr lang="en-US" smtClean="0"/>
              <a:t>‹#›</a:t>
            </a:fld>
            <a:endParaRPr lang="en-US"/>
          </a:p>
        </p:txBody>
      </p:sp>
    </p:spTree>
    <p:extLst>
      <p:ext uri="{BB962C8B-B14F-4D97-AF65-F5344CB8AC3E}">
        <p14:creationId xmlns:p14="http://schemas.microsoft.com/office/powerpoint/2010/main" val="19886071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0767F8B4-75CE-43BF-BD15-FD980CC4A7AD}" type="datetimeFigureOut">
              <a:rPr lang="en-US" smtClean="0"/>
              <a:t>2/23/2025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F9DB4EA-5439-4371-A221-10DFEB58F58E}" type="slidenum">
              <a:rPr lang="en-US" smtClean="0"/>
              <a:t>‹#›</a:t>
            </a:fld>
            <a:endParaRPr lang="en-US"/>
          </a:p>
        </p:txBody>
      </p:sp>
    </p:spTree>
    <p:extLst>
      <p:ext uri="{BB962C8B-B14F-4D97-AF65-F5344CB8AC3E}">
        <p14:creationId xmlns:p14="http://schemas.microsoft.com/office/powerpoint/2010/main" val="7696663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0767F8B4-75CE-43BF-BD15-FD980CC4A7AD}" type="datetimeFigureOut">
              <a:rPr lang="en-US" smtClean="0"/>
              <a:t>2/23/2025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1F9DB4EA-5439-4371-A221-10DFEB58F58E}" type="slidenum">
              <a:rPr lang="en-US" smtClean="0"/>
              <a:t>‹#›</a:t>
            </a:fld>
            <a:endParaRPr lang="en-US"/>
          </a:p>
        </p:txBody>
      </p:sp>
    </p:spTree>
    <p:extLst>
      <p:ext uri="{BB962C8B-B14F-4D97-AF65-F5344CB8AC3E}">
        <p14:creationId xmlns:p14="http://schemas.microsoft.com/office/powerpoint/2010/main" val="42608601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0767F8B4-75CE-43BF-BD15-FD980CC4A7AD}" type="datetimeFigureOut">
              <a:rPr lang="en-US" smtClean="0"/>
              <a:t>2/23/2025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1F9DB4EA-5439-4371-A221-10DFEB58F58E}" type="slidenum">
              <a:rPr lang="en-US" smtClean="0"/>
              <a:t>‹#›</a:t>
            </a:fld>
            <a:endParaRPr lang="en-US"/>
          </a:p>
        </p:txBody>
      </p:sp>
    </p:spTree>
    <p:extLst>
      <p:ext uri="{BB962C8B-B14F-4D97-AF65-F5344CB8AC3E}">
        <p14:creationId xmlns:p14="http://schemas.microsoft.com/office/powerpoint/2010/main" val="8903238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7" name="Date Placeholder 4"/>
          <p:cNvSpPr>
            <a:spLocks noGrp="1"/>
          </p:cNvSpPr>
          <p:nvPr>
            <p:ph type="dt" sz="half" idx="10"/>
          </p:nvPr>
        </p:nvSpPr>
        <p:spPr/>
        <p:txBody>
          <a:bodyPr/>
          <a:lstStyle/>
          <a:p>
            <a:fld id="{0767F8B4-75CE-43BF-BD15-FD980CC4A7AD}" type="datetimeFigureOut">
              <a:rPr lang="en-US" smtClean="0"/>
              <a:t>2/23/2025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1F9DB4EA-5439-4371-A221-10DFEB58F58E}" type="slidenum">
              <a:rPr lang="en-US" smtClean="0"/>
              <a:t>‹#›</a:t>
            </a:fld>
            <a:endParaRPr lang="en-US"/>
          </a:p>
        </p:txBody>
      </p:sp>
    </p:spTree>
    <p:extLst>
      <p:ext uri="{BB962C8B-B14F-4D97-AF65-F5344CB8AC3E}">
        <p14:creationId xmlns:p14="http://schemas.microsoft.com/office/powerpoint/2010/main" val="7589779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0767F8B4-75CE-43BF-BD15-FD980CC4A7AD}" type="datetimeFigureOut">
              <a:rPr lang="en-US" smtClean="0"/>
              <a:t>2/23/2025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9DB4EA-5439-4371-A221-10DFEB58F58E}" type="slidenum">
              <a:rPr lang="en-US" smtClean="0"/>
              <a:t>‹#›</a:t>
            </a:fld>
            <a:endParaRPr lang="en-US"/>
          </a:p>
        </p:txBody>
      </p:sp>
    </p:spTree>
    <p:extLst>
      <p:ext uri="{BB962C8B-B14F-4D97-AF65-F5344CB8AC3E}">
        <p14:creationId xmlns:p14="http://schemas.microsoft.com/office/powerpoint/2010/main" val="15300456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0767F8B4-75CE-43BF-BD15-FD980CC4A7AD}" type="datetimeFigureOut">
              <a:rPr lang="en-US" smtClean="0"/>
              <a:t>2/23/2025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9DB4EA-5439-4371-A221-10DFEB58F58E}" type="slidenum">
              <a:rPr lang="en-US" smtClean="0"/>
              <a:t>‹#›</a:t>
            </a:fld>
            <a:endParaRPr lang="en-US"/>
          </a:p>
        </p:txBody>
      </p:sp>
    </p:spTree>
    <p:extLst>
      <p:ext uri="{BB962C8B-B14F-4D97-AF65-F5344CB8AC3E}">
        <p14:creationId xmlns:p14="http://schemas.microsoft.com/office/powerpoint/2010/main" val="7400291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0767F8B4-75CE-43BF-BD15-FD980CC4A7AD}" type="datetimeFigureOut">
              <a:rPr lang="en-US" smtClean="0"/>
              <a:t>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9DB4EA-5439-4371-A221-10DFEB58F58E}" type="slidenum">
              <a:rPr lang="en-US" smtClean="0"/>
              <a:t>‹#›</a:t>
            </a:fld>
            <a:endParaRPr lang="en-US"/>
          </a:p>
        </p:txBody>
      </p:sp>
    </p:spTree>
    <p:extLst>
      <p:ext uri="{BB962C8B-B14F-4D97-AF65-F5344CB8AC3E}">
        <p14:creationId xmlns:p14="http://schemas.microsoft.com/office/powerpoint/2010/main" val="16612945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0767F8B4-75CE-43BF-BD15-FD980CC4A7AD}" type="datetimeFigureOut">
              <a:rPr lang="en-US" smtClean="0"/>
              <a:t>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9DB4EA-5439-4371-A221-10DFEB58F58E}"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0070798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767F8B4-75CE-43BF-BD15-FD980CC4A7AD}" type="datetimeFigureOut">
              <a:rPr lang="en-US" smtClean="0"/>
              <a:t>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9DB4EA-5439-4371-A221-10DFEB58F58E}" type="slidenum">
              <a:rPr lang="en-US" smtClean="0"/>
              <a:t>‹#›</a:t>
            </a:fld>
            <a:endParaRPr lang="en-US"/>
          </a:p>
        </p:txBody>
      </p:sp>
    </p:spTree>
    <p:extLst>
      <p:ext uri="{BB962C8B-B14F-4D97-AF65-F5344CB8AC3E}">
        <p14:creationId xmlns:p14="http://schemas.microsoft.com/office/powerpoint/2010/main" val="32803536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0767F8B4-75CE-43BF-BD15-FD980CC4A7AD}" type="datetimeFigureOut">
              <a:rPr lang="en-US" smtClean="0"/>
              <a:t>2/23/2025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9DB4EA-5439-4371-A221-10DFEB58F58E}" type="slidenum">
              <a:rPr lang="en-US" smtClean="0"/>
              <a:t>‹#›</a:t>
            </a:fld>
            <a:endParaRPr lang="en-US"/>
          </a:p>
        </p:txBody>
      </p:sp>
    </p:spTree>
    <p:extLst>
      <p:ext uri="{BB962C8B-B14F-4D97-AF65-F5344CB8AC3E}">
        <p14:creationId xmlns:p14="http://schemas.microsoft.com/office/powerpoint/2010/main" val="8224828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0767F8B4-75CE-43BF-BD15-FD980CC4A7AD}" type="datetimeFigureOut">
              <a:rPr lang="en-US" smtClean="0"/>
              <a:t>2/23/2025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9DB4EA-5439-4371-A221-10DFEB58F58E}" type="slidenum">
              <a:rPr lang="en-US" smtClean="0"/>
              <a:t>‹#›</a:t>
            </a:fld>
            <a:endParaRPr lang="en-US"/>
          </a:p>
        </p:txBody>
      </p:sp>
    </p:spTree>
    <p:extLst>
      <p:ext uri="{BB962C8B-B14F-4D97-AF65-F5344CB8AC3E}">
        <p14:creationId xmlns:p14="http://schemas.microsoft.com/office/powerpoint/2010/main" val="25758106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767F8B4-75CE-43BF-BD15-FD980CC4A7AD}" type="datetimeFigureOut">
              <a:rPr lang="en-US" smtClean="0"/>
              <a:t>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9DB4EA-5439-4371-A221-10DFEB58F58E}" type="slidenum">
              <a:rPr lang="en-US" smtClean="0"/>
              <a:t>‹#›</a:t>
            </a:fld>
            <a:endParaRPr lang="en-US"/>
          </a:p>
        </p:txBody>
      </p:sp>
    </p:spTree>
    <p:extLst>
      <p:ext uri="{BB962C8B-B14F-4D97-AF65-F5344CB8AC3E}">
        <p14:creationId xmlns:p14="http://schemas.microsoft.com/office/powerpoint/2010/main" val="26401902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767F8B4-75CE-43BF-BD15-FD980CC4A7AD}" type="datetimeFigureOut">
              <a:rPr lang="en-US" smtClean="0"/>
              <a:t>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9DB4EA-5439-4371-A221-10DFEB58F58E}" type="slidenum">
              <a:rPr lang="en-US" smtClean="0"/>
              <a:t>‹#›</a:t>
            </a:fld>
            <a:endParaRPr lang="en-US"/>
          </a:p>
        </p:txBody>
      </p:sp>
    </p:spTree>
    <p:extLst>
      <p:ext uri="{BB962C8B-B14F-4D97-AF65-F5344CB8AC3E}">
        <p14:creationId xmlns:p14="http://schemas.microsoft.com/office/powerpoint/2010/main" val="33730934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0767F8B4-75CE-43BF-BD15-FD980CC4A7AD}" type="datetimeFigureOut">
              <a:rPr lang="en-US" smtClean="0"/>
              <a:t>2/23/2025</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1F9DB4EA-5439-4371-A221-10DFEB58F58E}" type="slidenum">
              <a:rPr lang="en-US" smtClean="0"/>
              <a:t>‹#›</a:t>
            </a:fld>
            <a:endParaRPr lang="en-US"/>
          </a:p>
        </p:txBody>
      </p:sp>
    </p:spTree>
    <p:extLst>
      <p:ext uri="{BB962C8B-B14F-4D97-AF65-F5344CB8AC3E}">
        <p14:creationId xmlns:p14="http://schemas.microsoft.com/office/powerpoint/2010/main" val="22550641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webp"/><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webp"/><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webp"/><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1A70E-69A5-107C-234C-0308E379CC22}"/>
              </a:ext>
            </a:extLst>
          </p:cNvPr>
          <p:cNvSpPr>
            <a:spLocks noGrp="1"/>
          </p:cNvSpPr>
          <p:nvPr>
            <p:ph type="title"/>
          </p:nvPr>
        </p:nvSpPr>
        <p:spPr>
          <a:xfrm>
            <a:off x="777240" y="1206373"/>
            <a:ext cx="10515600" cy="3950843"/>
          </a:xfrm>
        </p:spPr>
        <p:txBody>
          <a:bodyPr/>
          <a:lstStyle/>
          <a:p>
            <a:pPr algn="ctr"/>
            <a:r>
              <a:rPr lang="en-US" b="1" kern="100" dirty="0" smtClean="0">
                <a:latin typeface="Century Gothic" panose="020B0502020202020204" pitchFamily="34" charset="0"/>
                <a:ea typeface="Calibri" panose="020F0502020204030204" pitchFamily="34" charset="0"/>
                <a:cs typeface="Times New Roman" panose="02020603050405020304" pitchFamily="18" charset="0"/>
              </a:rPr>
              <a:t>Lecture </a:t>
            </a:r>
            <a:r>
              <a:rPr lang="en-US" b="1" kern="100" dirty="0">
                <a:latin typeface="Century Gothic" panose="020B0502020202020204" pitchFamily="34" charset="0"/>
                <a:ea typeface="Calibri" panose="020F0502020204030204" pitchFamily="34" charset="0"/>
                <a:cs typeface="Times New Roman" panose="02020603050405020304" pitchFamily="18" charset="0"/>
              </a:rPr>
              <a:t>12: </a:t>
            </a:r>
            <a:r>
              <a:rPr lang="en-US" b="1" kern="100" dirty="0" smtClean="0">
                <a:latin typeface="Century Gothic" panose="020B0502020202020204" pitchFamily="34" charset="0"/>
                <a:ea typeface="Calibri" panose="020F0502020204030204" pitchFamily="34" charset="0"/>
                <a:cs typeface="Times New Roman" panose="02020603050405020304" pitchFamily="18" charset="0"/>
              </a:rPr>
              <a:t/>
            </a:r>
            <a:br>
              <a:rPr lang="en-US" b="1" kern="100" dirty="0" smtClean="0">
                <a:latin typeface="Century Gothic" panose="020B0502020202020204" pitchFamily="34" charset="0"/>
                <a:ea typeface="Calibri" panose="020F0502020204030204" pitchFamily="34" charset="0"/>
                <a:cs typeface="Times New Roman" panose="02020603050405020304" pitchFamily="18" charset="0"/>
              </a:rPr>
            </a:br>
            <a:r>
              <a:rPr lang="en-US" b="1" kern="100" dirty="0">
                <a:latin typeface="Century Gothic" panose="020B0502020202020204" pitchFamily="34" charset="0"/>
                <a:ea typeface="Calibri" panose="020F0502020204030204" pitchFamily="34" charset="0"/>
                <a:cs typeface="Times New Roman" panose="02020603050405020304" pitchFamily="18" charset="0"/>
              </a:rPr>
              <a:t/>
            </a:r>
            <a:br>
              <a:rPr lang="en-US" b="1" kern="100" dirty="0">
                <a:latin typeface="Century Gothic" panose="020B0502020202020204" pitchFamily="34" charset="0"/>
                <a:ea typeface="Calibri" panose="020F0502020204030204" pitchFamily="34" charset="0"/>
                <a:cs typeface="Times New Roman" panose="02020603050405020304" pitchFamily="18" charset="0"/>
              </a:rPr>
            </a:br>
            <a:r>
              <a:rPr lang="en-US" b="1" kern="100" dirty="0" smtClean="0">
                <a:latin typeface="Century Gothic" panose="020B0502020202020204" pitchFamily="34" charset="0"/>
                <a:ea typeface="Calibri" panose="020F0502020204030204" pitchFamily="34" charset="0"/>
                <a:cs typeface="Times New Roman" panose="02020603050405020304" pitchFamily="18" charset="0"/>
              </a:rPr>
              <a:t>Market </a:t>
            </a:r>
            <a:r>
              <a:rPr lang="en-US" b="1" kern="100" dirty="0">
                <a:latin typeface="Century Gothic" panose="020B0502020202020204" pitchFamily="34" charset="0"/>
                <a:ea typeface="Calibri" panose="020F0502020204030204" pitchFamily="34" charset="0"/>
                <a:cs typeface="Times New Roman" panose="02020603050405020304" pitchFamily="18" charset="0"/>
              </a:rPr>
              <a:t>Structures in Value Chain Agriculture</a:t>
            </a:r>
            <a:endParaRPr lang="en-US" dirty="0"/>
          </a:p>
        </p:txBody>
      </p:sp>
    </p:spTree>
    <p:extLst>
      <p:ext uri="{BB962C8B-B14F-4D97-AF65-F5344CB8AC3E}">
        <p14:creationId xmlns:p14="http://schemas.microsoft.com/office/powerpoint/2010/main" val="36765990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1D726-5B1B-4F27-CD73-CF3642F8ED35}"/>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Market Structures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AAD81B57-CB06-EC84-3AA9-2F316449E0E8}"/>
              </a:ext>
            </a:extLst>
          </p:cNvPr>
          <p:cNvSpPr>
            <a:spLocks noGrp="1"/>
          </p:cNvSpPr>
          <p:nvPr>
            <p:ph idx="1"/>
          </p:nvPr>
        </p:nvSpPr>
        <p:spPr>
          <a:xfrm>
            <a:off x="838200" y="1330036"/>
            <a:ext cx="10515600" cy="5162839"/>
          </a:xfrm>
        </p:spPr>
        <p:txBody>
          <a:bodyPr>
            <a:normAutofit/>
          </a:bodyPr>
          <a:lstStyle/>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Market structures refer to the organizational characteristics of a market, including the number of sellers and buyers, the level of product differentiation, and the entry barriers. </a:t>
            </a: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Four main market structures exist:</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b="1" i="1" kern="100" dirty="0">
                <a:latin typeface="Century Gothic" panose="020B0502020202020204" pitchFamily="34" charset="0"/>
                <a:ea typeface="Calibri" panose="020F0502020204030204" pitchFamily="34" charset="0"/>
                <a:cs typeface="Times New Roman" panose="02020603050405020304" pitchFamily="18" charset="0"/>
              </a:rPr>
              <a:t>Perfect Competition:</a:t>
            </a:r>
            <a:r>
              <a:rPr lang="en-US" b="1" kern="100" dirty="0">
                <a:latin typeface="Century Gothic" panose="020B0502020202020204" pitchFamily="34" charset="0"/>
                <a:ea typeface="Calibri" panose="020F0502020204030204" pitchFamily="34" charset="0"/>
                <a:cs typeface="Times New Roman" panose="02020603050405020304" pitchFamily="18" charset="0"/>
              </a:rPr>
              <a:t> </a:t>
            </a:r>
            <a:r>
              <a:rPr lang="en-US" kern="100" dirty="0">
                <a:latin typeface="Century Gothic" panose="020B0502020202020204" pitchFamily="34" charset="0"/>
                <a:ea typeface="Calibri" panose="020F0502020204030204" pitchFamily="34" charset="0"/>
                <a:cs typeface="Times New Roman" panose="02020603050405020304" pitchFamily="18" charset="0"/>
              </a:rPr>
              <a:t>A market with many small firms selling homogeneous products and facing no barriers to entry or exit.</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b="1" i="1" kern="100" dirty="0">
                <a:latin typeface="Century Gothic" panose="020B0502020202020204" pitchFamily="34" charset="0"/>
                <a:ea typeface="Calibri" panose="020F0502020204030204" pitchFamily="34" charset="0"/>
                <a:cs typeface="Times New Roman" panose="02020603050405020304" pitchFamily="18" charset="0"/>
              </a:rPr>
              <a:t>Oligopoly:</a:t>
            </a:r>
            <a:r>
              <a:rPr lang="en-US" b="1" kern="100" dirty="0">
                <a:latin typeface="Century Gothic" panose="020B0502020202020204" pitchFamily="34" charset="0"/>
                <a:ea typeface="Calibri" panose="020F0502020204030204" pitchFamily="34" charset="0"/>
                <a:cs typeface="Times New Roman" panose="02020603050405020304" pitchFamily="18" charset="0"/>
              </a:rPr>
              <a:t> </a:t>
            </a:r>
            <a:r>
              <a:rPr lang="en-US" kern="100" dirty="0">
                <a:latin typeface="Century Gothic" panose="020B0502020202020204" pitchFamily="34" charset="0"/>
                <a:ea typeface="Calibri" panose="020F0502020204030204" pitchFamily="34" charset="0"/>
                <a:cs typeface="Times New Roman" panose="02020603050405020304" pitchFamily="18" charset="0"/>
              </a:rPr>
              <a:t>A market dominated by a few large firms selling either homogeneous or differentiated products.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b="1" i="1" kern="100" dirty="0">
                <a:latin typeface="Century Gothic" panose="020B0502020202020204" pitchFamily="34" charset="0"/>
                <a:ea typeface="Calibri" panose="020F0502020204030204" pitchFamily="34" charset="0"/>
                <a:cs typeface="Times New Roman" panose="02020603050405020304" pitchFamily="18" charset="0"/>
              </a:rPr>
              <a:t>Monopolistic Competition:</a:t>
            </a:r>
            <a:r>
              <a:rPr lang="en-US" b="1" kern="100" dirty="0">
                <a:latin typeface="Century Gothic" panose="020B0502020202020204" pitchFamily="34" charset="0"/>
                <a:ea typeface="Calibri" panose="020F0502020204030204" pitchFamily="34" charset="0"/>
                <a:cs typeface="Times New Roman" panose="02020603050405020304" pitchFamily="18" charset="0"/>
              </a:rPr>
              <a:t> </a:t>
            </a:r>
            <a:r>
              <a:rPr lang="en-US" kern="100" dirty="0">
                <a:latin typeface="Century Gothic" panose="020B0502020202020204" pitchFamily="34" charset="0"/>
                <a:ea typeface="Calibri" panose="020F0502020204030204" pitchFamily="34" charset="0"/>
                <a:cs typeface="Times New Roman" panose="02020603050405020304" pitchFamily="18" charset="0"/>
              </a:rPr>
              <a:t>A market with many firms selling </a:t>
            </a:r>
            <a:r>
              <a:rPr lang="en-US" b="1" kern="100" dirty="0">
                <a:latin typeface="Century Gothic" panose="020B0502020202020204" pitchFamily="34" charset="0"/>
                <a:ea typeface="Calibri" panose="020F0502020204030204" pitchFamily="34" charset="0"/>
                <a:cs typeface="Times New Roman" panose="02020603050405020304" pitchFamily="18" charset="0"/>
              </a:rPr>
              <a:t>differentiated</a:t>
            </a:r>
            <a:r>
              <a:rPr lang="en-US" kern="100" dirty="0">
                <a:latin typeface="Century Gothic" panose="020B0502020202020204" pitchFamily="34" charset="0"/>
                <a:ea typeface="Calibri" panose="020F0502020204030204" pitchFamily="34" charset="0"/>
                <a:cs typeface="Times New Roman" panose="02020603050405020304" pitchFamily="18" charset="0"/>
              </a:rPr>
              <a:t> products.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b="1" i="1" kern="100" dirty="0">
                <a:latin typeface="Century Gothic" panose="020B0502020202020204" pitchFamily="34" charset="0"/>
                <a:ea typeface="Calibri" panose="020F0502020204030204" pitchFamily="34" charset="0"/>
                <a:cs typeface="Times New Roman" panose="02020603050405020304" pitchFamily="18" charset="0"/>
              </a:rPr>
              <a:t>Monopoly:</a:t>
            </a:r>
            <a:r>
              <a:rPr lang="en-US" b="1" kern="100" dirty="0">
                <a:latin typeface="Century Gothic" panose="020B0502020202020204" pitchFamily="34" charset="0"/>
                <a:ea typeface="Calibri" panose="020F0502020204030204" pitchFamily="34" charset="0"/>
                <a:cs typeface="Times New Roman" panose="02020603050405020304" pitchFamily="18" charset="0"/>
              </a:rPr>
              <a:t> </a:t>
            </a:r>
            <a:r>
              <a:rPr lang="en-US" kern="100" dirty="0">
                <a:latin typeface="Century Gothic" panose="020B0502020202020204" pitchFamily="34" charset="0"/>
                <a:ea typeface="Calibri" panose="020F0502020204030204" pitchFamily="34" charset="0"/>
                <a:cs typeface="Times New Roman" panose="02020603050405020304" pitchFamily="18" charset="0"/>
              </a:rPr>
              <a:t>A market with a single seller and no close substitutes.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6807243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B53BC-2A5E-5A94-5802-FD85CE2CACAD}"/>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Perfect Competition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pic>
        <p:nvPicPr>
          <p:cNvPr id="4" name="Content Placeholder 3">
            <a:extLst>
              <a:ext uri="{FF2B5EF4-FFF2-40B4-BE49-F238E27FC236}">
                <a16:creationId xmlns:a16="http://schemas.microsoft.com/office/drawing/2014/main" id="{D1512C6A-1FD6-A5EF-7216-078890D5328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81667" y="2052638"/>
            <a:ext cx="7590442" cy="4195762"/>
          </a:xfrm>
          <a:prstGeom prst="rect">
            <a:avLst/>
          </a:prstGeom>
        </p:spPr>
      </p:pic>
    </p:spTree>
    <p:extLst>
      <p:ext uri="{BB962C8B-B14F-4D97-AF65-F5344CB8AC3E}">
        <p14:creationId xmlns:p14="http://schemas.microsoft.com/office/powerpoint/2010/main" val="23637210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95D7C-7E36-CBE3-29A5-9E651A727121}"/>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Characteristics of Perfect competition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5EEA041F-C233-8CA3-21A7-3588F1D206F1}"/>
              </a:ext>
            </a:extLst>
          </p:cNvPr>
          <p:cNvSpPr>
            <a:spLocks noGrp="1"/>
          </p:cNvSpPr>
          <p:nvPr>
            <p:ph idx="1"/>
          </p:nvPr>
        </p:nvSpPr>
        <p:spPr/>
        <p:txBody>
          <a:bodyPr/>
          <a:lstStyle/>
          <a:p>
            <a:pPr marL="0" marR="0"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Many small firms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Homogeneous products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No barriers to entry or exit</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Price takers (firms accept the market price as given)</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9664826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CFF15-4E43-270A-2BEC-FB33325400FD}"/>
              </a:ext>
            </a:extLst>
          </p:cNvPr>
          <p:cNvSpPr>
            <a:spLocks noGrp="1"/>
          </p:cNvSpPr>
          <p:nvPr>
            <p:ph type="title"/>
          </p:nvPr>
        </p:nvSpPr>
        <p:spPr/>
        <p:txBody>
          <a:bodyPr>
            <a:normAutofit fontScale="90000"/>
          </a:bodyPr>
          <a:lstStyle/>
          <a:p>
            <a:r>
              <a:rPr lang="en-US" b="1" kern="100" dirty="0">
                <a:latin typeface="Century Gothic" panose="020B0502020202020204" pitchFamily="34" charset="0"/>
                <a:ea typeface="Calibri" panose="020F0502020204030204" pitchFamily="34" charset="0"/>
                <a:cs typeface="Times New Roman" panose="02020603050405020304" pitchFamily="18" charset="0"/>
              </a:rPr>
              <a:t>Price and Output Determination in Perfect Competition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52C08419-0176-98DC-AB8B-093FF2193C02}"/>
              </a:ext>
            </a:extLst>
          </p:cNvPr>
          <p:cNvSpPr>
            <a:spLocks noGrp="1"/>
          </p:cNvSpPr>
          <p:nvPr>
            <p:ph idx="1"/>
          </p:nvPr>
        </p:nvSpPr>
        <p:spPr/>
        <p:txBody>
          <a:bodyPr/>
          <a:lstStyle/>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In perfect competition, firms are price takers, so they cannot influence market price. </a:t>
            </a: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The market determines price and output through the interaction of demand and supply. </a:t>
            </a: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Individual firms produce at the level where marginal cost equals the market price.</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7618916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69553-513A-BB58-F618-5139C5CD01B1}"/>
              </a:ext>
            </a:extLst>
          </p:cNvPr>
          <p:cNvSpPr>
            <a:spLocks noGrp="1"/>
          </p:cNvSpPr>
          <p:nvPr>
            <p:ph type="title"/>
          </p:nvPr>
        </p:nvSpPr>
        <p:spPr>
          <a:xfrm>
            <a:off x="838200" y="1"/>
            <a:ext cx="10515600" cy="1153390"/>
          </a:xfrm>
        </p:spPr>
        <p:txBody>
          <a:bodyPr/>
          <a:lstStyle/>
          <a:p>
            <a:pPr algn="ctr"/>
            <a:r>
              <a:rPr lang="en-US" b="1" dirty="0">
                <a:latin typeface="Century Gothic" panose="020B0502020202020204" pitchFamily="34" charset="0"/>
              </a:rPr>
              <a:t>Oligopoly </a:t>
            </a:r>
          </a:p>
        </p:txBody>
      </p:sp>
      <p:pic>
        <p:nvPicPr>
          <p:cNvPr id="4" name="Content Placeholder 3">
            <a:extLst>
              <a:ext uri="{FF2B5EF4-FFF2-40B4-BE49-F238E27FC236}">
                <a16:creationId xmlns:a16="http://schemas.microsoft.com/office/drawing/2014/main" id="{B8BF647E-B5F8-0383-93BD-CD17EE3D193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17480" y="2052638"/>
            <a:ext cx="5518815" cy="4195762"/>
          </a:xfrm>
          <a:prstGeom prst="rect">
            <a:avLst/>
          </a:prstGeom>
        </p:spPr>
      </p:pic>
    </p:spTree>
    <p:extLst>
      <p:ext uri="{BB962C8B-B14F-4D97-AF65-F5344CB8AC3E}">
        <p14:creationId xmlns:p14="http://schemas.microsoft.com/office/powerpoint/2010/main" val="9310036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973A9-25D5-AF6F-0AD6-F4453D7C7BEC}"/>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Characteristics of Oligopoly</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6F2F11BE-152C-2615-F1D3-1F5B24E6C28E}"/>
              </a:ext>
            </a:extLst>
          </p:cNvPr>
          <p:cNvSpPr>
            <a:spLocks noGrp="1"/>
          </p:cNvSpPr>
          <p:nvPr>
            <p:ph idx="1"/>
          </p:nvPr>
        </p:nvSpPr>
        <p:spPr/>
        <p:txBody>
          <a:bodyPr/>
          <a:lstStyle/>
          <a:p>
            <a:pPr marL="0" marR="0"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Few large firms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Homogeneous or differentiated products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Significant barriers to entry or exit</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Mutual interdependence (firms consider rivals' actions)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2146844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1EB33-DE74-1092-1467-2C48FF83DF5E}"/>
              </a:ext>
            </a:extLst>
          </p:cNvPr>
          <p:cNvSpPr>
            <a:spLocks noGrp="1"/>
          </p:cNvSpPr>
          <p:nvPr>
            <p:ph type="title"/>
          </p:nvPr>
        </p:nvSpPr>
        <p:spPr/>
        <p:txBody>
          <a:bodyPr>
            <a:normAutofit fontScale="90000"/>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Price and Output Determination in Oligopoly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0E034349-35AC-13E9-B98B-3A201A16BFE5}"/>
              </a:ext>
            </a:extLst>
          </p:cNvPr>
          <p:cNvSpPr>
            <a:spLocks noGrp="1"/>
          </p:cNvSpPr>
          <p:nvPr>
            <p:ph idx="1"/>
          </p:nvPr>
        </p:nvSpPr>
        <p:spPr/>
        <p:txBody>
          <a:bodyPr/>
          <a:lstStyle/>
          <a:p>
            <a:r>
              <a:rPr lang="en-US" kern="100" dirty="0">
                <a:latin typeface="Century Gothic" panose="020B0502020202020204" pitchFamily="34" charset="0"/>
                <a:ea typeface="Calibri" panose="020F0502020204030204" pitchFamily="34" charset="0"/>
                <a:cs typeface="Times New Roman" panose="02020603050405020304" pitchFamily="18" charset="0"/>
              </a:rPr>
              <a:t>In an oligopoly, price and output determination are complex due to interdependence.</a:t>
            </a:r>
          </a:p>
          <a:p>
            <a:pPr marL="0" indent="0">
              <a:buNone/>
            </a:pPr>
            <a:endParaRPr lang="en-US" kern="100" dirty="0">
              <a:latin typeface="Century Gothic" panose="020B0502020202020204" pitchFamily="34" charset="0"/>
              <a:ea typeface="Calibri" panose="020F0502020204030204" pitchFamily="34" charset="0"/>
              <a:cs typeface="Times New Roman" panose="02020603050405020304" pitchFamily="18" charset="0"/>
            </a:endParaRPr>
          </a:p>
          <a:p>
            <a:r>
              <a:rPr lang="en-US" kern="100" dirty="0">
                <a:latin typeface="Century Gothic" panose="020B0502020202020204" pitchFamily="34" charset="0"/>
                <a:ea typeface="Calibri" panose="020F0502020204030204" pitchFamily="34" charset="0"/>
                <a:cs typeface="Times New Roman" panose="02020603050405020304" pitchFamily="18" charset="0"/>
              </a:rPr>
              <a:t>Firms may engage in non-price competition (e.g., advertising) and strategic decision-making to gain a competitive advantage.</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8978519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B0F70-44C3-D395-2FBA-2444754CB823}"/>
              </a:ext>
            </a:extLst>
          </p:cNvPr>
          <p:cNvSpPr>
            <a:spLocks noGrp="1"/>
          </p:cNvSpPr>
          <p:nvPr>
            <p:ph type="title"/>
          </p:nvPr>
        </p:nvSpPr>
        <p:spPr>
          <a:xfrm>
            <a:off x="838200" y="0"/>
            <a:ext cx="10515600" cy="1101436"/>
          </a:xfrm>
        </p:spPr>
        <p:txBody>
          <a:bodyPr>
            <a:normAutofit/>
          </a:bodyPr>
          <a:lstStyle/>
          <a:p>
            <a:pPr marL="0" marR="0" algn="ctr">
              <a:lnSpc>
                <a:spcPct val="107000"/>
              </a:lnSpc>
              <a:spcBef>
                <a:spcPts val="0"/>
              </a:spcBef>
              <a:spcAft>
                <a:spcPts val="800"/>
              </a:spcAft>
            </a:pPr>
            <a:r>
              <a:rPr lang="en-US" b="1" dirty="0">
                <a:latin typeface="Century Gothic" panose="020B0502020202020204" pitchFamily="34" charset="0"/>
              </a:rPr>
              <a:t>Monopolistic Competition </a:t>
            </a:r>
          </a:p>
        </p:txBody>
      </p:sp>
      <p:pic>
        <p:nvPicPr>
          <p:cNvPr id="4" name="Content Placeholder 3">
            <a:extLst>
              <a:ext uri="{FF2B5EF4-FFF2-40B4-BE49-F238E27FC236}">
                <a16:creationId xmlns:a16="http://schemas.microsoft.com/office/drawing/2014/main" id="{D18105CC-BDE3-FC70-925E-A9B5DEA66FD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33852" y="2052638"/>
            <a:ext cx="4686071" cy="4195762"/>
          </a:xfrm>
          <a:prstGeom prst="rect">
            <a:avLst/>
          </a:prstGeom>
        </p:spPr>
      </p:pic>
    </p:spTree>
    <p:extLst>
      <p:ext uri="{BB962C8B-B14F-4D97-AF65-F5344CB8AC3E}">
        <p14:creationId xmlns:p14="http://schemas.microsoft.com/office/powerpoint/2010/main" val="34007943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D8059-34AB-9531-8F10-3579CF93309D}"/>
              </a:ext>
            </a:extLst>
          </p:cNvPr>
          <p:cNvSpPr>
            <a:spLocks noGrp="1"/>
          </p:cNvSpPr>
          <p:nvPr>
            <p:ph type="title"/>
          </p:nvPr>
        </p:nvSpPr>
        <p:spPr/>
        <p:txBody>
          <a:bodyPr>
            <a:normAutofit fontScale="90000"/>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Characteristics of Monopolistic Competition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BBC05550-4DB5-12B4-2BCF-367690753F09}"/>
              </a:ext>
            </a:extLst>
          </p:cNvPr>
          <p:cNvSpPr>
            <a:spLocks noGrp="1"/>
          </p:cNvSpPr>
          <p:nvPr>
            <p:ph idx="1"/>
          </p:nvPr>
        </p:nvSpPr>
        <p:spPr/>
        <p:txBody>
          <a:bodyPr/>
          <a:lstStyle/>
          <a:p>
            <a:pPr marL="0" marR="0"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Presence of Many firms in the market</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Differentiated products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Low barriers to entry or exit</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A certain degree of control over product price</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41866506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A922C-A644-648B-F2E0-42C264CE3C52}"/>
              </a:ext>
            </a:extLst>
          </p:cNvPr>
          <p:cNvSpPr>
            <a:spLocks noGrp="1"/>
          </p:cNvSpPr>
          <p:nvPr>
            <p:ph type="title"/>
          </p:nvPr>
        </p:nvSpPr>
        <p:spPr/>
        <p:txBody>
          <a:bodyPr>
            <a:normAutofit fontScale="90000"/>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Price and Output Determination in Monopolistic Competition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78292D1B-B16C-21A5-EFFE-6BE246D00A68}"/>
              </a:ext>
            </a:extLst>
          </p:cNvPr>
          <p:cNvSpPr>
            <a:spLocks noGrp="1"/>
          </p:cNvSpPr>
          <p:nvPr>
            <p:ph idx="1"/>
          </p:nvPr>
        </p:nvSpPr>
        <p:spPr/>
        <p:txBody>
          <a:bodyPr/>
          <a:lstStyle/>
          <a:p>
            <a:r>
              <a:rPr lang="en-US" kern="100" dirty="0">
                <a:latin typeface="Century Gothic" panose="020B0502020202020204" pitchFamily="34" charset="0"/>
                <a:ea typeface="Calibri" panose="020F0502020204030204" pitchFamily="34" charset="0"/>
                <a:cs typeface="Times New Roman" panose="02020603050405020304" pitchFamily="18" charset="0"/>
              </a:rPr>
              <a:t>In monopolistic competition, firms have some control over product pricing. </a:t>
            </a:r>
          </a:p>
          <a:p>
            <a:r>
              <a:rPr lang="en-US" kern="100" dirty="0">
                <a:latin typeface="Century Gothic" panose="020B0502020202020204" pitchFamily="34" charset="0"/>
                <a:ea typeface="Calibri" panose="020F0502020204030204" pitchFamily="34" charset="0"/>
                <a:cs typeface="Times New Roman" panose="02020603050405020304" pitchFamily="18" charset="0"/>
              </a:rPr>
              <a:t>They produce where marginal cost equals marginal revenue but charge a price higher than marginal cost, resulting in excess profits in the short run.</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0764840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1E5EA-228A-1A1F-A501-D0713E6E9737}"/>
              </a:ext>
            </a:extLst>
          </p:cNvPr>
          <p:cNvSpPr>
            <a:spLocks noGrp="1"/>
          </p:cNvSpPr>
          <p:nvPr>
            <p:ph type="title"/>
          </p:nvPr>
        </p:nvSpPr>
        <p:spPr>
          <a:xfrm>
            <a:off x="838200" y="-93517"/>
            <a:ext cx="10515600" cy="1278081"/>
          </a:xfrm>
        </p:spPr>
        <p:txBody>
          <a:bodyPr/>
          <a:lstStyle/>
          <a:p>
            <a:pPr algn="ctr"/>
            <a:r>
              <a:rPr lang="en-US" b="1" dirty="0">
                <a:latin typeface="Century Gothic" panose="020B0502020202020204" pitchFamily="34" charset="0"/>
              </a:rPr>
              <a:t>Monopoly </a:t>
            </a:r>
          </a:p>
        </p:txBody>
      </p:sp>
      <p:pic>
        <p:nvPicPr>
          <p:cNvPr id="4" name="Content Placeholder 3">
            <a:extLst>
              <a:ext uri="{FF2B5EF4-FFF2-40B4-BE49-F238E27FC236}">
                <a16:creationId xmlns:a16="http://schemas.microsoft.com/office/drawing/2014/main" id="{B3B9B084-5CC3-3EE9-0BB6-CC0533A5DE4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81714" y="2052638"/>
            <a:ext cx="5390347" cy="4195762"/>
          </a:xfrm>
          <a:prstGeom prst="rect">
            <a:avLst/>
          </a:prstGeom>
        </p:spPr>
      </p:pic>
    </p:spTree>
    <p:extLst>
      <p:ext uri="{BB962C8B-B14F-4D97-AF65-F5344CB8AC3E}">
        <p14:creationId xmlns:p14="http://schemas.microsoft.com/office/powerpoint/2010/main" val="13426924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21EED-9E8B-62D5-3A38-DFAD35C37FFB}"/>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Characteristics of Monopoly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DA1D3E45-67DE-218B-478D-962368B5077B}"/>
              </a:ext>
            </a:extLst>
          </p:cNvPr>
          <p:cNvSpPr>
            <a:spLocks noGrp="1"/>
          </p:cNvSpPr>
          <p:nvPr>
            <p:ph idx="1"/>
          </p:nvPr>
        </p:nvSpPr>
        <p:spPr/>
        <p:txBody>
          <a:bodyPr/>
          <a:lstStyle/>
          <a:p>
            <a:pPr marL="0" marR="0"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Single seller</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No close substitutes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High barriers to entry or exit</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Significant market power</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7063463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55AF0-B363-1F9E-4889-5F312AD735FF}"/>
              </a:ext>
            </a:extLst>
          </p:cNvPr>
          <p:cNvSpPr>
            <a:spLocks noGrp="1"/>
          </p:cNvSpPr>
          <p:nvPr>
            <p:ph type="title"/>
          </p:nvPr>
        </p:nvSpPr>
        <p:spPr/>
        <p:txBody>
          <a:bodyPr>
            <a:normAutofit fontScale="90000"/>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Price and Output Determination in Monopoly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CCD8E70E-A5DA-6F2D-8DD0-278F087130B4}"/>
              </a:ext>
            </a:extLst>
          </p:cNvPr>
          <p:cNvSpPr>
            <a:spLocks noGrp="1"/>
          </p:cNvSpPr>
          <p:nvPr>
            <p:ph idx="1"/>
          </p:nvPr>
        </p:nvSpPr>
        <p:spPr/>
        <p:txBody>
          <a:bodyPr/>
          <a:lstStyle/>
          <a:p>
            <a:r>
              <a:rPr lang="en-US" kern="100" dirty="0">
                <a:latin typeface="Century Gothic" panose="020B0502020202020204" pitchFamily="34" charset="0"/>
                <a:ea typeface="Calibri" panose="020F0502020204030204" pitchFamily="34" charset="0"/>
                <a:cs typeface="Times New Roman" panose="02020603050405020304" pitchFamily="18" charset="0"/>
              </a:rPr>
              <a:t>In a monopoly, the firm is a price maker, having the power to set the price. </a:t>
            </a:r>
          </a:p>
          <a:p>
            <a:r>
              <a:rPr lang="en-US" kern="100" dirty="0">
                <a:latin typeface="Century Gothic" panose="020B0502020202020204" pitchFamily="34" charset="0"/>
                <a:ea typeface="Calibri" panose="020F0502020204030204" pitchFamily="34" charset="0"/>
                <a:cs typeface="Times New Roman" panose="02020603050405020304" pitchFamily="18" charset="0"/>
              </a:rPr>
              <a:t>The firm maximizes profits by equating marginal cost to marginal revenue, and the price charged is higher than marginal cost.</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8002988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1378D-5FA8-1A43-D0F3-CDDB51869A18}"/>
              </a:ext>
            </a:extLst>
          </p:cNvPr>
          <p:cNvSpPr>
            <a:spLocks noGrp="1"/>
          </p:cNvSpPr>
          <p:nvPr>
            <p:ph type="title"/>
          </p:nvPr>
        </p:nvSpPr>
        <p:spPr/>
        <p:txBody>
          <a:bodyPr>
            <a:normAutofit fontScale="90000"/>
          </a:bodyPr>
          <a:lstStyle/>
          <a:p>
            <a:r>
              <a:rPr lang="en-US" b="1" kern="100" dirty="0">
                <a:latin typeface="Century Gothic" panose="020B0502020202020204" pitchFamily="34" charset="0"/>
                <a:ea typeface="Calibri" panose="020F0502020204030204" pitchFamily="34" charset="0"/>
                <a:cs typeface="Times New Roman" panose="02020603050405020304" pitchFamily="18" charset="0"/>
              </a:rPr>
              <a:t>Efficiency and Performance Implications of Market Structures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64DA39AB-1053-DF1B-4176-99EDC0690B57}"/>
              </a:ext>
            </a:extLst>
          </p:cNvPr>
          <p:cNvSpPr>
            <a:spLocks noGrp="1"/>
          </p:cNvSpPr>
          <p:nvPr>
            <p:ph idx="1"/>
          </p:nvPr>
        </p:nvSpPr>
        <p:spPr/>
        <p:txBody>
          <a:bodyPr>
            <a:normAutofit/>
          </a:bodyPr>
          <a:lstStyle/>
          <a:p>
            <a:pPr marL="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Perfect Competition:</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Allocative efficiency: Price is equal to marginal cost(P=MC)</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Productive efficiency: Firms produce at the minimum average cost(Lowest point on the AC curve) </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Oligopoly and Monopolistic Competition:</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Less allocative and productive efficiency compared to perfect competition. </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b="1" i="1" kern="100" dirty="0">
                <a:latin typeface="Century Gothic" panose="020B0502020202020204" pitchFamily="34" charset="0"/>
                <a:ea typeface="Calibri" panose="020F0502020204030204" pitchFamily="34" charset="0"/>
                <a:cs typeface="Times New Roman" panose="02020603050405020304" pitchFamily="18" charset="0"/>
              </a:rPr>
              <a:t>Monopoly:</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Lower output and higher price compared to perfect competition.</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Lower overall welfare due to deadweight loss.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6707705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88A34-6A76-F6DF-8C04-0F4C71BCFA45}"/>
              </a:ext>
            </a:extLst>
          </p:cNvPr>
          <p:cNvSpPr>
            <a:spLocks noGrp="1"/>
          </p:cNvSpPr>
          <p:nvPr>
            <p:ph type="title"/>
          </p:nvPr>
        </p:nvSpPr>
        <p:spPr/>
        <p:txBody>
          <a:bodyPr/>
          <a:lstStyle/>
          <a:p>
            <a:r>
              <a:rPr lang="en-US" b="1" kern="100" dirty="0">
                <a:latin typeface="Century Gothic" panose="020B0502020202020204" pitchFamily="34" charset="0"/>
                <a:ea typeface="Calibri" panose="020F0502020204030204" pitchFamily="34" charset="0"/>
                <a:cs typeface="Times New Roman" panose="02020603050405020304" pitchFamily="18" charset="0"/>
              </a:rPr>
              <a:t>Welfare Economics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A3D7D174-478C-34DC-EA01-AA739053398B}"/>
              </a:ext>
            </a:extLst>
          </p:cNvPr>
          <p:cNvSpPr>
            <a:spLocks noGrp="1"/>
          </p:cNvSpPr>
          <p:nvPr>
            <p:ph idx="1"/>
          </p:nvPr>
        </p:nvSpPr>
        <p:spPr/>
        <p:txBody>
          <a:bodyPr>
            <a:normAutofit/>
          </a:bodyPr>
          <a:lstStyle/>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Welfare economics is a branch of economics that focuses on the study of how the allocation of resources and the distribution of goods and services affect the well-being and welfare of individuals and society as a whole. </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It aims at analyzing and evaluating the efficiency and equity of economic outcomes and guide policymakers in designing effective and socially beneficial policies.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0761553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F90F7-30C4-63D9-DED8-90663645FADD}"/>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Welfare Economics</a:t>
            </a:r>
            <a:endParaRPr lang="en-US" dirty="0"/>
          </a:p>
        </p:txBody>
      </p:sp>
      <p:sp>
        <p:nvSpPr>
          <p:cNvPr id="3" name="Content Placeholder 2">
            <a:extLst>
              <a:ext uri="{FF2B5EF4-FFF2-40B4-BE49-F238E27FC236}">
                <a16:creationId xmlns:a16="http://schemas.microsoft.com/office/drawing/2014/main" id="{DA11C59D-4071-115C-C019-122A8F5F8B47}"/>
              </a:ext>
            </a:extLst>
          </p:cNvPr>
          <p:cNvSpPr>
            <a:spLocks noGrp="1"/>
          </p:cNvSpPr>
          <p:nvPr>
            <p:ph idx="1"/>
          </p:nvPr>
        </p:nvSpPr>
        <p:spPr/>
        <p:txBody>
          <a:bodyPr/>
          <a:lstStyle/>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Welfare economics plays a significant role in value chain agriculture by focusing on optimizing resource allocation, improving efficiency, and promoting equitable distribution of benefits throughout the agricultural supply chain.</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This branch of economics evaluates the impact of value chain activities on the well-being of stakeholders, including farmers, consumers, and the broader community. </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3155415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2353D-692E-681E-54E2-F1439352AEDF}"/>
              </a:ext>
            </a:extLst>
          </p:cNvPr>
          <p:cNvSpPr>
            <a:spLocks noGrp="1"/>
          </p:cNvSpPr>
          <p:nvPr>
            <p:ph type="title"/>
          </p:nvPr>
        </p:nvSpPr>
        <p:spPr/>
        <p:txBody>
          <a:bodyPr>
            <a:normAutofit fontScale="90000"/>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Efficiency and Equity in Value Chain Agriculture:</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CFAE253D-621E-5580-6D64-2FD7EF695746}"/>
              </a:ext>
            </a:extLst>
          </p:cNvPr>
          <p:cNvSpPr>
            <a:spLocks noGrp="1"/>
          </p:cNvSpPr>
          <p:nvPr>
            <p:ph idx="1"/>
          </p:nvPr>
        </p:nvSpPr>
        <p:spPr/>
        <p:txBody>
          <a:bodyPr>
            <a:normAutofit fontScale="92500" lnSpcReduction="10000"/>
          </a:bodyPr>
          <a:lstStyle/>
          <a:p>
            <a:pPr marL="0" indent="0" algn="just">
              <a:lnSpc>
                <a:spcPct val="107000"/>
              </a:lnSpc>
              <a:spcBef>
                <a:spcPts val="0"/>
              </a:spcBef>
              <a:spcAft>
                <a:spcPts val="800"/>
              </a:spcAft>
              <a:buNone/>
            </a:pPr>
            <a:r>
              <a:rPr lang="en-US" b="1" kern="100" dirty="0">
                <a:latin typeface="Century Gothic" panose="020B0502020202020204" pitchFamily="34" charset="0"/>
                <a:ea typeface="Calibri" panose="020F0502020204030204" pitchFamily="34" charset="0"/>
                <a:cs typeface="Times New Roman" panose="02020603050405020304" pitchFamily="18" charset="0"/>
              </a:rPr>
              <a:t>Efficiency</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Efficiency refers to maximizing output with minimal input, achieving higher productivity, reducing waste, and improving resource allocation. </a:t>
            </a: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Welfare economics guides stakeholders to identify opportunities for efficiency gains and implement best practices throughout the value chain.</a:t>
            </a:r>
          </a:p>
          <a:p>
            <a:pPr marL="0" indent="0" algn="just">
              <a:lnSpc>
                <a:spcPct val="107000"/>
              </a:lnSpc>
              <a:spcBef>
                <a:spcPts val="0"/>
              </a:spcBef>
              <a:spcAft>
                <a:spcPts val="800"/>
              </a:spcAft>
              <a:buNone/>
            </a:pPr>
            <a:r>
              <a:rPr lang="en-US" b="1" kern="100" dirty="0">
                <a:latin typeface="Century Gothic" panose="020B0502020202020204" pitchFamily="34" charset="0"/>
                <a:ea typeface="Calibri" panose="020F0502020204030204" pitchFamily="34" charset="0"/>
                <a:cs typeface="Times New Roman" panose="02020603050405020304" pitchFamily="18" charset="0"/>
              </a:rPr>
              <a:t>Equity</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Equity entails ensuring fair distribution of benefits among different actors e.g. smallholder farmers, laborers, and processors. </a:t>
            </a: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Welfare economics assesses income distribution and recommends policies to address disparities and create a more inclusive and equitable value chain.</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9358339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BEED9F-CD6D-CF93-AA91-3989163FC98D}"/>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Externalities and Market Failures:</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E813C069-95D8-F233-C99C-25B9086C53BD}"/>
              </a:ext>
            </a:extLst>
          </p:cNvPr>
          <p:cNvSpPr>
            <a:spLocks noGrp="1"/>
          </p:cNvSpPr>
          <p:nvPr>
            <p:ph idx="1"/>
          </p:nvPr>
        </p:nvSpPr>
        <p:spPr/>
        <p:txBody>
          <a:bodyPr/>
          <a:lstStyle/>
          <a:p>
            <a:pPr algn="just"/>
            <a:r>
              <a:rPr lang="en-US" kern="100" dirty="0">
                <a:latin typeface="Century Gothic" panose="020B0502020202020204" pitchFamily="34" charset="0"/>
                <a:ea typeface="Calibri" panose="020F0502020204030204" pitchFamily="34" charset="0"/>
                <a:cs typeface="Times New Roman" panose="02020603050405020304" pitchFamily="18" charset="0"/>
              </a:rPr>
              <a:t>Value chain agriculture may generate positive or negative externalities that affect the broader society.</a:t>
            </a:r>
          </a:p>
          <a:p>
            <a:pPr algn="just"/>
            <a:r>
              <a:rPr lang="en-US" kern="100" dirty="0">
                <a:latin typeface="Century Gothic" panose="020B0502020202020204" pitchFamily="34" charset="0"/>
                <a:ea typeface="Calibri" panose="020F0502020204030204" pitchFamily="34" charset="0"/>
                <a:cs typeface="Times New Roman" panose="02020603050405020304" pitchFamily="18" charset="0"/>
              </a:rPr>
              <a:t>Positive externalities, such as sustainable farming practices that improve soil health, benefit the community.</a:t>
            </a:r>
          </a:p>
          <a:p>
            <a:pPr algn="just"/>
            <a:r>
              <a:rPr lang="en-US" kern="100" dirty="0">
                <a:latin typeface="Century Gothic" panose="020B0502020202020204" pitchFamily="34" charset="0"/>
                <a:ea typeface="Calibri" panose="020F0502020204030204" pitchFamily="34" charset="0"/>
                <a:cs typeface="Times New Roman" panose="02020603050405020304" pitchFamily="18" charset="0"/>
              </a:rPr>
              <a:t>Conversely, negative externalities, like environmental pollution from chemical usage, can harm the environment and public health.</a:t>
            </a:r>
          </a:p>
          <a:p>
            <a:pPr algn="just"/>
            <a:r>
              <a:rPr lang="en-US" kern="100" dirty="0">
                <a:latin typeface="Century Gothic" panose="020B0502020202020204" pitchFamily="34" charset="0"/>
                <a:ea typeface="Calibri" panose="020F0502020204030204" pitchFamily="34" charset="0"/>
                <a:cs typeface="Times New Roman" panose="02020603050405020304" pitchFamily="18" charset="0"/>
              </a:rPr>
              <a:t>Welfare economics identifies externalities and suggests interventions to internalize them in value chain decisions.</a:t>
            </a:r>
            <a:endParaRPr lang="en-US" dirty="0"/>
          </a:p>
        </p:txBody>
      </p:sp>
    </p:spTree>
    <p:extLst>
      <p:ext uri="{BB962C8B-B14F-4D97-AF65-F5344CB8AC3E}">
        <p14:creationId xmlns:p14="http://schemas.microsoft.com/office/powerpoint/2010/main" val="30445270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C065B-FBA2-3211-4224-A090E39BAFD6}"/>
              </a:ext>
            </a:extLst>
          </p:cNvPr>
          <p:cNvSpPr>
            <a:spLocks noGrp="1"/>
          </p:cNvSpPr>
          <p:nvPr>
            <p:ph type="title"/>
          </p:nvPr>
        </p:nvSpPr>
        <p:spPr/>
        <p:txBody>
          <a:bodyPr>
            <a:normAutofit fontScale="90000"/>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Policy Interventions for Social Welfare Maximization:</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C318E6E4-9273-AA2F-BAD6-D79FE5CCF122}"/>
              </a:ext>
            </a:extLst>
          </p:cNvPr>
          <p:cNvSpPr>
            <a:spLocks noGrp="1"/>
          </p:cNvSpPr>
          <p:nvPr>
            <p:ph idx="1"/>
          </p:nvPr>
        </p:nvSpPr>
        <p:spPr/>
        <p:txBody>
          <a:bodyPr/>
          <a:lstStyle/>
          <a:p>
            <a:pPr algn="just"/>
            <a:r>
              <a:rPr lang="en-US" kern="100" dirty="0">
                <a:latin typeface="Century Gothic" panose="020B0502020202020204" pitchFamily="34" charset="0"/>
                <a:ea typeface="Calibri" panose="020F0502020204030204" pitchFamily="34" charset="0"/>
                <a:cs typeface="Times New Roman" panose="02020603050405020304" pitchFamily="18" charset="0"/>
              </a:rPr>
              <a:t>Welfare economics provides valuable insights into the impact of policy interventions on the well-being of stakeholders. </a:t>
            </a:r>
          </a:p>
          <a:p>
            <a:pPr algn="just"/>
            <a:r>
              <a:rPr lang="en-US" kern="100" dirty="0">
                <a:latin typeface="Century Gothic" panose="020B0502020202020204" pitchFamily="34" charset="0"/>
                <a:ea typeface="Calibri" panose="020F0502020204030204" pitchFamily="34" charset="0"/>
                <a:cs typeface="Times New Roman" panose="02020603050405020304" pitchFamily="18" charset="0"/>
              </a:rPr>
              <a:t>Policymakers can use cost-benefit analysis to evaluate different agricultural policies, such as subsidies, price controls, and trade regulations, to ensure that they maximize overall social welfare while considering efficiency and equity objectives.</a:t>
            </a:r>
            <a:endParaRPr lang="en-US" dirty="0"/>
          </a:p>
        </p:txBody>
      </p:sp>
    </p:spTree>
    <p:extLst>
      <p:ext uri="{BB962C8B-B14F-4D97-AF65-F5344CB8AC3E}">
        <p14:creationId xmlns:p14="http://schemas.microsoft.com/office/powerpoint/2010/main" val="38943151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2EBD9-FC8E-D7AB-9D50-EF5F6F9EA219}"/>
              </a:ext>
            </a:extLst>
          </p:cNvPr>
          <p:cNvSpPr>
            <a:spLocks noGrp="1"/>
          </p:cNvSpPr>
          <p:nvPr>
            <p:ph type="title"/>
          </p:nvPr>
        </p:nvSpPr>
        <p:spPr/>
        <p:txBody>
          <a:bodyPr>
            <a:normAutofit fontScale="90000"/>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Sustainable Value Chain Management:</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3CC36485-5EED-1FD4-5698-C0C18D0D8E6E}"/>
              </a:ext>
            </a:extLst>
          </p:cNvPr>
          <p:cNvSpPr>
            <a:spLocks noGrp="1"/>
          </p:cNvSpPr>
          <p:nvPr>
            <p:ph idx="1"/>
          </p:nvPr>
        </p:nvSpPr>
        <p:spPr/>
        <p:txBody>
          <a:bodyPr/>
          <a:lstStyle/>
          <a:p>
            <a:pPr algn="just"/>
            <a:r>
              <a:rPr lang="en-US" kern="100" dirty="0">
                <a:latin typeface="Century Gothic" panose="020B0502020202020204" pitchFamily="34" charset="0"/>
                <a:ea typeface="Calibri" panose="020F0502020204030204" pitchFamily="34" charset="0"/>
                <a:cs typeface="Times New Roman" panose="02020603050405020304" pitchFamily="18" charset="0"/>
              </a:rPr>
              <a:t>Value chain agriculture is closely linked to sustainability and responsible resource management.</a:t>
            </a:r>
          </a:p>
          <a:p>
            <a:pPr algn="just"/>
            <a:r>
              <a:rPr lang="en-US" kern="100" dirty="0">
                <a:latin typeface="Century Gothic" panose="020B0502020202020204" pitchFamily="34" charset="0"/>
                <a:ea typeface="Calibri" panose="020F0502020204030204" pitchFamily="34" charset="0"/>
                <a:cs typeface="Times New Roman" panose="02020603050405020304" pitchFamily="18" charset="0"/>
              </a:rPr>
              <a:t>Welfare economics helps value chain actors identify practices that promote sustainable agriculture, reduce environmental degradation, and foster long-term economic viability while supporting the welfare of communities.</a:t>
            </a:r>
            <a:endParaRPr lang="en-US" dirty="0"/>
          </a:p>
        </p:txBody>
      </p:sp>
    </p:spTree>
    <p:extLst>
      <p:ext uri="{BB962C8B-B14F-4D97-AF65-F5344CB8AC3E}">
        <p14:creationId xmlns:p14="http://schemas.microsoft.com/office/powerpoint/2010/main" val="15393405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DBE93-A788-A2A1-3255-5FEC31C8FA6C}"/>
              </a:ext>
            </a:extLst>
          </p:cNvPr>
          <p:cNvSpPr>
            <a:spLocks noGrp="1"/>
          </p:cNvSpPr>
          <p:nvPr>
            <p:ph type="title"/>
          </p:nvPr>
        </p:nvSpPr>
        <p:spPr/>
        <p:txBody>
          <a:bodyPr/>
          <a:lstStyle/>
          <a:p>
            <a:pPr algn="ctr"/>
            <a:r>
              <a:rPr lang="en-US" b="1" dirty="0">
                <a:latin typeface="Century Gothic" panose="020B0502020202020204" pitchFamily="34" charset="0"/>
                <a:ea typeface="Calibri" panose="020F0502020204030204" pitchFamily="34" charset="0"/>
                <a:cs typeface="Times New Roman" panose="02020603050405020304" pitchFamily="18" charset="0"/>
              </a:rPr>
              <a:t>Examples of Welfare Economics in Value Chain Agriculture</a:t>
            </a:r>
            <a:endParaRPr lang="en-US" dirty="0"/>
          </a:p>
        </p:txBody>
      </p:sp>
      <p:sp>
        <p:nvSpPr>
          <p:cNvPr id="3" name="Content Placeholder 2">
            <a:extLst>
              <a:ext uri="{FF2B5EF4-FFF2-40B4-BE49-F238E27FC236}">
                <a16:creationId xmlns:a16="http://schemas.microsoft.com/office/drawing/2014/main" id="{035E4F7B-9AA9-FE11-CA0F-AFD8CFC31F4D}"/>
              </a:ext>
            </a:extLst>
          </p:cNvPr>
          <p:cNvSpPr>
            <a:spLocks noGrp="1"/>
          </p:cNvSpPr>
          <p:nvPr>
            <p:ph idx="1"/>
          </p:nvPr>
        </p:nvSpPr>
        <p:spPr/>
        <p:txBody>
          <a:bodyPr>
            <a:normAutofit fontScale="92500" lnSpcReduction="20000"/>
          </a:bodyPr>
          <a:lstStyle/>
          <a:p>
            <a:pPr marL="0" marR="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Fair Trade Certification:</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r>
              <a:rPr lang="en-US" kern="100" dirty="0">
                <a:latin typeface="Century Gothic" panose="020B0502020202020204" pitchFamily="34" charset="0"/>
                <a:ea typeface="Calibri" panose="020F0502020204030204" pitchFamily="34" charset="0"/>
                <a:cs typeface="Times New Roman" panose="02020603050405020304" pitchFamily="18" charset="0"/>
              </a:rPr>
              <a:t>Fair trade certification ensures that farmers receive a fair price for their produce, promoting equitable income distribution and social welfare improvement for smallholder farmers</a:t>
            </a:r>
          </a:p>
          <a:p>
            <a:pPr marL="0" marR="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Environmental Conservation Programs:</a:t>
            </a:r>
          </a:p>
          <a:p>
            <a:pPr marL="0" marR="0" indent="0" algn="just">
              <a:lnSpc>
                <a:spcPct val="107000"/>
              </a:lnSpc>
              <a:spcBef>
                <a:spcPts val="0"/>
              </a:spcBef>
              <a:spcAft>
                <a:spcPts val="800"/>
              </a:spcAft>
              <a:buNone/>
            </a:pPr>
            <a:r>
              <a:rPr lang="en-US" kern="100" dirty="0">
                <a:latin typeface="Century Gothic" panose="020B0502020202020204" pitchFamily="34" charset="0"/>
                <a:ea typeface="Calibri" panose="020F0502020204030204" pitchFamily="34" charset="0"/>
                <a:cs typeface="Times New Roman" panose="02020603050405020304" pitchFamily="18" charset="0"/>
              </a:rPr>
              <a:t>Programs that incentivize sustainable agricultural practices, such as organic farming or water conservation, aim to balance economic growth with environmental protection, leading to positive externalities for the community.</a:t>
            </a:r>
          </a:p>
          <a:p>
            <a:pPr marL="0" marR="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Market Access Initiatives:</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r>
              <a:rPr lang="en-US" kern="100" dirty="0">
                <a:latin typeface="Century Gothic" panose="020B0502020202020204" pitchFamily="34" charset="0"/>
                <a:ea typeface="Calibri" panose="020F0502020204030204" pitchFamily="34" charset="0"/>
                <a:cs typeface="Times New Roman" panose="02020603050405020304" pitchFamily="18" charset="0"/>
              </a:rPr>
              <a:t>Policies that improve market access for small-scale farmers, such as building infrastructure or providing market information, can enhance efficiency and increase the welfare of rural communities.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6816592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2E5EDA-4832-C5CD-A0D6-59E685757A21}"/>
              </a:ext>
            </a:extLst>
          </p:cNvPr>
          <p:cNvSpPr>
            <a:spLocks noGrp="1"/>
          </p:cNvSpPr>
          <p:nvPr>
            <p:ph idx="1"/>
          </p:nvPr>
        </p:nvSpPr>
        <p:spPr>
          <a:xfrm>
            <a:off x="838200" y="384464"/>
            <a:ext cx="10515600" cy="5792499"/>
          </a:xfrm>
        </p:spPr>
        <p:txBody>
          <a:bodyPr>
            <a:normAutofit/>
          </a:bodyPr>
          <a:lstStyle/>
          <a:p>
            <a:pPr algn="just">
              <a:lnSpc>
                <a:spcPct val="107000"/>
              </a:lnSpc>
              <a:spcBef>
                <a:spcPts val="0"/>
              </a:spcBef>
              <a:spcAft>
                <a:spcPts val="800"/>
              </a:spcAft>
            </a:pPr>
            <a:r>
              <a:rPr lang="en-US" i="1" kern="100" dirty="0">
                <a:latin typeface="Century Gothic" panose="020B0502020202020204" pitchFamily="34" charset="0"/>
                <a:ea typeface="Calibri" panose="020F0502020204030204" pitchFamily="34" charset="0"/>
                <a:cs typeface="Times New Roman" panose="02020603050405020304" pitchFamily="18" charset="0"/>
              </a:rPr>
              <a:t>Welfare economics is a valuable tool for value chain agriculture students and stakeholders as it fosters a deeper understanding of the interplay between economic decisions, social well-being, and sustainability. </a:t>
            </a:r>
          </a:p>
          <a:p>
            <a:pPr algn="just">
              <a:lnSpc>
                <a:spcPct val="107000"/>
              </a:lnSpc>
              <a:spcBef>
                <a:spcPts val="0"/>
              </a:spcBef>
              <a:spcAft>
                <a:spcPts val="800"/>
              </a:spcAft>
            </a:pPr>
            <a:r>
              <a:rPr lang="en-US" i="1" kern="100" dirty="0">
                <a:latin typeface="Century Gothic" panose="020B0502020202020204" pitchFamily="34" charset="0"/>
                <a:ea typeface="Calibri" panose="020F0502020204030204" pitchFamily="34" charset="0"/>
                <a:cs typeface="Times New Roman" panose="02020603050405020304" pitchFamily="18" charset="0"/>
              </a:rPr>
              <a:t>By applying welfare economics principles, value chain agriculture can achieve better resource allocation, inclusive growth, and environmentally sustainable practices, ultimately contributing to the overall welfare and prosperity of communities and society as a whole.</a:t>
            </a:r>
            <a:endParaRPr lang="en-US" kern="100" dirty="0">
              <a:latin typeface="Century Gothic" panose="020B050202020202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7348962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C7A8F-C8F4-1790-D65C-AAC28AA29166}"/>
              </a:ext>
            </a:extLst>
          </p:cNvPr>
          <p:cNvSpPr>
            <a:spLocks noGrp="1"/>
          </p:cNvSpPr>
          <p:nvPr>
            <p:ph type="title"/>
          </p:nvPr>
        </p:nvSpPr>
        <p:spPr>
          <a:xfrm>
            <a:off x="838200" y="365125"/>
            <a:ext cx="10515600" cy="6170757"/>
          </a:xfrm>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Case Studies and Exercises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469D6CA8-98D4-85C8-962C-5A30B67BCCD7}"/>
              </a:ext>
            </a:extLst>
          </p:cNvPr>
          <p:cNvSpPr>
            <a:spLocks noGrp="1"/>
          </p:cNvSpPr>
          <p:nvPr>
            <p:ph idx="1"/>
          </p:nvPr>
        </p:nvSpPr>
        <p:spPr/>
        <p:txBody>
          <a:bodyPr>
            <a:normAutofit/>
          </a:bodyPr>
          <a:lstStyle/>
          <a:p>
            <a:pPr marL="0" marR="0" indent="0" algn="just">
              <a:lnSpc>
                <a:spcPct val="107000"/>
              </a:lnSpc>
              <a:spcBef>
                <a:spcPts val="0"/>
              </a:spcBef>
              <a:spcAft>
                <a:spcPts val="800"/>
              </a:spcAft>
              <a:buNone/>
            </a:pP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7407686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56482-E885-CF70-FA3F-4BEA2B429E28}"/>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Exercise 1: Perfect Competition: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F918D192-FB14-2D5D-8435-9673F0C13A1A}"/>
              </a:ext>
            </a:extLst>
          </p:cNvPr>
          <p:cNvSpPr>
            <a:spLocks noGrp="1"/>
          </p:cNvSpPr>
          <p:nvPr>
            <p:ph idx="1"/>
          </p:nvPr>
        </p:nvSpPr>
        <p:spPr>
          <a:xfrm>
            <a:off x="561109" y="1236518"/>
            <a:ext cx="10792691" cy="4940445"/>
          </a:xfrm>
        </p:spPr>
        <p:txBody>
          <a:bodyPr>
            <a:normAutofit/>
          </a:bodyPr>
          <a:lstStyle/>
          <a:p>
            <a:pPr marL="0" marR="0" indent="0" algn="just">
              <a:lnSpc>
                <a:spcPct val="107000"/>
              </a:lnSpc>
              <a:spcBef>
                <a:spcPts val="0"/>
              </a:spcBef>
              <a:spcAft>
                <a:spcPts val="800"/>
              </a:spcAft>
              <a:buNone/>
            </a:pPr>
            <a:r>
              <a:rPr lang="en-US" i="1" kern="100" dirty="0">
                <a:latin typeface="Century Gothic" panose="020B0502020202020204" pitchFamily="34" charset="0"/>
                <a:ea typeface="Calibri" panose="020F0502020204030204" pitchFamily="34" charset="0"/>
                <a:cs typeface="Times New Roman" panose="02020603050405020304" pitchFamily="18" charset="0"/>
              </a:rPr>
              <a:t>Suppose there are ten firms in a perfectly competitive </a:t>
            </a:r>
            <a:r>
              <a:rPr lang="en-US" sz="2400" i="1" kern="100" dirty="0">
                <a:latin typeface="Century Gothic" panose="020B0502020202020204" pitchFamily="34" charset="0"/>
                <a:ea typeface="Calibri" panose="020F0502020204030204" pitchFamily="34" charset="0"/>
                <a:cs typeface="Times New Roman" panose="02020603050405020304" pitchFamily="18" charset="0"/>
              </a:rPr>
              <a:t>market, each producing identical widgets. The market demand for widgets is given by </a:t>
            </a:r>
            <a:r>
              <a:rPr lang="en-US" sz="2400" i="1" kern="100" dirty="0" err="1">
                <a:latin typeface="Century Gothic" panose="020B0502020202020204" pitchFamily="34" charset="0"/>
                <a:ea typeface="Calibri" panose="020F0502020204030204" pitchFamily="34" charset="0"/>
                <a:cs typeface="Times New Roman" panose="02020603050405020304" pitchFamily="18" charset="0"/>
              </a:rPr>
              <a:t>Qd</a:t>
            </a:r>
            <a:r>
              <a:rPr lang="en-US" sz="2400" i="1" kern="100" dirty="0">
                <a:latin typeface="Century Gothic" panose="020B0502020202020204" pitchFamily="34" charset="0"/>
                <a:ea typeface="Calibri" panose="020F0502020204030204" pitchFamily="34" charset="0"/>
                <a:cs typeface="Times New Roman" panose="02020603050405020304" pitchFamily="18" charset="0"/>
              </a:rPr>
              <a:t> = 1000 - 10P, where </a:t>
            </a:r>
            <a:r>
              <a:rPr lang="en-US" sz="2400" i="1" kern="100" dirty="0" err="1">
                <a:latin typeface="Century Gothic" panose="020B0502020202020204" pitchFamily="34" charset="0"/>
                <a:ea typeface="Calibri" panose="020F0502020204030204" pitchFamily="34" charset="0"/>
                <a:cs typeface="Times New Roman" panose="02020603050405020304" pitchFamily="18" charset="0"/>
              </a:rPr>
              <a:t>Qd</a:t>
            </a:r>
            <a:r>
              <a:rPr lang="en-US" sz="2400" i="1" kern="100" dirty="0">
                <a:latin typeface="Century Gothic" panose="020B0502020202020204" pitchFamily="34" charset="0"/>
                <a:ea typeface="Calibri" panose="020F0502020204030204" pitchFamily="34" charset="0"/>
                <a:cs typeface="Times New Roman" panose="02020603050405020304" pitchFamily="18" charset="0"/>
              </a:rPr>
              <a:t> is the quantity demanded and P is the price. The firms' cost function is given by TC = 50Q, where TC is the total cost and Q is the quantity produced by each firm.</a:t>
            </a:r>
          </a:p>
          <a:p>
            <a:pPr marL="0" marR="0" indent="0" algn="just">
              <a:lnSpc>
                <a:spcPct val="107000"/>
              </a:lnSpc>
              <a:spcBef>
                <a:spcPts val="0"/>
              </a:spcBef>
              <a:spcAft>
                <a:spcPts val="800"/>
              </a:spcAft>
              <a:buNone/>
            </a:pPr>
            <a:endParaRPr lang="en-US" sz="2400" i="1" kern="100" dirty="0">
              <a:latin typeface="Century Gothic" panose="020B050202020202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sz="2400" i="1" kern="100" dirty="0">
                <a:latin typeface="Century Gothic" panose="020B0502020202020204" pitchFamily="34" charset="0"/>
                <a:ea typeface="Calibri" panose="020F0502020204030204" pitchFamily="34" charset="0"/>
                <a:cs typeface="Times New Roman" panose="02020603050405020304" pitchFamily="18" charset="0"/>
              </a:rPr>
              <a:t>Determine the market price and quantity supplied by each firm in the long run.</a:t>
            </a:r>
            <a:endParaRPr lang="en-US" sz="2400"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4491889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3EA8A-9E3A-DFB9-2BCD-32DA50938713}"/>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Exercise 2: Oligopoly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789C2ABA-6A9E-1FFF-0B80-05F2081CF38E}"/>
              </a:ext>
            </a:extLst>
          </p:cNvPr>
          <p:cNvSpPr>
            <a:spLocks noGrp="1"/>
          </p:cNvSpPr>
          <p:nvPr>
            <p:ph idx="1"/>
          </p:nvPr>
        </p:nvSpPr>
        <p:spPr/>
        <p:txBody>
          <a:bodyPr>
            <a:normAutofit/>
          </a:bodyPr>
          <a:lstStyle/>
          <a:p>
            <a:pPr marL="0" marR="0" indent="0" algn="just">
              <a:lnSpc>
                <a:spcPct val="107000"/>
              </a:lnSpc>
              <a:spcBef>
                <a:spcPts val="0"/>
              </a:spcBef>
              <a:spcAft>
                <a:spcPts val="800"/>
              </a:spcAft>
              <a:buNone/>
            </a:pPr>
            <a:r>
              <a:rPr lang="en-US" sz="2400" i="1" kern="100" dirty="0">
                <a:latin typeface="Century Gothic" panose="020B0502020202020204" pitchFamily="34" charset="0"/>
                <a:ea typeface="Calibri" panose="020F0502020204030204" pitchFamily="34" charset="0"/>
                <a:cs typeface="Times New Roman" panose="02020603050405020304" pitchFamily="18" charset="0"/>
              </a:rPr>
              <a:t>Consider an oligopoly market with three major firms producing smartphones. The market demand for smartphones is given by </a:t>
            </a:r>
            <a:r>
              <a:rPr lang="en-US" sz="2400" i="1" kern="100" dirty="0" err="1">
                <a:latin typeface="Century Gothic" panose="020B0502020202020204" pitchFamily="34" charset="0"/>
                <a:ea typeface="Calibri" panose="020F0502020204030204" pitchFamily="34" charset="0"/>
                <a:cs typeface="Times New Roman" panose="02020603050405020304" pitchFamily="18" charset="0"/>
              </a:rPr>
              <a:t>Qd</a:t>
            </a:r>
            <a:r>
              <a:rPr lang="en-US" sz="2400" i="1" kern="100" dirty="0">
                <a:latin typeface="Century Gothic" panose="020B0502020202020204" pitchFamily="34" charset="0"/>
                <a:ea typeface="Calibri" panose="020F0502020204030204" pitchFamily="34" charset="0"/>
                <a:cs typeface="Times New Roman" panose="02020603050405020304" pitchFamily="18" charset="0"/>
              </a:rPr>
              <a:t> = 2000 - 5P, where </a:t>
            </a:r>
            <a:r>
              <a:rPr lang="en-US" sz="2400" i="1" kern="100" dirty="0" err="1">
                <a:latin typeface="Century Gothic" panose="020B0502020202020204" pitchFamily="34" charset="0"/>
                <a:ea typeface="Calibri" panose="020F0502020204030204" pitchFamily="34" charset="0"/>
                <a:cs typeface="Times New Roman" panose="02020603050405020304" pitchFamily="18" charset="0"/>
              </a:rPr>
              <a:t>Qd</a:t>
            </a:r>
            <a:r>
              <a:rPr lang="en-US" sz="2400" i="1" kern="100" dirty="0">
                <a:latin typeface="Century Gothic" panose="020B0502020202020204" pitchFamily="34" charset="0"/>
                <a:ea typeface="Calibri" panose="020F0502020204030204" pitchFamily="34" charset="0"/>
                <a:cs typeface="Times New Roman" panose="02020603050405020304" pitchFamily="18" charset="0"/>
              </a:rPr>
              <a:t> is the quantity demanded and P is the price. Each firm's cost function is given by TC = 200Q, where TC is the total cost and Q is the quantity produced by each firm. </a:t>
            </a:r>
          </a:p>
          <a:p>
            <a:pPr marL="0" marR="0" indent="0" algn="just">
              <a:lnSpc>
                <a:spcPct val="107000"/>
              </a:lnSpc>
              <a:spcBef>
                <a:spcPts val="0"/>
              </a:spcBef>
              <a:spcAft>
                <a:spcPts val="800"/>
              </a:spcAft>
              <a:buNone/>
            </a:pPr>
            <a:endParaRPr lang="en-US" sz="2400" i="1" kern="100" dirty="0">
              <a:latin typeface="Century Gothic" panose="020B050202020202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sz="2400" i="1" kern="100" dirty="0">
                <a:latin typeface="Century Gothic" panose="020B0502020202020204" pitchFamily="34" charset="0"/>
                <a:ea typeface="Calibri" panose="020F0502020204030204" pitchFamily="34" charset="0"/>
                <a:cs typeface="Times New Roman" panose="02020603050405020304" pitchFamily="18" charset="0"/>
              </a:rPr>
              <a:t>Determine the Nash equilibrium price and quantity produced by each firm.</a:t>
            </a:r>
            <a:endParaRPr lang="en-US" sz="2400" dirty="0"/>
          </a:p>
        </p:txBody>
      </p:sp>
    </p:spTree>
    <p:extLst>
      <p:ext uri="{BB962C8B-B14F-4D97-AF65-F5344CB8AC3E}">
        <p14:creationId xmlns:p14="http://schemas.microsoft.com/office/powerpoint/2010/main" val="9167938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8821B-ADB7-7ED9-6A26-EB2E4816AEA3}"/>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Exercise 3: Monopolistic Competition</a:t>
            </a:r>
            <a:r>
              <a:rPr lang="en-US" b="1" kern="100" dirty="0">
                <a:latin typeface="Calibri" panose="020F0502020204030204" pitchFamily="34" charset="0"/>
                <a:ea typeface="Calibri" panose="020F0502020204030204" pitchFamily="34" charset="0"/>
                <a:cs typeface="Times New Roman" panose="02020603050405020304" pitchFamily="18" charset="0"/>
              </a:rPr>
              <a:t/>
            </a:r>
            <a:br>
              <a:rPr lang="en-US" b="1" kern="100" dirty="0">
                <a:latin typeface="Calibri" panose="020F0502020204030204" pitchFamily="34" charset="0"/>
                <a:ea typeface="Calibri" panose="020F0502020204030204" pitchFamily="34" charset="0"/>
                <a:cs typeface="Times New Roman" panose="02020603050405020304" pitchFamily="18" charset="0"/>
              </a:rPr>
            </a:br>
            <a:endParaRPr lang="en-US" b="1" dirty="0"/>
          </a:p>
        </p:txBody>
      </p:sp>
      <p:sp>
        <p:nvSpPr>
          <p:cNvPr id="3" name="Content Placeholder 2">
            <a:extLst>
              <a:ext uri="{FF2B5EF4-FFF2-40B4-BE49-F238E27FC236}">
                <a16:creationId xmlns:a16="http://schemas.microsoft.com/office/drawing/2014/main" id="{40CBF4AC-FD2B-D343-6BE6-83B8DEDF9D22}"/>
              </a:ext>
            </a:extLst>
          </p:cNvPr>
          <p:cNvSpPr>
            <a:spLocks noGrp="1"/>
          </p:cNvSpPr>
          <p:nvPr>
            <p:ph idx="1"/>
          </p:nvPr>
        </p:nvSpPr>
        <p:spPr/>
        <p:txBody>
          <a:bodyPr>
            <a:normAutofit/>
          </a:bodyPr>
          <a:lstStyle/>
          <a:p>
            <a:pPr marL="0" marR="0" indent="0" algn="just">
              <a:lnSpc>
                <a:spcPct val="107000"/>
              </a:lnSpc>
              <a:spcBef>
                <a:spcPts val="0"/>
              </a:spcBef>
              <a:spcAft>
                <a:spcPts val="800"/>
              </a:spcAft>
              <a:buNone/>
            </a:pPr>
            <a:r>
              <a:rPr lang="en-US" sz="2400" i="1" kern="100" dirty="0">
                <a:latin typeface="Century Gothic" panose="020B0502020202020204" pitchFamily="34" charset="0"/>
                <a:ea typeface="Calibri" panose="020F0502020204030204" pitchFamily="34" charset="0"/>
                <a:cs typeface="Times New Roman" panose="02020603050405020304" pitchFamily="18" charset="0"/>
              </a:rPr>
              <a:t>In a monopolistic competition market, there are six firms producing similar but differentiated products. The market demand for the products is given by </a:t>
            </a:r>
            <a:r>
              <a:rPr lang="en-US" sz="2400" i="1" kern="100" dirty="0" err="1">
                <a:latin typeface="Century Gothic" panose="020B0502020202020204" pitchFamily="34" charset="0"/>
                <a:ea typeface="Calibri" panose="020F0502020204030204" pitchFamily="34" charset="0"/>
                <a:cs typeface="Times New Roman" panose="02020603050405020304" pitchFamily="18" charset="0"/>
              </a:rPr>
              <a:t>Qd</a:t>
            </a:r>
            <a:r>
              <a:rPr lang="en-US" sz="2400" i="1" kern="100" dirty="0">
                <a:latin typeface="Century Gothic" panose="020B0502020202020204" pitchFamily="34" charset="0"/>
                <a:ea typeface="Calibri" panose="020F0502020204030204" pitchFamily="34" charset="0"/>
                <a:cs typeface="Times New Roman" panose="02020603050405020304" pitchFamily="18" charset="0"/>
              </a:rPr>
              <a:t> = 800 - 2P, where </a:t>
            </a:r>
            <a:r>
              <a:rPr lang="en-US" sz="2400" i="1" kern="100" dirty="0" err="1">
                <a:latin typeface="Century Gothic" panose="020B0502020202020204" pitchFamily="34" charset="0"/>
                <a:ea typeface="Calibri" panose="020F0502020204030204" pitchFamily="34" charset="0"/>
                <a:cs typeface="Times New Roman" panose="02020603050405020304" pitchFamily="18" charset="0"/>
              </a:rPr>
              <a:t>Qd</a:t>
            </a:r>
            <a:r>
              <a:rPr lang="en-US" sz="2400" i="1" kern="100" dirty="0">
                <a:latin typeface="Century Gothic" panose="020B0502020202020204" pitchFamily="34" charset="0"/>
                <a:ea typeface="Calibri" panose="020F0502020204030204" pitchFamily="34" charset="0"/>
                <a:cs typeface="Times New Roman" panose="02020603050405020304" pitchFamily="18" charset="0"/>
              </a:rPr>
              <a:t> is the quantity demanded and P is the price. Each firm's cost function is given by     TC = 100Q, where TC is the total cost and Q is the quantity produced by each firm. </a:t>
            </a:r>
          </a:p>
          <a:p>
            <a:pPr marL="0" marR="0" indent="0" algn="just">
              <a:lnSpc>
                <a:spcPct val="107000"/>
              </a:lnSpc>
              <a:spcBef>
                <a:spcPts val="0"/>
              </a:spcBef>
              <a:spcAft>
                <a:spcPts val="800"/>
              </a:spcAft>
              <a:buNone/>
            </a:pPr>
            <a:endParaRPr lang="en-US" sz="2400" i="1" kern="100" dirty="0">
              <a:latin typeface="Century Gothic" panose="020B050202020202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sz="2400" i="1" kern="100" dirty="0">
                <a:latin typeface="Century Gothic" panose="020B0502020202020204" pitchFamily="34" charset="0"/>
                <a:ea typeface="Calibri" panose="020F0502020204030204" pitchFamily="34" charset="0"/>
                <a:cs typeface="Times New Roman" panose="02020603050405020304" pitchFamily="18" charset="0"/>
              </a:rPr>
              <a:t>Calculate the price, output, and profit for each firm in the short run.</a:t>
            </a:r>
            <a:endParaRPr lang="en-US" sz="2400"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7652882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8C6A3-CE75-2F89-E0B8-047B5D7E838A}"/>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Exercise 4: Monopoly</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0C6BD1DC-1AB2-BCE5-329D-A9DA9A14A03A}"/>
              </a:ext>
            </a:extLst>
          </p:cNvPr>
          <p:cNvSpPr>
            <a:spLocks noGrp="1"/>
          </p:cNvSpPr>
          <p:nvPr>
            <p:ph idx="1"/>
          </p:nvPr>
        </p:nvSpPr>
        <p:spPr/>
        <p:txBody>
          <a:bodyPr>
            <a:normAutofit/>
          </a:bodyPr>
          <a:lstStyle/>
          <a:p>
            <a:pPr marL="0" marR="0" indent="0" algn="just">
              <a:lnSpc>
                <a:spcPct val="107000"/>
              </a:lnSpc>
              <a:spcBef>
                <a:spcPts val="0"/>
              </a:spcBef>
              <a:spcAft>
                <a:spcPts val="800"/>
              </a:spcAft>
              <a:buNone/>
            </a:pPr>
            <a:r>
              <a:rPr lang="en-US" sz="2400" i="1" kern="100" dirty="0">
                <a:latin typeface="Century Gothic" panose="020B0502020202020204" pitchFamily="34" charset="0"/>
                <a:ea typeface="Calibri" panose="020F0502020204030204" pitchFamily="34" charset="0"/>
                <a:cs typeface="Times New Roman" panose="02020603050405020304" pitchFamily="18" charset="0"/>
              </a:rPr>
              <a:t>Suppose a monopolist faces the market demand </a:t>
            </a:r>
            <a:r>
              <a:rPr lang="en-US" sz="2400" i="1" kern="100" dirty="0" err="1">
                <a:latin typeface="Century Gothic" panose="020B0502020202020204" pitchFamily="34" charset="0"/>
                <a:ea typeface="Calibri" panose="020F0502020204030204" pitchFamily="34" charset="0"/>
                <a:cs typeface="Times New Roman" panose="02020603050405020304" pitchFamily="18" charset="0"/>
              </a:rPr>
              <a:t>Qd</a:t>
            </a:r>
            <a:r>
              <a:rPr lang="en-US" sz="2400" i="1" kern="100" dirty="0">
                <a:latin typeface="Century Gothic" panose="020B0502020202020204" pitchFamily="34" charset="0"/>
                <a:ea typeface="Calibri" panose="020F0502020204030204" pitchFamily="34" charset="0"/>
                <a:cs typeface="Times New Roman" panose="02020603050405020304" pitchFamily="18" charset="0"/>
              </a:rPr>
              <a:t> = 500 - P, where </a:t>
            </a:r>
            <a:r>
              <a:rPr lang="en-US" sz="2400" i="1" kern="100" dirty="0" err="1">
                <a:latin typeface="Century Gothic" panose="020B0502020202020204" pitchFamily="34" charset="0"/>
                <a:ea typeface="Calibri" panose="020F0502020204030204" pitchFamily="34" charset="0"/>
                <a:cs typeface="Times New Roman" panose="02020603050405020304" pitchFamily="18" charset="0"/>
              </a:rPr>
              <a:t>Qd</a:t>
            </a:r>
            <a:r>
              <a:rPr lang="en-US" sz="2400" i="1" kern="100" dirty="0">
                <a:latin typeface="Century Gothic" panose="020B0502020202020204" pitchFamily="34" charset="0"/>
                <a:ea typeface="Calibri" panose="020F0502020204030204" pitchFamily="34" charset="0"/>
                <a:cs typeface="Times New Roman" panose="02020603050405020304" pitchFamily="18" charset="0"/>
              </a:rPr>
              <a:t> is the quantity demanded and P is the price. The monopolist's cost function is given by TC = 100Q, where TC is the total cost and Q is the quantity produced. </a:t>
            </a:r>
          </a:p>
          <a:p>
            <a:pPr marL="0" marR="0" indent="0" algn="just">
              <a:lnSpc>
                <a:spcPct val="107000"/>
              </a:lnSpc>
              <a:spcBef>
                <a:spcPts val="0"/>
              </a:spcBef>
              <a:spcAft>
                <a:spcPts val="800"/>
              </a:spcAft>
              <a:buNone/>
            </a:pPr>
            <a:endParaRPr lang="en-US" sz="2400" i="1" kern="100" dirty="0">
              <a:latin typeface="Century Gothic" panose="020B050202020202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sz="2400" i="1" kern="100" dirty="0">
                <a:latin typeface="Century Gothic" panose="020B0502020202020204" pitchFamily="34" charset="0"/>
                <a:ea typeface="Calibri" panose="020F0502020204030204" pitchFamily="34" charset="0"/>
                <a:cs typeface="Times New Roman" panose="02020603050405020304" pitchFamily="18" charset="0"/>
              </a:rPr>
              <a:t>Determine the profit-maximizing price and quantity produced by the monopolist.</a:t>
            </a:r>
            <a:endParaRPr lang="en-US" sz="2400" kern="100" dirty="0">
              <a:latin typeface="Calibri" panose="020F0502020204030204" pitchFamily="34" charset="0"/>
              <a:ea typeface="Calibri" panose="020F0502020204030204" pitchFamily="34" charset="0"/>
              <a:cs typeface="Times New Roman" panose="02020603050405020304" pitchFamily="18" charset="0"/>
            </a:endParaRPr>
          </a:p>
          <a:p>
            <a:endParaRPr lang="en-US" sz="2400" dirty="0"/>
          </a:p>
        </p:txBody>
      </p:sp>
    </p:spTree>
    <p:extLst>
      <p:ext uri="{BB962C8B-B14F-4D97-AF65-F5344CB8AC3E}">
        <p14:creationId xmlns:p14="http://schemas.microsoft.com/office/powerpoint/2010/main" val="2614516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CF76A-AC0A-89EB-DF83-7A3EA89E28F6}"/>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Case Studies: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D335C0F0-8D1F-01A5-2DC5-2A7E93C1D32D}"/>
              </a:ext>
            </a:extLst>
          </p:cNvPr>
          <p:cNvSpPr>
            <a:spLocks noGrp="1"/>
          </p:cNvSpPr>
          <p:nvPr>
            <p:ph idx="1"/>
          </p:nvPr>
        </p:nvSpPr>
        <p:spPr>
          <a:xfrm>
            <a:off x="415636" y="1215736"/>
            <a:ext cx="11222182" cy="5403273"/>
          </a:xfrm>
        </p:spPr>
        <p:txBody>
          <a:bodyPr>
            <a:normAutofit fontScale="85000" lnSpcReduction="10000"/>
          </a:bodyPr>
          <a:lstStyle/>
          <a:p>
            <a:pPr marL="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1. Perfect Competition: Agricultural Commodities Market </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i="1" kern="100" dirty="0">
                <a:latin typeface="Century Gothic" panose="020B0502020202020204" pitchFamily="34" charset="0"/>
                <a:ea typeface="Calibri" panose="020F0502020204030204" pitchFamily="34" charset="0"/>
                <a:cs typeface="Times New Roman" panose="02020603050405020304" pitchFamily="18" charset="0"/>
              </a:rPr>
              <a:t> In a hypothetical perfect competition market for maize in Malawi, there are numerous small farmers producing and selling maize. Each farmer sells their harvest at the prevailing market price. Analyze how market forces of demand and supply determine the price and quantity of maize sold in the market.</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2. Oligopoly: Pesticide Market </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i="1" kern="100" dirty="0">
                <a:latin typeface="Century Gothic" panose="020B0502020202020204" pitchFamily="34" charset="0"/>
                <a:ea typeface="Calibri" panose="020F0502020204030204" pitchFamily="34" charset="0"/>
                <a:cs typeface="Times New Roman" panose="02020603050405020304" pitchFamily="18" charset="0"/>
              </a:rPr>
              <a:t> The pesticide market in Malawi is dominated by three major firms. Each firm produces a different type of pesticide. Analyze how these firms' pricing decisions and product differentiation strategies impact the market's overall performance and competition.</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3. Monopolistic Competition: Fertilizer Market </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i="1" kern="100" dirty="0">
                <a:latin typeface="Century Gothic" panose="020B0502020202020204" pitchFamily="34" charset="0"/>
                <a:ea typeface="Calibri" panose="020F0502020204030204" pitchFamily="34" charset="0"/>
                <a:cs typeface="Times New Roman" panose="02020603050405020304" pitchFamily="18" charset="0"/>
              </a:rPr>
              <a:t> The fertilizer market in Malawi consists of six firms producing different types of fertilizers. Each firm engages in advertising and branding to differentiate their products. Analyze the implications of product differentiation and the firms' pricing decisions on consumer choices and market outcomes.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4. Monopoly: Seed Market </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i="1" kern="100" dirty="0">
                <a:latin typeface="Century Gothic" panose="020B0502020202020204" pitchFamily="34" charset="0"/>
                <a:ea typeface="Calibri" panose="020F0502020204030204" pitchFamily="34" charset="0"/>
                <a:cs typeface="Times New Roman" panose="02020603050405020304" pitchFamily="18" charset="0"/>
              </a:rPr>
              <a:t> A single firm holds a monopoly in the seed market in Malawi. Analyze the monopolist's ability to set the price and its impact on consumer welfare and market efficiency. Consider potential regulatory interventions to promote competition and consumer welfare.</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01914609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4</TotalTime>
  <Words>1541</Words>
  <Application>Microsoft Office PowerPoint</Application>
  <PresentationFormat>Widescreen</PresentationFormat>
  <Paragraphs>114</Paragraphs>
  <Slides>29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Arial</vt:lpstr>
      <vt:lpstr>Calibri</vt:lpstr>
      <vt:lpstr>Century Gothic</vt:lpstr>
      <vt:lpstr>Times New Roman</vt:lpstr>
      <vt:lpstr>Wingdings 3</vt:lpstr>
      <vt:lpstr>Ion</vt:lpstr>
      <vt:lpstr>Lecture 12:   Market Structures in Value Chain Agriculture</vt:lpstr>
      <vt:lpstr>Market Structures  </vt:lpstr>
      <vt:lpstr>Perfect Competition  </vt:lpstr>
      <vt:lpstr>Characteristics of Perfect competition  </vt:lpstr>
      <vt:lpstr>Price and Output Determination in Perfect Competition  </vt:lpstr>
      <vt:lpstr>Oligopoly </vt:lpstr>
      <vt:lpstr>Characteristics of Oligopoly </vt:lpstr>
      <vt:lpstr>Price and Output Determination in Oligopoly  </vt:lpstr>
      <vt:lpstr>Monopolistic Competition </vt:lpstr>
      <vt:lpstr>Characteristics of Monopolistic Competition  </vt:lpstr>
      <vt:lpstr>Price and Output Determination in Monopolistic Competition  </vt:lpstr>
      <vt:lpstr>Monopoly </vt:lpstr>
      <vt:lpstr>Characteristics of Monopoly  </vt:lpstr>
      <vt:lpstr>Price and Output Determination in Monopoly  </vt:lpstr>
      <vt:lpstr>Efficiency and Performance Implications of Market Structures  </vt:lpstr>
      <vt:lpstr>Welfare Economics  </vt:lpstr>
      <vt:lpstr>Welfare Economics</vt:lpstr>
      <vt:lpstr>Efficiency and Equity in Value Chain Agriculture: </vt:lpstr>
      <vt:lpstr>Externalities and Market Failures: </vt:lpstr>
      <vt:lpstr>Policy Interventions for Social Welfare Maximization: </vt:lpstr>
      <vt:lpstr>Sustainable Value Chain Management: </vt:lpstr>
      <vt:lpstr>Examples of Welfare Economics in Value Chain Agriculture</vt:lpstr>
      <vt:lpstr>PowerPoint Presentation</vt:lpstr>
      <vt:lpstr>Case Studies and Exercises  </vt:lpstr>
      <vt:lpstr>Exercise 1: Perfect Competition:  </vt:lpstr>
      <vt:lpstr>Exercise 2: Oligopoly  </vt:lpstr>
      <vt:lpstr>Exercise 3: Monopolistic Competition </vt:lpstr>
      <vt:lpstr>Exercise 4: Monopoly </vt:lpstr>
      <vt:lpstr>Case Studies: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12:   Market Structures in Value Chain Agriculture</dc:title>
  <dc:creator>hp</dc:creator>
  <cp:lastModifiedBy>hp</cp:lastModifiedBy>
  <cp:revision>3</cp:revision>
  <dcterms:created xsi:type="dcterms:W3CDTF">2025-01-24T02:21:04Z</dcterms:created>
  <dcterms:modified xsi:type="dcterms:W3CDTF">2025-02-23T06:34:10Z</dcterms:modified>
</cp:coreProperties>
</file>