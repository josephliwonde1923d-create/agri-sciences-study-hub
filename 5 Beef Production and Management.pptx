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256" r:id="rId2"/>
    <p:sldId id="378" r:id="rId3"/>
    <p:sldId id="415" r:id="rId4"/>
    <p:sldId id="416" r:id="rId5"/>
    <p:sldId id="450" r:id="rId6"/>
    <p:sldId id="451" r:id="rId7"/>
    <p:sldId id="472" r:id="rId8"/>
    <p:sldId id="470" r:id="rId9"/>
    <p:sldId id="471" r:id="rId10"/>
    <p:sldId id="420" r:id="rId11"/>
    <p:sldId id="473" r:id="rId12"/>
    <p:sldId id="379" r:id="rId13"/>
    <p:sldId id="488" r:id="rId14"/>
    <p:sldId id="445" r:id="rId15"/>
    <p:sldId id="476" r:id="rId16"/>
    <p:sldId id="475" r:id="rId17"/>
    <p:sldId id="456" r:id="rId18"/>
    <p:sldId id="455" r:id="rId19"/>
    <p:sldId id="478" r:id="rId20"/>
    <p:sldId id="483" r:id="rId21"/>
    <p:sldId id="482" r:id="rId22"/>
    <p:sldId id="484" r:id="rId23"/>
    <p:sldId id="447" r:id="rId24"/>
    <p:sldId id="437" r:id="rId25"/>
    <p:sldId id="465" r:id="rId26"/>
    <p:sldId id="477" r:id="rId27"/>
    <p:sldId id="486" r:id="rId28"/>
    <p:sldId id="485" r:id="rId29"/>
    <p:sldId id="479" r:id="rId30"/>
    <p:sldId id="428" r:id="rId31"/>
    <p:sldId id="489" r:id="rId32"/>
    <p:sldId id="458" r:id="rId33"/>
    <p:sldId id="490" r:id="rId34"/>
    <p:sldId id="457" r:id="rId35"/>
    <p:sldId id="492" r:id="rId36"/>
    <p:sldId id="487" r:id="rId37"/>
    <p:sldId id="493" r:id="rId38"/>
    <p:sldId id="495" r:id="rId39"/>
    <p:sldId id="494" r:id="rId40"/>
    <p:sldId id="496" r:id="rId41"/>
    <p:sldId id="497" r:id="rId42"/>
    <p:sldId id="459" r:id="rId43"/>
    <p:sldId id="442" r:id="rId44"/>
    <p:sldId id="498" r:id="rId45"/>
    <p:sldId id="426" r:id="rId46"/>
    <p:sldId id="467" r:id="rId47"/>
    <p:sldId id="474" r:id="rId48"/>
    <p:sldId id="468" r:id="rId49"/>
    <p:sldId id="443"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6954" autoAdjust="0"/>
    <p:restoredTop sz="94622" autoAdjust="0"/>
  </p:normalViewPr>
  <p:slideViewPr>
    <p:cSldViewPr snapToGrid="0">
      <p:cViewPr varScale="1">
        <p:scale>
          <a:sx n="78" d="100"/>
          <a:sy n="78" d="100"/>
        </p:scale>
        <p:origin x="1116"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4C18B1-72DE-48AA-BFD7-0D5A7F933011}" type="datetimeFigureOut">
              <a:rPr lang="en-GB" smtClean="0"/>
              <a:t>08/01/2026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1D7C1-5A09-4F0A-AD83-58B77AAF2BC1}" type="slidenum">
              <a:rPr lang="en-GB" smtClean="0"/>
              <a:t>‹#›</a:t>
            </a:fld>
            <a:endParaRPr lang="en-GB"/>
          </a:p>
        </p:txBody>
      </p:sp>
    </p:spTree>
    <p:extLst>
      <p:ext uri="{BB962C8B-B14F-4D97-AF65-F5344CB8AC3E}">
        <p14:creationId xmlns:p14="http://schemas.microsoft.com/office/powerpoint/2010/main" val="2820461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5</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6</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7</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8</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9</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GB" dirty="0">
              <a:latin typeface="Century Gothic" pitchFamily="34" charset="0"/>
            </a:endParaRPr>
          </a:p>
        </p:txBody>
      </p:sp>
      <p:sp>
        <p:nvSpPr>
          <p:cNvPr id="4" name="Slide Number Placeholder 3"/>
          <p:cNvSpPr>
            <a:spLocks noGrp="1"/>
          </p:cNvSpPr>
          <p:nvPr>
            <p:ph type="sldNum" sz="quarter" idx="10"/>
          </p:nvPr>
        </p:nvSpPr>
        <p:spPr/>
        <p:txBody>
          <a:bodyPr/>
          <a:lstStyle/>
          <a:p>
            <a:fld id="{AD71D7C1-5A09-4F0A-AD83-58B77AAF2BC1}" type="slidenum">
              <a:rPr lang="en-GB" smtClean="0"/>
              <a:t>10</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11</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12</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13</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14</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15</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16</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17</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18</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19</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20</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21</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22</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23</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24</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25</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26</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Artificial colostrum:</a:t>
            </a:r>
          </a:p>
          <a:p>
            <a:r>
              <a:rPr lang="en-GB" sz="1200" b="0" i="0" u="none" strike="noStrike" kern="1200" baseline="0" dirty="0">
                <a:solidFill>
                  <a:schemeClr val="tx1"/>
                </a:solidFill>
                <a:latin typeface="+mn-lt"/>
                <a:ea typeface="+mn-ea"/>
                <a:cs typeface="+mn-cs"/>
              </a:rPr>
              <a:t>1 egg beaten</a:t>
            </a:r>
          </a:p>
          <a:p>
            <a:r>
              <a:rPr lang="en-GB" sz="1200" b="0" i="0" u="none" strike="noStrike" kern="1200" baseline="0" dirty="0">
                <a:solidFill>
                  <a:schemeClr val="tx1"/>
                </a:solidFill>
                <a:latin typeface="+mn-lt"/>
                <a:ea typeface="+mn-ea"/>
                <a:cs typeface="+mn-cs"/>
              </a:rPr>
              <a:t>300mL clean water</a:t>
            </a:r>
          </a:p>
          <a:p>
            <a:r>
              <a:rPr lang="en-GB" sz="1200" b="0" i="0" u="none" strike="noStrike" kern="1200" baseline="0" dirty="0">
                <a:solidFill>
                  <a:schemeClr val="tx1"/>
                </a:solidFill>
                <a:latin typeface="+mn-lt"/>
                <a:ea typeface="+mn-ea"/>
                <a:cs typeface="+mn-cs"/>
              </a:rPr>
              <a:t>2mL castor oil</a:t>
            </a:r>
          </a:p>
          <a:p>
            <a:r>
              <a:rPr lang="en-GB" sz="1200" b="0" i="0" u="none" strike="noStrike" kern="1200" baseline="0" dirty="0">
                <a:solidFill>
                  <a:schemeClr val="tx1"/>
                </a:solidFill>
                <a:latin typeface="+mn-lt"/>
                <a:ea typeface="+mn-ea"/>
                <a:cs typeface="+mn-cs"/>
              </a:rPr>
              <a:t>600mL whole milk</a:t>
            </a:r>
          </a:p>
          <a:p>
            <a:r>
              <a:rPr lang="en-US" sz="1200" b="0" i="0" u="none" strike="noStrike" kern="1200" baseline="0" dirty="0">
                <a:solidFill>
                  <a:schemeClr val="tx1"/>
                </a:solidFill>
                <a:latin typeface="+mn-lt"/>
                <a:ea typeface="+mn-ea"/>
                <a:cs typeface="+mn-cs"/>
              </a:rPr>
              <a:t>Feed this mixture three times per day for the first three days.</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27</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28</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29</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30</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31</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32</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33</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34</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35</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36</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37</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38</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39</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40</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41</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42</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43</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44</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45</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46</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47</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48</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49</a:t>
            </a:fld>
            <a:endParaRPr lang="en-GB"/>
          </a:p>
        </p:txBody>
      </p:sp>
    </p:spTree>
    <p:extLst>
      <p:ext uri="{BB962C8B-B14F-4D97-AF65-F5344CB8AC3E}">
        <p14:creationId xmlns:p14="http://schemas.microsoft.com/office/powerpoint/2010/main" val="187859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08/01/2026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906066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lvl1pPr algn="just">
              <a:defRPr>
                <a:latin typeface="Times New Roman" panose="02020603050405020304" pitchFamily="18" charset="0"/>
                <a:cs typeface="Times New Roman" panose="02020603050405020304" pitchFamily="18" charset="0"/>
              </a:defRPr>
            </a:lvl1pPr>
            <a:lvl2pPr algn="just">
              <a:defRPr>
                <a:latin typeface="Times New Roman" panose="02020603050405020304" pitchFamily="18" charset="0"/>
                <a:cs typeface="Times New Roman" panose="02020603050405020304" pitchFamily="18" charset="0"/>
              </a:defRPr>
            </a:lvl2pPr>
            <a:lvl3pPr algn="just">
              <a:defRPr>
                <a:latin typeface="Times New Roman" panose="02020603050405020304" pitchFamily="18" charset="0"/>
                <a:cs typeface="Times New Roman" panose="02020603050405020304" pitchFamily="18" charset="0"/>
              </a:defRPr>
            </a:lvl3pPr>
            <a:lvl4pPr algn="just">
              <a:defRPr>
                <a:latin typeface="Times New Roman" panose="02020603050405020304" pitchFamily="18" charset="0"/>
                <a:cs typeface="Times New Roman" panose="02020603050405020304" pitchFamily="18" charset="0"/>
              </a:defRPr>
            </a:lvl4pPr>
            <a:lvl5pPr algn="just">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ACF3B9-C39F-47CA-9493-2CE341F9200B}" type="datetimeFigureOut">
              <a:rPr lang="en-GB" smtClean="0"/>
              <a:t>08/01/2026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589527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08/01/2026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710567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ACF3B9-C39F-47CA-9493-2CE341F9200B}" type="datetimeFigureOut">
              <a:rPr lang="en-GB" smtClean="0"/>
              <a:t>08/01/2026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432531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ACF3B9-C39F-47CA-9493-2CE341F9200B}" type="datetimeFigureOut">
              <a:rPr lang="en-GB" smtClean="0"/>
              <a:t>08/01/2026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4232841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ACF3B9-C39F-47CA-9493-2CE341F9200B}" type="datetimeFigureOut">
              <a:rPr lang="en-GB" smtClean="0"/>
              <a:t>08/01/2026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47140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ACF3B9-C39F-47CA-9493-2CE341F9200B}" type="datetimeFigureOut">
              <a:rPr lang="en-GB" smtClean="0"/>
              <a:t>08/01/2026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361468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ACF3B9-C39F-47CA-9493-2CE341F9200B}" type="datetimeFigureOut">
              <a:rPr lang="en-GB" smtClean="0"/>
              <a:t>08/01/2026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246772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ACF3B9-C39F-47CA-9493-2CE341F9200B}" type="datetimeFigureOut">
              <a:rPr lang="en-GB" smtClean="0"/>
              <a:t>08/01/2026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165977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08/01/2026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002373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08/01/2026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254907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ACF3B9-C39F-47CA-9493-2CE341F9200B}" type="datetimeFigureOut">
              <a:rPr lang="en-GB" smtClean="0"/>
              <a:t>08/01/2026</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E2BB90-863B-4217-96DC-A8B9EB50A318}" type="slidenum">
              <a:rPr lang="en-GB" smtClean="0"/>
              <a:t>‹#›</a:t>
            </a:fld>
            <a:endParaRPr lang="en-GB"/>
          </a:p>
        </p:txBody>
      </p:sp>
    </p:spTree>
    <p:extLst>
      <p:ext uri="{BB962C8B-B14F-4D97-AF65-F5344CB8AC3E}">
        <p14:creationId xmlns:p14="http://schemas.microsoft.com/office/powerpoint/2010/main" val="2756905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89745" y="1122363"/>
            <a:ext cx="8475648" cy="2726306"/>
          </a:xfrm>
        </p:spPr>
        <p:txBody>
          <a:bodyPr>
            <a:normAutofit/>
          </a:bodyPr>
          <a:lstStyle/>
          <a:p>
            <a:r>
              <a:rPr lang="en-GB" b="1" dirty="0"/>
              <a:t>Beef Production and Management</a:t>
            </a:r>
          </a:p>
        </p:txBody>
      </p:sp>
      <p:pic>
        <p:nvPicPr>
          <p:cNvPr id="5" name="Picture 4" descr="1 Principles of Livestock Production 1 BTCD 2303.pptx [Autosaved] - Microsoft PowerPoint"/>
          <p:cNvPicPr>
            <a:picLocks noChangeAspect="1"/>
          </p:cNvPicPr>
          <p:nvPr/>
        </p:nvPicPr>
        <p:blipFill rotWithShape="1">
          <a:blip r:embed="rId2">
            <a:extLst>
              <a:ext uri="{28A0092B-C50C-407E-A947-70E740481C1C}">
                <a14:useLocalDpi xmlns:a14="http://schemas.microsoft.com/office/drawing/2010/main" val="0"/>
              </a:ext>
            </a:extLst>
          </a:blip>
          <a:srcRect l="45591" t="28367" r="21406" b="65887"/>
          <a:stretch/>
        </p:blipFill>
        <p:spPr>
          <a:xfrm>
            <a:off x="389744" y="284813"/>
            <a:ext cx="8475649" cy="794479"/>
          </a:xfrm>
          <a:prstGeom prst="rect">
            <a:avLst/>
          </a:prstGeom>
        </p:spPr>
      </p:pic>
      <p:sp>
        <p:nvSpPr>
          <p:cNvPr id="6" name="Subtitle 2"/>
          <p:cNvSpPr>
            <a:spLocks noGrp="1"/>
          </p:cNvSpPr>
          <p:nvPr>
            <p:ph type="subTitle" idx="1"/>
          </p:nvPr>
        </p:nvSpPr>
        <p:spPr>
          <a:xfrm>
            <a:off x="971550" y="4987925"/>
            <a:ext cx="6858000" cy="1655762"/>
          </a:xfrm>
        </p:spPr>
        <p:txBody>
          <a:bodyPr>
            <a:normAutofit/>
          </a:bodyPr>
          <a:lstStyle/>
          <a:p>
            <a:r>
              <a:rPr lang="en-GB" b="1" dirty="0">
                <a:solidFill>
                  <a:srgbClr val="0070C0"/>
                </a:solidFill>
              </a:rPr>
              <a:t>Michael Luwe</a:t>
            </a:r>
          </a:p>
          <a:p>
            <a:r>
              <a:rPr lang="en-GB" b="1" dirty="0">
                <a:solidFill>
                  <a:srgbClr val="0070C0"/>
                </a:solidFill>
              </a:rPr>
              <a:t>Department of Animal Health and Livestock Development</a:t>
            </a:r>
          </a:p>
        </p:txBody>
      </p:sp>
    </p:spTree>
    <p:extLst>
      <p:ext uri="{BB962C8B-B14F-4D97-AF65-F5344CB8AC3E}">
        <p14:creationId xmlns:p14="http://schemas.microsoft.com/office/powerpoint/2010/main" val="2895718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037" y="1576243"/>
            <a:ext cx="8146472" cy="4351338"/>
          </a:xfrm>
        </p:spPr>
        <p:txBody>
          <a:bodyPr>
            <a:noAutofit/>
          </a:bodyPr>
          <a:lstStyle/>
          <a:p>
            <a:pPr marL="0" indent="0">
              <a:lnSpc>
                <a:spcPct val="100000"/>
              </a:lnSpc>
              <a:buNone/>
            </a:pPr>
            <a:r>
              <a:rPr lang="en-GB" sz="2400" b="1" dirty="0">
                <a:latin typeface="Century Gothic" pitchFamily="34" charset="0"/>
              </a:rPr>
              <a:t>Introduction</a:t>
            </a:r>
          </a:p>
          <a:p>
            <a:pPr>
              <a:lnSpc>
                <a:spcPct val="100000"/>
              </a:lnSpc>
            </a:pPr>
            <a:r>
              <a:rPr lang="en-GB" sz="2400" dirty="0">
                <a:latin typeface="Century Gothic" pitchFamily="34" charset="0"/>
              </a:rPr>
              <a:t>All domestic cattle whether for milk, beef or both belong to the family </a:t>
            </a:r>
            <a:r>
              <a:rPr lang="en-GB" sz="2400" dirty="0" err="1">
                <a:latin typeface="Century Gothic" pitchFamily="34" charset="0"/>
              </a:rPr>
              <a:t>Bovidae</a:t>
            </a:r>
            <a:r>
              <a:rPr lang="en-GB" sz="2400" dirty="0">
                <a:latin typeface="Century Gothic" pitchFamily="34" charset="0"/>
              </a:rPr>
              <a:t> of the genus </a:t>
            </a:r>
            <a:r>
              <a:rPr lang="en-GB" sz="2400" dirty="0" err="1">
                <a:latin typeface="Century Gothic" pitchFamily="34" charset="0"/>
              </a:rPr>
              <a:t>Bos</a:t>
            </a:r>
            <a:r>
              <a:rPr lang="en-GB" sz="2400" dirty="0">
                <a:latin typeface="Century Gothic" pitchFamily="34" charset="0"/>
              </a:rPr>
              <a:t>.</a:t>
            </a:r>
          </a:p>
          <a:p>
            <a:r>
              <a:rPr lang="en-US" altLang="nl-BE" sz="2400" dirty="0">
                <a:latin typeface="Century Gothic" panose="020B0502020202020204" pitchFamily="34" charset="0"/>
              </a:rPr>
              <a:t>Worldwide there are more than 250 breeds of beef cattle. Over 60 of these breeds are present in the United States. </a:t>
            </a:r>
          </a:p>
          <a:p>
            <a:r>
              <a:rPr lang="en-US" altLang="nl-BE" sz="2400" dirty="0">
                <a:latin typeface="Century Gothic" panose="020B0502020202020204" pitchFamily="34" charset="0"/>
              </a:rPr>
              <a:t>Based on climate, cattle can be grouped into two:</a:t>
            </a:r>
          </a:p>
          <a:p>
            <a:pPr marL="457200" indent="-457200">
              <a:buFont typeface="+mj-lt"/>
              <a:buAutoNum type="alphaLcPeriod"/>
            </a:pPr>
            <a:r>
              <a:rPr lang="en-US" altLang="nl-BE" sz="2400" i="1" u="sng" dirty="0" err="1">
                <a:latin typeface="Century Gothic" panose="020B0502020202020204" pitchFamily="34" charset="0"/>
              </a:rPr>
              <a:t>Bos</a:t>
            </a:r>
            <a:r>
              <a:rPr lang="en-US" altLang="nl-BE" sz="2400" i="1" dirty="0">
                <a:latin typeface="Century Gothic" panose="020B0502020202020204" pitchFamily="34" charset="0"/>
              </a:rPr>
              <a:t> </a:t>
            </a:r>
            <a:r>
              <a:rPr lang="en-US" altLang="nl-BE" sz="2400" i="1" u="sng" dirty="0" err="1">
                <a:latin typeface="Century Gothic" panose="020B0502020202020204" pitchFamily="34" charset="0"/>
              </a:rPr>
              <a:t>taurus</a:t>
            </a:r>
            <a:r>
              <a:rPr lang="en-US" altLang="nl-BE" sz="2400" i="1" dirty="0">
                <a:latin typeface="Century Gothic" panose="020B0502020202020204" pitchFamily="34" charset="0"/>
              </a:rPr>
              <a:t> </a:t>
            </a:r>
            <a:r>
              <a:rPr lang="en-US" altLang="nl-BE" sz="2400" dirty="0">
                <a:latin typeface="Century Gothic" panose="020B0502020202020204" pitchFamily="34" charset="0"/>
              </a:rPr>
              <a:t>(Temperate breeds): Comfort zone 4 – 15</a:t>
            </a:r>
            <a:r>
              <a:rPr lang="en-US" altLang="nl-BE" sz="2400" baseline="30000" dirty="0">
                <a:latin typeface="Century Gothic" panose="020B0502020202020204" pitchFamily="34" charset="0"/>
              </a:rPr>
              <a:t>o</a:t>
            </a:r>
            <a:r>
              <a:rPr lang="en-US" altLang="nl-BE" sz="2400" dirty="0">
                <a:latin typeface="Century Gothic" panose="020B0502020202020204" pitchFamily="34" charset="0"/>
              </a:rPr>
              <a:t>C e.g. Angus, Hereford, </a:t>
            </a:r>
            <a:r>
              <a:rPr lang="en-US" altLang="nl-BE" sz="2400" dirty="0" err="1">
                <a:latin typeface="Century Gothic" panose="020B0502020202020204" pitchFamily="34" charset="0"/>
              </a:rPr>
              <a:t>Charolais</a:t>
            </a:r>
            <a:endParaRPr lang="en-US" altLang="nl-BE" sz="2400" dirty="0">
              <a:latin typeface="Century Gothic" panose="020B0502020202020204" pitchFamily="34" charset="0"/>
            </a:endParaRPr>
          </a:p>
          <a:p>
            <a:pPr marL="457200" indent="-457200">
              <a:buFont typeface="+mj-lt"/>
              <a:buAutoNum type="alphaLcPeriod"/>
            </a:pPr>
            <a:r>
              <a:rPr lang="en-US" altLang="nl-BE" sz="2400" i="1" u="sng" dirty="0" err="1">
                <a:latin typeface="Century Gothic" panose="020B0502020202020204" pitchFamily="34" charset="0"/>
              </a:rPr>
              <a:t>Bos</a:t>
            </a:r>
            <a:r>
              <a:rPr lang="en-US" altLang="nl-BE" sz="2400" i="1" dirty="0">
                <a:latin typeface="Century Gothic" panose="020B0502020202020204" pitchFamily="34" charset="0"/>
              </a:rPr>
              <a:t> </a:t>
            </a:r>
            <a:r>
              <a:rPr lang="en-US" altLang="nl-BE" sz="2400" i="1" u="sng" dirty="0" err="1">
                <a:latin typeface="Century Gothic" panose="020B0502020202020204" pitchFamily="34" charset="0"/>
              </a:rPr>
              <a:t>indicus</a:t>
            </a:r>
            <a:r>
              <a:rPr lang="en-US" altLang="nl-BE" sz="2400" i="1" dirty="0">
                <a:latin typeface="Century Gothic" panose="020B0502020202020204" pitchFamily="34" charset="0"/>
              </a:rPr>
              <a:t> </a:t>
            </a:r>
            <a:r>
              <a:rPr lang="en-US" altLang="nl-BE" sz="2400" dirty="0">
                <a:latin typeface="Century Gothic" panose="020B0502020202020204" pitchFamily="34" charset="0"/>
              </a:rPr>
              <a:t>(Tropical breeds): Comfort zone 15 – 35</a:t>
            </a:r>
            <a:r>
              <a:rPr lang="en-US" altLang="nl-BE" sz="2400" baseline="30000" dirty="0">
                <a:latin typeface="Century Gothic" panose="020B0502020202020204" pitchFamily="34" charset="0"/>
              </a:rPr>
              <a:t>o</a:t>
            </a:r>
            <a:r>
              <a:rPr lang="en-US" altLang="nl-BE" sz="2400" dirty="0">
                <a:latin typeface="Century Gothic" panose="020B0502020202020204" pitchFamily="34" charset="0"/>
              </a:rPr>
              <a:t>C e.g. Malawi Zebu, Brahman</a:t>
            </a:r>
          </a:p>
          <a:p>
            <a:pPr>
              <a:lnSpc>
                <a:spcPct val="100000"/>
              </a:lnSpc>
            </a:pPr>
            <a:endParaRPr lang="en-GB" sz="2400" dirty="0">
              <a:latin typeface="Century Gothic" pitchFamily="34" charset="0"/>
            </a:endParaRPr>
          </a:p>
        </p:txBody>
      </p:sp>
      <p:sp>
        <p:nvSpPr>
          <p:cNvPr id="6" name="Title 1"/>
          <p:cNvSpPr>
            <a:spLocks noGrp="1"/>
          </p:cNvSpPr>
          <p:nvPr>
            <p:ph type="title"/>
          </p:nvPr>
        </p:nvSpPr>
        <p:spPr>
          <a:xfrm>
            <a:off x="628650" y="350838"/>
            <a:ext cx="7886700" cy="1325563"/>
          </a:xfrm>
        </p:spPr>
        <p:txBody>
          <a:bodyPr>
            <a:normAutofit/>
          </a:bodyPr>
          <a:lstStyle/>
          <a:p>
            <a:r>
              <a:rPr lang="en-GB" b="1" dirty="0">
                <a:solidFill>
                  <a:srgbClr val="00B0F0"/>
                </a:solidFill>
              </a:rPr>
              <a:t>Beef Production and Management</a:t>
            </a:r>
          </a:p>
        </p:txBody>
      </p:sp>
    </p:spTree>
    <p:extLst>
      <p:ext uri="{BB962C8B-B14F-4D97-AF65-F5344CB8AC3E}">
        <p14:creationId xmlns:p14="http://schemas.microsoft.com/office/powerpoint/2010/main" val="3258045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82598"/>
            <a:ext cx="8283338" cy="1325563"/>
          </a:xfrm>
        </p:spPr>
        <p:txBody>
          <a:bodyPr>
            <a:normAutofit/>
          </a:bodyPr>
          <a:lstStyle/>
          <a:p>
            <a:r>
              <a:rPr lang="en-GB" sz="3200" b="1" dirty="0">
                <a:solidFill>
                  <a:srgbClr val="00B0F0"/>
                </a:solidFill>
                <a:latin typeface="Century Gothic" panose="020B0502020202020204" pitchFamily="34" charset="0"/>
              </a:rPr>
              <a:t>Notable Differences between </a:t>
            </a:r>
            <a:r>
              <a:rPr lang="en-GB" sz="3200" b="1" u="sng" dirty="0" err="1">
                <a:solidFill>
                  <a:srgbClr val="00B0F0"/>
                </a:solidFill>
                <a:latin typeface="Century Gothic" panose="020B0502020202020204" pitchFamily="34" charset="0"/>
              </a:rPr>
              <a:t>Bos</a:t>
            </a:r>
            <a:r>
              <a:rPr lang="en-GB" sz="3200" b="1" dirty="0">
                <a:solidFill>
                  <a:srgbClr val="00B0F0"/>
                </a:solidFill>
                <a:latin typeface="Century Gothic" panose="020B0502020202020204" pitchFamily="34" charset="0"/>
              </a:rPr>
              <a:t> </a:t>
            </a:r>
            <a:r>
              <a:rPr lang="en-GB" sz="3200" b="1" u="sng" dirty="0" err="1">
                <a:solidFill>
                  <a:srgbClr val="00B0F0"/>
                </a:solidFill>
                <a:latin typeface="Century Gothic" panose="020B0502020202020204" pitchFamily="34" charset="0"/>
              </a:rPr>
              <a:t>taurus</a:t>
            </a:r>
            <a:r>
              <a:rPr lang="en-GB" sz="3200" b="1" dirty="0">
                <a:solidFill>
                  <a:srgbClr val="00B0F0"/>
                </a:solidFill>
                <a:latin typeface="Century Gothic" panose="020B0502020202020204" pitchFamily="34" charset="0"/>
              </a:rPr>
              <a:t> and </a:t>
            </a:r>
            <a:r>
              <a:rPr lang="en-GB" sz="3200" b="1" u="sng" dirty="0" err="1">
                <a:solidFill>
                  <a:srgbClr val="00B0F0"/>
                </a:solidFill>
                <a:latin typeface="Century Gothic" panose="020B0502020202020204" pitchFamily="34" charset="0"/>
              </a:rPr>
              <a:t>Bos</a:t>
            </a:r>
            <a:r>
              <a:rPr lang="en-GB" sz="3200" b="1" dirty="0">
                <a:solidFill>
                  <a:srgbClr val="00B0F0"/>
                </a:solidFill>
                <a:latin typeface="Century Gothic" panose="020B0502020202020204" pitchFamily="34" charset="0"/>
              </a:rPr>
              <a:t> </a:t>
            </a:r>
            <a:r>
              <a:rPr lang="en-GB" sz="3200" b="1" u="sng" dirty="0" err="1">
                <a:solidFill>
                  <a:srgbClr val="00B0F0"/>
                </a:solidFill>
                <a:latin typeface="Century Gothic" panose="020B0502020202020204" pitchFamily="34" charset="0"/>
              </a:rPr>
              <a:t>indicus</a:t>
            </a:r>
            <a:endParaRPr lang="en-GB" sz="3200" b="1" u="sng" dirty="0">
              <a:solidFill>
                <a:srgbClr val="00B0F0"/>
              </a:solidFill>
            </a:endParaRPr>
          </a:p>
        </p:txBody>
      </p:sp>
      <p:graphicFrame>
        <p:nvGraphicFramePr>
          <p:cNvPr id="5" name="Tijdelijke aanduiding voor inhoud 4"/>
          <p:cNvGraphicFramePr>
            <a:graphicFrameLocks noGrp="1"/>
          </p:cNvGraphicFramePr>
          <p:nvPr>
            <p:ph idx="1"/>
            <p:extLst>
              <p:ext uri="{D42A27DB-BD31-4B8C-83A1-F6EECF244321}">
                <p14:modId xmlns:p14="http://schemas.microsoft.com/office/powerpoint/2010/main" val="2113108383"/>
              </p:ext>
            </p:extLst>
          </p:nvPr>
        </p:nvGraphicFramePr>
        <p:xfrm>
          <a:off x="628650" y="1620905"/>
          <a:ext cx="7886700" cy="4825542"/>
        </p:xfrm>
        <a:graphic>
          <a:graphicData uri="http://schemas.openxmlformats.org/drawingml/2006/table">
            <a:tbl>
              <a:tblPr firstRow="1" bandRow="1">
                <a:tableStyleId>{5C22544A-7EE6-4342-B048-85BDC9FD1C3A}</a:tableStyleId>
              </a:tblPr>
              <a:tblGrid>
                <a:gridCol w="3738634">
                  <a:extLst>
                    <a:ext uri="{9D8B030D-6E8A-4147-A177-3AD203B41FA5}">
                      <a16:colId xmlns:a16="http://schemas.microsoft.com/office/drawing/2014/main" val="20000"/>
                    </a:ext>
                  </a:extLst>
                </a:gridCol>
                <a:gridCol w="4148066">
                  <a:extLst>
                    <a:ext uri="{9D8B030D-6E8A-4147-A177-3AD203B41FA5}">
                      <a16:colId xmlns:a16="http://schemas.microsoft.com/office/drawing/2014/main" val="20001"/>
                    </a:ext>
                  </a:extLst>
                </a:gridCol>
              </a:tblGrid>
              <a:tr h="507771">
                <a:tc>
                  <a:txBody>
                    <a:bodyPr/>
                    <a:lstStyle/>
                    <a:p>
                      <a:r>
                        <a:rPr lang="en-GB" sz="2400" b="1" u="sng" dirty="0" err="1">
                          <a:solidFill>
                            <a:schemeClr val="tx1"/>
                          </a:solidFill>
                          <a:latin typeface="Century Gothic" panose="020B0502020202020204" pitchFamily="34" charset="0"/>
                        </a:rPr>
                        <a:t>Bos</a:t>
                      </a:r>
                      <a:r>
                        <a:rPr lang="en-GB" sz="2400" b="1" dirty="0">
                          <a:solidFill>
                            <a:schemeClr val="tx1"/>
                          </a:solidFill>
                          <a:latin typeface="Century Gothic" panose="020B0502020202020204" pitchFamily="34" charset="0"/>
                        </a:rPr>
                        <a:t> </a:t>
                      </a:r>
                      <a:r>
                        <a:rPr lang="en-GB" sz="2400" b="1" u="sng" dirty="0" err="1">
                          <a:solidFill>
                            <a:schemeClr val="tx1"/>
                          </a:solidFill>
                          <a:latin typeface="Century Gothic" panose="020B0502020202020204" pitchFamily="34" charset="0"/>
                        </a:rPr>
                        <a:t>taurus</a:t>
                      </a:r>
                      <a:r>
                        <a:rPr lang="en-GB" sz="2400" b="1" dirty="0">
                          <a:solidFill>
                            <a:schemeClr val="tx1"/>
                          </a:solidFill>
                          <a:latin typeface="Century Gothic" panose="020B0502020202020204" pitchFamily="34" charset="0"/>
                        </a:rPr>
                        <a:t> </a:t>
                      </a:r>
                      <a:endParaRPr lang="en-GB" sz="2400" b="0" dirty="0">
                        <a:solidFill>
                          <a:schemeClr val="tx1"/>
                        </a:solidFill>
                        <a:latin typeface="Century Gothic" panose="020B050202020202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GB" sz="2400" b="1" u="sng" dirty="0" err="1">
                          <a:solidFill>
                            <a:schemeClr val="tx1"/>
                          </a:solidFill>
                          <a:latin typeface="Century Gothic" panose="020B0502020202020204" pitchFamily="34" charset="0"/>
                        </a:rPr>
                        <a:t>Bos</a:t>
                      </a:r>
                      <a:r>
                        <a:rPr lang="en-GB" sz="2400" b="1" dirty="0">
                          <a:solidFill>
                            <a:schemeClr val="tx1"/>
                          </a:solidFill>
                          <a:latin typeface="Century Gothic" panose="020B0502020202020204" pitchFamily="34" charset="0"/>
                        </a:rPr>
                        <a:t> </a:t>
                      </a:r>
                      <a:r>
                        <a:rPr lang="en-GB" sz="2400" b="1" u="sng" dirty="0" err="1">
                          <a:solidFill>
                            <a:schemeClr val="tx1"/>
                          </a:solidFill>
                          <a:latin typeface="Century Gothic" panose="020B0502020202020204" pitchFamily="34" charset="0"/>
                        </a:rPr>
                        <a:t>indicus</a:t>
                      </a:r>
                      <a:endParaRPr lang="en-GB" sz="2400" dirty="0">
                        <a:solidFill>
                          <a:schemeClr val="tx1"/>
                        </a:solidFill>
                        <a:latin typeface="Century Gothic" panose="020B050202020202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0"/>
                  </a:ext>
                </a:extLst>
              </a:tr>
              <a:tr h="507771">
                <a:tc>
                  <a:txBody>
                    <a:bodyPr/>
                    <a:lstStyle/>
                    <a:p>
                      <a:r>
                        <a:rPr lang="en-GB" sz="2000" dirty="0">
                          <a:latin typeface="Century Gothic" panose="020B0502020202020204" pitchFamily="34" charset="0"/>
                        </a:rPr>
                        <a:t>No hump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Century Gothic" panose="020B0502020202020204" pitchFamily="34" charset="0"/>
                        </a:rPr>
                        <a:t>Hump present on the neck or chest</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7771">
                <a:tc>
                  <a:txBody>
                    <a:bodyPr/>
                    <a:lstStyle/>
                    <a:p>
                      <a:r>
                        <a:rPr lang="en-GB" sz="2000" dirty="0">
                          <a:latin typeface="Century Gothic" panose="020B0502020202020204" pitchFamily="34" charset="0"/>
                        </a:rPr>
                        <a:t>Skin relatively thick (7 – 8mm) and held</a:t>
                      </a:r>
                      <a:r>
                        <a:rPr lang="en-GB" sz="2000" baseline="0" dirty="0">
                          <a:latin typeface="Century Gothic" panose="020B0502020202020204" pitchFamily="34" charset="0"/>
                        </a:rPr>
                        <a:t> tightly to body</a:t>
                      </a:r>
                      <a:endParaRPr lang="en-GB" sz="2000" dirty="0">
                        <a:latin typeface="Century Gothic" panose="020B050202020202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Century Gothic" panose="020B0502020202020204" pitchFamily="34" charset="0"/>
                        </a:rPr>
                        <a:t>Skin relatively thin (5 – 6mm) and very loose often</a:t>
                      </a:r>
                      <a:r>
                        <a:rPr lang="en-GB" sz="2000" baseline="0" dirty="0">
                          <a:latin typeface="Century Gothic" panose="020B0502020202020204" pitchFamily="34" charset="0"/>
                        </a:rPr>
                        <a:t> falling away from body in folds.</a:t>
                      </a:r>
                      <a:endParaRPr lang="en-GB" sz="2000" dirty="0">
                        <a:latin typeface="Century Gothic" panose="020B050202020202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7771">
                <a:tc>
                  <a:txBody>
                    <a:bodyPr/>
                    <a:lstStyle/>
                    <a:p>
                      <a:r>
                        <a:rPr lang="en-GB" sz="2000" dirty="0">
                          <a:latin typeface="Century Gothic" panose="020B0502020202020204" pitchFamily="34" charset="0"/>
                        </a:rPr>
                        <a:t>Fast</a:t>
                      </a:r>
                      <a:r>
                        <a:rPr lang="en-GB" sz="2000" baseline="0" dirty="0">
                          <a:latin typeface="Century Gothic" panose="020B0502020202020204" pitchFamily="34" charset="0"/>
                        </a:rPr>
                        <a:t> maturing (Full mouth in 4 years)</a:t>
                      </a:r>
                      <a:endParaRPr lang="en-GB" sz="2000" dirty="0">
                        <a:latin typeface="Century Gothic" panose="020B050202020202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Century Gothic" panose="020B0502020202020204" pitchFamily="34" charset="0"/>
                        </a:rPr>
                        <a:t>Slow </a:t>
                      </a:r>
                      <a:r>
                        <a:rPr lang="en-GB" sz="2000" baseline="0" dirty="0">
                          <a:latin typeface="Century Gothic" panose="020B0502020202020204" pitchFamily="34" charset="0"/>
                        </a:rPr>
                        <a:t>maturing (Full mouth in 5½ years)</a:t>
                      </a:r>
                      <a:endParaRPr lang="en-GB" sz="2000" dirty="0">
                        <a:latin typeface="Century Gothic" panose="020B050202020202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7771">
                <a:tc>
                  <a:txBody>
                    <a:bodyPr/>
                    <a:lstStyle/>
                    <a:p>
                      <a:r>
                        <a:rPr lang="en-GB" sz="2000" dirty="0">
                          <a:latin typeface="Century Gothic" panose="020B0502020202020204" pitchFamily="34" charset="0"/>
                        </a:rPr>
                        <a:t>Hair relatively long</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Century Gothic" panose="020B0502020202020204" pitchFamily="34" charset="0"/>
                        </a:rPr>
                        <a:t>Hair relatively short</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07771">
                <a:tc>
                  <a:txBody>
                    <a:bodyPr/>
                    <a:lstStyle/>
                    <a:p>
                      <a:r>
                        <a:rPr lang="en-GB" sz="2000" dirty="0">
                          <a:latin typeface="Century Gothic" panose="020B0502020202020204" pitchFamily="34" charset="0"/>
                        </a:rPr>
                        <a:t>Rounded ear, held at right angles to the head</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Century Gothic" panose="020B0502020202020204" pitchFamily="34" charset="0"/>
                        </a:rPr>
                        <a:t>Pointed drooping ears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07771">
                <a:tc>
                  <a:txBody>
                    <a:bodyPr/>
                    <a:lstStyle/>
                    <a:p>
                      <a:r>
                        <a:rPr lang="en-GB" sz="2000" dirty="0">
                          <a:latin typeface="Century Gothic" panose="020B0502020202020204" pitchFamily="34" charset="0"/>
                        </a:rPr>
                        <a:t>Large and reach over 1300kg in size.</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Century Gothic" panose="020B0502020202020204" pitchFamily="34" charset="0"/>
                        </a:rPr>
                        <a:t>Small and rarely</a:t>
                      </a:r>
                      <a:r>
                        <a:rPr lang="en-GB" sz="2000" baseline="0" dirty="0">
                          <a:latin typeface="Century Gothic" panose="020B0502020202020204" pitchFamily="34" charset="0"/>
                        </a:rPr>
                        <a:t> reach 700kg</a:t>
                      </a:r>
                      <a:endParaRPr lang="en-GB" sz="2000" dirty="0">
                        <a:latin typeface="Century Gothic" panose="020B050202020202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59408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anose="020B0502020202020204" pitchFamily="34" charset="0"/>
              </a:rPr>
              <a:t>Advantages of Beef Animals</a:t>
            </a:r>
            <a:endParaRPr lang="en-GB" sz="3200" b="1" dirty="0">
              <a:solidFill>
                <a:srgbClr val="00B0F0"/>
              </a:solidFill>
            </a:endParaRPr>
          </a:p>
        </p:txBody>
      </p:sp>
      <p:sp>
        <p:nvSpPr>
          <p:cNvPr id="3" name="Content Placeholder 2"/>
          <p:cNvSpPr>
            <a:spLocks noGrp="1"/>
          </p:cNvSpPr>
          <p:nvPr>
            <p:ph idx="1"/>
          </p:nvPr>
        </p:nvSpPr>
        <p:spPr>
          <a:xfrm>
            <a:off x="568037" y="1576243"/>
            <a:ext cx="8146472" cy="4351338"/>
          </a:xfrm>
        </p:spPr>
        <p:txBody>
          <a:bodyPr>
            <a:noAutofit/>
          </a:bodyPr>
          <a:lstStyle/>
          <a:p>
            <a:pPr>
              <a:lnSpc>
                <a:spcPct val="100000"/>
              </a:lnSpc>
            </a:pPr>
            <a:r>
              <a:rPr lang="en-GB" sz="2400" noProof="1">
                <a:latin typeface="Century Gothic" panose="020B0502020202020204" pitchFamily="34" charset="0"/>
              </a:rPr>
              <a:t>Food ~ source of animal protein</a:t>
            </a:r>
          </a:p>
          <a:p>
            <a:pPr>
              <a:lnSpc>
                <a:spcPct val="100000"/>
              </a:lnSpc>
            </a:pPr>
            <a:r>
              <a:rPr lang="en-GB" sz="2400" noProof="1">
                <a:latin typeface="Century Gothic" panose="020B0502020202020204" pitchFamily="34" charset="0"/>
              </a:rPr>
              <a:t>Income ~ selling live animal, fresh meat</a:t>
            </a:r>
          </a:p>
          <a:p>
            <a:pPr>
              <a:lnSpc>
                <a:spcPct val="100000"/>
              </a:lnSpc>
            </a:pPr>
            <a:r>
              <a:rPr lang="en-GB" sz="2400" noProof="1">
                <a:latin typeface="Century Gothic" panose="020B0502020202020204" pitchFamily="34" charset="0"/>
              </a:rPr>
              <a:t>Source of employment</a:t>
            </a:r>
          </a:p>
          <a:p>
            <a:pPr>
              <a:lnSpc>
                <a:spcPct val="100000"/>
              </a:lnSpc>
            </a:pPr>
            <a:r>
              <a:rPr lang="en-GB" sz="2400" noProof="1">
                <a:latin typeface="Century Gothic" panose="020B0502020202020204" pitchFamily="34" charset="0"/>
              </a:rPr>
              <a:t>Fulfilling social and cultural needs and obligations.</a:t>
            </a:r>
          </a:p>
          <a:p>
            <a:pPr>
              <a:lnSpc>
                <a:spcPct val="100000"/>
              </a:lnSpc>
            </a:pPr>
            <a:r>
              <a:rPr lang="en-GB" sz="2400" noProof="1">
                <a:latin typeface="Century Gothic" panose="020B0502020202020204" pitchFamily="34" charset="0"/>
              </a:rPr>
              <a:t>Nutrient recycling </a:t>
            </a:r>
          </a:p>
          <a:p>
            <a:pPr>
              <a:lnSpc>
                <a:spcPct val="100000"/>
              </a:lnSpc>
            </a:pPr>
            <a:r>
              <a:rPr lang="en-GB" sz="2400" noProof="1">
                <a:latin typeface="Century Gothic" panose="020B0502020202020204" pitchFamily="34" charset="0"/>
              </a:rPr>
              <a:t>Drought power</a:t>
            </a:r>
          </a:p>
          <a:p>
            <a:pPr>
              <a:lnSpc>
                <a:spcPct val="100000"/>
              </a:lnSpc>
            </a:pPr>
            <a:r>
              <a:rPr lang="en-GB" sz="2400" noProof="1">
                <a:latin typeface="Century Gothic" panose="020B0502020202020204" pitchFamily="34" charset="0"/>
              </a:rPr>
              <a:t>Cattle depends on forages as their main feed hence no competition for food with human beings</a:t>
            </a:r>
          </a:p>
          <a:p>
            <a:pPr>
              <a:lnSpc>
                <a:spcPct val="100000"/>
              </a:lnSpc>
            </a:pPr>
            <a:endParaRPr lang="en-GB" sz="2400" noProof="1">
              <a:latin typeface="Century Gothic" panose="020B0502020202020204" pitchFamily="34" charset="0"/>
            </a:endParaRPr>
          </a:p>
        </p:txBody>
      </p:sp>
    </p:spTree>
    <p:extLst>
      <p:ext uri="{BB962C8B-B14F-4D97-AF65-F5344CB8AC3E}">
        <p14:creationId xmlns:p14="http://schemas.microsoft.com/office/powerpoint/2010/main" val="1558672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anose="020B0502020202020204" pitchFamily="34" charset="0"/>
              </a:rPr>
              <a:t>Constraints associated with Beef Production</a:t>
            </a:r>
            <a:endParaRPr lang="en-GB" sz="3200" b="1" dirty="0">
              <a:solidFill>
                <a:srgbClr val="00B0F0"/>
              </a:solidFill>
            </a:endParaRPr>
          </a:p>
        </p:txBody>
      </p:sp>
      <p:sp>
        <p:nvSpPr>
          <p:cNvPr id="3" name="Content Placeholder 2"/>
          <p:cNvSpPr>
            <a:spLocks noGrp="1"/>
          </p:cNvSpPr>
          <p:nvPr>
            <p:ph idx="1"/>
          </p:nvPr>
        </p:nvSpPr>
        <p:spPr>
          <a:xfrm>
            <a:off x="568037" y="1576243"/>
            <a:ext cx="8146472" cy="4351338"/>
          </a:xfrm>
        </p:spPr>
        <p:txBody>
          <a:bodyPr>
            <a:noAutofit/>
          </a:bodyPr>
          <a:lstStyle/>
          <a:p>
            <a:r>
              <a:rPr lang="en-GB" sz="2400" dirty="0">
                <a:latin typeface="Century Gothic" panose="020B0502020202020204" pitchFamily="34" charset="0"/>
              </a:rPr>
              <a:t>The genetic potential of indigenous livestock in need of improvement;</a:t>
            </a:r>
          </a:p>
          <a:p>
            <a:r>
              <a:rPr lang="en-GB" sz="2400" dirty="0">
                <a:latin typeface="Century Gothic" panose="020B0502020202020204" pitchFamily="34" charset="0"/>
              </a:rPr>
              <a:t>The widespread distribution of livestock diseases;</a:t>
            </a:r>
          </a:p>
          <a:p>
            <a:r>
              <a:rPr lang="en-GB" sz="2400" dirty="0">
                <a:latin typeface="Century Gothic" panose="020B0502020202020204" pitchFamily="34" charset="0"/>
              </a:rPr>
              <a:t>Slaughter of </a:t>
            </a:r>
            <a:r>
              <a:rPr lang="en-GB" sz="2400" dirty="0" err="1">
                <a:latin typeface="Century Gothic" panose="020B0502020202020204" pitchFamily="34" charset="0"/>
              </a:rPr>
              <a:t>breedable</a:t>
            </a:r>
            <a:r>
              <a:rPr lang="en-GB" sz="2400" dirty="0">
                <a:latin typeface="Century Gothic" panose="020B0502020202020204" pitchFamily="34" charset="0"/>
              </a:rPr>
              <a:t> stock (heifers, pregnant cows).</a:t>
            </a:r>
          </a:p>
          <a:p>
            <a:r>
              <a:rPr lang="en-GB" sz="2400" dirty="0">
                <a:latin typeface="Century Gothic" panose="020B0502020202020204" pitchFamily="34" charset="0"/>
              </a:rPr>
              <a:t>Poor marketing infrastructure and arrangements;</a:t>
            </a:r>
            <a:endParaRPr lang="en-US" sz="2400" dirty="0">
              <a:latin typeface="Century Gothic" panose="020B0502020202020204" pitchFamily="34" charset="0"/>
            </a:endParaRPr>
          </a:p>
          <a:p>
            <a:pPr>
              <a:lnSpc>
                <a:spcPct val="100000"/>
              </a:lnSpc>
            </a:pPr>
            <a:r>
              <a:rPr lang="en-GB" sz="2400" dirty="0">
                <a:latin typeface="Century Gothic" pitchFamily="34" charset="0"/>
              </a:rPr>
              <a:t>Animal theft;</a:t>
            </a:r>
          </a:p>
          <a:p>
            <a:pPr>
              <a:lnSpc>
                <a:spcPct val="100000"/>
              </a:lnSpc>
            </a:pPr>
            <a:r>
              <a:rPr lang="en-GB" sz="2400" dirty="0">
                <a:latin typeface="Century Gothic" pitchFamily="34" charset="0"/>
              </a:rPr>
              <a:t>Poor management e.g. inbreeding.</a:t>
            </a:r>
          </a:p>
          <a:p>
            <a:pPr>
              <a:lnSpc>
                <a:spcPct val="100000"/>
              </a:lnSpc>
            </a:pPr>
            <a:r>
              <a:rPr lang="en-US" altLang="nl-BE" sz="2400" dirty="0">
                <a:latin typeface="Century Gothic" panose="020B0502020202020204" pitchFamily="34" charset="0"/>
              </a:rPr>
              <a:t>Lack of good quality feed and grazing resources</a:t>
            </a:r>
            <a:endParaRPr lang="nl-BE" sz="2400" b="1" dirty="0">
              <a:latin typeface="Century Gothic" panose="020B0502020202020204" pitchFamily="34" charset="0"/>
            </a:endParaRPr>
          </a:p>
          <a:p>
            <a:pPr>
              <a:lnSpc>
                <a:spcPct val="100000"/>
              </a:lnSpc>
            </a:pPr>
            <a:endParaRPr lang="en-GB" sz="2400" dirty="0">
              <a:latin typeface="Century Gothic" panose="020B0502020202020204" pitchFamily="34" charset="0"/>
            </a:endParaRPr>
          </a:p>
        </p:txBody>
      </p:sp>
    </p:spTree>
    <p:extLst>
      <p:ext uri="{BB962C8B-B14F-4D97-AF65-F5344CB8AC3E}">
        <p14:creationId xmlns:p14="http://schemas.microsoft.com/office/powerpoint/2010/main" val="144978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anose="020B0502020202020204" pitchFamily="34" charset="0"/>
              </a:rPr>
              <a:t>Beef breeds in Malawi</a:t>
            </a:r>
            <a:endParaRPr lang="en-GB" sz="3200" b="1" dirty="0">
              <a:solidFill>
                <a:srgbClr val="00B0F0"/>
              </a:solidFill>
            </a:endParaRPr>
          </a:p>
        </p:txBody>
      </p:sp>
      <p:sp>
        <p:nvSpPr>
          <p:cNvPr id="3" name="Content Placeholder 2"/>
          <p:cNvSpPr>
            <a:spLocks noGrp="1"/>
          </p:cNvSpPr>
          <p:nvPr>
            <p:ph idx="1"/>
          </p:nvPr>
        </p:nvSpPr>
        <p:spPr>
          <a:xfrm>
            <a:off x="568037" y="2251881"/>
            <a:ext cx="4386100" cy="2893320"/>
          </a:xfrm>
        </p:spPr>
        <p:txBody>
          <a:bodyPr>
            <a:noAutofit/>
          </a:bodyPr>
          <a:lstStyle/>
          <a:p>
            <a:pPr algn="just"/>
            <a:r>
              <a:rPr lang="en-US" sz="2400" dirty="0">
                <a:latin typeface="Century Gothic" panose="020B0502020202020204" pitchFamily="34" charset="0"/>
              </a:rPr>
              <a:t>Found in Malawi; similar to </a:t>
            </a:r>
            <a:r>
              <a:rPr lang="en-US" sz="2400" dirty="0" err="1">
                <a:latin typeface="Century Gothic" panose="020B0502020202020204" pitchFamily="34" charset="0"/>
              </a:rPr>
              <a:t>Angoni</a:t>
            </a:r>
            <a:r>
              <a:rPr lang="en-US" sz="2400" dirty="0">
                <a:latin typeface="Century Gothic" panose="020B0502020202020204" pitchFamily="34" charset="0"/>
              </a:rPr>
              <a:t> and </a:t>
            </a:r>
            <a:r>
              <a:rPr lang="en-US" sz="2400" dirty="0" err="1">
                <a:latin typeface="Century Gothic" panose="020B0502020202020204" pitchFamily="34" charset="0"/>
              </a:rPr>
              <a:t>Angone</a:t>
            </a:r>
            <a:r>
              <a:rPr lang="en-US" sz="2400" dirty="0">
                <a:latin typeface="Century Gothic" panose="020B0502020202020204" pitchFamily="34" charset="0"/>
              </a:rPr>
              <a:t> cattle of Zambia and Mozambique respectively.</a:t>
            </a:r>
          </a:p>
          <a:p>
            <a:pPr>
              <a:tabLst>
                <a:tab pos="982663" algn="l"/>
              </a:tabLst>
            </a:pPr>
            <a:r>
              <a:rPr lang="en-US" sz="2400" dirty="0">
                <a:latin typeface="Century Gothic" panose="020B0502020202020204" pitchFamily="34" charset="0"/>
              </a:rPr>
              <a:t>Adapted to a wide range of conditions.</a:t>
            </a:r>
          </a:p>
        </p:txBody>
      </p:sp>
      <p:sp>
        <p:nvSpPr>
          <p:cNvPr id="4" name="Rechthoek 3"/>
          <p:cNvSpPr/>
          <p:nvPr/>
        </p:nvSpPr>
        <p:spPr>
          <a:xfrm>
            <a:off x="573206" y="1364773"/>
            <a:ext cx="5895833" cy="5973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a:lnSpc>
                <a:spcPct val="100000"/>
              </a:lnSpc>
              <a:buFont typeface="+mj-lt"/>
              <a:buAutoNum type="romanLcPeriod"/>
            </a:pPr>
            <a:r>
              <a:rPr lang="en-GB" sz="2400" b="1" dirty="0">
                <a:solidFill>
                  <a:schemeClr val="tx1"/>
                </a:solidFill>
                <a:latin typeface="Century Gothic" panose="020B0502020202020204" pitchFamily="34" charset="0"/>
              </a:rPr>
              <a:t>Malawi Zebu</a:t>
            </a:r>
          </a:p>
        </p:txBody>
      </p:sp>
      <p:sp>
        <p:nvSpPr>
          <p:cNvPr id="5" name="Rechthoek 4"/>
          <p:cNvSpPr/>
          <p:nvPr/>
        </p:nvSpPr>
        <p:spPr>
          <a:xfrm>
            <a:off x="532262" y="4926833"/>
            <a:ext cx="8161361" cy="8734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73050" indent="-273050">
              <a:buFont typeface="Arial" panose="020B0604020202020204" pitchFamily="34" charset="0"/>
              <a:buChar char="•"/>
              <a:tabLst>
                <a:tab pos="982663" algn="l"/>
              </a:tabLst>
            </a:pPr>
            <a:r>
              <a:rPr lang="en-GB" sz="2400" dirty="0">
                <a:solidFill>
                  <a:schemeClr val="tx1"/>
                </a:solidFill>
                <a:latin typeface="Century Gothic" panose="020B0502020202020204" pitchFamily="34" charset="0"/>
              </a:rPr>
              <a:t>Colour is variable; red, brown, black, red or black and white or brindle exist.</a:t>
            </a:r>
          </a:p>
          <a:p>
            <a:pPr marL="273050" indent="-273050">
              <a:buFont typeface="Arial" panose="020B0604020202020204" pitchFamily="34" charset="0"/>
              <a:buChar char="•"/>
              <a:tabLst>
                <a:tab pos="982663" algn="l"/>
              </a:tabLst>
            </a:pPr>
            <a:r>
              <a:rPr lang="en-US" sz="2400" dirty="0">
                <a:solidFill>
                  <a:schemeClr val="tx1"/>
                </a:solidFill>
                <a:latin typeface="Century Gothic" panose="020B0502020202020204" pitchFamily="34" charset="0"/>
              </a:rPr>
              <a:t>Mature bulls weigh 650kg and cows weight 480kg.</a:t>
            </a:r>
          </a:p>
          <a:p>
            <a:pPr marL="273050" indent="-273050">
              <a:buFont typeface="Arial" panose="020B0604020202020204" pitchFamily="34" charset="0"/>
              <a:buChar char="•"/>
              <a:tabLst>
                <a:tab pos="982663" algn="l"/>
              </a:tabLst>
            </a:pPr>
            <a:r>
              <a:rPr lang="en-US" sz="2400" dirty="0">
                <a:solidFill>
                  <a:schemeClr val="tx1"/>
                </a:solidFill>
                <a:latin typeface="Century Gothic" panose="020B0502020202020204" pitchFamily="34" charset="0"/>
              </a:rPr>
              <a:t>Horns are short and thick and lateral rather than upright; hump and dewlap well developed.</a:t>
            </a:r>
          </a:p>
        </p:txBody>
      </p:sp>
      <p:sp>
        <p:nvSpPr>
          <p:cNvPr id="7" name="Rounded Rectangle 6"/>
          <p:cNvSpPr/>
          <p:nvPr/>
        </p:nvSpPr>
        <p:spPr>
          <a:xfrm>
            <a:off x="4959258" y="1956109"/>
            <a:ext cx="3429001" cy="2494557"/>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bg1"/>
                </a:solidFill>
              </a:rPr>
              <a:t>``</a:t>
            </a:r>
          </a:p>
        </p:txBody>
      </p:sp>
    </p:spTree>
    <p:extLst>
      <p:ext uri="{BB962C8B-B14F-4D97-AF65-F5344CB8AC3E}">
        <p14:creationId xmlns:p14="http://schemas.microsoft.com/office/powerpoint/2010/main" val="3505055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anose="020B0502020202020204" pitchFamily="34" charset="0"/>
              </a:rPr>
              <a:t>Beef breeds in Malawi</a:t>
            </a:r>
            <a:endParaRPr lang="en-GB" sz="3200" b="1" dirty="0">
              <a:solidFill>
                <a:srgbClr val="00B0F0"/>
              </a:solidFill>
            </a:endParaRPr>
          </a:p>
        </p:txBody>
      </p:sp>
      <p:sp>
        <p:nvSpPr>
          <p:cNvPr id="3" name="Content Placeholder 2"/>
          <p:cNvSpPr>
            <a:spLocks noGrp="1"/>
          </p:cNvSpPr>
          <p:nvPr>
            <p:ph idx="1"/>
          </p:nvPr>
        </p:nvSpPr>
        <p:spPr>
          <a:xfrm>
            <a:off x="568037" y="2224583"/>
            <a:ext cx="4522578" cy="2311418"/>
          </a:xfrm>
        </p:spPr>
        <p:txBody>
          <a:bodyPr>
            <a:noAutofit/>
          </a:bodyPr>
          <a:lstStyle/>
          <a:p>
            <a:r>
              <a:rPr lang="en-US" sz="2400" dirty="0">
                <a:latin typeface="Century Gothic" panose="020B0502020202020204" pitchFamily="34" charset="0"/>
              </a:rPr>
              <a:t>Beef breed; originally from India but developed in America.</a:t>
            </a:r>
          </a:p>
          <a:p>
            <a:r>
              <a:rPr lang="en-US" sz="2400" dirty="0">
                <a:latin typeface="Century Gothic" panose="020B0502020202020204" pitchFamily="34" charset="0"/>
              </a:rPr>
              <a:t>Good mothering ability and excellent ability to forage on poor range.</a:t>
            </a:r>
          </a:p>
          <a:p>
            <a:pPr>
              <a:tabLst>
                <a:tab pos="982663" algn="l"/>
              </a:tabLst>
            </a:pPr>
            <a:endParaRPr lang="en-GB" sz="2400" dirty="0">
              <a:latin typeface="Century Gothic" panose="020B0502020202020204" pitchFamily="34" charset="0"/>
            </a:endParaRPr>
          </a:p>
        </p:txBody>
      </p:sp>
      <p:sp>
        <p:nvSpPr>
          <p:cNvPr id="4" name="Rechthoek 3"/>
          <p:cNvSpPr/>
          <p:nvPr/>
        </p:nvSpPr>
        <p:spPr>
          <a:xfrm>
            <a:off x="573206" y="1569493"/>
            <a:ext cx="5895833" cy="5973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a:lnSpc>
                <a:spcPct val="100000"/>
              </a:lnSpc>
              <a:buFont typeface="+mj-lt"/>
              <a:buAutoNum type="romanLcPeriod" startAt="2"/>
            </a:pPr>
            <a:r>
              <a:rPr lang="en-GB" sz="2400" b="1" dirty="0">
                <a:solidFill>
                  <a:schemeClr val="tx1"/>
                </a:solidFill>
                <a:latin typeface="Century Gothic" panose="020B0502020202020204" pitchFamily="34" charset="0"/>
              </a:rPr>
              <a:t>Brahman</a:t>
            </a:r>
          </a:p>
        </p:txBody>
      </p:sp>
      <p:sp>
        <p:nvSpPr>
          <p:cNvPr id="5" name="Rechthoek 4"/>
          <p:cNvSpPr/>
          <p:nvPr/>
        </p:nvSpPr>
        <p:spPr>
          <a:xfrm>
            <a:off x="545910" y="4490111"/>
            <a:ext cx="8161361" cy="14876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tabLst>
                <a:tab pos="982663" algn="l"/>
              </a:tabLst>
            </a:pPr>
            <a:r>
              <a:rPr lang="en-GB" sz="2400" noProof="1">
                <a:solidFill>
                  <a:schemeClr val="tx1"/>
                </a:solidFill>
                <a:latin typeface="Century Gothic" panose="020B0502020202020204" pitchFamily="34" charset="0"/>
              </a:rPr>
              <a:t>Colour</a:t>
            </a:r>
            <a:r>
              <a:rPr lang="en-US" sz="2400" dirty="0">
                <a:solidFill>
                  <a:schemeClr val="tx1"/>
                </a:solidFill>
                <a:latin typeface="Century Gothic" panose="020B0502020202020204" pitchFamily="34" charset="0"/>
              </a:rPr>
              <a:t> varies from light grey, red to almost black.</a:t>
            </a:r>
          </a:p>
          <a:p>
            <a:pPr marL="342900" indent="-342900">
              <a:buFont typeface="Arial" panose="020B0604020202020204" pitchFamily="34" charset="0"/>
              <a:buChar char="•"/>
              <a:tabLst>
                <a:tab pos="982663" algn="l"/>
              </a:tabLst>
            </a:pPr>
            <a:r>
              <a:rPr lang="en-US" sz="2400" dirty="0">
                <a:solidFill>
                  <a:schemeClr val="tx1"/>
                </a:solidFill>
                <a:latin typeface="Century Gothic" panose="020B0502020202020204" pitchFamily="34" charset="0"/>
              </a:rPr>
              <a:t>Mature bulls weigh 980kg and cows weight 680kg.</a:t>
            </a:r>
          </a:p>
          <a:p>
            <a:pPr marL="342900" indent="-342900">
              <a:buFont typeface="Arial" panose="020B0604020202020204" pitchFamily="34" charset="0"/>
              <a:buChar char="•"/>
              <a:tabLst>
                <a:tab pos="982663" algn="l"/>
              </a:tabLst>
            </a:pPr>
            <a:r>
              <a:rPr lang="en-US" sz="2400" dirty="0">
                <a:solidFill>
                  <a:schemeClr val="tx1"/>
                </a:solidFill>
                <a:latin typeface="Century Gothic" panose="020B0502020202020204" pitchFamily="34" charset="0"/>
              </a:rPr>
              <a:t>It has a large hump, pendulous ears, large dewlap and long legs.</a:t>
            </a:r>
            <a:endParaRPr lang="en-GB" sz="2400" dirty="0">
              <a:solidFill>
                <a:schemeClr val="tx1"/>
              </a:solidFill>
            </a:endParaRPr>
          </a:p>
        </p:txBody>
      </p:sp>
      <p:sp>
        <p:nvSpPr>
          <p:cNvPr id="8" name="Rounded Rectangle 13"/>
          <p:cNvSpPr/>
          <p:nvPr/>
        </p:nvSpPr>
        <p:spPr>
          <a:xfrm>
            <a:off x="5076968" y="1997048"/>
            <a:ext cx="3384644" cy="2383883"/>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42605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anose="020B0502020202020204" pitchFamily="34" charset="0"/>
              </a:rPr>
              <a:t>Beef breeds in Malawi</a:t>
            </a:r>
            <a:endParaRPr lang="en-GB" sz="3200" b="1" dirty="0">
              <a:solidFill>
                <a:srgbClr val="00B0F0"/>
              </a:solidFill>
            </a:endParaRPr>
          </a:p>
        </p:txBody>
      </p:sp>
      <p:sp>
        <p:nvSpPr>
          <p:cNvPr id="3" name="Content Placeholder 2"/>
          <p:cNvSpPr>
            <a:spLocks noGrp="1"/>
          </p:cNvSpPr>
          <p:nvPr>
            <p:ph idx="1"/>
          </p:nvPr>
        </p:nvSpPr>
        <p:spPr>
          <a:xfrm>
            <a:off x="568037" y="2224582"/>
            <a:ext cx="4386100" cy="3179931"/>
          </a:xfrm>
        </p:spPr>
        <p:txBody>
          <a:bodyPr>
            <a:noAutofit/>
          </a:bodyPr>
          <a:lstStyle/>
          <a:p>
            <a:r>
              <a:rPr lang="en-US" sz="2400" dirty="0">
                <a:latin typeface="Century Gothic" panose="020B0502020202020204" pitchFamily="34" charset="0"/>
              </a:rPr>
              <a:t>Beef breed originally from South Africa.</a:t>
            </a:r>
          </a:p>
          <a:p>
            <a:r>
              <a:rPr lang="en-US" sz="2400" dirty="0">
                <a:latin typeface="Century Gothic" panose="020B0502020202020204" pitchFamily="34" charset="0"/>
              </a:rPr>
              <a:t>Deep red or brown coat.</a:t>
            </a:r>
          </a:p>
          <a:p>
            <a:r>
              <a:rPr lang="en-US" sz="2400" dirty="0">
                <a:latin typeface="Century Gothic" panose="020B0502020202020204" pitchFamily="34" charset="0"/>
              </a:rPr>
              <a:t>Low birth weights therefore easier calving.</a:t>
            </a:r>
          </a:p>
          <a:p>
            <a:pPr>
              <a:tabLst>
                <a:tab pos="982663" algn="l"/>
              </a:tabLst>
            </a:pPr>
            <a:r>
              <a:rPr lang="en-GB" sz="2400" dirty="0">
                <a:latin typeface="Century Gothic" panose="020B0502020202020204" pitchFamily="34" charset="0"/>
              </a:rPr>
              <a:t>Good mothering ability.</a:t>
            </a:r>
          </a:p>
        </p:txBody>
      </p:sp>
      <p:sp>
        <p:nvSpPr>
          <p:cNvPr id="4" name="Rechthoek 3"/>
          <p:cNvSpPr/>
          <p:nvPr/>
        </p:nvSpPr>
        <p:spPr>
          <a:xfrm>
            <a:off x="573206" y="1569493"/>
            <a:ext cx="5895833" cy="5973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a:lnSpc>
                <a:spcPct val="100000"/>
              </a:lnSpc>
              <a:buFont typeface="+mj-lt"/>
              <a:buAutoNum type="romanLcPeriod" startAt="3"/>
            </a:pPr>
            <a:r>
              <a:rPr lang="en-GB" sz="2400" b="1" dirty="0" err="1">
                <a:solidFill>
                  <a:schemeClr val="tx1"/>
                </a:solidFill>
                <a:latin typeface="Century Gothic" panose="020B0502020202020204" pitchFamily="34" charset="0"/>
              </a:rPr>
              <a:t>Bonsmara</a:t>
            </a:r>
            <a:endParaRPr lang="en-GB" sz="2400" b="1" dirty="0">
              <a:solidFill>
                <a:schemeClr val="tx1"/>
              </a:solidFill>
              <a:latin typeface="Century Gothic" panose="020B0502020202020204" pitchFamily="34" charset="0"/>
            </a:endParaRPr>
          </a:p>
        </p:txBody>
      </p:sp>
      <p:sp>
        <p:nvSpPr>
          <p:cNvPr id="5" name="Rechthoek 4"/>
          <p:cNvSpPr/>
          <p:nvPr/>
        </p:nvSpPr>
        <p:spPr>
          <a:xfrm>
            <a:off x="559558" y="4667521"/>
            <a:ext cx="8161361" cy="8734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Font typeface="Arial" panose="020B0604020202020204" pitchFamily="34" charset="0"/>
              <a:buChar char="•"/>
              <a:tabLst>
                <a:tab pos="982663" algn="l"/>
              </a:tabLst>
            </a:pPr>
            <a:r>
              <a:rPr lang="en-US" sz="2400" dirty="0">
                <a:solidFill>
                  <a:schemeClr val="tx1"/>
                </a:solidFill>
                <a:latin typeface="Century Gothic" panose="020B0502020202020204" pitchFamily="34" charset="0"/>
              </a:rPr>
              <a:t>Mature bulls weigh 950kg and mature cows weight 618kg.</a:t>
            </a:r>
          </a:p>
        </p:txBody>
      </p:sp>
      <p:sp>
        <p:nvSpPr>
          <p:cNvPr id="7" name="Rounded Rectangle 11"/>
          <p:cNvSpPr/>
          <p:nvPr/>
        </p:nvSpPr>
        <p:spPr>
          <a:xfrm>
            <a:off x="5004000" y="1872000"/>
            <a:ext cx="3420000" cy="2520000"/>
          </a:xfrm>
          <a:prstGeom prst="roundRect">
            <a:avLst/>
          </a:prstGeom>
          <a:blipFill dpi="0" rotWithShape="1">
            <a:blip r:embed="rId3">
              <a:extLst>
                <a:ext uri="{28A0092B-C50C-407E-A947-70E740481C1C}">
                  <a14:useLocalDpi xmlns:a14="http://schemas.microsoft.com/office/drawing/2010/main" val="0"/>
                </a:ext>
              </a:extLst>
            </a:blip>
            <a:srcRect/>
            <a:stretch>
              <a:fillRect l="-2" t="-150" r="-2268" b="-4026"/>
            </a:stretch>
          </a:blip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lIns="360000" rtlCol="0" anchor="ctr"/>
          <a:lstStyle/>
          <a:p>
            <a:pPr algn="ctr"/>
            <a:endParaRPr lang="en-GB"/>
          </a:p>
        </p:txBody>
      </p:sp>
    </p:spTree>
    <p:extLst>
      <p:ext uri="{BB962C8B-B14F-4D97-AF65-F5344CB8AC3E}">
        <p14:creationId xmlns:p14="http://schemas.microsoft.com/office/powerpoint/2010/main" val="1091139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anose="020B0502020202020204" pitchFamily="34" charset="0"/>
              </a:rPr>
              <a:t>Beef breeds in Malawi</a:t>
            </a:r>
            <a:endParaRPr lang="en-GB" sz="3200" b="1" dirty="0">
              <a:solidFill>
                <a:srgbClr val="00B0F0"/>
              </a:solidFill>
            </a:endParaRPr>
          </a:p>
        </p:txBody>
      </p:sp>
      <p:sp>
        <p:nvSpPr>
          <p:cNvPr id="3" name="Content Placeholder 2"/>
          <p:cNvSpPr>
            <a:spLocks noGrp="1"/>
          </p:cNvSpPr>
          <p:nvPr>
            <p:ph idx="1"/>
          </p:nvPr>
        </p:nvSpPr>
        <p:spPr>
          <a:xfrm>
            <a:off x="568037" y="2224582"/>
            <a:ext cx="4386100" cy="2743203"/>
          </a:xfrm>
        </p:spPr>
        <p:txBody>
          <a:bodyPr>
            <a:noAutofit/>
          </a:bodyPr>
          <a:lstStyle/>
          <a:p>
            <a:r>
              <a:rPr lang="en-US" sz="2400" dirty="0">
                <a:latin typeface="Century Gothic" panose="020B0502020202020204" pitchFamily="34" charset="0"/>
              </a:rPr>
              <a:t>Beef breed originally from Ethiopia.</a:t>
            </a:r>
          </a:p>
          <a:p>
            <a:r>
              <a:rPr lang="en-US" sz="2400" dirty="0">
                <a:latin typeface="Century Gothic" panose="020B0502020202020204" pitchFamily="34" charset="0"/>
              </a:rPr>
              <a:t>Variable coat </a:t>
            </a:r>
            <a:r>
              <a:rPr lang="en-GB" sz="2400" noProof="1">
                <a:latin typeface="Century Gothic" panose="020B0502020202020204" pitchFamily="34" charset="0"/>
              </a:rPr>
              <a:t>colour</a:t>
            </a:r>
            <a:r>
              <a:rPr lang="en-US" sz="2400" dirty="0">
                <a:latin typeface="Century Gothic" panose="020B0502020202020204" pitchFamily="34" charset="0"/>
              </a:rPr>
              <a:t>; white, black red and fawn.</a:t>
            </a:r>
          </a:p>
          <a:p>
            <a:pPr>
              <a:tabLst>
                <a:tab pos="982663" algn="l"/>
              </a:tabLst>
            </a:pPr>
            <a:r>
              <a:rPr lang="en-GB" sz="2400" dirty="0">
                <a:latin typeface="Century Gothic" panose="020B0502020202020204" pitchFamily="34" charset="0"/>
              </a:rPr>
              <a:t>Hindquarters are well developed.</a:t>
            </a:r>
          </a:p>
        </p:txBody>
      </p:sp>
      <p:sp>
        <p:nvSpPr>
          <p:cNvPr id="4" name="Rechthoek 3"/>
          <p:cNvSpPr/>
          <p:nvPr/>
        </p:nvSpPr>
        <p:spPr>
          <a:xfrm>
            <a:off x="573206" y="1569493"/>
            <a:ext cx="5895833" cy="5973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a:lnSpc>
                <a:spcPct val="100000"/>
              </a:lnSpc>
              <a:buFont typeface="+mj-lt"/>
              <a:buAutoNum type="romanLcPeriod" startAt="4"/>
            </a:pPr>
            <a:r>
              <a:rPr lang="en-GB" sz="2400" b="1" dirty="0">
                <a:solidFill>
                  <a:schemeClr val="tx1"/>
                </a:solidFill>
                <a:latin typeface="Century Gothic" panose="020B0502020202020204" pitchFamily="34" charset="0"/>
              </a:rPr>
              <a:t>Boran</a:t>
            </a:r>
          </a:p>
        </p:txBody>
      </p:sp>
      <p:sp>
        <p:nvSpPr>
          <p:cNvPr id="5" name="Rechthoek 4"/>
          <p:cNvSpPr/>
          <p:nvPr/>
        </p:nvSpPr>
        <p:spPr>
          <a:xfrm>
            <a:off x="559558" y="5268033"/>
            <a:ext cx="8161361" cy="8734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73050" indent="-273050">
              <a:buFont typeface="Arial" panose="020B0604020202020204" pitchFamily="34" charset="0"/>
              <a:buChar char="•"/>
              <a:tabLst>
                <a:tab pos="982663" algn="l"/>
              </a:tabLst>
            </a:pPr>
            <a:r>
              <a:rPr lang="en-US" sz="2400" dirty="0">
                <a:solidFill>
                  <a:schemeClr val="tx1"/>
                </a:solidFill>
                <a:latin typeface="Century Gothic" panose="020B0502020202020204" pitchFamily="34" charset="0"/>
              </a:rPr>
              <a:t>Mature bulls weigh 600 – 800kg and mature cows weight 450 – 600kg.</a:t>
            </a:r>
          </a:p>
          <a:p>
            <a:pPr marL="273050" indent="-273050">
              <a:buFont typeface="Arial" panose="020B0604020202020204" pitchFamily="34" charset="0"/>
              <a:buChar char="•"/>
              <a:tabLst>
                <a:tab pos="982663" algn="l"/>
              </a:tabLst>
            </a:pPr>
            <a:r>
              <a:rPr lang="en-US" sz="2400" dirty="0">
                <a:solidFill>
                  <a:schemeClr val="tx1"/>
                </a:solidFill>
                <a:latin typeface="Century Gothic" panose="020B0502020202020204" pitchFamily="34" charset="0"/>
              </a:rPr>
              <a:t>It has a large hump, large dewlap and folds of skin around the neck.</a:t>
            </a:r>
            <a:endParaRPr lang="en-GB" sz="2400" dirty="0">
              <a:solidFill>
                <a:schemeClr val="tx1"/>
              </a:solidFill>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9206" y="2060812"/>
            <a:ext cx="3871880" cy="283873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28862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8582" y="1155832"/>
            <a:ext cx="8054099" cy="4351338"/>
          </a:xfrm>
        </p:spPr>
        <p:txBody>
          <a:bodyPr>
            <a:noAutofit/>
          </a:bodyPr>
          <a:lstStyle/>
          <a:p>
            <a:pPr marL="0" indent="0">
              <a:lnSpc>
                <a:spcPct val="150000"/>
              </a:lnSpc>
              <a:buNone/>
            </a:pPr>
            <a:r>
              <a:rPr lang="en-GB" b="1" dirty="0" err="1">
                <a:latin typeface="Century Gothic" panose="020B0502020202020204" pitchFamily="34" charset="0"/>
              </a:rPr>
              <a:t>i</a:t>
            </a:r>
            <a:r>
              <a:rPr lang="en-GB" b="1" dirty="0">
                <a:latin typeface="Century Gothic" panose="020B0502020202020204" pitchFamily="34" charset="0"/>
              </a:rPr>
              <a:t>. Extensive system</a:t>
            </a:r>
          </a:p>
          <a:p>
            <a:pPr marL="0" indent="0">
              <a:lnSpc>
                <a:spcPct val="150000"/>
              </a:lnSpc>
              <a:buNone/>
            </a:pPr>
            <a:endParaRPr lang="en-GB" sz="800" b="1" dirty="0">
              <a:solidFill>
                <a:srgbClr val="00B0F0"/>
              </a:solidFill>
              <a:latin typeface="Century Gothic" panose="020B0502020202020204" pitchFamily="34" charset="0"/>
            </a:endParaRPr>
          </a:p>
          <a:p>
            <a:r>
              <a:rPr lang="en-GB" sz="2400" dirty="0">
                <a:latin typeface="Century Gothic" pitchFamily="34" charset="0"/>
              </a:rPr>
              <a:t>Using a large expanse of land – low input and low output system.</a:t>
            </a:r>
          </a:p>
          <a:p>
            <a:r>
              <a:rPr lang="en-GB" sz="2400" dirty="0">
                <a:latin typeface="Century Gothic" pitchFamily="34" charset="0"/>
              </a:rPr>
              <a:t>Commonly practised by subsistence farmers whose goal is not profit maximisation.</a:t>
            </a:r>
          </a:p>
          <a:p>
            <a:r>
              <a:rPr lang="en-GB" sz="2400" dirty="0">
                <a:latin typeface="Century Gothic" pitchFamily="34" charset="0"/>
              </a:rPr>
              <a:t>Ranching is also regarded as an extensive type of system .</a:t>
            </a:r>
          </a:p>
        </p:txBody>
      </p:sp>
      <p:sp>
        <p:nvSpPr>
          <p:cNvPr id="2" name="Rechthoek 1"/>
          <p:cNvSpPr/>
          <p:nvPr/>
        </p:nvSpPr>
        <p:spPr>
          <a:xfrm>
            <a:off x="627797" y="286597"/>
            <a:ext cx="8243248" cy="9962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200" b="1" dirty="0">
                <a:solidFill>
                  <a:srgbClr val="00B0F0"/>
                </a:solidFill>
                <a:latin typeface="Century Gothic" panose="020B0502020202020204" pitchFamily="34" charset="0"/>
              </a:rPr>
              <a:t>Beef Production Systems in Malawi</a:t>
            </a:r>
          </a:p>
        </p:txBody>
      </p:sp>
    </p:spTree>
    <p:extLst>
      <p:ext uri="{BB962C8B-B14F-4D97-AF65-F5344CB8AC3E}">
        <p14:creationId xmlns:p14="http://schemas.microsoft.com/office/powerpoint/2010/main" val="2408053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8582" y="1224072"/>
            <a:ext cx="7890325" cy="4351338"/>
          </a:xfrm>
        </p:spPr>
        <p:txBody>
          <a:bodyPr>
            <a:noAutofit/>
          </a:bodyPr>
          <a:lstStyle/>
          <a:p>
            <a:pPr marL="0" indent="0">
              <a:lnSpc>
                <a:spcPct val="200000"/>
              </a:lnSpc>
              <a:buNone/>
            </a:pPr>
            <a:r>
              <a:rPr lang="en-GB" b="1" dirty="0">
                <a:latin typeface="Century Gothic" panose="020B0502020202020204" pitchFamily="34" charset="0"/>
              </a:rPr>
              <a:t>ii. Fattening schemes</a:t>
            </a:r>
          </a:p>
          <a:p>
            <a:pPr marL="514350" indent="-514350">
              <a:lnSpc>
                <a:spcPct val="200000"/>
              </a:lnSpc>
              <a:buFont typeface="+mj-lt"/>
              <a:buAutoNum type="alphaLcPeriod"/>
            </a:pPr>
            <a:r>
              <a:rPr lang="en-GB" b="1" dirty="0">
                <a:latin typeface="Century Gothic" panose="020B0502020202020204" pitchFamily="34" charset="0"/>
              </a:rPr>
              <a:t>Feedlot system</a:t>
            </a:r>
          </a:p>
          <a:p>
            <a:r>
              <a:rPr lang="en-US" altLang="nl-BE" sz="2400" dirty="0">
                <a:latin typeface="Century Gothic" panose="020B0502020202020204" pitchFamily="34" charset="0"/>
              </a:rPr>
              <a:t>Involves keeping a large number of animals</a:t>
            </a:r>
          </a:p>
          <a:p>
            <a:r>
              <a:rPr lang="en-US" altLang="nl-BE" sz="2400" dirty="0">
                <a:latin typeface="Century Gothic" panose="020B0502020202020204" pitchFamily="34" charset="0"/>
              </a:rPr>
              <a:t>Practice cut and carry feeding system</a:t>
            </a:r>
          </a:p>
          <a:p>
            <a:r>
              <a:rPr lang="en-US" altLang="nl-BE" sz="2400" dirty="0">
                <a:latin typeface="Century Gothic" panose="020B0502020202020204" pitchFamily="34" charset="0"/>
              </a:rPr>
              <a:t>By large scale farmers</a:t>
            </a:r>
          </a:p>
          <a:p>
            <a:r>
              <a:rPr lang="en-US" altLang="nl-BE" sz="2400" dirty="0">
                <a:latin typeface="Century Gothic" panose="020B0502020202020204" pitchFamily="34" charset="0"/>
              </a:rPr>
              <a:t>Requires high management levels</a:t>
            </a:r>
          </a:p>
          <a:p>
            <a:r>
              <a:rPr lang="en-US" altLang="nl-BE" sz="2400" dirty="0">
                <a:latin typeface="Century Gothic" panose="020B0502020202020204" pitchFamily="34" charset="0"/>
              </a:rPr>
              <a:t>Profit margin is reasonable</a:t>
            </a:r>
          </a:p>
          <a:p>
            <a:pPr lvl="1"/>
            <a:endParaRPr lang="en-US" altLang="nl-BE" dirty="0">
              <a:latin typeface="Century Gothic" panose="020B0502020202020204" pitchFamily="34" charset="0"/>
            </a:endParaRPr>
          </a:p>
        </p:txBody>
      </p:sp>
      <p:sp>
        <p:nvSpPr>
          <p:cNvPr id="2" name="Rechthoek 1"/>
          <p:cNvSpPr/>
          <p:nvPr/>
        </p:nvSpPr>
        <p:spPr>
          <a:xfrm>
            <a:off x="627797" y="286597"/>
            <a:ext cx="8243248" cy="9962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200" b="1" dirty="0">
                <a:solidFill>
                  <a:srgbClr val="00B0F0"/>
                </a:solidFill>
                <a:latin typeface="Century Gothic" panose="020B0502020202020204" pitchFamily="34" charset="0"/>
              </a:rPr>
              <a:t>Beef Production Systems in Malawi</a:t>
            </a:r>
          </a:p>
        </p:txBody>
      </p:sp>
    </p:spTree>
    <p:extLst>
      <p:ext uri="{BB962C8B-B14F-4D97-AF65-F5344CB8AC3E}">
        <p14:creationId xmlns:p14="http://schemas.microsoft.com/office/powerpoint/2010/main" val="2121423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8582" y="1528548"/>
            <a:ext cx="7890325" cy="3978621"/>
          </a:xfrm>
        </p:spPr>
        <p:txBody>
          <a:bodyPr>
            <a:noAutofit/>
          </a:bodyPr>
          <a:lstStyle/>
          <a:p>
            <a:pPr marL="514350" indent="-514350">
              <a:lnSpc>
                <a:spcPct val="150000"/>
              </a:lnSpc>
              <a:buFont typeface="+mj-lt"/>
              <a:buAutoNum type="alphaLcPeriod" startAt="2"/>
            </a:pPr>
            <a:r>
              <a:rPr lang="en-GB" b="1" dirty="0">
                <a:latin typeface="Century Gothic" panose="020B0502020202020204" pitchFamily="34" charset="0"/>
              </a:rPr>
              <a:t>Stall feeding system</a:t>
            </a:r>
          </a:p>
          <a:p>
            <a:pPr>
              <a:tabLst>
                <a:tab pos="273050" algn="l"/>
                <a:tab pos="900113" algn="l"/>
              </a:tabLst>
            </a:pPr>
            <a:r>
              <a:rPr lang="en-US" altLang="nl-BE" sz="2400" dirty="0">
                <a:latin typeface="Century Gothic" panose="020B0502020202020204" pitchFamily="34" charset="0"/>
              </a:rPr>
              <a:t>Animals kept in stall and fattened prior to slaughter.</a:t>
            </a:r>
          </a:p>
          <a:p>
            <a:pPr>
              <a:tabLst>
                <a:tab pos="273050" algn="l"/>
                <a:tab pos="900113" algn="l"/>
              </a:tabLst>
            </a:pPr>
            <a:r>
              <a:rPr lang="en-US" altLang="nl-BE" sz="2400" dirty="0">
                <a:latin typeface="Century Gothic" panose="020B0502020202020204" pitchFamily="34" charset="0"/>
              </a:rPr>
              <a:t>Deals with a small number of animals</a:t>
            </a:r>
          </a:p>
          <a:p>
            <a:pPr>
              <a:tabLst>
                <a:tab pos="273050" algn="l"/>
                <a:tab pos="900113" algn="l"/>
              </a:tabLst>
            </a:pPr>
            <a:r>
              <a:rPr lang="en-US" altLang="nl-BE" sz="2400" dirty="0">
                <a:latin typeface="Century Gothic" panose="020B0502020202020204" pitchFamily="34" charset="0"/>
              </a:rPr>
              <a:t>Involves cut and carry system</a:t>
            </a:r>
          </a:p>
          <a:p>
            <a:pPr>
              <a:tabLst>
                <a:tab pos="273050" algn="l"/>
                <a:tab pos="900113" algn="l"/>
              </a:tabLst>
            </a:pPr>
            <a:r>
              <a:rPr lang="en-US" altLang="nl-BE" sz="2400" dirty="0">
                <a:latin typeface="Century Gothic" panose="020B0502020202020204" pitchFamily="34" charset="0"/>
              </a:rPr>
              <a:t>Movement is highly restricted</a:t>
            </a:r>
          </a:p>
          <a:p>
            <a:pPr>
              <a:tabLst>
                <a:tab pos="273050" algn="l"/>
                <a:tab pos="900113" algn="l"/>
              </a:tabLst>
            </a:pPr>
            <a:r>
              <a:rPr lang="en-US" altLang="nl-BE" sz="2400" dirty="0">
                <a:latin typeface="Century Gothic" panose="020B0502020202020204" pitchFamily="34" charset="0"/>
              </a:rPr>
              <a:t>Mostly practiced by smallholder crop farmers</a:t>
            </a:r>
          </a:p>
          <a:p>
            <a:pPr>
              <a:lnSpc>
                <a:spcPct val="100000"/>
              </a:lnSpc>
              <a:tabLst>
                <a:tab pos="273050" algn="l"/>
                <a:tab pos="900113" algn="l"/>
              </a:tabLst>
            </a:pPr>
            <a:endParaRPr lang="en-GB" altLang="en-US" sz="2400" dirty="0">
              <a:latin typeface="Century Gothic" pitchFamily="34" charset="0"/>
            </a:endParaRPr>
          </a:p>
          <a:p>
            <a:pPr marL="514350" indent="-514350">
              <a:buFont typeface="+mj-lt"/>
              <a:buAutoNum type="alphaLcPeriod" startAt="3"/>
            </a:pPr>
            <a:r>
              <a:rPr lang="en-US" altLang="nl-BE" b="1" dirty="0">
                <a:latin typeface="Century Gothic" panose="020B0502020202020204" pitchFamily="34" charset="0"/>
              </a:rPr>
              <a:t>Off-Grass scheme</a:t>
            </a:r>
          </a:p>
          <a:p>
            <a:r>
              <a:rPr lang="en-US" altLang="nl-BE" sz="2400" dirty="0">
                <a:latin typeface="Century Gothic" panose="020B0502020202020204" pitchFamily="34" charset="0"/>
              </a:rPr>
              <a:t>Animals are on improved pasture in paddocks</a:t>
            </a:r>
          </a:p>
          <a:p>
            <a:pPr>
              <a:lnSpc>
                <a:spcPct val="100000"/>
              </a:lnSpc>
            </a:pPr>
            <a:endParaRPr lang="en-GB" altLang="en-US" sz="2400" dirty="0">
              <a:latin typeface="Century Gothic" pitchFamily="34" charset="0"/>
            </a:endParaRPr>
          </a:p>
          <a:p>
            <a:pPr>
              <a:lnSpc>
                <a:spcPct val="100000"/>
              </a:lnSpc>
            </a:pPr>
            <a:endParaRPr lang="en-GB" sz="2200" dirty="0">
              <a:latin typeface="Century Gothic" panose="020B0502020202020204" pitchFamily="34" charset="0"/>
            </a:endParaRPr>
          </a:p>
        </p:txBody>
      </p:sp>
      <p:sp>
        <p:nvSpPr>
          <p:cNvPr id="2" name="Rechthoek 1"/>
          <p:cNvSpPr/>
          <p:nvPr/>
        </p:nvSpPr>
        <p:spPr>
          <a:xfrm>
            <a:off x="627797" y="286597"/>
            <a:ext cx="8243248" cy="9962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200" b="1" dirty="0">
                <a:solidFill>
                  <a:srgbClr val="00B0F0"/>
                </a:solidFill>
                <a:latin typeface="Century Gothic" panose="020B0502020202020204" pitchFamily="34" charset="0"/>
              </a:rPr>
              <a:t>Beef Production Systems in Malawi</a:t>
            </a:r>
          </a:p>
        </p:txBody>
      </p:sp>
    </p:spTree>
    <p:extLst>
      <p:ext uri="{BB962C8B-B14F-4D97-AF65-F5344CB8AC3E}">
        <p14:creationId xmlns:p14="http://schemas.microsoft.com/office/powerpoint/2010/main" val="1188056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8582" y="1119116"/>
            <a:ext cx="7890325" cy="4388053"/>
          </a:xfrm>
        </p:spPr>
        <p:txBody>
          <a:bodyPr>
            <a:noAutofit/>
          </a:bodyPr>
          <a:lstStyle/>
          <a:p>
            <a:pPr>
              <a:lnSpc>
                <a:spcPct val="150000"/>
              </a:lnSpc>
            </a:pPr>
            <a:r>
              <a:rPr lang="en-GB" sz="2400" dirty="0">
                <a:latin typeface="Century Gothic" panose="020B0502020202020204" pitchFamily="34" charset="0"/>
              </a:rPr>
              <a:t>Systems can be:</a:t>
            </a:r>
          </a:p>
          <a:p>
            <a:pPr marL="571500" indent="-571500">
              <a:lnSpc>
                <a:spcPct val="150000"/>
              </a:lnSpc>
              <a:buFont typeface="+mj-lt"/>
              <a:buAutoNum type="romanLcPeriod"/>
            </a:pPr>
            <a:r>
              <a:rPr lang="en-GB" b="1" dirty="0">
                <a:latin typeface="Century Gothic" panose="020B0502020202020204" pitchFamily="34" charset="0"/>
              </a:rPr>
              <a:t>Complete system</a:t>
            </a:r>
          </a:p>
          <a:p>
            <a:pPr>
              <a:tabLst>
                <a:tab pos="273050" algn="l"/>
                <a:tab pos="900113" algn="l"/>
              </a:tabLst>
            </a:pPr>
            <a:r>
              <a:rPr lang="en-US" altLang="nl-BE" sz="2400" dirty="0">
                <a:latin typeface="Century Gothic" panose="020B0502020202020204" pitchFamily="34" charset="0"/>
              </a:rPr>
              <a:t>The animals are reared, bred and finished at the same place.</a:t>
            </a:r>
          </a:p>
          <a:p>
            <a:pPr>
              <a:lnSpc>
                <a:spcPct val="100000"/>
              </a:lnSpc>
              <a:tabLst>
                <a:tab pos="273050" algn="l"/>
                <a:tab pos="900113" algn="l"/>
              </a:tabLst>
            </a:pPr>
            <a:endParaRPr lang="en-GB" altLang="en-US" sz="2400" dirty="0">
              <a:latin typeface="Century Gothic" pitchFamily="34" charset="0"/>
            </a:endParaRPr>
          </a:p>
          <a:p>
            <a:pPr marL="571500" indent="-571500">
              <a:buFont typeface="+mj-lt"/>
              <a:buAutoNum type="romanLcPeriod" startAt="2"/>
            </a:pPr>
            <a:r>
              <a:rPr lang="en-US" altLang="nl-BE" b="1" dirty="0">
                <a:latin typeface="Century Gothic" panose="020B0502020202020204" pitchFamily="34" charset="0"/>
              </a:rPr>
              <a:t>Split scheme</a:t>
            </a:r>
          </a:p>
          <a:p>
            <a:r>
              <a:rPr lang="en-US" altLang="nl-BE" sz="2400" dirty="0">
                <a:latin typeface="Century Gothic" panose="020B0502020202020204" pitchFamily="34" charset="0"/>
              </a:rPr>
              <a:t>It has breeding and rearing done at one place and finishing at a different place.</a:t>
            </a:r>
          </a:p>
          <a:p>
            <a:r>
              <a:rPr lang="en-US" altLang="nl-BE" sz="2400" dirty="0">
                <a:latin typeface="Century Gothic" panose="020B0502020202020204" pitchFamily="34" charset="0"/>
              </a:rPr>
              <a:t>It allows a certain degree of </a:t>
            </a:r>
            <a:r>
              <a:rPr lang="en-US" altLang="nl-BE" sz="2400" dirty="0" err="1">
                <a:latin typeface="Century Gothic" panose="020B0502020202020204" pitchFamily="34" charset="0"/>
              </a:rPr>
              <a:t>specialisation</a:t>
            </a:r>
            <a:r>
              <a:rPr lang="en-US" altLang="nl-BE" sz="2400" dirty="0">
                <a:latin typeface="Century Gothic" panose="020B0502020202020204" pitchFamily="34" charset="0"/>
              </a:rPr>
              <a:t>.</a:t>
            </a:r>
          </a:p>
          <a:p>
            <a:pPr>
              <a:lnSpc>
                <a:spcPct val="100000"/>
              </a:lnSpc>
            </a:pPr>
            <a:endParaRPr lang="en-GB" altLang="en-US" sz="2400" dirty="0">
              <a:latin typeface="Century Gothic" pitchFamily="34" charset="0"/>
            </a:endParaRPr>
          </a:p>
          <a:p>
            <a:pPr>
              <a:lnSpc>
                <a:spcPct val="100000"/>
              </a:lnSpc>
            </a:pPr>
            <a:endParaRPr lang="en-GB" sz="2200" dirty="0">
              <a:latin typeface="Century Gothic" panose="020B0502020202020204" pitchFamily="34" charset="0"/>
            </a:endParaRPr>
          </a:p>
        </p:txBody>
      </p:sp>
    </p:spTree>
    <p:extLst>
      <p:ext uri="{BB962C8B-B14F-4D97-AF65-F5344CB8AC3E}">
        <p14:creationId xmlns:p14="http://schemas.microsoft.com/office/powerpoint/2010/main" val="1476800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19367"/>
            <a:ext cx="7886700" cy="4771244"/>
          </a:xfrm>
        </p:spPr>
        <p:txBody>
          <a:bodyPr>
            <a:normAutofit/>
          </a:bodyPr>
          <a:lstStyle/>
          <a:p>
            <a:r>
              <a:rPr lang="en-GB" sz="2400" dirty="0">
                <a:latin typeface="Century Gothic" panose="020B0502020202020204" pitchFamily="34" charset="0"/>
              </a:rPr>
              <a:t>The gestation period of a cow is between 280 – 290 days depending on breed. </a:t>
            </a:r>
          </a:p>
          <a:p>
            <a:r>
              <a:rPr lang="en-US" sz="2400" dirty="0" err="1">
                <a:latin typeface="Century Gothic" panose="020B0502020202020204" pitchFamily="34" charset="0"/>
              </a:rPr>
              <a:t>Oestrous</a:t>
            </a:r>
            <a:r>
              <a:rPr lang="en-US" sz="2400" dirty="0">
                <a:latin typeface="Century Gothic" panose="020B0502020202020204" pitchFamily="34" charset="0"/>
              </a:rPr>
              <a:t> </a:t>
            </a:r>
            <a:r>
              <a:rPr lang="en-US" sz="2400" dirty="0" err="1">
                <a:latin typeface="Century Gothic" panose="020B0502020202020204" pitchFamily="34" charset="0"/>
              </a:rPr>
              <a:t>behaviour</a:t>
            </a:r>
            <a:r>
              <a:rPr lang="en-US" sz="2400" dirty="0">
                <a:latin typeface="Century Gothic" panose="020B0502020202020204" pitchFamily="34" charset="0"/>
              </a:rPr>
              <a:t> lasts for approximately 14 hours immediately prior to ovulation in each 21-day cycle, and is longer in cows than heifers.</a:t>
            </a:r>
            <a:endParaRPr lang="en-GB" sz="2400" dirty="0">
              <a:latin typeface="Century Gothic" panose="020B0502020202020204" pitchFamily="34" charset="0"/>
            </a:endParaRPr>
          </a:p>
          <a:p>
            <a:r>
              <a:rPr lang="en-GB" sz="2400" dirty="0">
                <a:latin typeface="Century Gothic" panose="020B0502020202020204" pitchFamily="34" charset="0"/>
              </a:rPr>
              <a:t>Cows can therefore be mated to calve at yearly intervals. Cows in poor condition and further stressed by lactation may stop cycling – lactation anoestrus.</a:t>
            </a:r>
          </a:p>
          <a:p>
            <a:r>
              <a:rPr lang="en-GB" sz="2400" dirty="0">
                <a:latin typeface="Century Gothic" panose="020B0502020202020204" pitchFamily="34" charset="0"/>
              </a:rPr>
              <a:t>Cows </a:t>
            </a:r>
            <a:r>
              <a:rPr lang="en-US" sz="2400" dirty="0">
                <a:latin typeface="Century Gothic" panose="020B0502020202020204" pitchFamily="34" charset="0"/>
              </a:rPr>
              <a:t>should not be served before 42 days postpartum, as conception rates are likely to be less than 40%, whereas they increase to 50% by 50 days postpartum.</a:t>
            </a:r>
            <a:endParaRPr lang="en-GB" sz="2400" dirty="0">
              <a:latin typeface="Century Gothic" panose="020B0502020202020204" pitchFamily="34" charset="0"/>
            </a:endParaRP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Reproduction</a:t>
            </a:r>
          </a:p>
        </p:txBody>
      </p:sp>
    </p:spTree>
    <p:extLst>
      <p:ext uri="{BB962C8B-B14F-4D97-AF65-F5344CB8AC3E}">
        <p14:creationId xmlns:p14="http://schemas.microsoft.com/office/powerpoint/2010/main" val="2150137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555847"/>
            <a:ext cx="8064974" cy="5131556"/>
          </a:xfrm>
        </p:spPr>
        <p:txBody>
          <a:bodyPr>
            <a:normAutofit lnSpcReduction="10000"/>
          </a:bodyPr>
          <a:lstStyle/>
          <a:p>
            <a:r>
              <a:rPr lang="en-GB" sz="2400" dirty="0">
                <a:latin typeface="Century Gothic" panose="020B0502020202020204" pitchFamily="34" charset="0"/>
              </a:rPr>
              <a:t>Heifers should be served for the first time when they are about 2½ years old. </a:t>
            </a:r>
          </a:p>
          <a:p>
            <a:r>
              <a:rPr lang="en-GB" sz="2400" dirty="0">
                <a:latin typeface="Century Gothic" panose="020B0502020202020204" pitchFamily="34" charset="0"/>
              </a:rPr>
              <a:t>The best indicator is live weights. However, this will vary from breed to breed but the rule is to serve heifers when they are at two-thirds of the expected adult weight.</a:t>
            </a:r>
          </a:p>
          <a:p>
            <a:r>
              <a:rPr lang="en-GB" sz="2400" dirty="0">
                <a:latin typeface="Century Gothic" panose="020B0502020202020204" pitchFamily="34" charset="0"/>
              </a:rPr>
              <a:t>The ratio of bulls to cows is 1 to 25 – 30.</a:t>
            </a:r>
          </a:p>
          <a:p>
            <a:r>
              <a:rPr lang="en-GB" sz="2400" dirty="0">
                <a:latin typeface="Century Gothic" panose="020B0502020202020204" pitchFamily="34" charset="0"/>
              </a:rPr>
              <a:t>The ratio declines where animals travel long distances.</a:t>
            </a:r>
          </a:p>
          <a:p>
            <a:r>
              <a:rPr lang="en-GB" sz="2400" dirty="0">
                <a:latin typeface="Century Gothic" panose="020B0502020202020204" pitchFamily="34" charset="0"/>
              </a:rPr>
              <a:t>In Malawi, the appropriate time to breed animals is between December and March. This enables animals to mate when they have access to good quality fodder hence high conception rates. Calves are also weaned when there is adequate fodder around. </a:t>
            </a: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Reproduction</a:t>
            </a:r>
          </a:p>
        </p:txBody>
      </p:sp>
    </p:spTree>
    <p:extLst>
      <p:ext uri="{BB962C8B-B14F-4D97-AF65-F5344CB8AC3E}">
        <p14:creationId xmlns:p14="http://schemas.microsoft.com/office/powerpoint/2010/main" val="1712070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05719"/>
            <a:ext cx="8064974" cy="4771244"/>
          </a:xfrm>
        </p:spPr>
        <p:txBody>
          <a:bodyPr>
            <a:normAutofit fontScale="92500" lnSpcReduction="10000"/>
          </a:bodyPr>
          <a:lstStyle/>
          <a:p>
            <a:pPr marL="0" indent="0">
              <a:buNone/>
            </a:pPr>
            <a:r>
              <a:rPr lang="en-GB" sz="2600" b="1" dirty="0">
                <a:latin typeface="Century Gothic" panose="020B0502020202020204" pitchFamily="34" charset="0"/>
              </a:rPr>
              <a:t>Selection of Breeding Cows</a:t>
            </a:r>
          </a:p>
          <a:p>
            <a:endParaRPr lang="en-GB" sz="800" dirty="0">
              <a:latin typeface="Century Gothic" panose="020B0502020202020204" pitchFamily="34" charset="0"/>
            </a:endParaRPr>
          </a:p>
          <a:p>
            <a:r>
              <a:rPr lang="en-GB" sz="2600" dirty="0">
                <a:latin typeface="Century Gothic" panose="020B0502020202020204" pitchFamily="34" charset="0"/>
              </a:rPr>
              <a:t>Selecting the most suitable breeding stock will improve the herd and performance.</a:t>
            </a:r>
          </a:p>
          <a:p>
            <a:r>
              <a:rPr lang="en-GB" sz="2600" dirty="0">
                <a:latin typeface="Century Gothic" panose="020B0502020202020204" pitchFamily="34" charset="0"/>
              </a:rPr>
              <a:t>The following guiding principles should be followed:</a:t>
            </a:r>
          </a:p>
          <a:p>
            <a:pPr lvl="1">
              <a:buFont typeface="Wingdings" panose="05000000000000000000" pitchFamily="2" charset="2"/>
              <a:buChar char="ü"/>
            </a:pPr>
            <a:r>
              <a:rPr lang="en-GB" sz="2600" dirty="0">
                <a:latin typeface="Century Gothic" panose="020B0502020202020204" pitchFamily="34" charset="0"/>
              </a:rPr>
              <a:t>Should have a well developed udder with four functional well developed teats; soft to touch and free from injury.</a:t>
            </a:r>
          </a:p>
          <a:p>
            <a:pPr lvl="1">
              <a:buFont typeface="Wingdings" panose="05000000000000000000" pitchFamily="2" charset="2"/>
              <a:buChar char="ü"/>
            </a:pPr>
            <a:r>
              <a:rPr lang="en-GB" sz="2600" dirty="0">
                <a:latin typeface="Century Gothic" panose="020B0502020202020204" pitchFamily="34" charset="0"/>
              </a:rPr>
              <a:t>Good conformation (blocky and wide hip bones for ease calving).</a:t>
            </a:r>
          </a:p>
          <a:p>
            <a:pPr lvl="1">
              <a:buFont typeface="Wingdings" panose="05000000000000000000" pitchFamily="2" charset="2"/>
              <a:buChar char="ü"/>
            </a:pPr>
            <a:r>
              <a:rPr lang="en-GB" sz="2600" dirty="0">
                <a:latin typeface="Century Gothic" panose="020B0502020202020204" pitchFamily="34" charset="0"/>
              </a:rPr>
              <a:t>Selected from a cow known from records to calve regularly.</a:t>
            </a:r>
          </a:p>
          <a:p>
            <a:pPr lvl="1">
              <a:buFont typeface="Wingdings" panose="05000000000000000000" pitchFamily="2" charset="2"/>
              <a:buChar char="ü"/>
            </a:pPr>
            <a:r>
              <a:rPr lang="en-GB" sz="2600" dirty="0">
                <a:latin typeface="Century Gothic" panose="020B0502020202020204" pitchFamily="34" charset="0"/>
              </a:rPr>
              <a:t>Should have high growth rates.</a:t>
            </a:r>
          </a:p>
          <a:p>
            <a:pPr lvl="1">
              <a:buFont typeface="Wingdings" panose="05000000000000000000" pitchFamily="2" charset="2"/>
              <a:buChar char="ü"/>
            </a:pPr>
            <a:r>
              <a:rPr lang="en-GB" sz="2600" dirty="0">
                <a:latin typeface="Century Gothic" panose="020B0502020202020204" pitchFamily="34" charset="0"/>
              </a:rPr>
              <a:t>Healthy and free from any deformities</a:t>
            </a:r>
            <a:r>
              <a:rPr lang="en-GB" dirty="0">
                <a:latin typeface="Century Gothic" panose="020B0502020202020204" pitchFamily="34" charset="0"/>
              </a:rPr>
              <a:t>.</a:t>
            </a: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Managing the Cow Herd</a:t>
            </a:r>
          </a:p>
        </p:txBody>
      </p:sp>
    </p:spTree>
    <p:extLst>
      <p:ext uri="{BB962C8B-B14F-4D97-AF65-F5344CB8AC3E}">
        <p14:creationId xmlns:p14="http://schemas.microsoft.com/office/powerpoint/2010/main" val="3369698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719618"/>
            <a:ext cx="7886700" cy="4457345"/>
          </a:xfrm>
        </p:spPr>
        <p:txBody>
          <a:bodyPr>
            <a:normAutofit/>
          </a:bodyPr>
          <a:lstStyle/>
          <a:p>
            <a:pPr>
              <a:lnSpc>
                <a:spcPct val="100000"/>
              </a:lnSpc>
            </a:pPr>
            <a:r>
              <a:rPr lang="en-GB" sz="2400" dirty="0">
                <a:latin typeface="Century Gothic" panose="020B0502020202020204" pitchFamily="34" charset="0"/>
              </a:rPr>
              <a:t>Choose those with the following attributes:</a:t>
            </a:r>
          </a:p>
          <a:p>
            <a:pPr lvl="1">
              <a:lnSpc>
                <a:spcPct val="100000"/>
              </a:lnSpc>
              <a:buFont typeface="Wingdings" panose="05000000000000000000" pitchFamily="2" charset="2"/>
              <a:buChar char="ü"/>
            </a:pPr>
            <a:r>
              <a:rPr lang="en-GB" dirty="0" err="1">
                <a:latin typeface="Century Gothic" panose="020B0502020202020204" pitchFamily="34" charset="0"/>
              </a:rPr>
              <a:t>Offsprings</a:t>
            </a:r>
            <a:r>
              <a:rPr lang="en-GB" dirty="0">
                <a:latin typeface="Century Gothic" panose="020B0502020202020204" pitchFamily="34" charset="0"/>
              </a:rPr>
              <a:t> of a cow with good mothering ability</a:t>
            </a:r>
          </a:p>
          <a:p>
            <a:pPr lvl="1">
              <a:lnSpc>
                <a:spcPct val="100000"/>
              </a:lnSpc>
              <a:buFont typeface="Wingdings" panose="05000000000000000000" pitchFamily="2" charset="2"/>
              <a:buChar char="ü"/>
            </a:pPr>
            <a:r>
              <a:rPr lang="en-GB" dirty="0">
                <a:latin typeface="Century Gothic" panose="020B0502020202020204" pitchFamily="34" charset="0"/>
              </a:rPr>
              <a:t>Should not be related directly or indirectly to any of the cows in the herd.</a:t>
            </a:r>
          </a:p>
          <a:p>
            <a:pPr lvl="1">
              <a:lnSpc>
                <a:spcPct val="100000"/>
              </a:lnSpc>
              <a:buFont typeface="Wingdings" panose="05000000000000000000" pitchFamily="2" charset="2"/>
              <a:buChar char="ü"/>
            </a:pPr>
            <a:r>
              <a:rPr lang="en-GB" dirty="0">
                <a:latin typeface="Century Gothic" panose="020B0502020202020204" pitchFamily="34" charset="0"/>
              </a:rPr>
              <a:t>Should have high growth rate</a:t>
            </a:r>
          </a:p>
          <a:p>
            <a:pPr lvl="1">
              <a:lnSpc>
                <a:spcPct val="100000"/>
              </a:lnSpc>
              <a:buFont typeface="Wingdings" panose="05000000000000000000" pitchFamily="2" charset="2"/>
              <a:buChar char="ü"/>
            </a:pPr>
            <a:r>
              <a:rPr lang="en-GB" dirty="0">
                <a:latin typeface="Century Gothic" panose="020B0502020202020204" pitchFamily="34" charset="0"/>
              </a:rPr>
              <a:t>Should have good conformation.</a:t>
            </a:r>
          </a:p>
          <a:p>
            <a:pPr lvl="1">
              <a:lnSpc>
                <a:spcPct val="100000"/>
              </a:lnSpc>
              <a:buFont typeface="Wingdings" panose="05000000000000000000" pitchFamily="2" charset="2"/>
              <a:buChar char="ü"/>
            </a:pPr>
            <a:r>
              <a:rPr lang="en-GB" dirty="0">
                <a:latin typeface="Century Gothic" panose="020B0502020202020204" pitchFamily="34" charset="0"/>
              </a:rPr>
              <a:t>Healthy and free from deformities.</a:t>
            </a:r>
          </a:p>
          <a:p>
            <a:pPr lvl="1">
              <a:lnSpc>
                <a:spcPct val="100000"/>
              </a:lnSpc>
              <a:buFont typeface="Wingdings" panose="05000000000000000000" pitchFamily="2" charset="2"/>
              <a:buChar char="ü"/>
            </a:pPr>
            <a:r>
              <a:rPr lang="en-GB" dirty="0">
                <a:latin typeface="Century Gothic" panose="020B0502020202020204" pitchFamily="34" charset="0"/>
              </a:rPr>
              <a:t>High libido</a:t>
            </a:r>
          </a:p>
          <a:p>
            <a:pPr lvl="1">
              <a:lnSpc>
                <a:spcPct val="100000"/>
              </a:lnSpc>
              <a:buFont typeface="Wingdings" panose="05000000000000000000" pitchFamily="2" charset="2"/>
              <a:buChar char="ü"/>
            </a:pPr>
            <a:endParaRPr lang="en-GB" dirty="0">
              <a:latin typeface="Century Gothic" panose="020B0502020202020204" pitchFamily="34" charset="0"/>
            </a:endParaRP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Selection of Bulls</a:t>
            </a:r>
          </a:p>
        </p:txBody>
      </p:sp>
    </p:spTree>
    <p:extLst>
      <p:ext uri="{BB962C8B-B14F-4D97-AF65-F5344CB8AC3E}">
        <p14:creationId xmlns:p14="http://schemas.microsoft.com/office/powerpoint/2010/main" val="1960793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82890"/>
            <a:ext cx="7886700" cy="5349922"/>
          </a:xfrm>
        </p:spPr>
        <p:txBody>
          <a:bodyPr>
            <a:normAutofit fontScale="92500" lnSpcReduction="10000"/>
          </a:bodyPr>
          <a:lstStyle/>
          <a:p>
            <a:pPr marL="457200" indent="-457200">
              <a:buFont typeface="+mj-lt"/>
              <a:buAutoNum type="alphaLcPeriod"/>
            </a:pPr>
            <a:r>
              <a:rPr lang="en-US" sz="2600" b="1" dirty="0">
                <a:solidFill>
                  <a:srgbClr val="0070C0"/>
                </a:solidFill>
                <a:latin typeface="Century Gothic" panose="020B0502020202020204" pitchFamily="34" charset="0"/>
              </a:rPr>
              <a:t>Hand mating</a:t>
            </a:r>
          </a:p>
          <a:p>
            <a:r>
              <a:rPr lang="en-US" sz="2400" dirty="0">
                <a:latin typeface="Century Gothic" panose="020B0502020202020204" pitchFamily="34" charset="0"/>
              </a:rPr>
              <a:t>The bull is kept separately from the cows except when the cows comes on heat. </a:t>
            </a:r>
          </a:p>
          <a:p>
            <a:r>
              <a:rPr lang="en-US" sz="2400" dirty="0">
                <a:latin typeface="Century Gothic" panose="020B0502020202020204" pitchFamily="34" charset="0"/>
              </a:rPr>
              <a:t>Artificial insemination is also considered to be a hand mating technique.</a:t>
            </a:r>
          </a:p>
          <a:p>
            <a:r>
              <a:rPr lang="en-US" sz="2400" dirty="0">
                <a:latin typeface="Century Gothic" panose="020B0502020202020204" pitchFamily="34" charset="0"/>
              </a:rPr>
              <a:t>Common in dairy production.</a:t>
            </a:r>
          </a:p>
          <a:p>
            <a:pPr marL="0" indent="0">
              <a:buNone/>
            </a:pPr>
            <a:r>
              <a:rPr lang="en-US" sz="2400" b="1" dirty="0">
                <a:latin typeface="Century Gothic" panose="020B0502020202020204" pitchFamily="34" charset="0"/>
              </a:rPr>
              <a:t>Advantages</a:t>
            </a:r>
          </a:p>
          <a:p>
            <a:pPr>
              <a:buFont typeface="Century Gothic" panose="020B0502020202020204" pitchFamily="34" charset="0"/>
              <a:buChar char="→"/>
            </a:pPr>
            <a:r>
              <a:rPr lang="en-US" sz="2400" dirty="0">
                <a:latin typeface="Century Gothic" panose="020B0502020202020204" pitchFamily="34" charset="0"/>
              </a:rPr>
              <a:t>Avoids premature mating</a:t>
            </a:r>
          </a:p>
          <a:p>
            <a:pPr>
              <a:buFont typeface="Century Gothic" panose="020B0502020202020204" pitchFamily="34" charset="0"/>
              <a:buChar char="→"/>
            </a:pPr>
            <a:r>
              <a:rPr lang="en-US" sz="2400" dirty="0">
                <a:latin typeface="Century Gothic" panose="020B0502020202020204" pitchFamily="34" charset="0"/>
              </a:rPr>
              <a:t>Records can be kept properly.</a:t>
            </a:r>
          </a:p>
          <a:p>
            <a:pPr>
              <a:buFont typeface="Century Gothic" panose="020B0502020202020204" pitchFamily="34" charset="0"/>
              <a:buChar char="→"/>
            </a:pPr>
            <a:r>
              <a:rPr lang="en-US" sz="2400" dirty="0">
                <a:latin typeface="Century Gothic" panose="020B0502020202020204" pitchFamily="34" charset="0"/>
              </a:rPr>
              <a:t>Allows cows to recover from previous calving.</a:t>
            </a:r>
          </a:p>
          <a:p>
            <a:endParaRPr lang="en-US" sz="2400" dirty="0">
              <a:latin typeface="Century Gothic" panose="020B0502020202020204" pitchFamily="34" charset="0"/>
            </a:endParaRPr>
          </a:p>
          <a:p>
            <a:pPr marL="0" indent="0">
              <a:buNone/>
            </a:pPr>
            <a:r>
              <a:rPr lang="en-US" sz="2400" b="1" dirty="0">
                <a:latin typeface="Century Gothic" panose="020B0502020202020204" pitchFamily="34" charset="0"/>
              </a:rPr>
              <a:t>Disadvantages</a:t>
            </a:r>
          </a:p>
          <a:p>
            <a:pPr>
              <a:buFont typeface="Century Gothic" panose="020B0502020202020204" pitchFamily="34" charset="0"/>
              <a:buChar char="→"/>
            </a:pPr>
            <a:r>
              <a:rPr lang="en-US" sz="2400" dirty="0">
                <a:latin typeface="Century Gothic" panose="020B0502020202020204" pitchFamily="34" charset="0"/>
              </a:rPr>
              <a:t>Heat detection is difficult</a:t>
            </a:r>
          </a:p>
          <a:p>
            <a:pPr>
              <a:buFont typeface="Century Gothic" panose="020B0502020202020204" pitchFamily="34" charset="0"/>
              <a:buChar char="→"/>
            </a:pPr>
            <a:r>
              <a:rPr lang="en-US" sz="2400" dirty="0">
                <a:latin typeface="Century Gothic" panose="020B0502020202020204" pitchFamily="34" charset="0"/>
              </a:rPr>
              <a:t>Requires extra housing and feeding</a:t>
            </a:r>
            <a:endParaRPr lang="en-GB" sz="2400" dirty="0">
              <a:latin typeface="Century Gothic" panose="020B0502020202020204" pitchFamily="34" charset="0"/>
            </a:endParaRP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Methods of Mating</a:t>
            </a:r>
          </a:p>
        </p:txBody>
      </p:sp>
    </p:spTree>
    <p:extLst>
      <p:ext uri="{BB962C8B-B14F-4D97-AF65-F5344CB8AC3E}">
        <p14:creationId xmlns:p14="http://schemas.microsoft.com/office/powerpoint/2010/main" val="2359104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364776"/>
            <a:ext cx="7886700" cy="5112438"/>
          </a:xfrm>
        </p:spPr>
        <p:txBody>
          <a:bodyPr>
            <a:normAutofit fontScale="92500" lnSpcReduction="20000"/>
          </a:bodyPr>
          <a:lstStyle/>
          <a:p>
            <a:pPr marL="514350" indent="-514350">
              <a:buFont typeface="+mj-lt"/>
              <a:buAutoNum type="alphaLcPeriod" startAt="2"/>
            </a:pPr>
            <a:r>
              <a:rPr lang="en-US" sz="2600" b="1" dirty="0">
                <a:solidFill>
                  <a:srgbClr val="0070C0"/>
                </a:solidFill>
                <a:latin typeface="Century Gothic" panose="020B0502020202020204" pitchFamily="34" charset="0"/>
              </a:rPr>
              <a:t>Pasture mating</a:t>
            </a:r>
          </a:p>
          <a:p>
            <a:r>
              <a:rPr lang="en-US" sz="2400" dirty="0">
                <a:latin typeface="Century Gothic" panose="020B0502020202020204" pitchFamily="34" charset="0"/>
              </a:rPr>
              <a:t>Two major systems used: </a:t>
            </a:r>
          </a:p>
          <a:p>
            <a:pPr marL="514350" indent="-514350">
              <a:buFont typeface="+mj-lt"/>
              <a:buAutoNum type="romanLcPeriod"/>
            </a:pPr>
            <a:r>
              <a:rPr lang="en-US" sz="2400" dirty="0">
                <a:latin typeface="Century Gothic" panose="020B0502020202020204" pitchFamily="34" charset="0"/>
              </a:rPr>
              <a:t>All year round / Continuous</a:t>
            </a:r>
          </a:p>
          <a:p>
            <a:pPr marL="514350" indent="-514350">
              <a:buFont typeface="+mj-lt"/>
              <a:buAutoNum type="romanLcPeriod"/>
            </a:pPr>
            <a:r>
              <a:rPr lang="en-US" sz="2400" dirty="0">
                <a:latin typeface="Century Gothic" panose="020B0502020202020204" pitchFamily="34" charset="0"/>
              </a:rPr>
              <a:t>Restricted/ Seasonal breeding</a:t>
            </a:r>
          </a:p>
          <a:p>
            <a:pPr marL="0" indent="0">
              <a:buNone/>
            </a:pPr>
            <a:endParaRPr lang="en-US" sz="2400" dirty="0">
              <a:latin typeface="Century Gothic" panose="020B0502020202020204" pitchFamily="34" charset="0"/>
            </a:endParaRPr>
          </a:p>
          <a:p>
            <a:pPr marL="0" indent="0">
              <a:buNone/>
            </a:pPr>
            <a:r>
              <a:rPr lang="en-US" sz="2400" b="1" dirty="0">
                <a:latin typeface="Century Gothic" panose="020B0502020202020204" pitchFamily="34" charset="0"/>
              </a:rPr>
              <a:t>All Year </a:t>
            </a:r>
            <a:r>
              <a:rPr lang="en-GB" sz="2400" b="1" noProof="1">
                <a:latin typeface="Century Gothic" panose="020B0502020202020204" pitchFamily="34" charset="0"/>
              </a:rPr>
              <a:t>Round/Continuous</a:t>
            </a:r>
          </a:p>
          <a:p>
            <a:pPr>
              <a:buFont typeface="Century Gothic" panose="020B0502020202020204" pitchFamily="34" charset="0"/>
              <a:buChar char="→"/>
            </a:pPr>
            <a:r>
              <a:rPr lang="en-US" sz="2400" dirty="0">
                <a:latin typeface="Century Gothic" panose="020B0502020202020204" pitchFamily="34" charset="0"/>
              </a:rPr>
              <a:t>Cow and heifers are allowed to run with the bulls throughout the year. </a:t>
            </a:r>
          </a:p>
          <a:p>
            <a:pPr>
              <a:buFont typeface="Century Gothic" panose="020B0502020202020204" pitchFamily="34" charset="0"/>
              <a:buChar char="→"/>
            </a:pPr>
            <a:r>
              <a:rPr lang="en-US" sz="2400" dirty="0">
                <a:latin typeface="Century Gothic" panose="020B0502020202020204" pitchFamily="34" charset="0"/>
              </a:rPr>
              <a:t>This results in calves dropped throughout the year.</a:t>
            </a:r>
          </a:p>
          <a:p>
            <a:endParaRPr lang="en-US" sz="2400" dirty="0">
              <a:latin typeface="Century Gothic" panose="020B0502020202020204" pitchFamily="34" charset="0"/>
            </a:endParaRPr>
          </a:p>
          <a:p>
            <a:pPr marL="0" indent="0">
              <a:buNone/>
            </a:pPr>
            <a:r>
              <a:rPr lang="en-US" sz="2400" b="1" dirty="0">
                <a:latin typeface="Century Gothic" panose="020B0502020202020204" pitchFamily="34" charset="0"/>
              </a:rPr>
              <a:t>Restricted/Seasonal breeding</a:t>
            </a:r>
          </a:p>
          <a:p>
            <a:pPr>
              <a:buFont typeface="Century Gothic" panose="020B0502020202020204" pitchFamily="34" charset="0"/>
              <a:buChar char="→"/>
            </a:pPr>
            <a:r>
              <a:rPr lang="en-US" sz="2400" dirty="0">
                <a:latin typeface="Century Gothic" panose="020B0502020202020204" pitchFamily="34" charset="0"/>
              </a:rPr>
              <a:t>Bulls are allowed to run with cows and heifers during a 3 months breeding period. </a:t>
            </a:r>
          </a:p>
          <a:p>
            <a:pPr>
              <a:buFont typeface="Century Gothic" panose="020B0502020202020204" pitchFamily="34" charset="0"/>
              <a:buChar char="→"/>
            </a:pPr>
            <a:r>
              <a:rPr lang="en-US" sz="2400" dirty="0">
                <a:latin typeface="Century Gothic" panose="020B0502020202020204" pitchFamily="34" charset="0"/>
              </a:rPr>
              <a:t>The cows are expected to calve down at the same period.</a:t>
            </a:r>
          </a:p>
          <a:p>
            <a:endParaRPr lang="en-GB" sz="2400" dirty="0">
              <a:latin typeface="Century Gothic" panose="020B0502020202020204" pitchFamily="34" charset="0"/>
            </a:endParaRPr>
          </a:p>
          <a:p>
            <a:pPr marL="0" indent="0">
              <a:buNone/>
            </a:pPr>
            <a:endParaRPr lang="en-GB" sz="2400" dirty="0">
              <a:latin typeface="Century Gothic" panose="020B0502020202020204" pitchFamily="34" charset="0"/>
            </a:endParaRPr>
          </a:p>
          <a:p>
            <a:endParaRPr lang="en-GB" sz="2200" dirty="0">
              <a:latin typeface="Century Gothic" panose="020B0502020202020204" pitchFamily="34" charset="0"/>
            </a:endParaRP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Methods of Mating</a:t>
            </a:r>
          </a:p>
        </p:txBody>
      </p:sp>
    </p:spTree>
    <p:extLst>
      <p:ext uri="{BB962C8B-B14F-4D97-AF65-F5344CB8AC3E}">
        <p14:creationId xmlns:p14="http://schemas.microsoft.com/office/powerpoint/2010/main" val="3190987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19366"/>
            <a:ext cx="7886700" cy="5104263"/>
          </a:xfrm>
        </p:spPr>
        <p:txBody>
          <a:bodyPr>
            <a:normAutofit lnSpcReduction="10000"/>
          </a:bodyPr>
          <a:lstStyle/>
          <a:p>
            <a:pPr marL="457200" indent="-457200">
              <a:buFont typeface="+mj-lt"/>
              <a:buAutoNum type="alphaLcPeriod"/>
            </a:pPr>
            <a:r>
              <a:rPr lang="en-US" sz="2400" b="1" dirty="0">
                <a:latin typeface="Century Gothic" panose="020B0502020202020204" pitchFamily="34" charset="0"/>
              </a:rPr>
              <a:t>Feed utilization efficiency </a:t>
            </a:r>
          </a:p>
          <a:p>
            <a:r>
              <a:rPr lang="en-US" sz="2400" dirty="0">
                <a:latin typeface="Century Gothic" panose="020B0502020202020204" pitchFamily="34" charset="0"/>
              </a:rPr>
              <a:t>Feed is the major cost in most beef cattle production systems, comprising about 80% of the variable costs.</a:t>
            </a:r>
          </a:p>
          <a:p>
            <a:r>
              <a:rPr lang="en-US" sz="2400" dirty="0">
                <a:latin typeface="Century Gothic" panose="020B0502020202020204" pitchFamily="34" charset="0"/>
              </a:rPr>
              <a:t>Therefore, improving the efficiency of beef cattle production is usually directed at reducing the feed </a:t>
            </a:r>
            <a:r>
              <a:rPr lang="en-GB" sz="2400" dirty="0">
                <a:latin typeface="Century Gothic" panose="020B0502020202020204" pitchFamily="34" charset="0"/>
              </a:rPr>
              <a:t>conversion ratio.</a:t>
            </a:r>
          </a:p>
          <a:p>
            <a:pPr marL="0" indent="0">
              <a:buNone/>
            </a:pPr>
            <a:endParaRPr lang="en-GB" sz="2400" dirty="0">
              <a:latin typeface="Century Gothic" panose="020B0502020202020204" pitchFamily="34" charset="0"/>
            </a:endParaRPr>
          </a:p>
          <a:p>
            <a:pPr marL="457200" indent="-457200">
              <a:buFont typeface="+mj-lt"/>
              <a:buAutoNum type="alphaLcPeriod" startAt="2"/>
            </a:pPr>
            <a:r>
              <a:rPr lang="en-GB" sz="2400" b="1" dirty="0">
                <a:latin typeface="Century Gothic" panose="020B0502020202020204" pitchFamily="34" charset="0"/>
              </a:rPr>
              <a:t>Carcass traits </a:t>
            </a:r>
          </a:p>
          <a:p>
            <a:r>
              <a:rPr lang="en-GB" sz="2400" dirty="0">
                <a:latin typeface="Century Gothic" panose="020B0502020202020204" pitchFamily="34" charset="0"/>
              </a:rPr>
              <a:t>Possible carcass traits to select </a:t>
            </a:r>
            <a:r>
              <a:rPr lang="en-US" sz="2400" dirty="0">
                <a:latin typeface="Century Gothic" panose="020B0502020202020204" pitchFamily="34" charset="0"/>
              </a:rPr>
              <a:t>for include carcass weight, which has good heritability. </a:t>
            </a:r>
          </a:p>
          <a:p>
            <a:r>
              <a:rPr lang="en-US" sz="2400" dirty="0">
                <a:latin typeface="Century Gothic" panose="020B0502020202020204" pitchFamily="34" charset="0"/>
              </a:rPr>
              <a:t>Within a breed, animals with a high ratio of muscle to other tissues at a certain stage of their development are likely to have increased value.</a:t>
            </a:r>
            <a:endParaRPr lang="en-GB" sz="2400" dirty="0">
              <a:latin typeface="Century Gothic" panose="020B0502020202020204" pitchFamily="34" charset="0"/>
            </a:endParaRP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Breeding Objectives</a:t>
            </a:r>
          </a:p>
        </p:txBody>
      </p:sp>
    </p:spTree>
    <p:extLst>
      <p:ext uri="{BB962C8B-B14F-4D97-AF65-F5344CB8AC3E}">
        <p14:creationId xmlns:p14="http://schemas.microsoft.com/office/powerpoint/2010/main" val="862674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19367"/>
            <a:ext cx="7886700" cy="4771244"/>
          </a:xfrm>
        </p:spPr>
        <p:txBody>
          <a:bodyPr>
            <a:normAutofit lnSpcReduction="10000"/>
          </a:bodyPr>
          <a:lstStyle/>
          <a:p>
            <a:pPr marL="457200" indent="-457200">
              <a:buFont typeface="+mj-lt"/>
              <a:buAutoNum type="alphaLcPeriod" startAt="3"/>
            </a:pPr>
            <a:r>
              <a:rPr lang="en-GB" sz="2400" b="1" dirty="0">
                <a:latin typeface="Century Gothic" panose="020B0502020202020204" pitchFamily="34" charset="0"/>
              </a:rPr>
              <a:t>Reproductive traits</a:t>
            </a:r>
            <a:r>
              <a:rPr lang="en-US" sz="2400" b="1" dirty="0">
                <a:latin typeface="Century Gothic" panose="020B0502020202020204" pitchFamily="34" charset="0"/>
              </a:rPr>
              <a:t> </a:t>
            </a:r>
          </a:p>
          <a:p>
            <a:r>
              <a:rPr lang="en-US" sz="2400" dirty="0">
                <a:latin typeface="Century Gothic" panose="020B0502020202020204" pitchFamily="34" charset="0"/>
              </a:rPr>
              <a:t>An ability to survive and reproduce under poor feed conditions would be advantageous in many marginal regions, and is likely to </a:t>
            </a:r>
            <a:r>
              <a:rPr lang="en-US" sz="2400" dirty="0" err="1">
                <a:latin typeface="Century Gothic" panose="020B0502020202020204" pitchFamily="34" charset="0"/>
              </a:rPr>
              <a:t>favour</a:t>
            </a:r>
            <a:r>
              <a:rPr lang="en-US" sz="2400" dirty="0">
                <a:latin typeface="Century Gothic" panose="020B0502020202020204" pitchFamily="34" charset="0"/>
              </a:rPr>
              <a:t> small cattle </a:t>
            </a:r>
            <a:r>
              <a:rPr lang="en-GB" sz="2400" dirty="0">
                <a:latin typeface="Century Gothic" panose="020B0502020202020204" pitchFamily="34" charset="0"/>
              </a:rPr>
              <a:t>with low maintenance requirements. However, reproductive traits are not easily improved.</a:t>
            </a:r>
          </a:p>
          <a:p>
            <a:endParaRPr lang="en-GB" sz="2400" dirty="0">
              <a:latin typeface="Century Gothic" panose="020B0502020202020204" pitchFamily="34" charset="0"/>
            </a:endParaRPr>
          </a:p>
          <a:p>
            <a:pPr marL="457200" indent="-457200">
              <a:buFont typeface="+mj-lt"/>
              <a:buAutoNum type="alphaLcPeriod" startAt="4"/>
            </a:pPr>
            <a:r>
              <a:rPr lang="en-GB" sz="2400" b="1" dirty="0">
                <a:latin typeface="Century Gothic" panose="020B0502020202020204" pitchFamily="34" charset="0"/>
              </a:rPr>
              <a:t>Environment and welfare traits</a:t>
            </a:r>
          </a:p>
          <a:p>
            <a:r>
              <a:rPr lang="en-GB" sz="2400" dirty="0">
                <a:latin typeface="Century Gothic" panose="020B0502020202020204" pitchFamily="34" charset="0"/>
              </a:rPr>
              <a:t>Breeding cattle without </a:t>
            </a:r>
            <a:r>
              <a:rPr lang="en-US" sz="2400" dirty="0">
                <a:latin typeface="Century Gothic" panose="020B0502020202020204" pitchFamily="34" charset="0"/>
              </a:rPr>
              <a:t>horns will prevent a significant additional stress that dehorning creates.</a:t>
            </a:r>
            <a:endParaRPr lang="en-GB" sz="2400" dirty="0">
              <a:latin typeface="Century Gothic" panose="020B0502020202020204" pitchFamily="34" charset="0"/>
            </a:endParaRPr>
          </a:p>
          <a:p>
            <a:r>
              <a:rPr lang="en-US" sz="2400" dirty="0">
                <a:latin typeface="Century Gothic" panose="020B0502020202020204" pitchFamily="34" charset="0"/>
              </a:rPr>
              <a:t>Breeding for good temperament would be likely to increase growth rates.</a:t>
            </a:r>
          </a:p>
        </p:txBody>
      </p:sp>
      <p:sp>
        <p:nvSpPr>
          <p:cNvPr id="4" name="Title 1"/>
          <p:cNvSpPr>
            <a:spLocks noGrp="1"/>
          </p:cNvSpPr>
          <p:nvPr>
            <p:ph type="title"/>
          </p:nvPr>
        </p:nvSpPr>
        <p:spPr>
          <a:xfrm>
            <a:off x="628650" y="350839"/>
            <a:ext cx="7886700" cy="1150416"/>
          </a:xfrm>
        </p:spPr>
        <p:txBody>
          <a:bodyPr>
            <a:normAutofit/>
          </a:bodyPr>
          <a:lstStyle/>
          <a:p>
            <a:r>
              <a:rPr lang="en-GB" sz="3200" b="1" dirty="0">
                <a:solidFill>
                  <a:srgbClr val="00B0F0"/>
                </a:solidFill>
                <a:latin typeface="Century Gothic" pitchFamily="34" charset="0"/>
              </a:rPr>
              <a:t>Breeding Objectives</a:t>
            </a:r>
          </a:p>
        </p:txBody>
      </p:sp>
    </p:spTree>
    <p:extLst>
      <p:ext uri="{BB962C8B-B14F-4D97-AF65-F5344CB8AC3E}">
        <p14:creationId xmlns:p14="http://schemas.microsoft.com/office/powerpoint/2010/main" val="846979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19367"/>
            <a:ext cx="7886700" cy="4771244"/>
          </a:xfrm>
        </p:spPr>
        <p:txBody>
          <a:bodyPr>
            <a:normAutofit/>
          </a:bodyPr>
          <a:lstStyle/>
          <a:p>
            <a:pPr marL="457200" indent="-457200">
              <a:buFont typeface="+mj-lt"/>
              <a:buAutoNum type="alphaLcPeriod" startAt="5"/>
            </a:pPr>
            <a:r>
              <a:rPr lang="en-GB" sz="2400" b="1" dirty="0">
                <a:latin typeface="Century Gothic" panose="020B0502020202020204" pitchFamily="34" charset="0"/>
              </a:rPr>
              <a:t>Structural traits</a:t>
            </a:r>
          </a:p>
          <a:p>
            <a:r>
              <a:rPr lang="en-US" sz="2400" dirty="0">
                <a:latin typeface="Century Gothic" panose="020B0502020202020204" pitchFamily="34" charset="0"/>
              </a:rPr>
              <a:t>Structural traits relate to the form and function of cattle, including leg, udder </a:t>
            </a:r>
            <a:r>
              <a:rPr lang="en-GB" sz="2400" dirty="0">
                <a:latin typeface="Century Gothic" panose="020B0502020202020204" pitchFamily="34" charset="0"/>
              </a:rPr>
              <a:t>and temperament characteristics.</a:t>
            </a:r>
          </a:p>
          <a:p>
            <a:r>
              <a:rPr lang="en-GB" sz="2400" dirty="0">
                <a:latin typeface="Century Gothic" panose="020B0502020202020204" pitchFamily="34" charset="0"/>
              </a:rPr>
              <a:t>Leg traits are </a:t>
            </a:r>
            <a:r>
              <a:rPr lang="en-US" sz="2400" dirty="0">
                <a:latin typeface="Century Gothic" panose="020B0502020202020204" pitchFamily="34" charset="0"/>
              </a:rPr>
              <a:t>most commonly bred for, as lameness is a serious </a:t>
            </a:r>
            <a:r>
              <a:rPr lang="en-GB" sz="2400" dirty="0">
                <a:latin typeface="Century Gothic" panose="020B0502020202020204" pitchFamily="34" charset="0"/>
              </a:rPr>
              <a:t>problem in many farms.</a:t>
            </a:r>
          </a:p>
        </p:txBody>
      </p:sp>
      <p:sp>
        <p:nvSpPr>
          <p:cNvPr id="4" name="Title 1"/>
          <p:cNvSpPr>
            <a:spLocks noGrp="1"/>
          </p:cNvSpPr>
          <p:nvPr>
            <p:ph type="title"/>
          </p:nvPr>
        </p:nvSpPr>
        <p:spPr>
          <a:xfrm>
            <a:off x="628650" y="350839"/>
            <a:ext cx="7886700" cy="1150416"/>
          </a:xfrm>
        </p:spPr>
        <p:txBody>
          <a:bodyPr>
            <a:normAutofit/>
          </a:bodyPr>
          <a:lstStyle/>
          <a:p>
            <a:r>
              <a:rPr lang="en-GB" sz="3200" b="1" dirty="0">
                <a:solidFill>
                  <a:srgbClr val="00B0F0"/>
                </a:solidFill>
                <a:latin typeface="Century Gothic" pitchFamily="34" charset="0"/>
              </a:rPr>
              <a:t>Breeding Objectives</a:t>
            </a:r>
          </a:p>
        </p:txBody>
      </p:sp>
    </p:spTree>
    <p:extLst>
      <p:ext uri="{BB962C8B-B14F-4D97-AF65-F5344CB8AC3E}">
        <p14:creationId xmlns:p14="http://schemas.microsoft.com/office/powerpoint/2010/main" val="2584889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05719"/>
            <a:ext cx="7886700" cy="4771244"/>
          </a:xfrm>
        </p:spPr>
        <p:txBody>
          <a:bodyPr>
            <a:normAutofit/>
          </a:bodyPr>
          <a:lstStyle/>
          <a:p>
            <a:r>
              <a:rPr lang="en-US" sz="2400" dirty="0">
                <a:latin typeface="Century Gothic" panose="020B0502020202020204" pitchFamily="34" charset="0"/>
              </a:rPr>
              <a:t>Ideally calving should take place in a clean paddock.</a:t>
            </a:r>
          </a:p>
          <a:p>
            <a:r>
              <a:rPr lang="en-US" sz="2400" dirty="0">
                <a:latin typeface="Century Gothic" panose="020B0502020202020204" pitchFamily="34" charset="0"/>
              </a:rPr>
              <a:t>The paddock should be free from internal and external parasites.</a:t>
            </a:r>
          </a:p>
          <a:p>
            <a:r>
              <a:rPr lang="en-US" sz="2400" dirty="0">
                <a:latin typeface="Century Gothic" panose="020B0502020202020204" pitchFamily="34" charset="0"/>
              </a:rPr>
              <a:t>It should not have been grazed for at least one year.</a:t>
            </a:r>
          </a:p>
          <a:p>
            <a:endParaRPr lang="en-GB" sz="2400" dirty="0">
              <a:latin typeface="Century Gothic" panose="020B0502020202020204" pitchFamily="34" charset="0"/>
            </a:endParaRP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Managing Pregnant Cows</a:t>
            </a:r>
          </a:p>
        </p:txBody>
      </p:sp>
    </p:spTree>
    <p:extLst>
      <p:ext uri="{BB962C8B-B14F-4D97-AF65-F5344CB8AC3E}">
        <p14:creationId xmlns:p14="http://schemas.microsoft.com/office/powerpoint/2010/main" val="3565885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665027"/>
            <a:ext cx="7886700" cy="4511936"/>
          </a:xfrm>
        </p:spPr>
        <p:txBody>
          <a:bodyPr>
            <a:normAutofit lnSpcReduction="10000"/>
          </a:bodyPr>
          <a:lstStyle/>
          <a:p>
            <a:r>
              <a:rPr lang="en-GB" sz="2400" dirty="0">
                <a:latin typeface="Century Gothic" panose="020B0502020202020204" pitchFamily="34" charset="0"/>
              </a:rPr>
              <a:t>Restlessness and bellowing</a:t>
            </a:r>
          </a:p>
          <a:p>
            <a:r>
              <a:rPr lang="en-US" sz="2400" dirty="0">
                <a:latin typeface="Century Gothic" panose="020B0502020202020204" pitchFamily="34" charset="0"/>
              </a:rPr>
              <a:t>Nudging and sniffing genital area of other cows</a:t>
            </a:r>
          </a:p>
          <a:p>
            <a:r>
              <a:rPr lang="en-US" sz="2400" dirty="0">
                <a:latin typeface="Century Gothic" panose="020B0502020202020204" pitchFamily="34" charset="0"/>
              </a:rPr>
              <a:t>Wrinkling its nose and curling its lip (</a:t>
            </a:r>
            <a:r>
              <a:rPr lang="en-US" sz="2400" dirty="0" err="1">
                <a:latin typeface="Century Gothic" panose="020B0502020202020204" pitchFamily="34" charset="0"/>
              </a:rPr>
              <a:t>Flehmen</a:t>
            </a:r>
            <a:r>
              <a:rPr lang="en-US" sz="2400" dirty="0">
                <a:latin typeface="Century Gothic" panose="020B0502020202020204" pitchFamily="34" charset="0"/>
              </a:rPr>
              <a:t> </a:t>
            </a:r>
            <a:r>
              <a:rPr lang="en-US" sz="2400" dirty="0" err="1">
                <a:latin typeface="Century Gothic" panose="020B0502020202020204" pitchFamily="34" charset="0"/>
              </a:rPr>
              <a:t>behaviour</a:t>
            </a:r>
            <a:r>
              <a:rPr lang="en-US" sz="2400" dirty="0">
                <a:latin typeface="Century Gothic" panose="020B0502020202020204" pitchFamily="34" charset="0"/>
              </a:rPr>
              <a:t>)</a:t>
            </a:r>
          </a:p>
          <a:p>
            <a:r>
              <a:rPr lang="en-GB" sz="2400" dirty="0">
                <a:latin typeface="Century Gothic" panose="020B0502020202020204" pitchFamily="34" charset="0"/>
              </a:rPr>
              <a:t>Swollen red vulva, frequent urination</a:t>
            </a:r>
          </a:p>
          <a:p>
            <a:r>
              <a:rPr lang="en-US" sz="2400" dirty="0">
                <a:latin typeface="Century Gothic" panose="020B0502020202020204" pitchFamily="34" charset="0"/>
              </a:rPr>
              <a:t>Attempting to mount other cows or stands to be mounted by another cow </a:t>
            </a:r>
          </a:p>
          <a:p>
            <a:r>
              <a:rPr lang="en-US" sz="2400" dirty="0">
                <a:latin typeface="Century Gothic" panose="020B0502020202020204" pitchFamily="34" charset="0"/>
              </a:rPr>
              <a:t>Thin, clear mucus discharge from vulva</a:t>
            </a:r>
          </a:p>
          <a:p>
            <a:r>
              <a:rPr lang="en-GB" sz="2400" dirty="0">
                <a:latin typeface="Century Gothic" panose="020B0502020202020204" pitchFamily="34" charset="0"/>
              </a:rPr>
              <a:t>Reduced appetite</a:t>
            </a:r>
          </a:p>
          <a:p>
            <a:r>
              <a:rPr lang="en-US" sz="2400" dirty="0">
                <a:latin typeface="Century Gothic" panose="020B0502020202020204" pitchFamily="34" charset="0"/>
              </a:rPr>
              <a:t>Muddy flanks and ruffled tail head from being mounted</a:t>
            </a: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Signs of Heat in Cow/Heifers</a:t>
            </a:r>
          </a:p>
        </p:txBody>
      </p:sp>
    </p:spTree>
    <p:extLst>
      <p:ext uri="{BB962C8B-B14F-4D97-AF65-F5344CB8AC3E}">
        <p14:creationId xmlns:p14="http://schemas.microsoft.com/office/powerpoint/2010/main" val="59014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87606"/>
            <a:ext cx="7886700" cy="4689357"/>
          </a:xfrm>
        </p:spPr>
        <p:txBody>
          <a:bodyPr>
            <a:normAutofit/>
          </a:bodyPr>
          <a:lstStyle/>
          <a:p>
            <a:r>
              <a:rPr lang="en-US" sz="2400" dirty="0">
                <a:latin typeface="Century Gothic" panose="020B0502020202020204" pitchFamily="34" charset="0"/>
              </a:rPr>
              <a:t>Cows calve 285 days (280 – 290) after conception.</a:t>
            </a:r>
          </a:p>
          <a:p>
            <a:r>
              <a:rPr lang="en-US" sz="2400" dirty="0">
                <a:latin typeface="Century Gothic" panose="020B0502020202020204" pitchFamily="34" charset="0"/>
              </a:rPr>
              <a:t>When the cow is close to calving, the udder and vulva swell. There is a loosening in the area of the tail </a:t>
            </a:r>
            <a:r>
              <a:rPr lang="en-GB" sz="2400" dirty="0">
                <a:latin typeface="Century Gothic" panose="020B0502020202020204" pitchFamily="34" charset="0"/>
              </a:rPr>
              <a:t>head and pin bones.</a:t>
            </a:r>
          </a:p>
          <a:p>
            <a:r>
              <a:rPr lang="en-GB" sz="2400" dirty="0">
                <a:latin typeface="Century Gothic" panose="020B0502020202020204" pitchFamily="34" charset="0"/>
              </a:rPr>
              <a:t>Good </a:t>
            </a:r>
            <a:r>
              <a:rPr lang="en-US" sz="2400" dirty="0">
                <a:latin typeface="Century Gothic" panose="020B0502020202020204" pitchFamily="34" charset="0"/>
              </a:rPr>
              <a:t>breeding records help the farmer plan for calving time.</a:t>
            </a:r>
          </a:p>
          <a:p>
            <a:r>
              <a:rPr lang="en-US" sz="2400" dirty="0">
                <a:latin typeface="Century Gothic" panose="020B0502020202020204" pitchFamily="34" charset="0"/>
              </a:rPr>
              <a:t>The cow should be bedded down on clean straw.</a:t>
            </a:r>
          </a:p>
          <a:p>
            <a:r>
              <a:rPr lang="en-US" sz="2400" dirty="0">
                <a:latin typeface="Century Gothic" panose="020B0502020202020204" pitchFamily="34" charset="0"/>
              </a:rPr>
              <a:t>If the cow has been in </a:t>
            </a:r>
            <a:r>
              <a:rPr lang="en-US" sz="2400" dirty="0" err="1">
                <a:latin typeface="Century Gothic" panose="020B0502020202020204" pitchFamily="34" charset="0"/>
              </a:rPr>
              <a:t>labour</a:t>
            </a:r>
            <a:r>
              <a:rPr lang="en-US" sz="2400" dirty="0">
                <a:latin typeface="Century Gothic" panose="020B0502020202020204" pitchFamily="34" charset="0"/>
              </a:rPr>
              <a:t> for 2 hours or more and there is no sign of progress in giving birth, help is needed.</a:t>
            </a:r>
          </a:p>
          <a:p>
            <a:r>
              <a:rPr lang="en-US" sz="2400" dirty="0">
                <a:latin typeface="Century Gothic" panose="020B0502020202020204" pitchFamily="34" charset="0"/>
              </a:rPr>
              <a:t>The placenta (afterbirth) is normally expelled within 12 hours after the </a:t>
            </a:r>
            <a:r>
              <a:rPr lang="en-GB" sz="2400" dirty="0">
                <a:latin typeface="Century Gothic" panose="020B0502020202020204" pitchFamily="34" charset="0"/>
              </a:rPr>
              <a:t>calf is born.</a:t>
            </a:r>
          </a:p>
        </p:txBody>
      </p:sp>
      <p:sp>
        <p:nvSpPr>
          <p:cNvPr id="4" name="Title 1"/>
          <p:cNvSpPr>
            <a:spLocks noGrp="1"/>
          </p:cNvSpPr>
          <p:nvPr>
            <p:ph type="title"/>
          </p:nvPr>
        </p:nvSpPr>
        <p:spPr>
          <a:xfrm>
            <a:off x="628650" y="350838"/>
            <a:ext cx="7886700" cy="1095825"/>
          </a:xfrm>
        </p:spPr>
        <p:txBody>
          <a:bodyPr>
            <a:normAutofit/>
          </a:bodyPr>
          <a:lstStyle/>
          <a:p>
            <a:r>
              <a:rPr lang="en-GB" sz="3200" b="1" dirty="0">
                <a:solidFill>
                  <a:srgbClr val="00B0F0"/>
                </a:solidFill>
                <a:latin typeface="Century Gothic" pitchFamily="34" charset="0"/>
              </a:rPr>
              <a:t>Calving</a:t>
            </a:r>
          </a:p>
        </p:txBody>
      </p:sp>
    </p:spTree>
    <p:extLst>
      <p:ext uri="{BB962C8B-B14F-4D97-AF65-F5344CB8AC3E}">
        <p14:creationId xmlns:p14="http://schemas.microsoft.com/office/powerpoint/2010/main" val="2581876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87606"/>
            <a:ext cx="7560007" cy="4689357"/>
          </a:xfrm>
        </p:spPr>
        <p:txBody>
          <a:bodyPr>
            <a:normAutofit/>
          </a:bodyPr>
          <a:lstStyle/>
          <a:p>
            <a:r>
              <a:rPr lang="en-GB" sz="2400" dirty="0">
                <a:latin typeface="Century Gothic" panose="020B0502020202020204" pitchFamily="34" charset="0"/>
              </a:rPr>
              <a:t>A retained placenta usually increases the time from calving to the next conception; a cow with retained placenta may well delay the next pregnancy for 2 – 6 months.</a:t>
            </a:r>
          </a:p>
          <a:p>
            <a:r>
              <a:rPr lang="en-GB" sz="2400" dirty="0">
                <a:latin typeface="Century Gothic" panose="020B0502020202020204" pitchFamily="34" charset="0"/>
              </a:rPr>
              <a:t>After calving, the cow will normally lick the calf clean and allow it to suckle. This establishes the bond between cow and calf.</a:t>
            </a:r>
          </a:p>
          <a:p>
            <a:r>
              <a:rPr lang="en-GB" sz="2400" dirty="0">
                <a:latin typeface="Century Gothic" panose="020B0502020202020204" pitchFamily="34" charset="0"/>
              </a:rPr>
              <a:t>In case of retained placenta, do not pull it out. Leave it for another day and then seek veterinary assistance.</a:t>
            </a:r>
          </a:p>
        </p:txBody>
      </p:sp>
      <p:sp>
        <p:nvSpPr>
          <p:cNvPr id="4" name="Title 1"/>
          <p:cNvSpPr>
            <a:spLocks noGrp="1"/>
          </p:cNvSpPr>
          <p:nvPr>
            <p:ph type="title"/>
          </p:nvPr>
        </p:nvSpPr>
        <p:spPr>
          <a:xfrm>
            <a:off x="628650" y="350838"/>
            <a:ext cx="7886700" cy="1095825"/>
          </a:xfrm>
        </p:spPr>
        <p:txBody>
          <a:bodyPr>
            <a:normAutofit/>
          </a:bodyPr>
          <a:lstStyle/>
          <a:p>
            <a:r>
              <a:rPr lang="en-GB" sz="3200" b="1" dirty="0">
                <a:solidFill>
                  <a:srgbClr val="00B0F0"/>
                </a:solidFill>
                <a:latin typeface="Century Gothic" pitchFamily="34" charset="0"/>
              </a:rPr>
              <a:t>Calving (</a:t>
            </a:r>
            <a:r>
              <a:rPr lang="en-GB" sz="3200" b="1" dirty="0" err="1">
                <a:solidFill>
                  <a:srgbClr val="00B0F0"/>
                </a:solidFill>
                <a:latin typeface="Century Gothic" pitchFamily="34" charset="0"/>
              </a:rPr>
              <a:t>Cont</a:t>
            </a:r>
            <a:r>
              <a:rPr lang="en-GB" sz="3200" b="1" dirty="0">
                <a:solidFill>
                  <a:srgbClr val="00B0F0"/>
                </a:solidFill>
                <a:latin typeface="Century Gothic" pitchFamily="34" charset="0"/>
              </a:rPr>
              <a:t>….)</a:t>
            </a:r>
          </a:p>
        </p:txBody>
      </p:sp>
    </p:spTree>
    <p:extLst>
      <p:ext uri="{BB962C8B-B14F-4D97-AF65-F5344CB8AC3E}">
        <p14:creationId xmlns:p14="http://schemas.microsoft.com/office/powerpoint/2010/main" val="1296405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87606"/>
            <a:ext cx="7886700" cy="4995081"/>
          </a:xfrm>
        </p:spPr>
        <p:txBody>
          <a:bodyPr>
            <a:noAutofit/>
          </a:bodyPr>
          <a:lstStyle/>
          <a:p>
            <a:r>
              <a:rPr lang="en-US" sz="2400" dirty="0">
                <a:latin typeface="Century Gothic" panose="020B0502020202020204" pitchFamily="34" charset="0"/>
              </a:rPr>
              <a:t>The navel cord is disinfected with a 2% diluted iodine solution.</a:t>
            </a:r>
            <a:endParaRPr lang="en-GB" sz="2400" dirty="0">
              <a:latin typeface="Century Gothic" panose="020B0502020202020204" pitchFamily="34" charset="0"/>
            </a:endParaRPr>
          </a:p>
          <a:p>
            <a:r>
              <a:rPr lang="en-US" sz="2400" dirty="0">
                <a:latin typeface="Century Gothic" panose="020B0502020202020204" pitchFamily="34" charset="0"/>
              </a:rPr>
              <a:t>In cold weather, the calf must be kept warm and dry until it is on its feet. </a:t>
            </a:r>
          </a:p>
          <a:p>
            <a:r>
              <a:rPr lang="en-US" sz="2400" dirty="0">
                <a:latin typeface="Century Gothic" panose="020B0502020202020204" pitchFamily="34" charset="0"/>
              </a:rPr>
              <a:t>Colostrum has to be fed during the first 24 hours; feeding colostrum later than this period confers little or no </a:t>
            </a:r>
            <a:r>
              <a:rPr lang="en-GB" sz="2400" dirty="0">
                <a:latin typeface="Century Gothic" panose="020B0502020202020204" pitchFamily="34" charset="0"/>
              </a:rPr>
              <a:t>advantage.</a:t>
            </a:r>
          </a:p>
          <a:p>
            <a:r>
              <a:rPr lang="en-GB" sz="2400" dirty="0">
                <a:latin typeface="Century Gothic" panose="020B0502020202020204" pitchFamily="34" charset="0"/>
              </a:rPr>
              <a:t>Stored colostrum will remain effective if cooling facilities are available but when feeding the new born it should be warmed to about 36</a:t>
            </a:r>
            <a:r>
              <a:rPr lang="en-GB" sz="2400" baseline="30000" dirty="0">
                <a:latin typeface="Century Gothic" panose="020B0502020202020204" pitchFamily="34" charset="0"/>
              </a:rPr>
              <a:t>o</a:t>
            </a:r>
            <a:r>
              <a:rPr lang="en-GB" sz="2400" dirty="0">
                <a:latin typeface="Century Gothic" panose="020B0502020202020204" pitchFamily="34" charset="0"/>
              </a:rPr>
              <a:t>C.</a:t>
            </a:r>
          </a:p>
          <a:p>
            <a:r>
              <a:rPr lang="en-GB" sz="2400" dirty="0">
                <a:latin typeface="Century Gothic" panose="020B0502020202020204" pitchFamily="34" charset="0"/>
              </a:rPr>
              <a:t>Artificial colostrum should be constituted in case the dam is dead.</a:t>
            </a:r>
          </a:p>
        </p:txBody>
      </p:sp>
      <p:sp>
        <p:nvSpPr>
          <p:cNvPr id="4" name="Title 1"/>
          <p:cNvSpPr>
            <a:spLocks noGrp="1"/>
          </p:cNvSpPr>
          <p:nvPr>
            <p:ph type="title"/>
          </p:nvPr>
        </p:nvSpPr>
        <p:spPr>
          <a:xfrm>
            <a:off x="628650" y="350838"/>
            <a:ext cx="7886700" cy="1095825"/>
          </a:xfrm>
        </p:spPr>
        <p:txBody>
          <a:bodyPr>
            <a:normAutofit/>
          </a:bodyPr>
          <a:lstStyle/>
          <a:p>
            <a:r>
              <a:rPr lang="en-GB" sz="3200" b="1" dirty="0">
                <a:solidFill>
                  <a:srgbClr val="00B0F0"/>
                </a:solidFill>
                <a:latin typeface="Century Gothic" pitchFamily="34" charset="0"/>
              </a:rPr>
              <a:t>Management of </a:t>
            </a:r>
            <a:r>
              <a:rPr lang="en-GB" sz="3200" b="1" dirty="0" err="1">
                <a:solidFill>
                  <a:srgbClr val="00B0F0"/>
                </a:solidFill>
                <a:latin typeface="Century Gothic" pitchFamily="34" charset="0"/>
              </a:rPr>
              <a:t>Newborn</a:t>
            </a:r>
            <a:r>
              <a:rPr lang="en-GB" sz="3200" b="1" dirty="0">
                <a:solidFill>
                  <a:srgbClr val="00B0F0"/>
                </a:solidFill>
                <a:latin typeface="Century Gothic" pitchFamily="34" charset="0"/>
              </a:rPr>
              <a:t> Calves</a:t>
            </a:r>
          </a:p>
        </p:txBody>
      </p:sp>
    </p:spTree>
    <p:extLst>
      <p:ext uri="{BB962C8B-B14F-4D97-AF65-F5344CB8AC3E}">
        <p14:creationId xmlns:p14="http://schemas.microsoft.com/office/powerpoint/2010/main" val="1287572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87606"/>
            <a:ext cx="7886700" cy="4995081"/>
          </a:xfrm>
        </p:spPr>
        <p:txBody>
          <a:bodyPr>
            <a:noAutofit/>
          </a:bodyPr>
          <a:lstStyle/>
          <a:p>
            <a:r>
              <a:rPr lang="en-GB" sz="2400" dirty="0">
                <a:latin typeface="Century Gothic" panose="020B0502020202020204" pitchFamily="34" charset="0"/>
              </a:rPr>
              <a:t>Multiple suckling system is sometimes used to foster a calf. A ‘nurse cow’ can be used 4 -5 days after the calf was given colostrum.</a:t>
            </a:r>
          </a:p>
          <a:p>
            <a:r>
              <a:rPr lang="en-US" sz="2400" dirty="0">
                <a:latin typeface="Century Gothic" panose="020B0502020202020204" pitchFamily="34" charset="0"/>
              </a:rPr>
              <a:t>The permeability of the calf’s small intestine to immunoglobulins declines rapidly after about 12 h, and is very low after the meconium has been passed.</a:t>
            </a:r>
          </a:p>
          <a:p>
            <a:r>
              <a:rPr lang="en-US" sz="2400" dirty="0">
                <a:latin typeface="Century Gothic" panose="020B0502020202020204" pitchFamily="34" charset="0"/>
              </a:rPr>
              <a:t>Licking of the calf’s anus by the cow during suckling probably stimulates its </a:t>
            </a:r>
            <a:r>
              <a:rPr lang="en-GB" sz="2400" dirty="0">
                <a:latin typeface="Century Gothic" panose="020B0502020202020204" pitchFamily="34" charset="0"/>
              </a:rPr>
              <a:t>expulsion.</a:t>
            </a:r>
          </a:p>
        </p:txBody>
      </p:sp>
      <p:sp>
        <p:nvSpPr>
          <p:cNvPr id="4" name="Title 1"/>
          <p:cNvSpPr>
            <a:spLocks noGrp="1"/>
          </p:cNvSpPr>
          <p:nvPr>
            <p:ph type="title"/>
          </p:nvPr>
        </p:nvSpPr>
        <p:spPr>
          <a:xfrm>
            <a:off x="628650" y="350838"/>
            <a:ext cx="7886700" cy="1095825"/>
          </a:xfrm>
        </p:spPr>
        <p:txBody>
          <a:bodyPr>
            <a:normAutofit/>
          </a:bodyPr>
          <a:lstStyle/>
          <a:p>
            <a:r>
              <a:rPr lang="en-GB" sz="3200" b="1" dirty="0">
                <a:solidFill>
                  <a:srgbClr val="00B0F0"/>
                </a:solidFill>
                <a:latin typeface="Century Gothic" pitchFamily="34" charset="0"/>
              </a:rPr>
              <a:t>Management of </a:t>
            </a:r>
            <a:r>
              <a:rPr lang="en-GB" sz="3200" b="1" dirty="0" err="1">
                <a:solidFill>
                  <a:srgbClr val="00B0F0"/>
                </a:solidFill>
                <a:latin typeface="Century Gothic" pitchFamily="34" charset="0"/>
              </a:rPr>
              <a:t>Newborn</a:t>
            </a:r>
            <a:r>
              <a:rPr lang="en-GB" sz="3200" b="1" dirty="0">
                <a:solidFill>
                  <a:srgbClr val="00B0F0"/>
                </a:solidFill>
                <a:latin typeface="Century Gothic" pitchFamily="34" charset="0"/>
              </a:rPr>
              <a:t> Calves</a:t>
            </a:r>
          </a:p>
        </p:txBody>
      </p:sp>
    </p:spTree>
    <p:extLst>
      <p:ext uri="{BB962C8B-B14F-4D97-AF65-F5344CB8AC3E}">
        <p14:creationId xmlns:p14="http://schemas.microsoft.com/office/powerpoint/2010/main" val="1939242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87606"/>
            <a:ext cx="7886700" cy="4689357"/>
          </a:xfrm>
        </p:spPr>
        <p:txBody>
          <a:bodyPr>
            <a:normAutofit/>
          </a:bodyPr>
          <a:lstStyle/>
          <a:p>
            <a:pPr marL="514350" indent="-514350">
              <a:buFont typeface="+mj-lt"/>
              <a:buAutoNum type="romanLcPeriod"/>
            </a:pPr>
            <a:r>
              <a:rPr lang="en-US" sz="2400" dirty="0">
                <a:latin typeface="Century Gothic" panose="020B0502020202020204" pitchFamily="34" charset="0"/>
              </a:rPr>
              <a:t>Genetic factors</a:t>
            </a:r>
          </a:p>
          <a:p>
            <a:pPr marL="514350" indent="-514350">
              <a:buFont typeface="+mj-lt"/>
              <a:buAutoNum type="romanLcPeriod"/>
            </a:pPr>
            <a:r>
              <a:rPr lang="en-US" sz="2400" dirty="0">
                <a:latin typeface="Century Gothic" panose="020B0502020202020204" pitchFamily="34" charset="0"/>
              </a:rPr>
              <a:t>Size of the dam</a:t>
            </a:r>
          </a:p>
          <a:p>
            <a:pPr marL="514350" indent="-514350">
              <a:buFont typeface="+mj-lt"/>
              <a:buAutoNum type="romanLcPeriod"/>
            </a:pPr>
            <a:r>
              <a:rPr lang="en-US" sz="2400" dirty="0">
                <a:latin typeface="Century Gothic" panose="020B0502020202020204" pitchFamily="34" charset="0"/>
              </a:rPr>
              <a:t>Age of the dam</a:t>
            </a:r>
          </a:p>
          <a:p>
            <a:pPr marL="514350" indent="-514350">
              <a:buFont typeface="+mj-lt"/>
              <a:buAutoNum type="romanLcPeriod"/>
            </a:pPr>
            <a:r>
              <a:rPr lang="en-US" sz="2400" dirty="0">
                <a:latin typeface="Century Gothic" panose="020B0502020202020204" pitchFamily="34" charset="0"/>
              </a:rPr>
              <a:t>Nutrition of the dam</a:t>
            </a:r>
          </a:p>
          <a:p>
            <a:pPr marL="514350" indent="-514350">
              <a:buFont typeface="+mj-lt"/>
              <a:buAutoNum type="romanLcPeriod"/>
            </a:pPr>
            <a:r>
              <a:rPr lang="en-US" sz="2400" dirty="0">
                <a:latin typeface="Century Gothic" panose="020B0502020202020204" pitchFamily="34" charset="0"/>
              </a:rPr>
              <a:t>Season</a:t>
            </a:r>
          </a:p>
          <a:p>
            <a:pPr marL="514350" indent="-514350">
              <a:buFont typeface="+mj-lt"/>
              <a:buAutoNum type="romanLcPeriod"/>
            </a:pPr>
            <a:r>
              <a:rPr lang="en-US" sz="2400" dirty="0">
                <a:latin typeface="Century Gothic" panose="020B0502020202020204" pitchFamily="34" charset="0"/>
              </a:rPr>
              <a:t>Size of the sire</a:t>
            </a:r>
            <a:endParaRPr lang="en-GB" sz="2400" dirty="0">
              <a:latin typeface="Century Gothic" panose="020B0502020202020204" pitchFamily="34" charset="0"/>
            </a:endParaRPr>
          </a:p>
        </p:txBody>
      </p:sp>
      <p:sp>
        <p:nvSpPr>
          <p:cNvPr id="4" name="Title 1"/>
          <p:cNvSpPr>
            <a:spLocks noGrp="1"/>
          </p:cNvSpPr>
          <p:nvPr>
            <p:ph type="title"/>
          </p:nvPr>
        </p:nvSpPr>
        <p:spPr>
          <a:xfrm>
            <a:off x="628650" y="350838"/>
            <a:ext cx="7886700" cy="1095825"/>
          </a:xfrm>
        </p:spPr>
        <p:txBody>
          <a:bodyPr>
            <a:normAutofit/>
          </a:bodyPr>
          <a:lstStyle/>
          <a:p>
            <a:r>
              <a:rPr lang="en-GB" sz="3200" b="1" dirty="0">
                <a:solidFill>
                  <a:srgbClr val="00B0F0"/>
                </a:solidFill>
                <a:latin typeface="Century Gothic" pitchFamily="34" charset="0"/>
              </a:rPr>
              <a:t>Factors Affecting Calf Birth Weights</a:t>
            </a:r>
          </a:p>
        </p:txBody>
      </p:sp>
    </p:spTree>
    <p:extLst>
      <p:ext uri="{BB962C8B-B14F-4D97-AF65-F5344CB8AC3E}">
        <p14:creationId xmlns:p14="http://schemas.microsoft.com/office/powerpoint/2010/main" val="4130128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49" y="1487606"/>
            <a:ext cx="7928497" cy="4689357"/>
          </a:xfrm>
        </p:spPr>
        <p:txBody>
          <a:bodyPr>
            <a:noAutofit/>
          </a:bodyPr>
          <a:lstStyle/>
          <a:p>
            <a:r>
              <a:rPr lang="en-US" sz="2400" dirty="0">
                <a:latin typeface="Century Gothic" panose="020B0502020202020204" pitchFamily="34" charset="0"/>
              </a:rPr>
              <a:t>Beef calves usually weaned when they are about 6 – 8 months. </a:t>
            </a:r>
          </a:p>
          <a:p>
            <a:r>
              <a:rPr lang="en-US" sz="2400" dirty="0">
                <a:latin typeface="Century Gothic" panose="020B0502020202020204" pitchFamily="34" charset="0"/>
              </a:rPr>
              <a:t>After weaning, the calf and the cow will normally be grazing outside on grass or forage crop.</a:t>
            </a:r>
          </a:p>
          <a:p>
            <a:r>
              <a:rPr lang="en-US" sz="2400" dirty="0">
                <a:latin typeface="Century Gothic" panose="020B0502020202020204" pitchFamily="34" charset="0"/>
              </a:rPr>
              <a:t>Hay and silage will be supplemented as required. </a:t>
            </a:r>
          </a:p>
          <a:p>
            <a:r>
              <a:rPr lang="en-US" sz="2400" dirty="0">
                <a:latin typeface="Century Gothic" panose="020B0502020202020204" pitchFamily="34" charset="0"/>
              </a:rPr>
              <a:t>In dry season when conditions worsen the animals may be fed on conserved fodder, typically grass silage or hay. </a:t>
            </a:r>
          </a:p>
          <a:p>
            <a:r>
              <a:rPr lang="en-US" sz="2400" dirty="0">
                <a:latin typeface="Century Gothic" panose="020B0502020202020204" pitchFamily="34" charset="0"/>
              </a:rPr>
              <a:t>Beef calves from the dairy herd (pure bred bull calves or cross breeds) will usually be brought into the beef system at around one week of age. </a:t>
            </a:r>
          </a:p>
        </p:txBody>
      </p:sp>
      <p:sp>
        <p:nvSpPr>
          <p:cNvPr id="4" name="Title 1"/>
          <p:cNvSpPr>
            <a:spLocks noGrp="1"/>
          </p:cNvSpPr>
          <p:nvPr>
            <p:ph type="title"/>
          </p:nvPr>
        </p:nvSpPr>
        <p:spPr>
          <a:xfrm>
            <a:off x="628650" y="350838"/>
            <a:ext cx="7886700" cy="1095825"/>
          </a:xfrm>
        </p:spPr>
        <p:txBody>
          <a:bodyPr>
            <a:normAutofit/>
          </a:bodyPr>
          <a:lstStyle/>
          <a:p>
            <a:r>
              <a:rPr lang="en-GB" sz="3200" b="1" dirty="0">
                <a:solidFill>
                  <a:srgbClr val="00B0F0"/>
                </a:solidFill>
                <a:latin typeface="Century Gothic" pitchFamily="34" charset="0"/>
              </a:rPr>
              <a:t>Weaning</a:t>
            </a:r>
          </a:p>
        </p:txBody>
      </p:sp>
    </p:spTree>
    <p:extLst>
      <p:ext uri="{BB962C8B-B14F-4D97-AF65-F5344CB8AC3E}">
        <p14:creationId xmlns:p14="http://schemas.microsoft.com/office/powerpoint/2010/main" val="33333445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49" y="1487606"/>
            <a:ext cx="7928497" cy="4689357"/>
          </a:xfrm>
        </p:spPr>
        <p:txBody>
          <a:bodyPr>
            <a:noAutofit/>
          </a:bodyPr>
          <a:lstStyle/>
          <a:p>
            <a:r>
              <a:rPr lang="en-US" sz="2400" dirty="0">
                <a:latin typeface="Century Gothic" panose="020B0502020202020204" pitchFamily="34" charset="0"/>
              </a:rPr>
              <a:t>The calves are usually bucket fed and weaned when the calf is eating about 1kg of concentrates per day. This is usually between 6 and 8 weeks of age when it is between 55-65kg. </a:t>
            </a:r>
          </a:p>
          <a:p>
            <a:r>
              <a:rPr lang="en-US" sz="2400" dirty="0">
                <a:latin typeface="Century Gothic" panose="020B0502020202020204" pitchFamily="34" charset="0"/>
              </a:rPr>
              <a:t>Following weaning, concentrates continue to be offered ad-libitum together with grass, hay or straw and by 12 weeks old the calf is usually weighing between 90 to 110kg. </a:t>
            </a:r>
          </a:p>
          <a:p>
            <a:endParaRPr lang="en-GB" sz="2400" dirty="0">
              <a:latin typeface="Century Gothic" panose="020B0502020202020204" pitchFamily="34" charset="0"/>
            </a:endParaRPr>
          </a:p>
        </p:txBody>
      </p:sp>
      <p:sp>
        <p:nvSpPr>
          <p:cNvPr id="4" name="Title 1"/>
          <p:cNvSpPr>
            <a:spLocks noGrp="1"/>
          </p:cNvSpPr>
          <p:nvPr>
            <p:ph type="title"/>
          </p:nvPr>
        </p:nvSpPr>
        <p:spPr>
          <a:xfrm>
            <a:off x="628650" y="350838"/>
            <a:ext cx="7886700" cy="1095825"/>
          </a:xfrm>
        </p:spPr>
        <p:txBody>
          <a:bodyPr>
            <a:normAutofit/>
          </a:bodyPr>
          <a:lstStyle/>
          <a:p>
            <a:r>
              <a:rPr lang="en-GB" sz="3200" b="1" dirty="0">
                <a:solidFill>
                  <a:srgbClr val="00B0F0"/>
                </a:solidFill>
                <a:latin typeface="Century Gothic" pitchFamily="34" charset="0"/>
              </a:rPr>
              <a:t>Weaning</a:t>
            </a:r>
          </a:p>
        </p:txBody>
      </p:sp>
    </p:spTree>
    <p:extLst>
      <p:ext uri="{BB962C8B-B14F-4D97-AF65-F5344CB8AC3E}">
        <p14:creationId xmlns:p14="http://schemas.microsoft.com/office/powerpoint/2010/main" val="35754158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05719"/>
            <a:ext cx="7886700" cy="4771244"/>
          </a:xfrm>
        </p:spPr>
        <p:txBody>
          <a:bodyPr>
            <a:noAutofit/>
          </a:bodyPr>
          <a:lstStyle/>
          <a:p>
            <a:r>
              <a:rPr lang="en-US" sz="2400" dirty="0">
                <a:latin typeface="Century Gothic" panose="020B0502020202020204" pitchFamily="34" charset="0"/>
              </a:rPr>
              <a:t>In Malawi, the major part of the ration in stall feeding beef cattle comes from crop residues and supplementation with maize bran.</a:t>
            </a:r>
          </a:p>
          <a:p>
            <a:r>
              <a:rPr lang="en-US" sz="2400" dirty="0">
                <a:latin typeface="Century Gothic" panose="020B0502020202020204" pitchFamily="34" charset="0"/>
              </a:rPr>
              <a:t>Fattening can be based on:</a:t>
            </a:r>
          </a:p>
          <a:p>
            <a:pPr lvl="1">
              <a:buFont typeface="Wingdings" panose="05000000000000000000" pitchFamily="2" charset="2"/>
              <a:buChar char="ü"/>
            </a:pPr>
            <a:r>
              <a:rPr lang="en-GB" dirty="0">
                <a:latin typeface="Century Gothic" panose="020B0502020202020204" pitchFamily="34" charset="0"/>
              </a:rPr>
              <a:t>All roughage rations</a:t>
            </a:r>
          </a:p>
          <a:p>
            <a:pPr lvl="1">
              <a:buFont typeface="Wingdings" panose="05000000000000000000" pitchFamily="2" charset="2"/>
              <a:buChar char="ü"/>
            </a:pPr>
            <a:r>
              <a:rPr lang="en-GB" dirty="0">
                <a:latin typeface="Century Gothic" panose="020B0502020202020204" pitchFamily="34" charset="0"/>
              </a:rPr>
              <a:t>Roughage-concentrate rations</a:t>
            </a:r>
          </a:p>
          <a:p>
            <a:pPr lvl="1">
              <a:buFont typeface="Wingdings" panose="05000000000000000000" pitchFamily="2" charset="2"/>
              <a:buChar char="ü"/>
            </a:pPr>
            <a:r>
              <a:rPr lang="en-US" dirty="0">
                <a:latin typeface="Century Gothic" panose="020B0502020202020204" pitchFamily="34" charset="0"/>
              </a:rPr>
              <a:t>Give good quality grass-legume mixture</a:t>
            </a: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Feeding</a:t>
            </a:r>
          </a:p>
        </p:txBody>
      </p:sp>
    </p:spTree>
    <p:extLst>
      <p:ext uri="{BB962C8B-B14F-4D97-AF65-F5344CB8AC3E}">
        <p14:creationId xmlns:p14="http://schemas.microsoft.com/office/powerpoint/2010/main" val="42726587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05719"/>
            <a:ext cx="7886700" cy="4771244"/>
          </a:xfrm>
        </p:spPr>
        <p:txBody>
          <a:bodyPr>
            <a:noAutofit/>
          </a:bodyPr>
          <a:lstStyle/>
          <a:p>
            <a:r>
              <a:rPr lang="en-US" sz="2400" dirty="0">
                <a:latin typeface="Century Gothic" panose="020B0502020202020204" pitchFamily="34" charset="0"/>
              </a:rPr>
              <a:t>Feed intake depends on the size of the animal, its condition, stage of production, milk production level, environmental conditions, and the amount and type of forage or feed offered, and its water content.</a:t>
            </a:r>
          </a:p>
          <a:p>
            <a:r>
              <a:rPr lang="en-US" sz="2400" dirty="0">
                <a:latin typeface="Century Gothic" panose="020B0502020202020204" pitchFamily="34" charset="0"/>
              </a:rPr>
              <a:t>Cattle that are switched suddenly from a low-energy ration to a high-energy ration sometimes go off feed (reduce feed intake).</a:t>
            </a:r>
          </a:p>
          <a:p>
            <a:endParaRPr lang="en-US" sz="2400" dirty="0">
              <a:latin typeface="Century Gothic" panose="020B0502020202020204" pitchFamily="34" charset="0"/>
            </a:endParaRP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Feeding</a:t>
            </a:r>
          </a:p>
        </p:txBody>
      </p:sp>
    </p:spTree>
    <p:extLst>
      <p:ext uri="{BB962C8B-B14F-4D97-AF65-F5344CB8AC3E}">
        <p14:creationId xmlns:p14="http://schemas.microsoft.com/office/powerpoint/2010/main" val="22338288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ijdelijke aanduiding voor inhoud 1"/>
          <p:cNvGraphicFramePr>
            <a:graphicFrameLocks noGrp="1"/>
          </p:cNvGraphicFramePr>
          <p:nvPr>
            <p:ph idx="1"/>
            <p:extLst>
              <p:ext uri="{D42A27DB-BD31-4B8C-83A1-F6EECF244321}">
                <p14:modId xmlns:p14="http://schemas.microsoft.com/office/powerpoint/2010/main" val="4094967951"/>
              </p:ext>
            </p:extLst>
          </p:nvPr>
        </p:nvGraphicFramePr>
        <p:xfrm>
          <a:off x="762000" y="1609680"/>
          <a:ext cx="7886700" cy="3291840"/>
        </p:xfrm>
        <a:graphic>
          <a:graphicData uri="http://schemas.openxmlformats.org/drawingml/2006/table">
            <a:tbl>
              <a:tblPr firstRow="1" bandRow="1">
                <a:tableStyleId>{5C22544A-7EE6-4342-B048-85BDC9FD1C3A}</a:tableStyleId>
              </a:tblPr>
              <a:tblGrid>
                <a:gridCol w="2035791">
                  <a:extLst>
                    <a:ext uri="{9D8B030D-6E8A-4147-A177-3AD203B41FA5}">
                      <a16:colId xmlns:a16="http://schemas.microsoft.com/office/drawing/2014/main" val="20000"/>
                    </a:ext>
                  </a:extLst>
                </a:gridCol>
                <a:gridCol w="2838734">
                  <a:extLst>
                    <a:ext uri="{9D8B030D-6E8A-4147-A177-3AD203B41FA5}">
                      <a16:colId xmlns:a16="http://schemas.microsoft.com/office/drawing/2014/main" val="20001"/>
                    </a:ext>
                  </a:extLst>
                </a:gridCol>
                <a:gridCol w="3012175">
                  <a:extLst>
                    <a:ext uri="{9D8B030D-6E8A-4147-A177-3AD203B41FA5}">
                      <a16:colId xmlns:a16="http://schemas.microsoft.com/office/drawing/2014/main" val="20002"/>
                    </a:ext>
                  </a:extLst>
                </a:gridCol>
              </a:tblGrid>
              <a:tr h="370840">
                <a:tc>
                  <a:txBody>
                    <a:bodyPr/>
                    <a:lstStyle/>
                    <a:p>
                      <a:r>
                        <a:rPr lang="en-GB" sz="2400" dirty="0">
                          <a:latin typeface="Century Gothic" panose="020B0502020202020204" pitchFamily="34" charset="0"/>
                        </a:rPr>
                        <a:t>Forage quality</a:t>
                      </a:r>
                    </a:p>
                  </a:txBody>
                  <a:tcPr>
                    <a:solidFill>
                      <a:srgbClr val="0070C0"/>
                    </a:solidFill>
                  </a:tcPr>
                </a:tc>
                <a:tc>
                  <a:txBody>
                    <a:bodyPr/>
                    <a:lstStyle/>
                    <a:p>
                      <a:r>
                        <a:rPr lang="en-GB" sz="2400" dirty="0">
                          <a:latin typeface="Century Gothic" panose="020B0502020202020204" pitchFamily="34" charset="0"/>
                        </a:rPr>
                        <a:t>Example</a:t>
                      </a:r>
                    </a:p>
                  </a:txBody>
                  <a:tcPr>
                    <a:solidFill>
                      <a:srgbClr val="0070C0"/>
                    </a:solidFill>
                  </a:tcPr>
                </a:tc>
                <a:tc>
                  <a:txBody>
                    <a:bodyPr/>
                    <a:lstStyle/>
                    <a:p>
                      <a:r>
                        <a:rPr lang="en-GB" sz="2400" dirty="0">
                          <a:latin typeface="Century Gothic" panose="020B0502020202020204" pitchFamily="34" charset="0"/>
                        </a:rPr>
                        <a:t>Forage intake DM (% of</a:t>
                      </a:r>
                      <a:r>
                        <a:rPr lang="en-GB" sz="2400" baseline="0" dirty="0">
                          <a:latin typeface="Century Gothic" panose="020B0502020202020204" pitchFamily="34" charset="0"/>
                        </a:rPr>
                        <a:t> body weight)</a:t>
                      </a:r>
                      <a:endParaRPr lang="en-GB" sz="2400" dirty="0">
                        <a:latin typeface="Century Gothic" panose="020B0502020202020204" pitchFamily="34" charset="0"/>
                      </a:endParaRPr>
                    </a:p>
                  </a:txBody>
                  <a:tcPr>
                    <a:solidFill>
                      <a:srgbClr val="0070C0"/>
                    </a:solidFill>
                  </a:tcPr>
                </a:tc>
                <a:extLst>
                  <a:ext uri="{0D108BD9-81ED-4DB2-BD59-A6C34878D82A}">
                    <a16:rowId xmlns:a16="http://schemas.microsoft.com/office/drawing/2014/main" val="10000"/>
                  </a:ext>
                </a:extLst>
              </a:tr>
              <a:tr h="370840">
                <a:tc>
                  <a:txBody>
                    <a:bodyPr/>
                    <a:lstStyle/>
                    <a:p>
                      <a:r>
                        <a:rPr lang="en-GB" sz="2400" dirty="0">
                          <a:latin typeface="Century Gothic" panose="020B0502020202020204" pitchFamily="34" charset="0"/>
                        </a:rPr>
                        <a:t>Low</a:t>
                      </a:r>
                    </a:p>
                  </a:txBody>
                  <a:tcPr/>
                </a:tc>
                <a:tc>
                  <a:txBody>
                    <a:bodyPr/>
                    <a:lstStyle/>
                    <a:p>
                      <a:r>
                        <a:rPr lang="en-GB" sz="2400" dirty="0">
                          <a:latin typeface="Century Gothic" panose="020B0502020202020204" pitchFamily="34" charset="0"/>
                        </a:rPr>
                        <a:t>Mature grass, crop residues</a:t>
                      </a:r>
                    </a:p>
                  </a:txBody>
                  <a:tcPr/>
                </a:tc>
                <a:tc>
                  <a:txBody>
                    <a:bodyPr/>
                    <a:lstStyle/>
                    <a:p>
                      <a:r>
                        <a:rPr lang="en-GB" sz="2400" dirty="0">
                          <a:latin typeface="Century Gothic" panose="020B0502020202020204" pitchFamily="34" charset="0"/>
                        </a:rPr>
                        <a:t>1.5</a:t>
                      </a:r>
                    </a:p>
                  </a:txBody>
                  <a:tcPr/>
                </a:tc>
                <a:extLst>
                  <a:ext uri="{0D108BD9-81ED-4DB2-BD59-A6C34878D82A}">
                    <a16:rowId xmlns:a16="http://schemas.microsoft.com/office/drawing/2014/main" val="10001"/>
                  </a:ext>
                </a:extLst>
              </a:tr>
              <a:tr h="370840">
                <a:tc>
                  <a:txBody>
                    <a:bodyPr/>
                    <a:lstStyle/>
                    <a:p>
                      <a:r>
                        <a:rPr lang="en-GB" sz="2400" dirty="0">
                          <a:latin typeface="Century Gothic" panose="020B0502020202020204" pitchFamily="34" charset="0"/>
                        </a:rPr>
                        <a:t>Average to</a:t>
                      </a:r>
                      <a:r>
                        <a:rPr lang="en-GB" sz="2400" baseline="0" dirty="0">
                          <a:latin typeface="Century Gothic" panose="020B0502020202020204" pitchFamily="34" charset="0"/>
                        </a:rPr>
                        <a:t> good</a:t>
                      </a:r>
                      <a:endParaRPr lang="en-GB" sz="2400" dirty="0">
                        <a:latin typeface="Century Gothic" panose="020B0502020202020204" pitchFamily="34" charset="0"/>
                      </a:endParaRPr>
                    </a:p>
                  </a:txBody>
                  <a:tcPr/>
                </a:tc>
                <a:tc>
                  <a:txBody>
                    <a:bodyPr/>
                    <a:lstStyle/>
                    <a:p>
                      <a:r>
                        <a:rPr lang="en-GB" sz="2400" dirty="0">
                          <a:latin typeface="Century Gothic" panose="020B0502020202020204" pitchFamily="34" charset="0"/>
                        </a:rPr>
                        <a:t>Leafy</a:t>
                      </a:r>
                      <a:r>
                        <a:rPr lang="en-GB" sz="2400" baseline="0" dirty="0">
                          <a:latin typeface="Century Gothic" panose="020B0502020202020204" pitchFamily="34" charset="0"/>
                        </a:rPr>
                        <a:t> grass (few seed heads</a:t>
                      </a:r>
                      <a:endParaRPr lang="en-GB" sz="2400" dirty="0">
                        <a:latin typeface="Century Gothic" panose="020B0502020202020204" pitchFamily="34" charset="0"/>
                      </a:endParaRPr>
                    </a:p>
                  </a:txBody>
                  <a:tcPr/>
                </a:tc>
                <a:tc>
                  <a:txBody>
                    <a:bodyPr/>
                    <a:lstStyle/>
                    <a:p>
                      <a:r>
                        <a:rPr lang="en-GB" sz="2400" dirty="0">
                          <a:latin typeface="Century Gothic" panose="020B0502020202020204" pitchFamily="34" charset="0"/>
                        </a:rPr>
                        <a:t>2.5</a:t>
                      </a:r>
                    </a:p>
                  </a:txBody>
                  <a:tcPr/>
                </a:tc>
                <a:extLst>
                  <a:ext uri="{0D108BD9-81ED-4DB2-BD59-A6C34878D82A}">
                    <a16:rowId xmlns:a16="http://schemas.microsoft.com/office/drawing/2014/main" val="10002"/>
                  </a:ext>
                </a:extLst>
              </a:tr>
              <a:tr h="370840">
                <a:tc>
                  <a:txBody>
                    <a:bodyPr/>
                    <a:lstStyle/>
                    <a:p>
                      <a:r>
                        <a:rPr lang="en-GB" sz="2400" dirty="0">
                          <a:latin typeface="Century Gothic" panose="020B0502020202020204" pitchFamily="34" charset="0"/>
                        </a:rPr>
                        <a:t>High</a:t>
                      </a:r>
                    </a:p>
                  </a:txBody>
                  <a:tcPr/>
                </a:tc>
                <a:tc>
                  <a:txBody>
                    <a:bodyPr/>
                    <a:lstStyle/>
                    <a:p>
                      <a:r>
                        <a:rPr lang="en-GB" sz="2400" dirty="0">
                          <a:latin typeface="Century Gothic" panose="020B0502020202020204" pitchFamily="34" charset="0"/>
                        </a:rPr>
                        <a:t>Young</a:t>
                      </a:r>
                      <a:r>
                        <a:rPr lang="en-GB" sz="2400" baseline="0" dirty="0">
                          <a:latin typeface="Century Gothic" panose="020B0502020202020204" pitchFamily="34" charset="0"/>
                        </a:rPr>
                        <a:t> leafy grass, legume</a:t>
                      </a:r>
                      <a:endParaRPr lang="en-GB" sz="2400" dirty="0">
                        <a:latin typeface="Century Gothic" panose="020B0502020202020204" pitchFamily="34" charset="0"/>
                      </a:endParaRPr>
                    </a:p>
                  </a:txBody>
                  <a:tcPr/>
                </a:tc>
                <a:tc>
                  <a:txBody>
                    <a:bodyPr/>
                    <a:lstStyle/>
                    <a:p>
                      <a:r>
                        <a:rPr lang="en-GB" sz="2400" dirty="0">
                          <a:latin typeface="Century Gothic" panose="020B0502020202020204" pitchFamily="34" charset="0"/>
                        </a:rPr>
                        <a:t>3.0</a:t>
                      </a:r>
                    </a:p>
                  </a:txBody>
                  <a:tcPr/>
                </a:tc>
                <a:extLst>
                  <a:ext uri="{0D108BD9-81ED-4DB2-BD59-A6C34878D82A}">
                    <a16:rowId xmlns:a16="http://schemas.microsoft.com/office/drawing/2014/main" val="10003"/>
                  </a:ext>
                </a:extLst>
              </a:tr>
            </a:tbl>
          </a:graphicData>
        </a:graphic>
      </p:graphicFrame>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How much can an animal eat?</a:t>
            </a:r>
          </a:p>
        </p:txBody>
      </p:sp>
    </p:spTree>
    <p:extLst>
      <p:ext uri="{BB962C8B-B14F-4D97-AF65-F5344CB8AC3E}">
        <p14:creationId xmlns:p14="http://schemas.microsoft.com/office/powerpoint/2010/main" val="18044068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How much can an animal eat?</a:t>
            </a:r>
          </a:p>
        </p:txBody>
      </p:sp>
      <p:sp>
        <p:nvSpPr>
          <p:cNvPr id="5" name="Tijdelijke aanduiding voor inhoud 4"/>
          <p:cNvSpPr>
            <a:spLocks noGrp="1"/>
          </p:cNvSpPr>
          <p:nvPr>
            <p:ph idx="1"/>
          </p:nvPr>
        </p:nvSpPr>
        <p:spPr>
          <a:xfrm>
            <a:off x="628650" y="1487606"/>
            <a:ext cx="7886700" cy="4689357"/>
          </a:xfrm>
        </p:spPr>
        <p:txBody>
          <a:bodyPr>
            <a:normAutofit/>
          </a:bodyPr>
          <a:lstStyle/>
          <a:p>
            <a:pPr marL="0" indent="0">
              <a:buNone/>
            </a:pPr>
            <a:r>
              <a:rPr lang="en-US" sz="2400" i="1" dirty="0">
                <a:latin typeface="Century Gothic" panose="020B0502020202020204" pitchFamily="34" charset="0"/>
              </a:rPr>
              <a:t>Example: </a:t>
            </a:r>
          </a:p>
          <a:p>
            <a:r>
              <a:rPr lang="en-US" sz="2400" dirty="0">
                <a:latin typeface="Century Gothic" panose="020B0502020202020204" pitchFamily="34" charset="0"/>
              </a:rPr>
              <a:t>A 300 kg animal fed low-quality feed (60% moisture, </a:t>
            </a:r>
            <a:r>
              <a:rPr lang="en-GB" sz="2400" dirty="0">
                <a:latin typeface="Century Gothic" panose="020B0502020202020204" pitchFamily="34" charset="0"/>
              </a:rPr>
              <a:t>7% crude protein)</a:t>
            </a:r>
          </a:p>
          <a:p>
            <a:r>
              <a:rPr lang="en-US" sz="2400" dirty="0">
                <a:latin typeface="Century Gothic" panose="020B0502020202020204" pitchFamily="34" charset="0"/>
              </a:rPr>
              <a:t>The animal can eat only 1.5% of its bodyweight as DM</a:t>
            </a:r>
          </a:p>
          <a:p>
            <a:r>
              <a:rPr lang="en-US" sz="2400" dirty="0">
                <a:latin typeface="Century Gothic" panose="020B0502020202020204" pitchFamily="34" charset="0"/>
              </a:rPr>
              <a:t>Amount of DM the animal can eat: </a:t>
            </a:r>
          </a:p>
          <a:p>
            <a:pPr marL="914400" lvl="2" indent="0">
              <a:buNone/>
            </a:pPr>
            <a:r>
              <a:rPr lang="en-US" sz="2400" dirty="0">
                <a:latin typeface="Century Gothic" panose="020B0502020202020204" pitchFamily="34" charset="0"/>
              </a:rPr>
              <a:t>= 1.5/100 x 30 </a:t>
            </a:r>
            <a:r>
              <a:rPr lang="en-GB" sz="2400" dirty="0">
                <a:latin typeface="Century Gothic" panose="020B0502020202020204" pitchFamily="34" charset="0"/>
              </a:rPr>
              <a:t>= 4.5 kg</a:t>
            </a:r>
          </a:p>
          <a:p>
            <a:r>
              <a:rPr lang="en-US" sz="2400" dirty="0">
                <a:latin typeface="Century Gothic" panose="020B0502020202020204" pitchFamily="34" charset="0"/>
              </a:rPr>
              <a:t>Amount of green feed it can eat: </a:t>
            </a:r>
          </a:p>
          <a:p>
            <a:pPr marL="0" indent="0">
              <a:buNone/>
            </a:pPr>
            <a:r>
              <a:rPr lang="en-US" sz="2400" dirty="0">
                <a:latin typeface="Century Gothic" panose="020B0502020202020204" pitchFamily="34" charset="0"/>
              </a:rPr>
              <a:t>	= 6 x 100/40 = 15 kg</a:t>
            </a:r>
          </a:p>
          <a:p>
            <a:r>
              <a:rPr lang="en-US" sz="2400" dirty="0">
                <a:latin typeface="Century Gothic" panose="020B0502020202020204" pitchFamily="34" charset="0"/>
              </a:rPr>
              <a:t>Amount of CP it can eat: </a:t>
            </a:r>
          </a:p>
          <a:p>
            <a:pPr marL="0" indent="0">
              <a:buNone/>
            </a:pPr>
            <a:r>
              <a:rPr lang="en-US" sz="2400" dirty="0">
                <a:latin typeface="Century Gothic" panose="020B0502020202020204" pitchFamily="34" charset="0"/>
              </a:rPr>
              <a:t>	= 7/100 x 4.5 = 0.3 kg CP</a:t>
            </a:r>
            <a:endParaRPr lang="en-GB" sz="2400" dirty="0">
              <a:latin typeface="Century Gothic" panose="020B0502020202020204" pitchFamily="34" charset="0"/>
            </a:endParaRPr>
          </a:p>
          <a:p>
            <a:endParaRPr lang="en-GB" sz="2400" dirty="0">
              <a:latin typeface="Century Gothic" panose="020B0502020202020204" pitchFamily="34" charset="0"/>
            </a:endParaRPr>
          </a:p>
        </p:txBody>
      </p:sp>
    </p:spTree>
    <p:extLst>
      <p:ext uri="{BB962C8B-B14F-4D97-AF65-F5344CB8AC3E}">
        <p14:creationId xmlns:p14="http://schemas.microsoft.com/office/powerpoint/2010/main" val="24682063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Feeding</a:t>
            </a:r>
          </a:p>
        </p:txBody>
      </p:sp>
      <p:sp>
        <p:nvSpPr>
          <p:cNvPr id="5" name="Tijdelijke aanduiding voor inhoud 4"/>
          <p:cNvSpPr>
            <a:spLocks noGrp="1"/>
          </p:cNvSpPr>
          <p:nvPr>
            <p:ph idx="1"/>
          </p:nvPr>
        </p:nvSpPr>
        <p:spPr>
          <a:xfrm>
            <a:off x="628650" y="1378421"/>
            <a:ext cx="7886700" cy="4634766"/>
          </a:xfrm>
        </p:spPr>
        <p:txBody>
          <a:bodyPr>
            <a:noAutofit/>
          </a:bodyPr>
          <a:lstStyle/>
          <a:p>
            <a:r>
              <a:rPr lang="en-US" sz="2400" dirty="0">
                <a:latin typeface="Century Gothic" panose="020B0502020202020204" pitchFamily="34" charset="0"/>
              </a:rPr>
              <a:t>Simple concentrate rations can be made at village level using locally available ingredients.</a:t>
            </a:r>
          </a:p>
          <a:p>
            <a:pPr marL="808038" lvl="1" indent="-357188">
              <a:buBlip>
                <a:blip r:embed="rId3"/>
              </a:buBlip>
            </a:pPr>
            <a:r>
              <a:rPr lang="en-US" dirty="0">
                <a:latin typeface="Century Gothic" panose="020B0502020202020204" pitchFamily="34" charset="0"/>
              </a:rPr>
              <a:t>Mixture of 75 parts of maize bran, 24 parts of dry </a:t>
            </a:r>
            <a:r>
              <a:rPr lang="en-US" dirty="0" err="1">
                <a:latin typeface="Century Gothic" panose="020B0502020202020204" pitchFamily="34" charset="0"/>
              </a:rPr>
              <a:t>leucaena</a:t>
            </a:r>
            <a:r>
              <a:rPr lang="en-US" dirty="0">
                <a:latin typeface="Century Gothic" panose="020B0502020202020204" pitchFamily="34" charset="0"/>
              </a:rPr>
              <a:t> or </a:t>
            </a:r>
            <a:r>
              <a:rPr lang="en-US" dirty="0" err="1">
                <a:latin typeface="Century Gothic" panose="020B0502020202020204" pitchFamily="34" charset="0"/>
              </a:rPr>
              <a:t>sesbania</a:t>
            </a:r>
            <a:r>
              <a:rPr lang="en-US" dirty="0">
                <a:latin typeface="Century Gothic" panose="020B0502020202020204" pitchFamily="34" charset="0"/>
              </a:rPr>
              <a:t> leaves and 1 part of salt. </a:t>
            </a:r>
          </a:p>
          <a:p>
            <a:pPr marL="808038" lvl="1" indent="-357188">
              <a:buBlip>
                <a:blip r:embed="rId3"/>
              </a:buBlip>
            </a:pPr>
            <a:r>
              <a:rPr lang="en-US" dirty="0">
                <a:latin typeface="Century Gothic" panose="020B0502020202020204" pitchFamily="34" charset="0"/>
              </a:rPr>
              <a:t>Mixture of 4 parts Maize bran and 1 part cotton seed cake plus salt.</a:t>
            </a:r>
          </a:p>
          <a:p>
            <a:pPr marL="808038" lvl="1" indent="-357188">
              <a:buBlip>
                <a:blip r:embed="rId3"/>
              </a:buBlip>
            </a:pPr>
            <a:r>
              <a:rPr lang="en-US" dirty="0">
                <a:latin typeface="Century Gothic" panose="020B0502020202020204" pitchFamily="34" charset="0"/>
              </a:rPr>
              <a:t>50 parts of maize Stover and 50 parts of ground nut tops plus a supplement of 5 kg of maize bran</a:t>
            </a:r>
          </a:p>
          <a:p>
            <a:r>
              <a:rPr lang="en-US" sz="2400" dirty="0">
                <a:latin typeface="Century Gothic" panose="020B0502020202020204" pitchFamily="34" charset="0"/>
              </a:rPr>
              <a:t>Normally roughages are fed ad libitum with maize bran fed at 5kg per animal per day. </a:t>
            </a:r>
          </a:p>
          <a:p>
            <a:r>
              <a:rPr lang="en-US" sz="2400" dirty="0">
                <a:latin typeface="Century Gothic" panose="020B0502020202020204" pitchFamily="34" charset="0"/>
              </a:rPr>
              <a:t>When the roughage is restricted, then maize bran should be fed at 6.5 kg per animal per day. </a:t>
            </a:r>
          </a:p>
        </p:txBody>
      </p:sp>
    </p:spTree>
    <p:extLst>
      <p:ext uri="{BB962C8B-B14F-4D97-AF65-F5344CB8AC3E}">
        <p14:creationId xmlns:p14="http://schemas.microsoft.com/office/powerpoint/2010/main" val="37333210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Factors affecting Growth</a:t>
            </a:r>
          </a:p>
        </p:txBody>
      </p:sp>
      <p:sp>
        <p:nvSpPr>
          <p:cNvPr id="5" name="Tijdelijke aanduiding voor inhoud 4"/>
          <p:cNvSpPr>
            <a:spLocks noGrp="1"/>
          </p:cNvSpPr>
          <p:nvPr>
            <p:ph idx="1"/>
          </p:nvPr>
        </p:nvSpPr>
        <p:spPr>
          <a:xfrm>
            <a:off x="628650" y="1378421"/>
            <a:ext cx="7886700" cy="4634766"/>
          </a:xfrm>
        </p:spPr>
        <p:txBody>
          <a:bodyPr>
            <a:noAutofit/>
          </a:bodyPr>
          <a:lstStyle/>
          <a:p>
            <a:pPr marL="457200" indent="-457200">
              <a:buFont typeface="+mj-lt"/>
              <a:buAutoNum type="alphaLcPeriod"/>
            </a:pPr>
            <a:r>
              <a:rPr lang="en-US" sz="2400" dirty="0">
                <a:latin typeface="Century Gothic" panose="020B0502020202020204" pitchFamily="34" charset="0"/>
              </a:rPr>
              <a:t>Genotype</a:t>
            </a:r>
          </a:p>
          <a:p>
            <a:r>
              <a:rPr lang="en-US" sz="2400" dirty="0">
                <a:latin typeface="Century Gothic" panose="020B0502020202020204" pitchFamily="34" charset="0"/>
              </a:rPr>
              <a:t>Early maturing breeds attain slaughter weights earlier than late maturing.</a:t>
            </a:r>
          </a:p>
          <a:p>
            <a:endParaRPr lang="en-US" sz="2400" dirty="0">
              <a:latin typeface="Century Gothic" panose="020B0502020202020204" pitchFamily="34" charset="0"/>
            </a:endParaRPr>
          </a:p>
          <a:p>
            <a:pPr marL="457200" indent="-457200">
              <a:buFont typeface="+mj-lt"/>
              <a:buAutoNum type="alphaLcPeriod" startAt="2"/>
            </a:pPr>
            <a:r>
              <a:rPr lang="en-US" sz="2400" dirty="0">
                <a:latin typeface="Century Gothic" panose="020B0502020202020204" pitchFamily="34" charset="0"/>
              </a:rPr>
              <a:t>Sex </a:t>
            </a:r>
          </a:p>
          <a:p>
            <a:r>
              <a:rPr lang="en-US" sz="2400" dirty="0">
                <a:latin typeface="Century Gothic" panose="020B0502020202020204" pitchFamily="34" charset="0"/>
              </a:rPr>
              <a:t>Bulls have a higher growth rate than cows within the breed and steer in between.</a:t>
            </a:r>
          </a:p>
          <a:p>
            <a:r>
              <a:rPr lang="en-US" sz="2400" dirty="0">
                <a:latin typeface="Century Gothic" panose="020B0502020202020204" pitchFamily="34" charset="0"/>
              </a:rPr>
              <a:t>Bulls tend to put more muscles on their fore-quarter while cows deposit it on their hindquarter.</a:t>
            </a:r>
          </a:p>
          <a:p>
            <a:endParaRPr lang="en-US" sz="2400" dirty="0">
              <a:latin typeface="Century Gothic" panose="020B0502020202020204" pitchFamily="34" charset="0"/>
            </a:endParaRPr>
          </a:p>
        </p:txBody>
      </p:sp>
    </p:spTree>
    <p:extLst>
      <p:ext uri="{BB962C8B-B14F-4D97-AF65-F5344CB8AC3E}">
        <p14:creationId xmlns:p14="http://schemas.microsoft.com/office/powerpoint/2010/main" val="37666028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Factors affecting Growth</a:t>
            </a:r>
          </a:p>
        </p:txBody>
      </p:sp>
      <p:sp>
        <p:nvSpPr>
          <p:cNvPr id="5" name="Tijdelijke aanduiding voor inhoud 4"/>
          <p:cNvSpPr>
            <a:spLocks noGrp="1"/>
          </p:cNvSpPr>
          <p:nvPr>
            <p:ph idx="1"/>
          </p:nvPr>
        </p:nvSpPr>
        <p:spPr>
          <a:xfrm>
            <a:off x="628650" y="1378421"/>
            <a:ext cx="7886700" cy="4634766"/>
          </a:xfrm>
        </p:spPr>
        <p:txBody>
          <a:bodyPr>
            <a:noAutofit/>
          </a:bodyPr>
          <a:lstStyle/>
          <a:p>
            <a:pPr marL="457200" indent="-457200">
              <a:buFont typeface="+mj-lt"/>
              <a:buAutoNum type="alphaLcPeriod" startAt="3"/>
            </a:pPr>
            <a:r>
              <a:rPr lang="en-US" sz="2400" dirty="0">
                <a:latin typeface="Century Gothic" panose="020B0502020202020204" pitchFamily="34" charset="0"/>
              </a:rPr>
              <a:t>Plane of nutrition</a:t>
            </a:r>
          </a:p>
          <a:p>
            <a:r>
              <a:rPr lang="en-US" sz="2400" dirty="0">
                <a:latin typeface="Century Gothic" panose="020B0502020202020204" pitchFamily="34" charset="0"/>
              </a:rPr>
              <a:t>Animals on good nutrition grow at a faster rate.</a:t>
            </a:r>
          </a:p>
          <a:p>
            <a:r>
              <a:rPr lang="en-US" sz="2400" dirty="0">
                <a:latin typeface="Century Gothic" panose="020B0502020202020204" pitchFamily="34" charset="0"/>
              </a:rPr>
              <a:t>Restrictive nutrition causes retardation of body tissues and fat is retarded most. </a:t>
            </a:r>
          </a:p>
          <a:p>
            <a:r>
              <a:rPr lang="en-US" sz="2400" dirty="0">
                <a:latin typeface="Century Gothic" panose="020B0502020202020204" pitchFamily="34" charset="0"/>
              </a:rPr>
              <a:t>Cattle that undergo a period of growth retardation, followed by compensatory growth, experience some delay in reaching maturity, particularly if the restriction is severe and imposed </a:t>
            </a:r>
            <a:r>
              <a:rPr lang="en-GB" sz="2400" dirty="0">
                <a:latin typeface="Century Gothic" panose="020B0502020202020204" pitchFamily="34" charset="0"/>
              </a:rPr>
              <a:t>for a long time</a:t>
            </a:r>
            <a:endParaRPr lang="en-US" sz="2400" dirty="0">
              <a:latin typeface="Century Gothic" panose="020B0502020202020204" pitchFamily="34" charset="0"/>
            </a:endParaRPr>
          </a:p>
        </p:txBody>
      </p:sp>
    </p:spTree>
    <p:extLst>
      <p:ext uri="{BB962C8B-B14F-4D97-AF65-F5344CB8AC3E}">
        <p14:creationId xmlns:p14="http://schemas.microsoft.com/office/powerpoint/2010/main" val="8903357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Factors affecting Growth</a:t>
            </a:r>
          </a:p>
        </p:txBody>
      </p:sp>
      <p:sp>
        <p:nvSpPr>
          <p:cNvPr id="5" name="Tijdelijke aanduiding voor inhoud 4"/>
          <p:cNvSpPr>
            <a:spLocks noGrp="1"/>
          </p:cNvSpPr>
          <p:nvPr>
            <p:ph idx="1"/>
          </p:nvPr>
        </p:nvSpPr>
        <p:spPr>
          <a:xfrm>
            <a:off x="628650" y="1378421"/>
            <a:ext cx="7886700" cy="4634766"/>
          </a:xfrm>
        </p:spPr>
        <p:txBody>
          <a:bodyPr>
            <a:noAutofit/>
          </a:bodyPr>
          <a:lstStyle/>
          <a:p>
            <a:pPr marL="457200" indent="-457200">
              <a:buFont typeface="+mj-lt"/>
              <a:buAutoNum type="alphaLcPeriod" startAt="4"/>
            </a:pPr>
            <a:r>
              <a:rPr lang="en-US" sz="2400" dirty="0">
                <a:latin typeface="Century Gothic" panose="020B0502020202020204" pitchFamily="34" charset="0"/>
              </a:rPr>
              <a:t>Hormones and other growth promoters</a:t>
            </a:r>
          </a:p>
          <a:p>
            <a:r>
              <a:rPr lang="en-US" sz="2400" dirty="0">
                <a:latin typeface="Century Gothic" panose="020B0502020202020204" pitchFamily="34" charset="0"/>
              </a:rPr>
              <a:t>The sex effects on growth are driven by the hormone </a:t>
            </a:r>
            <a:r>
              <a:rPr lang="en-GB" sz="2400" dirty="0">
                <a:latin typeface="Century Gothic" panose="020B0502020202020204" pitchFamily="34" charset="0"/>
              </a:rPr>
              <a:t>complement of the sexes.</a:t>
            </a:r>
          </a:p>
          <a:p>
            <a:r>
              <a:rPr lang="en-US" sz="2400" dirty="0">
                <a:latin typeface="Century Gothic" panose="020B0502020202020204" pitchFamily="34" charset="0"/>
              </a:rPr>
              <a:t>In the EU, use of both synthetic and naturally </a:t>
            </a:r>
            <a:r>
              <a:rPr lang="en-GB" sz="2400" dirty="0">
                <a:latin typeface="Century Gothic" panose="020B0502020202020204" pitchFamily="34" charset="0"/>
              </a:rPr>
              <a:t>occurring growth-promoting hormones (</a:t>
            </a:r>
            <a:r>
              <a:rPr lang="en-GB" sz="2400" dirty="0" err="1">
                <a:latin typeface="Century Gothic" panose="020B0502020202020204" pitchFamily="34" charset="0"/>
              </a:rPr>
              <a:t>oestradiol</a:t>
            </a:r>
            <a:r>
              <a:rPr lang="en-GB" sz="2400" dirty="0">
                <a:latin typeface="Century Gothic" panose="020B0502020202020204" pitchFamily="34" charset="0"/>
              </a:rPr>
              <a:t> </a:t>
            </a:r>
            <a:r>
              <a:rPr lang="it-IT" sz="2400" dirty="0">
                <a:latin typeface="Century Gothic" panose="020B0502020202020204" pitchFamily="34" charset="0"/>
              </a:rPr>
              <a:t>17, testosterone, progesterone, zeranol, trenbolone </a:t>
            </a:r>
            <a:r>
              <a:rPr lang="en-US" sz="2400" dirty="0">
                <a:latin typeface="Century Gothic" panose="020B0502020202020204" pitchFamily="34" charset="0"/>
              </a:rPr>
              <a:t>acetate and </a:t>
            </a:r>
            <a:r>
              <a:rPr lang="en-US" sz="2400" dirty="0" err="1">
                <a:latin typeface="Century Gothic" panose="020B0502020202020204" pitchFamily="34" charset="0"/>
              </a:rPr>
              <a:t>melengestrol</a:t>
            </a:r>
            <a:r>
              <a:rPr lang="en-US" sz="2400" dirty="0">
                <a:latin typeface="Century Gothic" panose="020B0502020202020204" pitchFamily="34" charset="0"/>
              </a:rPr>
              <a:t> acetate) has been banned.</a:t>
            </a:r>
          </a:p>
          <a:p>
            <a:r>
              <a:rPr lang="en-US" sz="2400" dirty="0">
                <a:latin typeface="Century Gothic" panose="020B0502020202020204" pitchFamily="34" charset="0"/>
              </a:rPr>
              <a:t>Antimicrobial compounds which modify the ruminal microflora are routinely used to promote growth e.g. </a:t>
            </a:r>
            <a:r>
              <a:rPr lang="en-US" sz="2400" dirty="0" err="1">
                <a:latin typeface="Century Gothic" panose="020B0502020202020204" pitchFamily="34" charset="0"/>
              </a:rPr>
              <a:t>monensin</a:t>
            </a:r>
            <a:r>
              <a:rPr lang="en-US" sz="2400" dirty="0">
                <a:latin typeface="Century Gothic" panose="020B0502020202020204" pitchFamily="34" charset="0"/>
              </a:rPr>
              <a:t> </a:t>
            </a:r>
            <a:r>
              <a:rPr lang="en-GB" sz="2400" dirty="0">
                <a:latin typeface="Century Gothic" panose="020B0502020202020204" pitchFamily="34" charset="0"/>
              </a:rPr>
              <a:t>sodium</a:t>
            </a:r>
          </a:p>
          <a:p>
            <a:r>
              <a:rPr lang="en-US" sz="2400" dirty="0">
                <a:latin typeface="Century Gothic" panose="020B0502020202020204" pitchFamily="34" charset="0"/>
              </a:rPr>
              <a:t>There is increasing concern over the routine use </a:t>
            </a:r>
            <a:r>
              <a:rPr lang="en-GB" sz="2400" dirty="0">
                <a:latin typeface="Century Gothic" panose="020B0502020202020204" pitchFamily="34" charset="0"/>
              </a:rPr>
              <a:t>of antimicrobial compounds</a:t>
            </a:r>
            <a:endParaRPr lang="en-US" sz="2400" dirty="0">
              <a:latin typeface="Century Gothic" panose="020B0502020202020204" pitchFamily="34" charset="0"/>
            </a:endParaRPr>
          </a:p>
        </p:txBody>
      </p:sp>
    </p:spTree>
    <p:extLst>
      <p:ext uri="{BB962C8B-B14F-4D97-AF65-F5344CB8AC3E}">
        <p14:creationId xmlns:p14="http://schemas.microsoft.com/office/powerpoint/2010/main" val="14867824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19367"/>
            <a:ext cx="7886700" cy="4771244"/>
          </a:xfrm>
        </p:spPr>
        <p:txBody>
          <a:bodyPr>
            <a:normAutofit/>
          </a:bodyPr>
          <a:lstStyle/>
          <a:p>
            <a:r>
              <a:rPr lang="en-GB" sz="2400" dirty="0">
                <a:latin typeface="Century Gothic" panose="020B0502020202020204" pitchFamily="34" charset="0"/>
              </a:rPr>
              <a:t>Growth: defined as the act of increase in size and body weight of an animal.</a:t>
            </a:r>
          </a:p>
          <a:p>
            <a:r>
              <a:rPr lang="en-GB" sz="2400" dirty="0">
                <a:latin typeface="Century Gothic" panose="020B0502020202020204" pitchFamily="34" charset="0"/>
              </a:rPr>
              <a:t>Development: defined as a course of changes in form, structure, size of tissue, organs or systems.</a:t>
            </a:r>
          </a:p>
          <a:p>
            <a:r>
              <a:rPr lang="en-GB" sz="2400" dirty="0">
                <a:latin typeface="Century Gothic" panose="020B0502020202020204" pitchFamily="34" charset="0"/>
              </a:rPr>
              <a:t>Fattening: accumulation of fat in the cells (adipose tissue).</a:t>
            </a:r>
          </a:p>
          <a:p>
            <a:r>
              <a:rPr lang="en-GB" sz="2400" dirty="0">
                <a:latin typeface="Century Gothic" panose="020B0502020202020204" pitchFamily="34" charset="0"/>
              </a:rPr>
              <a:t>Finishing off: deliberate feeding of animals usually high energy concentrates so that they put on the desired fat.</a:t>
            </a:r>
          </a:p>
          <a:p>
            <a:r>
              <a:rPr lang="en-GB" sz="2400" dirty="0">
                <a:latin typeface="Century Gothic" panose="020B0502020202020204" pitchFamily="34" charset="0"/>
              </a:rPr>
              <a:t>Maturation: the process when an animal becomes fully developed.</a:t>
            </a: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Growth and Development</a:t>
            </a:r>
          </a:p>
        </p:txBody>
      </p:sp>
    </p:spTree>
    <p:extLst>
      <p:ext uri="{BB962C8B-B14F-4D97-AF65-F5344CB8AC3E}">
        <p14:creationId xmlns:p14="http://schemas.microsoft.com/office/powerpoint/2010/main" val="3216469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19367"/>
            <a:ext cx="7886700" cy="4771244"/>
          </a:xfrm>
        </p:spPr>
        <p:txBody>
          <a:bodyPr>
            <a:normAutofit/>
          </a:bodyPr>
          <a:lstStyle/>
          <a:p>
            <a:r>
              <a:rPr lang="en-GB" sz="2400" dirty="0">
                <a:latin typeface="Century Gothic" panose="020B0502020202020204" pitchFamily="34" charset="0"/>
              </a:rPr>
              <a:t>This is a phenomenon which occurs when growth is interrupted due to insufficient feeds.</a:t>
            </a:r>
          </a:p>
          <a:p>
            <a:r>
              <a:rPr lang="en-GB" sz="2400" dirty="0">
                <a:latin typeface="Century Gothic" panose="020B0502020202020204" pitchFamily="34" charset="0"/>
              </a:rPr>
              <a:t>This cyclic compensatory growth in cattle is an evolutionary mechanism that allows tropical cattle breeds to combat seasonal variations in feed supply. </a:t>
            </a:r>
          </a:p>
          <a:p>
            <a:r>
              <a:rPr lang="en-GB" sz="2400" dirty="0">
                <a:latin typeface="Century Gothic" panose="020B0502020202020204" pitchFamily="34" charset="0"/>
              </a:rPr>
              <a:t>Cattle usually fed to support themselves during the dry season knowing that they would compensate in the wet season.</a:t>
            </a: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Compensatory Growth</a:t>
            </a:r>
          </a:p>
        </p:txBody>
      </p:sp>
    </p:spTree>
    <p:extLst>
      <p:ext uri="{BB962C8B-B14F-4D97-AF65-F5344CB8AC3E}">
        <p14:creationId xmlns:p14="http://schemas.microsoft.com/office/powerpoint/2010/main" val="33751286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05719"/>
            <a:ext cx="7886700" cy="4771244"/>
          </a:xfrm>
        </p:spPr>
        <p:txBody>
          <a:bodyPr>
            <a:noAutofit/>
          </a:bodyPr>
          <a:lstStyle/>
          <a:p>
            <a:r>
              <a:rPr lang="en-US" sz="2400" dirty="0">
                <a:latin typeface="Century Gothic" panose="020B0502020202020204" pitchFamily="34" charset="0"/>
              </a:rPr>
              <a:t>Beef production operations require the simplest facilities.</a:t>
            </a:r>
          </a:p>
          <a:p>
            <a:r>
              <a:rPr lang="en-US" sz="2400" dirty="0">
                <a:latin typeface="Century Gothic" panose="020B0502020202020204" pitchFamily="34" charset="0"/>
              </a:rPr>
              <a:t>Separate feedlot areas should be available for different kinds of cattle, such as mature cows, heifers, bulls, and calves. </a:t>
            </a:r>
          </a:p>
          <a:p>
            <a:r>
              <a:rPr lang="en-US" sz="2400" dirty="0">
                <a:latin typeface="Century Gothic" panose="020B0502020202020204" pitchFamily="34" charset="0"/>
              </a:rPr>
              <a:t>A corral is needed for any kind of beef cattle operation. A holding pen and a chute are essential features of a corral. </a:t>
            </a:r>
          </a:p>
          <a:p>
            <a:r>
              <a:rPr lang="en-US" sz="2400" dirty="0">
                <a:latin typeface="Century Gothic" panose="020B0502020202020204" pitchFamily="34" charset="0"/>
              </a:rPr>
              <a:t>Many operations, such as parasite control, tattooing, branding, and veterinary treatments, are performed in the working chute.</a:t>
            </a: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Housing</a:t>
            </a:r>
          </a:p>
        </p:txBody>
      </p:sp>
    </p:spTree>
    <p:extLst>
      <p:ext uri="{BB962C8B-B14F-4D97-AF65-F5344CB8AC3E}">
        <p14:creationId xmlns:p14="http://schemas.microsoft.com/office/powerpoint/2010/main" val="6756925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Age Determination by Dentition</a:t>
            </a:r>
          </a:p>
        </p:txBody>
      </p:sp>
      <p:pic>
        <p:nvPicPr>
          <p:cNvPr id="5" name="Afbeelding 4" descr="5 Beef Production and Management.pptx - Microsoft PowerPoint (Productactivering is mislukt)"/>
          <p:cNvPicPr>
            <a:picLocks noChangeAspect="1"/>
          </p:cNvPicPr>
          <p:nvPr/>
        </p:nvPicPr>
        <p:blipFill rotWithShape="1">
          <a:blip r:embed="rId3">
            <a:extLst>
              <a:ext uri="{28A0092B-C50C-407E-A947-70E740481C1C}">
                <a14:useLocalDpi xmlns:a14="http://schemas.microsoft.com/office/drawing/2010/main" val="0"/>
              </a:ext>
            </a:extLst>
          </a:blip>
          <a:srcRect l="28488" t="30289" r="11395" b="12616"/>
          <a:stretch/>
        </p:blipFill>
        <p:spPr>
          <a:xfrm>
            <a:off x="797442" y="1449508"/>
            <a:ext cx="7697204" cy="4377134"/>
          </a:xfrm>
          <a:prstGeom prst="rect">
            <a:avLst/>
          </a:prstGeom>
        </p:spPr>
      </p:pic>
    </p:spTree>
    <p:extLst>
      <p:ext uri="{BB962C8B-B14F-4D97-AF65-F5344CB8AC3E}">
        <p14:creationId xmlns:p14="http://schemas.microsoft.com/office/powerpoint/2010/main" val="19670309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514901"/>
            <a:ext cx="7886700" cy="4662062"/>
          </a:xfrm>
        </p:spPr>
        <p:txBody>
          <a:bodyPr>
            <a:normAutofit/>
          </a:bodyPr>
          <a:lstStyle/>
          <a:p>
            <a:r>
              <a:rPr lang="en-US" sz="2400" dirty="0">
                <a:latin typeface="Century Gothic" panose="020B0502020202020204" pitchFamily="34" charset="0"/>
              </a:rPr>
              <a:t>Identification of individual calves should be done immediately it is born</a:t>
            </a:r>
            <a:r>
              <a:rPr lang="en-GB" sz="2400" dirty="0">
                <a:latin typeface="Century Gothic" panose="020B0502020202020204" pitchFamily="34" charset="0"/>
              </a:rPr>
              <a:t>.</a:t>
            </a:r>
          </a:p>
          <a:p>
            <a:r>
              <a:rPr lang="en-GB" sz="2400" dirty="0">
                <a:latin typeface="Century Gothic" panose="020B0502020202020204" pitchFamily="34" charset="0"/>
              </a:rPr>
              <a:t>Ear tags, ear notching, branding commonly used.</a:t>
            </a:r>
          </a:p>
          <a:p>
            <a:r>
              <a:rPr lang="en-GB" sz="2400" dirty="0">
                <a:latin typeface="Century Gothic" panose="020B0502020202020204" pitchFamily="34" charset="0"/>
              </a:rPr>
              <a:t>Branding usually done between 5 – 6 months or simply after weaning.</a:t>
            </a:r>
          </a:p>
          <a:p>
            <a:r>
              <a:rPr lang="en-GB" sz="2400" dirty="0">
                <a:latin typeface="Century Gothic" panose="020B0502020202020204" pitchFamily="34" charset="0"/>
              </a:rPr>
              <a:t>Branding can be done using:</a:t>
            </a:r>
          </a:p>
          <a:p>
            <a:pPr marL="914400" lvl="1" indent="-457200">
              <a:buFont typeface="+mj-lt"/>
              <a:buAutoNum type="alphaLcPeriod"/>
            </a:pPr>
            <a:r>
              <a:rPr lang="en-GB" dirty="0">
                <a:latin typeface="Century Gothic" panose="020B0502020202020204" pitchFamily="34" charset="0"/>
              </a:rPr>
              <a:t>Hot branding iron</a:t>
            </a:r>
          </a:p>
          <a:p>
            <a:pPr marL="914400" lvl="1" indent="-457200">
              <a:buFont typeface="+mj-lt"/>
              <a:buAutoNum type="alphaLcPeriod"/>
            </a:pPr>
            <a:r>
              <a:rPr lang="en-GB" dirty="0">
                <a:latin typeface="Century Gothic" panose="020B0502020202020204" pitchFamily="34" charset="0"/>
              </a:rPr>
              <a:t>Cold (Freeze) branding iron</a:t>
            </a: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Identification</a:t>
            </a:r>
          </a:p>
        </p:txBody>
      </p:sp>
    </p:spTree>
    <p:extLst>
      <p:ext uri="{BB962C8B-B14F-4D97-AF65-F5344CB8AC3E}">
        <p14:creationId xmlns:p14="http://schemas.microsoft.com/office/powerpoint/2010/main" val="3242639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705969"/>
            <a:ext cx="7886700" cy="4470993"/>
          </a:xfrm>
        </p:spPr>
        <p:txBody>
          <a:bodyPr>
            <a:normAutofit/>
          </a:bodyPr>
          <a:lstStyle/>
          <a:p>
            <a:r>
              <a:rPr lang="en-US" sz="2400" dirty="0">
                <a:latin typeface="Century Gothic" panose="020B0502020202020204" pitchFamily="34" charset="0"/>
              </a:rPr>
              <a:t>Bull calves should be no more than 3 or 4 months of age.</a:t>
            </a:r>
          </a:p>
          <a:p>
            <a:r>
              <a:rPr lang="en-US" sz="2400" dirty="0">
                <a:latin typeface="Century Gothic" panose="020B0502020202020204" pitchFamily="34" charset="0"/>
              </a:rPr>
              <a:t>There are more problems with bleeding and weight loss when older bulls are </a:t>
            </a:r>
            <a:r>
              <a:rPr lang="en-GB" sz="2400" dirty="0">
                <a:latin typeface="Century Gothic" panose="020B0502020202020204" pitchFamily="34" charset="0"/>
              </a:rPr>
              <a:t>castrated.</a:t>
            </a:r>
            <a:endParaRPr lang="en-US" sz="2400" dirty="0">
              <a:latin typeface="Century Gothic" panose="020B0502020202020204" pitchFamily="34" charset="0"/>
            </a:endParaRPr>
          </a:p>
          <a:p>
            <a:r>
              <a:rPr lang="en-US" sz="2400" dirty="0">
                <a:latin typeface="Century Gothic" panose="020B0502020202020204" pitchFamily="34" charset="0"/>
              </a:rPr>
              <a:t>Three methods are commonly used:</a:t>
            </a:r>
          </a:p>
          <a:p>
            <a:pPr marL="1028700" lvl="1" indent="-571500">
              <a:buFont typeface="+mj-lt"/>
              <a:buAutoNum type="romanLcPeriod"/>
            </a:pPr>
            <a:r>
              <a:rPr lang="en-US" dirty="0">
                <a:latin typeface="Century Gothic" panose="020B0502020202020204" pitchFamily="34" charset="0"/>
              </a:rPr>
              <a:t>elastrator bands,</a:t>
            </a:r>
          </a:p>
          <a:p>
            <a:pPr marL="1028700" lvl="1" indent="-571500">
              <a:buFont typeface="+mj-lt"/>
              <a:buAutoNum type="romanLcPeriod"/>
            </a:pPr>
            <a:r>
              <a:rPr lang="en-GB" dirty="0">
                <a:latin typeface="Century Gothic" panose="020B0502020202020204" pitchFamily="34" charset="0"/>
              </a:rPr>
              <a:t>use of </a:t>
            </a:r>
            <a:r>
              <a:rPr lang="en-GB" dirty="0" err="1">
                <a:latin typeface="Century Gothic" panose="020B0502020202020204" pitchFamily="34" charset="0"/>
              </a:rPr>
              <a:t>Burdizzo</a:t>
            </a:r>
            <a:r>
              <a:rPr lang="en-GB" dirty="0">
                <a:latin typeface="Century Gothic" panose="020B0502020202020204" pitchFamily="34" charset="0"/>
              </a:rPr>
              <a:t>, and</a:t>
            </a:r>
          </a:p>
          <a:p>
            <a:pPr marL="1028700" lvl="1" indent="-571500">
              <a:buFont typeface="+mj-lt"/>
              <a:buAutoNum type="romanLcPeriod"/>
            </a:pPr>
            <a:r>
              <a:rPr lang="en-GB" dirty="0">
                <a:latin typeface="Century Gothic" panose="020B0502020202020204" pitchFamily="34" charset="0"/>
              </a:rPr>
              <a:t>surgical method.</a:t>
            </a: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Castration</a:t>
            </a:r>
          </a:p>
        </p:txBody>
      </p:sp>
      <p:sp>
        <p:nvSpPr>
          <p:cNvPr id="5" name="Rechteraccolade 4"/>
          <p:cNvSpPr/>
          <p:nvPr/>
        </p:nvSpPr>
        <p:spPr>
          <a:xfrm>
            <a:off x="4653885" y="3684886"/>
            <a:ext cx="409433" cy="83251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 name="Rechthoek 5"/>
          <p:cNvSpPr/>
          <p:nvPr/>
        </p:nvSpPr>
        <p:spPr>
          <a:xfrm>
            <a:off x="5254389" y="3944194"/>
            <a:ext cx="1828798" cy="3411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Century Gothic" panose="020B0502020202020204" pitchFamily="34" charset="0"/>
              </a:rPr>
              <a:t>Bloodless techniques</a:t>
            </a:r>
          </a:p>
        </p:txBody>
      </p:sp>
    </p:spTree>
    <p:extLst>
      <p:ext uri="{BB962C8B-B14F-4D97-AF65-F5344CB8AC3E}">
        <p14:creationId xmlns:p14="http://schemas.microsoft.com/office/powerpoint/2010/main" val="42671953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05719"/>
            <a:ext cx="7886700" cy="4771244"/>
          </a:xfrm>
        </p:spPr>
        <p:txBody>
          <a:bodyPr>
            <a:noAutofit/>
          </a:bodyPr>
          <a:lstStyle/>
          <a:p>
            <a:r>
              <a:rPr lang="en-US" sz="2400" dirty="0">
                <a:latin typeface="Century Gothic" panose="020B0502020202020204" pitchFamily="34" charset="0"/>
              </a:rPr>
              <a:t>Horns are usually removed to prevent injury to other cattle and to handlers.</a:t>
            </a:r>
          </a:p>
          <a:p>
            <a:r>
              <a:rPr lang="en-US" sz="2400" dirty="0">
                <a:latin typeface="Century Gothic" panose="020B0502020202020204" pitchFamily="34" charset="0"/>
              </a:rPr>
              <a:t>It is best done when calves are under 3 months old as this will not cause no setbacks (normally between 3 – 4 weeks).</a:t>
            </a:r>
          </a:p>
          <a:p>
            <a:r>
              <a:rPr lang="en-US" sz="2400" dirty="0">
                <a:latin typeface="Century Gothic" panose="020B0502020202020204" pitchFamily="34" charset="0"/>
              </a:rPr>
              <a:t>Common methods of dehorning include: </a:t>
            </a:r>
          </a:p>
          <a:p>
            <a:pPr marL="914400" lvl="1" indent="-457200">
              <a:buFont typeface="+mj-lt"/>
              <a:buAutoNum type="alphaLcPeriod"/>
            </a:pPr>
            <a:r>
              <a:rPr lang="en-US" dirty="0">
                <a:latin typeface="Century Gothic" panose="020B0502020202020204" pitchFamily="34" charset="0"/>
              </a:rPr>
              <a:t>Hot iron</a:t>
            </a:r>
          </a:p>
          <a:p>
            <a:pPr marL="914400" lvl="1" indent="-457200">
              <a:buFont typeface="+mj-lt"/>
              <a:buAutoNum type="alphaLcPeriod"/>
            </a:pPr>
            <a:r>
              <a:rPr lang="en-US" dirty="0">
                <a:latin typeface="Century Gothic" panose="020B0502020202020204" pitchFamily="34" charset="0"/>
              </a:rPr>
              <a:t>Dehorning knife</a:t>
            </a:r>
          </a:p>
          <a:p>
            <a:pPr marL="914400" lvl="1" indent="-457200">
              <a:buFont typeface="+mj-lt"/>
              <a:buAutoNum type="alphaLcPeriod"/>
            </a:pPr>
            <a:r>
              <a:rPr lang="en-US" dirty="0">
                <a:latin typeface="Century Gothic" panose="020B0502020202020204" pitchFamily="34" charset="0"/>
              </a:rPr>
              <a:t>Scoop or cup dehorners</a:t>
            </a:r>
          </a:p>
          <a:p>
            <a:pPr marL="914400" lvl="1" indent="-457200">
              <a:buFont typeface="+mj-lt"/>
              <a:buAutoNum type="alphaLcPeriod"/>
            </a:pPr>
            <a:r>
              <a:rPr lang="en-US" dirty="0">
                <a:latin typeface="Century Gothic" panose="020B0502020202020204" pitchFamily="34" charset="0"/>
              </a:rPr>
              <a:t>Hand saw – </a:t>
            </a:r>
            <a:r>
              <a:rPr lang="en-US" sz="2000" dirty="0">
                <a:latin typeface="Century Gothic" panose="020B0502020202020204" pitchFamily="34" charset="0"/>
              </a:rPr>
              <a:t>older cattle</a:t>
            </a:r>
            <a:endParaRPr lang="en-US" dirty="0">
              <a:latin typeface="Century Gothic" panose="020B0502020202020204" pitchFamily="34" charset="0"/>
            </a:endParaRPr>
          </a:p>
          <a:p>
            <a:pPr marL="914400" lvl="1" indent="-457200">
              <a:buFont typeface="+mj-lt"/>
              <a:buAutoNum type="alphaLcPeriod"/>
            </a:pPr>
            <a:r>
              <a:rPr lang="en-US" dirty="0">
                <a:latin typeface="Century Gothic" panose="020B0502020202020204" pitchFamily="34" charset="0"/>
              </a:rPr>
              <a:t>Chemical : Liquid, paste, or caustic potash sticks – </a:t>
            </a:r>
            <a:r>
              <a:rPr lang="en-US" sz="2000" dirty="0">
                <a:latin typeface="Century Gothic" panose="020B0502020202020204" pitchFamily="34" charset="0"/>
              </a:rPr>
              <a:t>calves under 2 weeks</a:t>
            </a: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Dehorning</a:t>
            </a:r>
          </a:p>
        </p:txBody>
      </p:sp>
    </p:spTree>
    <p:extLst>
      <p:ext uri="{BB962C8B-B14F-4D97-AF65-F5344CB8AC3E}">
        <p14:creationId xmlns:p14="http://schemas.microsoft.com/office/powerpoint/2010/main" val="15090365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05719"/>
            <a:ext cx="7886700" cy="4771244"/>
          </a:xfrm>
        </p:spPr>
        <p:txBody>
          <a:bodyPr>
            <a:normAutofit/>
          </a:bodyPr>
          <a:lstStyle/>
          <a:p>
            <a:r>
              <a:rPr lang="en-US" sz="2400" dirty="0">
                <a:latin typeface="Century Gothic" panose="020B0502020202020204" pitchFamily="34" charset="0"/>
              </a:rPr>
              <a:t>If cattle are to be handled individually by the farmer, they will need some system of restraint and control.</a:t>
            </a:r>
          </a:p>
          <a:p>
            <a:endParaRPr lang="en-GB" sz="2400" dirty="0">
              <a:latin typeface="Century Gothic" panose="020B0502020202020204" pitchFamily="34" charset="0"/>
            </a:endParaRP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Restraining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2928" y="2764319"/>
            <a:ext cx="2752725" cy="2257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2"/>
          <p:cNvSpPr txBox="1">
            <a:spLocks/>
          </p:cNvSpPr>
          <p:nvPr/>
        </p:nvSpPr>
        <p:spPr>
          <a:xfrm>
            <a:off x="658218" y="2456597"/>
            <a:ext cx="4514281" cy="36816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Century Gothic" panose="020B0502020202020204" pitchFamily="34" charset="0"/>
              </a:rPr>
              <a:t>Different methods used:</a:t>
            </a:r>
          </a:p>
          <a:p>
            <a:pPr lvl="1"/>
            <a:r>
              <a:rPr lang="en-US" dirty="0">
                <a:latin typeface="Century Gothic" panose="020B0502020202020204" pitchFamily="34" charset="0"/>
              </a:rPr>
              <a:t>Halter</a:t>
            </a:r>
          </a:p>
          <a:p>
            <a:pPr lvl="1"/>
            <a:r>
              <a:rPr lang="en-US" dirty="0">
                <a:latin typeface="Century Gothic" panose="020B0502020202020204" pitchFamily="34" charset="0"/>
              </a:rPr>
              <a:t>Bull leader </a:t>
            </a:r>
          </a:p>
          <a:p>
            <a:pPr lvl="1"/>
            <a:r>
              <a:rPr lang="en-US" dirty="0">
                <a:latin typeface="Century Gothic" panose="020B0502020202020204" pitchFamily="34" charset="0"/>
              </a:rPr>
              <a:t>Nose ropes</a:t>
            </a:r>
          </a:p>
          <a:p>
            <a:pPr lvl="1"/>
            <a:r>
              <a:rPr lang="en-US" dirty="0">
                <a:latin typeface="Century Gothic" panose="020B0502020202020204" pitchFamily="34" charset="0"/>
              </a:rPr>
              <a:t>Chute or crush</a:t>
            </a:r>
          </a:p>
          <a:p>
            <a:endParaRPr lang="en-GB" sz="2400" dirty="0">
              <a:latin typeface="Century Gothic" panose="020B0502020202020204" pitchFamily="34" charset="0"/>
            </a:endParaRPr>
          </a:p>
        </p:txBody>
      </p:sp>
      <p:sp>
        <p:nvSpPr>
          <p:cNvPr id="2" name="Tekstvak 1"/>
          <p:cNvSpPr txBox="1"/>
          <p:nvPr/>
        </p:nvSpPr>
        <p:spPr>
          <a:xfrm>
            <a:off x="5759359" y="5158861"/>
            <a:ext cx="1965277" cy="369332"/>
          </a:xfrm>
          <a:prstGeom prst="rect">
            <a:avLst/>
          </a:prstGeom>
          <a:noFill/>
        </p:spPr>
        <p:txBody>
          <a:bodyPr wrap="square" rtlCol="0">
            <a:spAutoFit/>
          </a:bodyPr>
          <a:lstStyle/>
          <a:p>
            <a:pPr algn="ctr"/>
            <a:r>
              <a:rPr lang="en-GB" dirty="0"/>
              <a:t>Use of Halter</a:t>
            </a:r>
          </a:p>
        </p:txBody>
      </p:sp>
    </p:spTree>
    <p:extLst>
      <p:ext uri="{BB962C8B-B14F-4D97-AF65-F5344CB8AC3E}">
        <p14:creationId xmlns:p14="http://schemas.microsoft.com/office/powerpoint/2010/main" val="1079986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705969"/>
            <a:ext cx="7886700" cy="4470993"/>
          </a:xfrm>
        </p:spPr>
        <p:txBody>
          <a:bodyPr>
            <a:normAutofit/>
          </a:bodyPr>
          <a:lstStyle/>
          <a:p>
            <a:r>
              <a:rPr lang="en-GB" sz="2400" dirty="0">
                <a:latin typeface="Century Gothic" panose="020B0502020202020204" pitchFamily="34" charset="0"/>
              </a:rPr>
              <a:t>Examples of records kept:</a:t>
            </a:r>
          </a:p>
          <a:p>
            <a:pPr lvl="1">
              <a:buFont typeface="Wingdings" panose="05000000000000000000" pitchFamily="2" charset="2"/>
              <a:buChar char="§"/>
            </a:pPr>
            <a:r>
              <a:rPr lang="en-GB" dirty="0">
                <a:latin typeface="Century Gothic" panose="020B0502020202020204" pitchFamily="34" charset="0"/>
              </a:rPr>
              <a:t>Growth or weight records</a:t>
            </a:r>
          </a:p>
          <a:p>
            <a:pPr lvl="1">
              <a:buFont typeface="Wingdings" panose="05000000000000000000" pitchFamily="2" charset="2"/>
              <a:buChar char="§"/>
            </a:pPr>
            <a:r>
              <a:rPr lang="en-GB" dirty="0">
                <a:latin typeface="Century Gothic" panose="020B0502020202020204" pitchFamily="34" charset="0"/>
              </a:rPr>
              <a:t>Health records</a:t>
            </a:r>
          </a:p>
          <a:p>
            <a:pPr lvl="1">
              <a:buFont typeface="Wingdings" panose="05000000000000000000" pitchFamily="2" charset="2"/>
              <a:buChar char="§"/>
            </a:pPr>
            <a:r>
              <a:rPr lang="en-GB" dirty="0">
                <a:latin typeface="Century Gothic" panose="020B0502020202020204" pitchFamily="34" charset="0"/>
              </a:rPr>
              <a:t>Mating records</a:t>
            </a:r>
          </a:p>
          <a:p>
            <a:pPr lvl="1">
              <a:buFont typeface="Wingdings" panose="05000000000000000000" pitchFamily="2" charset="2"/>
              <a:buChar char="§"/>
            </a:pPr>
            <a:r>
              <a:rPr lang="en-GB" dirty="0">
                <a:latin typeface="Century Gothic" panose="020B0502020202020204" pitchFamily="34" charset="0"/>
              </a:rPr>
              <a:t>Calving records</a:t>
            </a:r>
          </a:p>
          <a:p>
            <a:pPr lvl="1">
              <a:buFont typeface="Wingdings" panose="05000000000000000000" pitchFamily="2" charset="2"/>
              <a:buChar char="§"/>
            </a:pPr>
            <a:r>
              <a:rPr lang="en-GB" dirty="0">
                <a:latin typeface="Century Gothic" panose="020B0502020202020204" pitchFamily="34" charset="0"/>
              </a:rPr>
              <a:t>Financial records, </a:t>
            </a:r>
            <a:r>
              <a:rPr lang="en-GB" dirty="0" err="1">
                <a:latin typeface="Century Gothic" panose="020B0502020202020204" pitchFamily="34" charset="0"/>
              </a:rPr>
              <a:t>etc</a:t>
            </a:r>
            <a:endParaRPr lang="en-GB" dirty="0">
              <a:latin typeface="Century Gothic" panose="020B0502020202020204" pitchFamily="34" charset="0"/>
            </a:endParaRP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Record Keeping</a:t>
            </a:r>
          </a:p>
        </p:txBody>
      </p:sp>
    </p:spTree>
    <p:extLst>
      <p:ext uri="{BB962C8B-B14F-4D97-AF65-F5344CB8AC3E}">
        <p14:creationId xmlns:p14="http://schemas.microsoft.com/office/powerpoint/2010/main" val="1581663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05719"/>
            <a:ext cx="7886700" cy="4771244"/>
          </a:xfrm>
        </p:spPr>
        <p:txBody>
          <a:bodyPr>
            <a:noAutofit/>
          </a:bodyPr>
          <a:lstStyle/>
          <a:p>
            <a:r>
              <a:rPr lang="en-US" sz="2400" dirty="0">
                <a:latin typeface="Century Gothic" panose="020B0502020202020204" pitchFamily="34" charset="0"/>
              </a:rPr>
              <a:t>The key to the success of the health plan is the prevention of problems. </a:t>
            </a:r>
          </a:p>
          <a:p>
            <a:r>
              <a:rPr lang="en-US" sz="2400" dirty="0">
                <a:latin typeface="Century Gothic" panose="020B0502020202020204" pitchFamily="34" charset="0"/>
              </a:rPr>
              <a:t>Being familiar with the diseases and parasites that affect beef cattle can help farmers plan preventive programs that reduce health problems and increase </a:t>
            </a:r>
            <a:r>
              <a:rPr lang="en-GB" sz="2400" dirty="0">
                <a:latin typeface="Century Gothic" panose="020B0502020202020204" pitchFamily="34" charset="0"/>
              </a:rPr>
              <a:t>profits.</a:t>
            </a:r>
          </a:p>
          <a:p>
            <a:r>
              <a:rPr lang="en-US" sz="2400" dirty="0">
                <a:latin typeface="Century Gothic" panose="020B0502020202020204" pitchFamily="34" charset="0"/>
              </a:rPr>
              <a:t>Observing the vital signs (temperature, pulse rate, and respiration rate) in an animal can help in the early detection of health problems.</a:t>
            </a:r>
          </a:p>
          <a:p>
            <a:pPr lvl="1">
              <a:buFont typeface="Wingdings" panose="05000000000000000000" pitchFamily="2" charset="2"/>
              <a:buChar char="q"/>
            </a:pPr>
            <a:r>
              <a:rPr lang="en-US" dirty="0">
                <a:latin typeface="Century Gothic" panose="020B0502020202020204" pitchFamily="34" charset="0"/>
              </a:rPr>
              <a:t>temperature (normal range is 38°C to 39.3°C). </a:t>
            </a:r>
          </a:p>
          <a:p>
            <a:pPr lvl="1">
              <a:buFont typeface="Wingdings" panose="05000000000000000000" pitchFamily="2" charset="2"/>
              <a:buChar char="q"/>
            </a:pPr>
            <a:r>
              <a:rPr lang="en-US" dirty="0">
                <a:latin typeface="Century Gothic" panose="020B0502020202020204" pitchFamily="34" charset="0"/>
              </a:rPr>
              <a:t>pulse rate (normal range is 60 to 70 heartbeats per minute).</a:t>
            </a:r>
          </a:p>
          <a:p>
            <a:pPr lvl="1">
              <a:buFont typeface="Wingdings" panose="05000000000000000000" pitchFamily="2" charset="2"/>
              <a:buChar char="q"/>
            </a:pPr>
            <a:r>
              <a:rPr lang="en-US" dirty="0">
                <a:latin typeface="Century Gothic" panose="020B0502020202020204" pitchFamily="34" charset="0"/>
              </a:rPr>
              <a:t>respiration rate (normal range is 10 to 30 breaths per minute).</a:t>
            </a:r>
            <a:endParaRPr lang="en-GB" dirty="0">
              <a:latin typeface="Century Gothic" panose="020B0502020202020204" pitchFamily="34" charset="0"/>
            </a:endParaRPr>
          </a:p>
        </p:txBody>
      </p:sp>
      <p:sp>
        <p:nvSpPr>
          <p:cNvPr id="4"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itchFamily="34" charset="0"/>
              </a:rPr>
              <a:t>Herd Health</a:t>
            </a:r>
          </a:p>
        </p:txBody>
      </p:sp>
    </p:spTree>
    <p:extLst>
      <p:ext uri="{BB962C8B-B14F-4D97-AF65-F5344CB8AC3E}">
        <p14:creationId xmlns:p14="http://schemas.microsoft.com/office/powerpoint/2010/main" val="24688314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34417</TotalTime>
  <Words>3271</Words>
  <Application>Microsoft Office PowerPoint</Application>
  <PresentationFormat>On-screen Show (4:3)</PresentationFormat>
  <Paragraphs>399</Paragraphs>
  <Slides>49</Slides>
  <Notes>48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Calibri Light</vt:lpstr>
      <vt:lpstr>Century Gothic</vt:lpstr>
      <vt:lpstr>Times New Roman</vt:lpstr>
      <vt:lpstr>Wingdings</vt:lpstr>
      <vt:lpstr>Office Theme</vt:lpstr>
      <vt:lpstr>Beef Production and Management</vt:lpstr>
      <vt:lpstr>Beef Production and Management</vt:lpstr>
      <vt:lpstr>Notable Differences between Bos taurus and Bos indicus</vt:lpstr>
      <vt:lpstr>Advantages of Beef Animals</vt:lpstr>
      <vt:lpstr>Constraints associated with Beef Production</vt:lpstr>
      <vt:lpstr>Beef breeds in Malawi</vt:lpstr>
      <vt:lpstr>Beef breeds in Malawi</vt:lpstr>
      <vt:lpstr>Beef breeds in Malawi</vt:lpstr>
      <vt:lpstr>Beef breeds in Malawi</vt:lpstr>
      <vt:lpstr>PowerPoint Presentation</vt:lpstr>
      <vt:lpstr>PowerPoint Presentation</vt:lpstr>
      <vt:lpstr>PowerPoint Presentation</vt:lpstr>
      <vt:lpstr>PowerPoint Presentation</vt:lpstr>
      <vt:lpstr>Reproduction</vt:lpstr>
      <vt:lpstr>Reproduction</vt:lpstr>
      <vt:lpstr>Managing the Cow Herd</vt:lpstr>
      <vt:lpstr>Selection of Bulls</vt:lpstr>
      <vt:lpstr>Methods of Mating</vt:lpstr>
      <vt:lpstr>Methods of Mating</vt:lpstr>
      <vt:lpstr>Breeding Objectives</vt:lpstr>
      <vt:lpstr>Breeding Objectives</vt:lpstr>
      <vt:lpstr>Breeding Objectives</vt:lpstr>
      <vt:lpstr>Managing Pregnant Cows</vt:lpstr>
      <vt:lpstr>Signs of Heat in Cow/Heifers</vt:lpstr>
      <vt:lpstr>Calving</vt:lpstr>
      <vt:lpstr>Calving (Cont….)</vt:lpstr>
      <vt:lpstr>Management of Newborn Calves</vt:lpstr>
      <vt:lpstr>Management of Newborn Calves</vt:lpstr>
      <vt:lpstr>Factors Affecting Calf Birth Weights</vt:lpstr>
      <vt:lpstr>Weaning</vt:lpstr>
      <vt:lpstr>Weaning</vt:lpstr>
      <vt:lpstr>Feeding</vt:lpstr>
      <vt:lpstr>Feeding</vt:lpstr>
      <vt:lpstr>How much can an animal eat?</vt:lpstr>
      <vt:lpstr>How much can an animal eat?</vt:lpstr>
      <vt:lpstr>Feeding</vt:lpstr>
      <vt:lpstr>Factors affecting Growth</vt:lpstr>
      <vt:lpstr>Factors affecting Growth</vt:lpstr>
      <vt:lpstr>Factors affecting Growth</vt:lpstr>
      <vt:lpstr>Growth and Development</vt:lpstr>
      <vt:lpstr>Compensatory Growth</vt:lpstr>
      <vt:lpstr>Housing</vt:lpstr>
      <vt:lpstr>Age Determination by Dentition</vt:lpstr>
      <vt:lpstr>Identification</vt:lpstr>
      <vt:lpstr>Castration</vt:lpstr>
      <vt:lpstr>Dehorning</vt:lpstr>
      <vt:lpstr>Restraining </vt:lpstr>
      <vt:lpstr>Record Keeping</vt:lpstr>
      <vt:lpstr>Herd Health</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Mike Luwe</dc:creator>
  <cp:lastModifiedBy>JOSEPH D. LIWONDE</cp:lastModifiedBy>
  <cp:revision>600</cp:revision>
  <dcterms:created xsi:type="dcterms:W3CDTF">2018-04-27T21:44:57Z</dcterms:created>
  <dcterms:modified xsi:type="dcterms:W3CDTF">2026-01-09T04:35:44Z</dcterms:modified>
</cp:coreProperties>
</file>