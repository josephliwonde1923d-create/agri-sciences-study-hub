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1"/>
  </p:notesMasterIdLst>
  <p:sldIdLst>
    <p:sldId id="392" r:id="rId2"/>
    <p:sldId id="398" r:id="rId3"/>
    <p:sldId id="397" r:id="rId4"/>
    <p:sldId id="399" r:id="rId5"/>
    <p:sldId id="403" r:id="rId6"/>
    <p:sldId id="401" r:id="rId7"/>
    <p:sldId id="408" r:id="rId8"/>
    <p:sldId id="400" r:id="rId9"/>
    <p:sldId id="404" r:id="rId10"/>
    <p:sldId id="439" r:id="rId11"/>
    <p:sldId id="402" r:id="rId12"/>
    <p:sldId id="409" r:id="rId13"/>
    <p:sldId id="431" r:id="rId14"/>
    <p:sldId id="415" r:id="rId15"/>
    <p:sldId id="416" r:id="rId16"/>
    <p:sldId id="414" r:id="rId17"/>
    <p:sldId id="411" r:id="rId18"/>
    <p:sldId id="438" r:id="rId19"/>
    <p:sldId id="41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54" autoAdjust="0"/>
    <p:restoredTop sz="94622" autoAdjust="0"/>
  </p:normalViewPr>
  <p:slideViewPr>
    <p:cSldViewPr snapToGrid="0">
      <p:cViewPr varScale="1">
        <p:scale>
          <a:sx n="85" d="100"/>
          <a:sy n="85" d="100"/>
        </p:scale>
        <p:origin x="96" y="9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4C18B1-72DE-48AA-BFD7-0D5A7F933011}" type="datetimeFigureOut">
              <a:rPr lang="en-GB" smtClean="0"/>
              <a:t>10/02/2026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71D7C1-5A09-4F0A-AD83-58B77AAF2BC1}" type="slidenum">
              <a:rPr lang="en-GB" smtClean="0"/>
              <a:t>‹#›</a:t>
            </a:fld>
            <a:endParaRPr lang="en-GB"/>
          </a:p>
        </p:txBody>
      </p:sp>
    </p:spTree>
    <p:extLst>
      <p:ext uri="{BB962C8B-B14F-4D97-AF65-F5344CB8AC3E}">
        <p14:creationId xmlns:p14="http://schemas.microsoft.com/office/powerpoint/2010/main" val="2820461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dirty="0"/>
              <a:t>Shaver hybrid also used for</a:t>
            </a:r>
            <a:r>
              <a:rPr lang="en-GB" baseline="0" dirty="0"/>
              <a:t> commercial egg </a:t>
            </a:r>
            <a:r>
              <a:rPr lang="en-GB" baseline="0" dirty="0" err="1"/>
              <a:t>prodn</a:t>
            </a:r>
            <a:r>
              <a:rPr lang="en-GB" baseline="0" dirty="0"/>
              <a:t> elsewhere.</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6</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685800" y="1143000"/>
            <a:ext cx="5486400" cy="3086100"/>
          </a:xfrm>
        </p:spPr>
      </p:sp>
      <p:sp>
        <p:nvSpPr>
          <p:cNvPr id="3" name="Tijdelijke aanduiding voor notities 2"/>
          <p:cNvSpPr>
            <a:spLocks noGrp="1"/>
          </p:cNvSpPr>
          <p:nvPr>
            <p:ph type="body" idx="1"/>
          </p:nvPr>
        </p:nvSpPr>
        <p:spPr/>
        <p:txBody>
          <a:bodyPr/>
          <a:lstStyle/>
          <a:p>
            <a:r>
              <a:rPr lang="en-GB" dirty="0"/>
              <a:t>During brooding period, light</a:t>
            </a:r>
            <a:r>
              <a:rPr lang="en-GB" baseline="0" dirty="0"/>
              <a:t> hours may be gradually reduced from the first to about the 4</a:t>
            </a:r>
            <a:r>
              <a:rPr lang="en-GB" baseline="30000" dirty="0"/>
              <a:t>th</a:t>
            </a:r>
            <a:r>
              <a:rPr lang="en-GB" baseline="0" dirty="0"/>
              <a:t> week. Reduction in daylight hours delays sexual maturity and the beginning of egg laying.</a:t>
            </a:r>
          </a:p>
          <a:p>
            <a:r>
              <a:rPr lang="en-GB" baseline="0" dirty="0"/>
              <a:t>Consult your hatchery for the lighting program which is applicable to their strain.</a:t>
            </a:r>
            <a:endParaRPr lang="en-GB" dirty="0"/>
          </a:p>
        </p:txBody>
      </p:sp>
      <p:sp>
        <p:nvSpPr>
          <p:cNvPr id="4" name="Tijdelijke aanduiding voor dianummer 3"/>
          <p:cNvSpPr>
            <a:spLocks noGrp="1"/>
          </p:cNvSpPr>
          <p:nvPr>
            <p:ph type="sldNum" sz="quarter" idx="10"/>
          </p:nvPr>
        </p:nvSpPr>
        <p:spPr/>
        <p:txBody>
          <a:bodyPr/>
          <a:lstStyle/>
          <a:p>
            <a:fld id="{AD71D7C1-5A09-4F0A-AD83-58B77AAF2BC1}" type="slidenum">
              <a:rPr lang="en-GB" smtClean="0"/>
              <a:t>7</a:t>
            </a:fld>
            <a:endParaRPr lang="en-GB"/>
          </a:p>
        </p:txBody>
      </p:sp>
    </p:spTree>
    <p:extLst>
      <p:ext uri="{BB962C8B-B14F-4D97-AF65-F5344CB8AC3E}">
        <p14:creationId xmlns:p14="http://schemas.microsoft.com/office/powerpoint/2010/main" val="4059016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8</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9</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11</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12</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13</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14</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15</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16</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17</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18</a:t>
            </a:fld>
            <a:endParaRPr lang="en-GB" dirty="0"/>
          </a:p>
        </p:txBody>
      </p:sp>
    </p:spTree>
    <p:extLst>
      <p:ext uri="{BB962C8B-B14F-4D97-AF65-F5344CB8AC3E}">
        <p14:creationId xmlns:p14="http://schemas.microsoft.com/office/powerpoint/2010/main" val="3079803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409969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1166017"/>
          </a:xfrm>
        </p:spPr>
        <p:txBody>
          <a:bodyPr/>
          <a:lstStyle>
            <a:lvl1pPr>
              <a:defRPr b="1">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646111" y="2209801"/>
            <a:ext cx="9404723" cy="4195481"/>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690283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772090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ACF3B9-C39F-47CA-9493-2CE341F9200B}" type="datetimeFigureOut">
              <a:rPr lang="en-GB" smtClean="0"/>
              <a:t>10/02/2026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76532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ACF3B9-C39F-47CA-9493-2CE341F9200B}" type="datetimeFigureOut">
              <a:rPr lang="en-GB" smtClean="0"/>
              <a:t>10/02/2026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746294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927747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3087499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644215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ACF3B9-C39F-47CA-9493-2CE341F9200B}" type="datetimeFigureOut">
              <a:rPr lang="en-GB" smtClean="0"/>
              <a:t>10/02/2026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995221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ACF3B9-C39F-47CA-9493-2CE341F9200B}" type="datetimeFigureOut">
              <a:rPr lang="en-GB" smtClean="0"/>
              <a:t>10/02/2026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106971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696874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999951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18816862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022766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24386665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82971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ACF3B9-C39F-47CA-9493-2CE341F9200B}" type="datetimeFigureOut">
              <a:rPr lang="en-GB" smtClean="0"/>
              <a:t>10/02/2026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0E2BB90-863B-4217-96DC-A8B9EB50A318}" type="slidenum">
              <a:rPr lang="en-GB" smtClean="0"/>
              <a:t>‹#›</a:t>
            </a:fld>
            <a:endParaRPr lang="en-GB"/>
          </a:p>
        </p:txBody>
      </p:sp>
    </p:spTree>
    <p:extLst>
      <p:ext uri="{BB962C8B-B14F-4D97-AF65-F5344CB8AC3E}">
        <p14:creationId xmlns:p14="http://schemas.microsoft.com/office/powerpoint/2010/main" val="933174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DACF3B9-C39F-47CA-9493-2CE341F9200B}" type="datetimeFigureOut">
              <a:rPr lang="en-GB" smtClean="0"/>
              <a:t>10/02/2026</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0E2BB90-863B-4217-96DC-A8B9EB50A318}" type="slidenum">
              <a:rPr lang="en-GB" smtClean="0"/>
              <a:t>‹#›</a:t>
            </a:fld>
            <a:endParaRPr lang="en-GB"/>
          </a:p>
        </p:txBody>
      </p:sp>
    </p:spTree>
    <p:extLst>
      <p:ext uri="{BB962C8B-B14F-4D97-AF65-F5344CB8AC3E}">
        <p14:creationId xmlns:p14="http://schemas.microsoft.com/office/powerpoint/2010/main" val="1153496421"/>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p:txBody>
          <a:bodyPr>
            <a:normAutofit/>
          </a:bodyPr>
          <a:lstStyle/>
          <a:p>
            <a:r>
              <a:rPr lang="en-GB" b="1" dirty="0"/>
              <a:t>Layer Production and Management</a:t>
            </a:r>
          </a:p>
        </p:txBody>
      </p:sp>
      <p:sp>
        <p:nvSpPr>
          <p:cNvPr id="6" name="Subtitle 2"/>
          <p:cNvSpPr>
            <a:spLocks noGrp="1"/>
          </p:cNvSpPr>
          <p:nvPr>
            <p:ph type="subTitle" idx="1"/>
          </p:nvPr>
        </p:nvSpPr>
        <p:spPr>
          <a:xfrm>
            <a:off x="2495550" y="4987925"/>
            <a:ext cx="6858000" cy="1655762"/>
          </a:xfrm>
        </p:spPr>
        <p:txBody>
          <a:bodyPr>
            <a:normAutofit/>
          </a:bodyPr>
          <a:lstStyle/>
          <a:p>
            <a:r>
              <a:rPr lang="en-GB" b="1" dirty="0">
                <a:solidFill>
                  <a:srgbClr val="0070C0"/>
                </a:solidFill>
              </a:rPr>
              <a:t>Michael Luwe</a:t>
            </a:r>
          </a:p>
          <a:p>
            <a:r>
              <a:rPr lang="en-GB" b="1" dirty="0">
                <a:solidFill>
                  <a:srgbClr val="0070C0"/>
                </a:solidFill>
              </a:rPr>
              <a:t>Veterinarian</a:t>
            </a:r>
          </a:p>
          <a:p>
            <a:r>
              <a:rPr lang="en-GB" b="1" dirty="0">
                <a:solidFill>
                  <a:srgbClr val="0070C0"/>
                </a:solidFill>
              </a:rPr>
              <a:t>Department of Animal Health and Livestock Development</a:t>
            </a:r>
          </a:p>
        </p:txBody>
      </p:sp>
      <p:pic>
        <p:nvPicPr>
          <p:cNvPr id="5" name="Picture 4" descr="1 Principles of Livestock Production 1 BTCD 2303.pptx [Autosaved] - Microsoft PowerPoint"/>
          <p:cNvPicPr>
            <a:picLocks noChangeAspect="1"/>
          </p:cNvPicPr>
          <p:nvPr/>
        </p:nvPicPr>
        <p:blipFill rotWithShape="1">
          <a:blip r:embed="rId2">
            <a:extLst>
              <a:ext uri="{28A0092B-C50C-407E-A947-70E740481C1C}">
                <a14:useLocalDpi xmlns:a14="http://schemas.microsoft.com/office/drawing/2010/main" val="0"/>
              </a:ext>
            </a:extLst>
          </a:blip>
          <a:srcRect l="45591" t="28367" r="21406" b="65887"/>
          <a:stretch/>
        </p:blipFill>
        <p:spPr>
          <a:xfrm>
            <a:off x="790222" y="284814"/>
            <a:ext cx="10769599" cy="1961675"/>
          </a:xfrm>
          <a:prstGeom prst="rect">
            <a:avLst/>
          </a:prstGeom>
        </p:spPr>
      </p:pic>
    </p:spTree>
    <p:extLst>
      <p:ext uri="{BB962C8B-B14F-4D97-AF65-F5344CB8AC3E}">
        <p14:creationId xmlns:p14="http://schemas.microsoft.com/office/powerpoint/2010/main" val="968132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39"/>
            <a:ext cx="7886700" cy="1325563"/>
          </a:xfrm>
        </p:spPr>
        <p:txBody>
          <a:bodyPr>
            <a:normAutofit/>
          </a:bodyPr>
          <a:lstStyle/>
          <a:p>
            <a:r>
              <a:rPr lang="en-GB" sz="2800" b="1" dirty="0">
                <a:solidFill>
                  <a:srgbClr val="00B0F0"/>
                </a:solidFill>
                <a:latin typeface="Century Gothic" panose="020B0502020202020204" pitchFamily="34" charset="0"/>
              </a:rPr>
              <a:t>Layer Production and Management</a:t>
            </a:r>
          </a:p>
        </p:txBody>
      </p:sp>
      <p:sp>
        <p:nvSpPr>
          <p:cNvPr id="3" name="Content Placeholder 2"/>
          <p:cNvSpPr>
            <a:spLocks noGrp="1"/>
          </p:cNvSpPr>
          <p:nvPr>
            <p:ph idx="1"/>
          </p:nvPr>
        </p:nvSpPr>
        <p:spPr>
          <a:xfrm>
            <a:off x="1071154" y="1254034"/>
            <a:ext cx="5911951" cy="4922929"/>
          </a:xfrm>
        </p:spPr>
        <p:txBody>
          <a:bodyPr>
            <a:noAutofit/>
          </a:bodyPr>
          <a:lstStyle/>
          <a:p>
            <a:r>
              <a:rPr lang="en-GB" sz="2200" b="1" dirty="0">
                <a:latin typeface="Century Gothic" panose="020B0502020202020204" pitchFamily="34" charset="0"/>
              </a:rPr>
              <a:t>Common Strain of Layers in Malawi</a:t>
            </a:r>
          </a:p>
          <a:p>
            <a:pPr lvl="1">
              <a:lnSpc>
                <a:spcPct val="200000"/>
              </a:lnSpc>
              <a:buFont typeface="Wingdings" panose="05000000000000000000" pitchFamily="2" charset="2"/>
              <a:buChar char="q"/>
            </a:pPr>
            <a:r>
              <a:rPr lang="en-GB" sz="2200" dirty="0" err="1">
                <a:latin typeface="Century Gothic" panose="020B0502020202020204" pitchFamily="34" charset="0"/>
              </a:rPr>
              <a:t>Hy</a:t>
            </a:r>
            <a:r>
              <a:rPr lang="en-GB" sz="2200" dirty="0">
                <a:latin typeface="Century Gothic" panose="020B0502020202020204" pitchFamily="34" charset="0"/>
              </a:rPr>
              <a:t>-Line</a:t>
            </a:r>
          </a:p>
          <a:p>
            <a:r>
              <a:rPr lang="en-GB" sz="2200" dirty="0">
                <a:latin typeface="Century Gothic" panose="020B0502020202020204" pitchFamily="34" charset="0"/>
              </a:rPr>
              <a:t>Strains specifically developed for egg production after several crossings of different breeds.</a:t>
            </a:r>
          </a:p>
          <a:p>
            <a:r>
              <a:rPr lang="en-GB" sz="2200" dirty="0">
                <a:latin typeface="Century Gothic" panose="020B0502020202020204" pitchFamily="34" charset="0"/>
              </a:rPr>
              <a:t>Usually 100 – 1000 birds are raised under small-scale (backyard) farming.</a:t>
            </a:r>
          </a:p>
          <a:p>
            <a:r>
              <a:rPr lang="en-GB" sz="2200" dirty="0">
                <a:latin typeface="Century Gothic" panose="020B0502020202020204" pitchFamily="34" charset="0"/>
              </a:rPr>
              <a:t>Commercial farms can raise over 10,000 birds</a:t>
            </a:r>
          </a:p>
        </p:txBody>
      </p:sp>
      <p:pic>
        <p:nvPicPr>
          <p:cNvPr id="7" name="Afbeelding 6" descr="BRN_COM_ENG.pdf - Adobe Acrobat Reader DC"/>
          <p:cNvPicPr>
            <a:picLocks noChangeAspect="1"/>
          </p:cNvPicPr>
          <p:nvPr/>
        </p:nvPicPr>
        <p:blipFill rotWithShape="1">
          <a:blip r:embed="rId3">
            <a:extLst>
              <a:ext uri="{28A0092B-C50C-407E-A947-70E740481C1C}">
                <a14:useLocalDpi xmlns:a14="http://schemas.microsoft.com/office/drawing/2010/main" val="0"/>
              </a:ext>
            </a:extLst>
          </a:blip>
          <a:srcRect l="26897" t="25891" r="51079" b="34592"/>
          <a:stretch/>
        </p:blipFill>
        <p:spPr>
          <a:xfrm>
            <a:off x="7255982" y="2028649"/>
            <a:ext cx="2510490" cy="2581709"/>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681042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39"/>
            <a:ext cx="7886700" cy="1325563"/>
          </a:xfrm>
        </p:spPr>
        <p:txBody>
          <a:bodyPr>
            <a:normAutofit/>
          </a:bodyPr>
          <a:lstStyle/>
          <a:p>
            <a:r>
              <a:rPr lang="en-GB" sz="2800" b="1" dirty="0">
                <a:solidFill>
                  <a:srgbClr val="00B0F0"/>
                </a:solidFill>
                <a:latin typeface="Century Gothic" panose="020B0502020202020204" pitchFamily="34" charset="0"/>
              </a:rPr>
              <a:t>Chicks and Growers Management</a:t>
            </a:r>
          </a:p>
        </p:txBody>
      </p:sp>
      <p:sp>
        <p:nvSpPr>
          <p:cNvPr id="3" name="Content Placeholder 2"/>
          <p:cNvSpPr>
            <a:spLocks noGrp="1"/>
          </p:cNvSpPr>
          <p:nvPr>
            <p:ph idx="1"/>
          </p:nvPr>
        </p:nvSpPr>
        <p:spPr>
          <a:xfrm>
            <a:off x="2152650" y="1825625"/>
            <a:ext cx="8272463" cy="4351338"/>
          </a:xfrm>
        </p:spPr>
        <p:txBody>
          <a:bodyPr>
            <a:noAutofit/>
          </a:bodyPr>
          <a:lstStyle/>
          <a:p>
            <a:pPr>
              <a:lnSpc>
                <a:spcPct val="150000"/>
              </a:lnSpc>
            </a:pPr>
            <a:r>
              <a:rPr lang="en-GB" sz="2200" dirty="0">
                <a:latin typeface="Century Gothic" panose="020B0502020202020204" pitchFamily="34" charset="0"/>
              </a:rPr>
              <a:t>Management of chicks is similar to that of broilers.</a:t>
            </a:r>
          </a:p>
          <a:p>
            <a:pPr>
              <a:lnSpc>
                <a:spcPct val="150000"/>
              </a:lnSpc>
            </a:pPr>
            <a:r>
              <a:rPr lang="en-GB" sz="2200" dirty="0">
                <a:latin typeface="Century Gothic" panose="020B0502020202020204" pitchFamily="34" charset="0"/>
              </a:rPr>
              <a:t>For growers, ensure the following:</a:t>
            </a:r>
          </a:p>
          <a:p>
            <a:pPr marL="903288" lvl="1" indent="-371475">
              <a:lnSpc>
                <a:spcPct val="150000"/>
              </a:lnSpc>
              <a:buFont typeface="Wingdings" panose="05000000000000000000" pitchFamily="2" charset="2"/>
              <a:buChar char="q"/>
            </a:pPr>
            <a:r>
              <a:rPr lang="en-GB" sz="2200" dirty="0">
                <a:latin typeface="Century Gothic" panose="020B0502020202020204" pitchFamily="34" charset="0"/>
              </a:rPr>
              <a:t>Supplement with green feeds</a:t>
            </a:r>
          </a:p>
          <a:p>
            <a:pPr marL="903288" lvl="1" indent="-371475">
              <a:lnSpc>
                <a:spcPct val="150000"/>
              </a:lnSpc>
              <a:buFont typeface="Wingdings" panose="05000000000000000000" pitchFamily="2" charset="2"/>
              <a:buChar char="q"/>
            </a:pPr>
            <a:r>
              <a:rPr lang="en-GB" sz="2200" dirty="0">
                <a:latin typeface="Century Gothic" panose="020B0502020202020204" pitchFamily="34" charset="0"/>
              </a:rPr>
              <a:t>Provide perches</a:t>
            </a:r>
          </a:p>
          <a:p>
            <a:pPr marL="903288" lvl="1" indent="-371475">
              <a:lnSpc>
                <a:spcPct val="150000"/>
              </a:lnSpc>
              <a:buFont typeface="Wingdings" panose="05000000000000000000" pitchFamily="2" charset="2"/>
              <a:buChar char="q"/>
            </a:pPr>
            <a:r>
              <a:rPr lang="en-GB" sz="2200" dirty="0">
                <a:latin typeface="Century Gothic" panose="020B0502020202020204" pitchFamily="34" charset="0"/>
              </a:rPr>
              <a:t>Avoid giving birds left-over feed</a:t>
            </a:r>
          </a:p>
        </p:txBody>
      </p:sp>
    </p:spTree>
    <p:extLst>
      <p:ext uri="{BB962C8B-B14F-4D97-AF65-F5344CB8AC3E}">
        <p14:creationId xmlns:p14="http://schemas.microsoft.com/office/powerpoint/2010/main" val="1087672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39"/>
            <a:ext cx="7886700" cy="1325563"/>
          </a:xfrm>
        </p:spPr>
        <p:txBody>
          <a:bodyPr>
            <a:normAutofit/>
          </a:bodyPr>
          <a:lstStyle/>
          <a:p>
            <a:r>
              <a:rPr lang="en-GB" sz="2800" b="1" dirty="0">
                <a:solidFill>
                  <a:srgbClr val="00B0F0"/>
                </a:solidFill>
                <a:latin typeface="Century Gothic" panose="020B0502020202020204" pitchFamily="34" charset="0"/>
              </a:rPr>
              <a:t>Housing</a:t>
            </a:r>
          </a:p>
        </p:txBody>
      </p:sp>
      <p:sp>
        <p:nvSpPr>
          <p:cNvPr id="3" name="Content Placeholder 2"/>
          <p:cNvSpPr>
            <a:spLocks noGrp="1"/>
          </p:cNvSpPr>
          <p:nvPr>
            <p:ph idx="1"/>
          </p:nvPr>
        </p:nvSpPr>
        <p:spPr>
          <a:xfrm>
            <a:off x="2111706" y="1416192"/>
            <a:ext cx="7805666" cy="4351338"/>
          </a:xfrm>
        </p:spPr>
        <p:txBody>
          <a:bodyPr>
            <a:noAutofit/>
          </a:bodyPr>
          <a:lstStyle/>
          <a:p>
            <a:pPr>
              <a:lnSpc>
                <a:spcPct val="150000"/>
              </a:lnSpc>
            </a:pPr>
            <a:r>
              <a:rPr lang="en-GB" sz="2200" dirty="0">
                <a:latin typeface="Century Gothic" panose="020B0502020202020204" pitchFamily="34" charset="0"/>
              </a:rPr>
              <a:t>Two housing systems used:</a:t>
            </a:r>
          </a:p>
          <a:p>
            <a:pPr marL="914400" lvl="1" indent="-457200">
              <a:lnSpc>
                <a:spcPct val="150000"/>
              </a:lnSpc>
              <a:buFont typeface="+mj-lt"/>
              <a:buAutoNum type="alphaLcPeriod"/>
            </a:pPr>
            <a:r>
              <a:rPr lang="en-GB" sz="2200" dirty="0">
                <a:latin typeface="Century Gothic" panose="020B0502020202020204" pitchFamily="34" charset="0"/>
              </a:rPr>
              <a:t>Deep litter system</a:t>
            </a:r>
          </a:p>
          <a:p>
            <a:pPr marL="914400" lvl="1" indent="-457200">
              <a:lnSpc>
                <a:spcPct val="150000"/>
              </a:lnSpc>
              <a:buFont typeface="+mj-lt"/>
              <a:buAutoNum type="alphaLcPeriod"/>
            </a:pPr>
            <a:r>
              <a:rPr lang="en-GB" sz="2200" dirty="0">
                <a:latin typeface="Century Gothic" panose="020B0502020202020204" pitchFamily="34" charset="0"/>
              </a:rPr>
              <a:t>Battery cage</a:t>
            </a:r>
          </a:p>
          <a:p>
            <a:pPr>
              <a:lnSpc>
                <a:spcPct val="100000"/>
              </a:lnSpc>
            </a:pPr>
            <a:r>
              <a:rPr lang="en-GB" sz="2200" dirty="0">
                <a:latin typeface="Century Gothic" panose="020B0502020202020204" pitchFamily="34" charset="0"/>
              </a:rPr>
              <a:t>Usage of artificial light can help to induce egg production.</a:t>
            </a:r>
          </a:p>
          <a:p>
            <a:pPr>
              <a:lnSpc>
                <a:spcPct val="100000"/>
              </a:lnSpc>
            </a:pPr>
            <a:r>
              <a:rPr lang="en-GB" sz="2200" dirty="0">
                <a:latin typeface="Century Gothic" panose="020B0502020202020204" pitchFamily="34" charset="0"/>
              </a:rPr>
              <a:t>In deep litter system, have:</a:t>
            </a:r>
          </a:p>
          <a:p>
            <a:pPr lvl="1">
              <a:lnSpc>
                <a:spcPct val="100000"/>
              </a:lnSpc>
            </a:pPr>
            <a:r>
              <a:rPr lang="en-GB" sz="2200" dirty="0">
                <a:latin typeface="Century Gothic" panose="020B0502020202020204" pitchFamily="34" charset="0"/>
              </a:rPr>
              <a:t>Stocking density of 5 -6 birds per m</a:t>
            </a:r>
            <a:r>
              <a:rPr lang="en-GB" sz="2200" baseline="30000" dirty="0">
                <a:latin typeface="Century Gothic" panose="020B0502020202020204" pitchFamily="34" charset="0"/>
              </a:rPr>
              <a:t>2 </a:t>
            </a:r>
            <a:r>
              <a:rPr lang="en-GB" sz="2200" dirty="0">
                <a:latin typeface="Century Gothic" panose="020B0502020202020204" pitchFamily="34" charset="0"/>
              </a:rPr>
              <a:t>.</a:t>
            </a:r>
          </a:p>
          <a:p>
            <a:pPr lvl="1">
              <a:lnSpc>
                <a:spcPct val="100000"/>
              </a:lnSpc>
            </a:pPr>
            <a:r>
              <a:rPr lang="en-GB" sz="2200" dirty="0">
                <a:latin typeface="Century Gothic" panose="020B0502020202020204" pitchFamily="34" charset="0"/>
              </a:rPr>
              <a:t>Nesting boxes (30 x 30 x 40cm) for every 4 to 5 birds and replace litter in the nesting boxes once a week.</a:t>
            </a:r>
          </a:p>
          <a:p>
            <a:pPr marL="0" indent="0">
              <a:buNone/>
            </a:pPr>
            <a:endParaRPr lang="en-GB" sz="2200" dirty="0">
              <a:latin typeface="Century Gothic" panose="020B0502020202020204" pitchFamily="34" charset="0"/>
            </a:endParaRPr>
          </a:p>
        </p:txBody>
      </p:sp>
    </p:spTree>
    <p:extLst>
      <p:ext uri="{BB962C8B-B14F-4D97-AF65-F5344CB8AC3E}">
        <p14:creationId xmlns:p14="http://schemas.microsoft.com/office/powerpoint/2010/main" val="770475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US" sz="2800" b="1" dirty="0">
                <a:solidFill>
                  <a:srgbClr val="00B0F0"/>
                </a:solidFill>
                <a:latin typeface="Century Gothic" panose="020B0502020202020204" pitchFamily="34" charset="0"/>
              </a:rPr>
              <a:t>Housing systems</a:t>
            </a:r>
          </a:p>
        </p:txBody>
      </p:sp>
      <p:sp>
        <p:nvSpPr>
          <p:cNvPr id="5" name="Rechthoek 4"/>
          <p:cNvSpPr/>
          <p:nvPr/>
        </p:nvSpPr>
        <p:spPr>
          <a:xfrm>
            <a:off x="2383810" y="5486401"/>
            <a:ext cx="3043451" cy="423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Deep litter </a:t>
            </a:r>
          </a:p>
        </p:txBody>
      </p:sp>
      <p:sp>
        <p:nvSpPr>
          <p:cNvPr id="6" name="Rechthoek 5"/>
          <p:cNvSpPr/>
          <p:nvPr/>
        </p:nvSpPr>
        <p:spPr>
          <a:xfrm>
            <a:off x="6412174" y="5486401"/>
            <a:ext cx="3043451" cy="4230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Battery Cage</a:t>
            </a:r>
          </a:p>
        </p:txBody>
      </p:sp>
      <p:sp>
        <p:nvSpPr>
          <p:cNvPr id="7" name="Afgeronde rechthoek 6"/>
          <p:cNvSpPr/>
          <p:nvPr/>
        </p:nvSpPr>
        <p:spPr>
          <a:xfrm>
            <a:off x="6191537" y="1787857"/>
            <a:ext cx="3564000" cy="3420000"/>
          </a:xfrm>
          <a:prstGeom prst="roundRect">
            <a:avLst/>
          </a:prstGeom>
          <a:blipFill>
            <a:blip r:embed="rId2"/>
            <a:srcRect/>
            <a:stretch>
              <a:fillRect l="1011" t="-3160" r="-9091" b="-1050"/>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fgeronde rechthoek 7"/>
          <p:cNvSpPr/>
          <p:nvPr/>
        </p:nvSpPr>
        <p:spPr>
          <a:xfrm>
            <a:off x="2308753" y="1787857"/>
            <a:ext cx="3623477" cy="3425588"/>
          </a:xfrm>
          <a:prstGeom prst="roundRect">
            <a:avLst/>
          </a:prstGeom>
          <a:blipFill>
            <a:blip r:embed="rId3"/>
            <a:srcRect/>
            <a:stretch>
              <a:fillRect l="-3650" t="-3071" r="-3650" b="-3071"/>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6376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39"/>
            <a:ext cx="7886700" cy="1325563"/>
          </a:xfrm>
        </p:spPr>
        <p:txBody>
          <a:bodyPr>
            <a:normAutofit/>
          </a:bodyPr>
          <a:lstStyle/>
          <a:p>
            <a:r>
              <a:rPr lang="en-GB" sz="2800" b="1" dirty="0">
                <a:solidFill>
                  <a:srgbClr val="00B0F0"/>
                </a:solidFill>
                <a:latin typeface="Century Gothic" panose="020B0502020202020204" pitchFamily="34" charset="0"/>
              </a:rPr>
              <a:t>Feeding Regimes and Water Supply</a:t>
            </a:r>
          </a:p>
        </p:txBody>
      </p:sp>
      <p:sp>
        <p:nvSpPr>
          <p:cNvPr id="3" name="Content Placeholder 2"/>
          <p:cNvSpPr>
            <a:spLocks noGrp="1"/>
          </p:cNvSpPr>
          <p:nvPr>
            <p:ph idx="1"/>
          </p:nvPr>
        </p:nvSpPr>
        <p:spPr>
          <a:xfrm>
            <a:off x="600891" y="1405719"/>
            <a:ext cx="10998925" cy="4771244"/>
          </a:xfrm>
        </p:spPr>
        <p:txBody>
          <a:bodyPr>
            <a:noAutofit/>
          </a:bodyPr>
          <a:lstStyle/>
          <a:p>
            <a:pPr>
              <a:lnSpc>
                <a:spcPct val="150000"/>
              </a:lnSpc>
              <a:buFont typeface="Wingdings" panose="05000000000000000000" pitchFamily="2" charset="2"/>
              <a:buChar char="§"/>
            </a:pPr>
            <a:r>
              <a:rPr lang="en-US" sz="2200" dirty="0">
                <a:latin typeface="Century Gothic" panose="020B0502020202020204" pitchFamily="34" charset="0"/>
              </a:rPr>
              <a:t>Feed supplied as follows:</a:t>
            </a:r>
          </a:p>
          <a:p>
            <a:pPr lvl="1">
              <a:lnSpc>
                <a:spcPct val="150000"/>
              </a:lnSpc>
              <a:buFont typeface="Wingdings" panose="05000000000000000000" pitchFamily="2" charset="2"/>
              <a:buChar char="§"/>
            </a:pPr>
            <a:r>
              <a:rPr lang="en-US" sz="2200" dirty="0">
                <a:latin typeface="Century Gothic" panose="020B0502020202020204" pitchFamily="34" charset="0"/>
              </a:rPr>
              <a:t>Chick mash </a:t>
            </a:r>
            <a:r>
              <a:rPr lang="en-US" altLang="nl-BE" sz="2200" dirty="0">
                <a:latin typeface="Century Gothic" pitchFamily="34" charset="0"/>
              </a:rPr>
              <a:t>~ day old to 6 weeks</a:t>
            </a:r>
          </a:p>
          <a:p>
            <a:pPr lvl="1">
              <a:lnSpc>
                <a:spcPct val="150000"/>
              </a:lnSpc>
              <a:buFont typeface="Wingdings" panose="05000000000000000000" pitchFamily="2" charset="2"/>
              <a:buChar char="§"/>
            </a:pPr>
            <a:r>
              <a:rPr lang="en-US" sz="2200" dirty="0">
                <a:latin typeface="Century Gothic" panose="020B0502020202020204" pitchFamily="34" charset="0"/>
              </a:rPr>
              <a:t>Growers mash </a:t>
            </a:r>
            <a:r>
              <a:rPr lang="en-US" altLang="nl-BE" sz="2200" dirty="0">
                <a:latin typeface="Century Gothic" pitchFamily="34" charset="0"/>
              </a:rPr>
              <a:t>~ 7 weeks to point of lay</a:t>
            </a:r>
            <a:r>
              <a:rPr lang="en-US" sz="2200" dirty="0">
                <a:latin typeface="Century Gothic" panose="020B0502020202020204" pitchFamily="34" charset="0"/>
              </a:rPr>
              <a:t> (17 weeks)</a:t>
            </a:r>
          </a:p>
          <a:p>
            <a:pPr lvl="1">
              <a:lnSpc>
                <a:spcPct val="150000"/>
              </a:lnSpc>
              <a:buFont typeface="Wingdings" panose="05000000000000000000" pitchFamily="2" charset="2"/>
              <a:buChar char="§"/>
            </a:pPr>
            <a:r>
              <a:rPr lang="en-US" sz="2200" dirty="0">
                <a:latin typeface="Century Gothic" panose="020B0502020202020204" pitchFamily="34" charset="0"/>
              </a:rPr>
              <a:t>Layers mash </a:t>
            </a:r>
            <a:r>
              <a:rPr lang="en-US" altLang="nl-BE" sz="2200" dirty="0">
                <a:latin typeface="Century Gothic" pitchFamily="34" charset="0"/>
              </a:rPr>
              <a:t>~  18 weeks and over </a:t>
            </a:r>
          </a:p>
          <a:p>
            <a:pPr>
              <a:lnSpc>
                <a:spcPct val="100000"/>
              </a:lnSpc>
              <a:buBlip>
                <a:blip r:embed="rId3"/>
              </a:buBlip>
            </a:pPr>
            <a:r>
              <a:rPr lang="en-US" altLang="nl-BE" sz="2200" dirty="0">
                <a:latin typeface="Century Gothic" pitchFamily="34" charset="0"/>
              </a:rPr>
              <a:t>Provide tubular feeder for every 15 – 20 birds and a drinker for every 30 birds.</a:t>
            </a:r>
          </a:p>
          <a:p>
            <a:pPr>
              <a:lnSpc>
                <a:spcPct val="100000"/>
              </a:lnSpc>
              <a:buBlip>
                <a:blip r:embed="rId3"/>
              </a:buBlip>
            </a:pPr>
            <a:r>
              <a:rPr lang="en-US" altLang="nl-BE" sz="2200" dirty="0">
                <a:latin typeface="Century Gothic" pitchFamily="34" charset="0"/>
              </a:rPr>
              <a:t>Pre-lay feed can be introduce at 15weeks to enable the birds build up calcium deposits if available on the market.</a:t>
            </a:r>
          </a:p>
          <a:p>
            <a:pPr>
              <a:lnSpc>
                <a:spcPct val="100000"/>
              </a:lnSpc>
              <a:buBlip>
                <a:blip r:embed="rId3"/>
              </a:buBlip>
            </a:pPr>
            <a:r>
              <a:rPr lang="en-US" altLang="nl-BE" sz="2200" dirty="0">
                <a:latin typeface="Century Gothic" pitchFamily="34" charset="0"/>
              </a:rPr>
              <a:t>Feed and fresh, clean water should be provided all the time.</a:t>
            </a:r>
          </a:p>
          <a:p>
            <a:pPr>
              <a:lnSpc>
                <a:spcPct val="100000"/>
              </a:lnSpc>
            </a:pPr>
            <a:endParaRPr lang="en-US" sz="2200" dirty="0">
              <a:latin typeface="Century Gothic" panose="020B0502020202020204" pitchFamily="34" charset="0"/>
            </a:endParaRPr>
          </a:p>
          <a:p>
            <a:pPr>
              <a:lnSpc>
                <a:spcPct val="100000"/>
              </a:lnSpc>
            </a:pPr>
            <a:endParaRPr lang="en-US" sz="2200" dirty="0">
              <a:latin typeface="Century Gothic" panose="020B0502020202020204" pitchFamily="34" charset="0"/>
            </a:endParaRPr>
          </a:p>
        </p:txBody>
      </p:sp>
    </p:spTree>
    <p:extLst>
      <p:ext uri="{BB962C8B-B14F-4D97-AF65-F5344CB8AC3E}">
        <p14:creationId xmlns:p14="http://schemas.microsoft.com/office/powerpoint/2010/main" val="854540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GB" sz="2800" b="1" dirty="0">
                <a:solidFill>
                  <a:srgbClr val="00B0F0"/>
                </a:solidFill>
                <a:latin typeface="Century Gothic" panose="020B0502020202020204" pitchFamily="34" charset="0"/>
              </a:rPr>
              <a:t>Temperature and Lighting</a:t>
            </a:r>
          </a:p>
        </p:txBody>
      </p:sp>
      <p:pic>
        <p:nvPicPr>
          <p:cNvPr id="9" name="Afbeelding 8" descr="3 Poultry Production and Management.pptx - Microsoft PowerPoint (Productactivering is mislukt)"/>
          <p:cNvPicPr>
            <a:picLocks noChangeAspect="1"/>
          </p:cNvPicPr>
          <p:nvPr/>
        </p:nvPicPr>
        <p:blipFill rotWithShape="1">
          <a:blip r:embed="rId3">
            <a:extLst>
              <a:ext uri="{28A0092B-C50C-407E-A947-70E740481C1C}">
                <a14:useLocalDpi xmlns:a14="http://schemas.microsoft.com/office/drawing/2010/main" val="0"/>
              </a:ext>
            </a:extLst>
          </a:blip>
          <a:srcRect l="36268" t="37723" r="16120" b="13919"/>
          <a:stretch/>
        </p:blipFill>
        <p:spPr>
          <a:xfrm>
            <a:off x="1878841" y="1520891"/>
            <a:ext cx="7942997" cy="4830536"/>
          </a:xfrm>
          <a:prstGeom prst="rect">
            <a:avLst/>
          </a:prstGeom>
        </p:spPr>
      </p:pic>
      <p:sp>
        <p:nvSpPr>
          <p:cNvPr id="8" name="Rechthoek 7"/>
          <p:cNvSpPr/>
          <p:nvPr/>
        </p:nvSpPr>
        <p:spPr>
          <a:xfrm>
            <a:off x="2233684" y="5773004"/>
            <a:ext cx="3616654" cy="4094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i="1" dirty="0">
                <a:solidFill>
                  <a:schemeClr val="tx1"/>
                </a:solidFill>
              </a:rPr>
              <a:t>Source: </a:t>
            </a:r>
            <a:r>
              <a:rPr lang="en-GB" i="1" dirty="0" err="1">
                <a:solidFill>
                  <a:schemeClr val="tx1"/>
                </a:solidFill>
              </a:rPr>
              <a:t>Hy</a:t>
            </a:r>
            <a:r>
              <a:rPr lang="en-GB" i="1" dirty="0">
                <a:solidFill>
                  <a:schemeClr val="tx1"/>
                </a:solidFill>
              </a:rPr>
              <a:t>-Line Manual, 2016</a:t>
            </a:r>
          </a:p>
        </p:txBody>
      </p:sp>
    </p:spTree>
    <p:extLst>
      <p:ext uri="{BB962C8B-B14F-4D97-AF65-F5344CB8AC3E}">
        <p14:creationId xmlns:p14="http://schemas.microsoft.com/office/powerpoint/2010/main" val="4119419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39"/>
            <a:ext cx="7886700" cy="1325563"/>
          </a:xfrm>
        </p:spPr>
        <p:txBody>
          <a:bodyPr>
            <a:normAutofit/>
          </a:bodyPr>
          <a:lstStyle/>
          <a:p>
            <a:r>
              <a:rPr lang="en-GB" sz="2800" b="1" dirty="0">
                <a:solidFill>
                  <a:srgbClr val="00B0F0"/>
                </a:solidFill>
                <a:latin typeface="Century Gothic" panose="020B0502020202020204" pitchFamily="34" charset="0"/>
              </a:rPr>
              <a:t>Qualities of a Good Layer</a:t>
            </a:r>
          </a:p>
        </p:txBody>
      </p:sp>
      <p:sp>
        <p:nvSpPr>
          <p:cNvPr id="3" name="Content Placeholder 2"/>
          <p:cNvSpPr>
            <a:spLocks noGrp="1"/>
          </p:cNvSpPr>
          <p:nvPr>
            <p:ph idx="1"/>
          </p:nvPr>
        </p:nvSpPr>
        <p:spPr>
          <a:xfrm>
            <a:off x="2152650" y="1825625"/>
            <a:ext cx="7641894" cy="4351338"/>
          </a:xfrm>
        </p:spPr>
        <p:txBody>
          <a:bodyPr>
            <a:noAutofit/>
          </a:bodyPr>
          <a:lstStyle/>
          <a:p>
            <a:pPr>
              <a:lnSpc>
                <a:spcPct val="100000"/>
              </a:lnSpc>
            </a:pPr>
            <a:r>
              <a:rPr lang="en-US" sz="2200" dirty="0">
                <a:latin typeface="Century Gothic" panose="020B0502020202020204" pitchFamily="34" charset="0"/>
              </a:rPr>
              <a:t>Effective laying period is 52 weeks.</a:t>
            </a:r>
          </a:p>
          <a:p>
            <a:pPr>
              <a:lnSpc>
                <a:spcPct val="100000"/>
              </a:lnSpc>
            </a:pPr>
            <a:r>
              <a:rPr lang="en-US" sz="2200" dirty="0">
                <a:latin typeface="Century Gothic" panose="020B0502020202020204" pitchFamily="34" charset="0"/>
              </a:rPr>
              <a:t>Egg production for a good hen is 280+ per year.</a:t>
            </a:r>
          </a:p>
          <a:p>
            <a:pPr>
              <a:lnSpc>
                <a:spcPct val="100000"/>
              </a:lnSpc>
            </a:pPr>
            <a:r>
              <a:rPr lang="en-GB" sz="2200" dirty="0">
                <a:latin typeface="Century Gothic" panose="020B0502020202020204" pitchFamily="34" charset="0"/>
              </a:rPr>
              <a:t>Usually at 21 weeks, 5% of the birds will be laying and peak production is reached at about 27 – 32 weeks of age (80-90%).</a:t>
            </a:r>
          </a:p>
          <a:p>
            <a:pPr>
              <a:lnSpc>
                <a:spcPct val="100000"/>
              </a:lnSpc>
            </a:pPr>
            <a:endParaRPr lang="en-US" sz="2200" dirty="0">
              <a:latin typeface="Century Gothic" panose="020B0502020202020204" pitchFamily="34" charset="0"/>
            </a:endParaRPr>
          </a:p>
        </p:txBody>
      </p:sp>
    </p:spTree>
    <p:extLst>
      <p:ext uri="{BB962C8B-B14F-4D97-AF65-F5344CB8AC3E}">
        <p14:creationId xmlns:p14="http://schemas.microsoft.com/office/powerpoint/2010/main" val="1052320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40"/>
            <a:ext cx="8187804" cy="759504"/>
          </a:xfrm>
        </p:spPr>
        <p:txBody>
          <a:bodyPr>
            <a:normAutofit/>
          </a:bodyPr>
          <a:lstStyle/>
          <a:p>
            <a:r>
              <a:rPr lang="en-GB" sz="2800" b="1" dirty="0">
                <a:solidFill>
                  <a:srgbClr val="00B0F0"/>
                </a:solidFill>
                <a:latin typeface="Century Gothic" panose="020B0502020202020204" pitchFamily="34" charset="0"/>
              </a:rPr>
              <a:t>Differences </a:t>
            </a:r>
            <a:r>
              <a:rPr lang="en-GB" sz="2800" b="1" dirty="0" err="1">
                <a:solidFill>
                  <a:srgbClr val="00B0F0"/>
                </a:solidFill>
                <a:latin typeface="Century Gothic" panose="020B0502020202020204" pitchFamily="34" charset="0"/>
              </a:rPr>
              <a:t>btwn</a:t>
            </a:r>
            <a:r>
              <a:rPr lang="en-GB" sz="2800" b="1" dirty="0">
                <a:solidFill>
                  <a:srgbClr val="00B0F0"/>
                </a:solidFill>
                <a:latin typeface="Century Gothic" panose="020B0502020202020204" pitchFamily="34" charset="0"/>
              </a:rPr>
              <a:t> Laying &amp; Non-Laying Hens</a:t>
            </a:r>
          </a:p>
        </p:txBody>
      </p:sp>
      <p:graphicFrame>
        <p:nvGraphicFramePr>
          <p:cNvPr id="4" name="Tijdelijke aanduiding voor inhoud 3"/>
          <p:cNvGraphicFramePr>
            <a:graphicFrameLocks noGrp="1"/>
          </p:cNvGraphicFramePr>
          <p:nvPr>
            <p:ph idx="1"/>
            <p:extLst>
              <p:ext uri="{D42A27DB-BD31-4B8C-83A1-F6EECF244321}">
                <p14:modId xmlns:p14="http://schemas.microsoft.com/office/powerpoint/2010/main" val="3437020022"/>
              </p:ext>
            </p:extLst>
          </p:nvPr>
        </p:nvGraphicFramePr>
        <p:xfrm>
          <a:off x="891822" y="1110345"/>
          <a:ext cx="10668000" cy="5211433"/>
        </p:xfrm>
        <a:graphic>
          <a:graphicData uri="http://schemas.openxmlformats.org/drawingml/2006/table">
            <a:tbl>
              <a:tblPr firstRow="1" bandRow="1">
                <a:tableStyleId>{5C22544A-7EE6-4342-B048-85BDC9FD1C3A}</a:tableStyleId>
              </a:tblPr>
              <a:tblGrid>
                <a:gridCol w="2574798">
                  <a:extLst>
                    <a:ext uri="{9D8B030D-6E8A-4147-A177-3AD203B41FA5}">
                      <a16:colId xmlns:a16="http://schemas.microsoft.com/office/drawing/2014/main" val="20000"/>
                    </a:ext>
                  </a:extLst>
                </a:gridCol>
                <a:gridCol w="4092274">
                  <a:extLst>
                    <a:ext uri="{9D8B030D-6E8A-4147-A177-3AD203B41FA5}">
                      <a16:colId xmlns:a16="http://schemas.microsoft.com/office/drawing/2014/main" val="20001"/>
                    </a:ext>
                  </a:extLst>
                </a:gridCol>
                <a:gridCol w="4000928">
                  <a:extLst>
                    <a:ext uri="{9D8B030D-6E8A-4147-A177-3AD203B41FA5}">
                      <a16:colId xmlns:a16="http://schemas.microsoft.com/office/drawing/2014/main" val="20002"/>
                    </a:ext>
                  </a:extLst>
                </a:gridCol>
              </a:tblGrid>
              <a:tr h="544834">
                <a:tc>
                  <a:txBody>
                    <a:bodyPr/>
                    <a:lstStyle/>
                    <a:p>
                      <a:pPr algn="just"/>
                      <a:r>
                        <a:rPr lang="en-US" sz="2000" b="0" dirty="0">
                          <a:latin typeface="Times New Roman" panose="02020603050405020304" pitchFamily="18" charset="0"/>
                          <a:cs typeface="Times New Roman" panose="02020603050405020304" pitchFamily="18" charset="0"/>
                        </a:rPr>
                        <a:t>PART</a:t>
                      </a:r>
                    </a:p>
                  </a:txBody>
                  <a:tcPr/>
                </a:tc>
                <a:tc>
                  <a:txBody>
                    <a:bodyPr/>
                    <a:lstStyle/>
                    <a:p>
                      <a:pPr algn="just"/>
                      <a:r>
                        <a:rPr lang="en-US" sz="2000" b="0" dirty="0">
                          <a:latin typeface="Times New Roman" panose="02020603050405020304" pitchFamily="18" charset="0"/>
                          <a:cs typeface="Times New Roman" panose="02020603050405020304" pitchFamily="18" charset="0"/>
                        </a:rPr>
                        <a:t>LAYING HEN</a:t>
                      </a:r>
                    </a:p>
                  </a:txBody>
                  <a:tcPr/>
                </a:tc>
                <a:tc>
                  <a:txBody>
                    <a:bodyPr/>
                    <a:lstStyle/>
                    <a:p>
                      <a:pPr algn="just"/>
                      <a:r>
                        <a:rPr lang="en-US" sz="2000" b="0" dirty="0">
                          <a:latin typeface="Times New Roman" panose="02020603050405020304" pitchFamily="18" charset="0"/>
                          <a:cs typeface="Times New Roman" panose="02020603050405020304" pitchFamily="18" charset="0"/>
                        </a:rPr>
                        <a:t>NON-LAYING HEN</a:t>
                      </a:r>
                    </a:p>
                  </a:txBody>
                  <a:tcPr/>
                </a:tc>
                <a:extLst>
                  <a:ext uri="{0D108BD9-81ED-4DB2-BD59-A6C34878D82A}">
                    <a16:rowId xmlns:a16="http://schemas.microsoft.com/office/drawing/2014/main" val="10000"/>
                  </a:ext>
                </a:extLst>
              </a:tr>
              <a:tr h="1062054">
                <a:tc>
                  <a:txBody>
                    <a:bodyPr/>
                    <a:lstStyle/>
                    <a:p>
                      <a:pPr algn="just"/>
                      <a:r>
                        <a:rPr lang="en-US" sz="2000" b="0" dirty="0">
                          <a:latin typeface="Times New Roman" panose="02020603050405020304" pitchFamily="18" charset="0"/>
                          <a:cs typeface="Times New Roman" panose="02020603050405020304" pitchFamily="18" charset="0"/>
                        </a:rPr>
                        <a:t>Pubic bones</a:t>
                      </a:r>
                    </a:p>
                  </a:txBody>
                  <a:tcPr/>
                </a:tc>
                <a:tc>
                  <a:txBody>
                    <a:bodyPr/>
                    <a:lstStyle/>
                    <a:p>
                      <a:pPr algn="just"/>
                      <a:r>
                        <a:rPr lang="en-US" sz="2000" b="0" dirty="0">
                          <a:latin typeface="Times New Roman" panose="02020603050405020304" pitchFamily="18" charset="0"/>
                          <a:cs typeface="Times New Roman" panose="02020603050405020304" pitchFamily="18" charset="0"/>
                        </a:rPr>
                        <a:t>Wide apart and thin (takes 3 to 4 fingers)</a:t>
                      </a:r>
                    </a:p>
                  </a:txBody>
                  <a:tcPr/>
                </a:tc>
                <a:tc>
                  <a:txBody>
                    <a:bodyPr/>
                    <a:lstStyle/>
                    <a:p>
                      <a:pPr algn="just"/>
                      <a:r>
                        <a:rPr lang="en-US" sz="2000" b="0" dirty="0">
                          <a:latin typeface="Times New Roman" panose="02020603050405020304" pitchFamily="18" charset="0"/>
                          <a:cs typeface="Times New Roman" panose="02020603050405020304" pitchFamily="18" charset="0"/>
                        </a:rPr>
                        <a:t>Blunt, rigid and close together (takes 2 or less fingers)</a:t>
                      </a:r>
                    </a:p>
                  </a:txBody>
                  <a:tcPr/>
                </a:tc>
                <a:extLst>
                  <a:ext uri="{0D108BD9-81ED-4DB2-BD59-A6C34878D82A}">
                    <a16:rowId xmlns:a16="http://schemas.microsoft.com/office/drawing/2014/main" val="10001"/>
                  </a:ext>
                </a:extLst>
              </a:tr>
              <a:tr h="740219">
                <a:tc>
                  <a:txBody>
                    <a:bodyPr/>
                    <a:lstStyle/>
                    <a:p>
                      <a:pPr algn="just"/>
                      <a:r>
                        <a:rPr lang="en-US" sz="2000" b="0" dirty="0">
                          <a:latin typeface="Times New Roman" panose="02020603050405020304" pitchFamily="18" charset="0"/>
                          <a:cs typeface="Times New Roman" panose="02020603050405020304" pitchFamily="18" charset="0"/>
                        </a:rPr>
                        <a:t>Vent </a:t>
                      </a:r>
                    </a:p>
                  </a:txBody>
                  <a:tcPr/>
                </a:tc>
                <a:tc>
                  <a:txBody>
                    <a:bodyPr/>
                    <a:lstStyle/>
                    <a:p>
                      <a:pPr algn="just"/>
                      <a:r>
                        <a:rPr lang="en-US" sz="2000" b="0" dirty="0">
                          <a:latin typeface="Times New Roman" panose="02020603050405020304" pitchFamily="18" charset="0"/>
                          <a:cs typeface="Times New Roman" panose="02020603050405020304" pitchFamily="18" charset="0"/>
                        </a:rPr>
                        <a:t>Large,</a:t>
                      </a:r>
                      <a:r>
                        <a:rPr lang="en-US" sz="2000" b="0" baseline="0" dirty="0">
                          <a:latin typeface="Times New Roman" panose="02020603050405020304" pitchFamily="18" charset="0"/>
                          <a:cs typeface="Times New Roman" panose="02020603050405020304" pitchFamily="18" charset="0"/>
                        </a:rPr>
                        <a:t> smooth and moist</a:t>
                      </a:r>
                      <a:endParaRPr lang="en-US" sz="2000" b="0" dirty="0">
                        <a:latin typeface="Times New Roman" panose="02020603050405020304" pitchFamily="18" charset="0"/>
                        <a:cs typeface="Times New Roman" panose="02020603050405020304" pitchFamily="18" charset="0"/>
                      </a:endParaRPr>
                    </a:p>
                  </a:txBody>
                  <a:tcPr/>
                </a:tc>
                <a:tc>
                  <a:txBody>
                    <a:bodyPr/>
                    <a:lstStyle/>
                    <a:p>
                      <a:pPr algn="just"/>
                      <a:r>
                        <a:rPr lang="en-US" sz="2000" b="0" dirty="0">
                          <a:latin typeface="Times New Roman" panose="02020603050405020304" pitchFamily="18" charset="0"/>
                          <a:cs typeface="Times New Roman" panose="02020603050405020304" pitchFamily="18" charset="0"/>
                        </a:rPr>
                        <a:t>Small, shrunken and dry</a:t>
                      </a:r>
                    </a:p>
                  </a:txBody>
                  <a:tcPr/>
                </a:tc>
                <a:extLst>
                  <a:ext uri="{0D108BD9-81ED-4DB2-BD59-A6C34878D82A}">
                    <a16:rowId xmlns:a16="http://schemas.microsoft.com/office/drawing/2014/main" val="10002"/>
                  </a:ext>
                </a:extLst>
              </a:tr>
              <a:tr h="1383888">
                <a:tc>
                  <a:txBody>
                    <a:bodyPr/>
                    <a:lstStyle/>
                    <a:p>
                      <a:pPr algn="just"/>
                      <a:r>
                        <a:rPr lang="en-US" sz="2000" b="0" dirty="0">
                          <a:latin typeface="Times New Roman" panose="02020603050405020304" pitchFamily="18" charset="0"/>
                          <a:cs typeface="Times New Roman" panose="02020603050405020304" pitchFamily="18" charset="0"/>
                        </a:rPr>
                        <a:t>Abdomen</a:t>
                      </a:r>
                      <a:r>
                        <a:rPr lang="en-US" sz="2000" b="0" baseline="0" dirty="0">
                          <a:latin typeface="Times New Roman" panose="02020603050405020304" pitchFamily="18" charset="0"/>
                          <a:cs typeface="Times New Roman" panose="02020603050405020304" pitchFamily="18" charset="0"/>
                        </a:rPr>
                        <a:t> </a:t>
                      </a:r>
                      <a:endParaRPr lang="en-US" sz="2000" b="0" dirty="0">
                        <a:latin typeface="Times New Roman" panose="02020603050405020304" pitchFamily="18" charset="0"/>
                        <a:cs typeface="Times New Roman" panose="02020603050405020304" pitchFamily="18" charset="0"/>
                      </a:endParaRPr>
                    </a:p>
                  </a:txBody>
                  <a:tcPr/>
                </a:tc>
                <a:tc>
                  <a:txBody>
                    <a:bodyPr/>
                    <a:lstStyle/>
                    <a:p>
                      <a:pPr algn="just"/>
                      <a:r>
                        <a:rPr lang="en-US" sz="2000" b="0" dirty="0">
                          <a:latin typeface="Times New Roman" panose="02020603050405020304" pitchFamily="18" charset="0"/>
                          <a:cs typeface="Times New Roman" panose="02020603050405020304" pitchFamily="18" charset="0"/>
                        </a:rPr>
                        <a:t>Full,</a:t>
                      </a:r>
                      <a:r>
                        <a:rPr lang="en-US" sz="2000" b="0" baseline="0" dirty="0">
                          <a:latin typeface="Times New Roman" panose="02020603050405020304" pitchFamily="18" charset="0"/>
                          <a:cs typeface="Times New Roman" panose="02020603050405020304" pitchFamily="18" charset="0"/>
                        </a:rPr>
                        <a:t> soft and pliable(</a:t>
                      </a:r>
                      <a:r>
                        <a:rPr lang="en-US" sz="2000" b="0" dirty="0">
                          <a:latin typeface="Times New Roman" panose="02020603050405020304" pitchFamily="18" charset="0"/>
                          <a:cs typeface="Times New Roman" panose="02020603050405020304" pitchFamily="18" charset="0"/>
                        </a:rPr>
                        <a:t>easily bent, shaped, or influenced without breaking.)</a:t>
                      </a:r>
                    </a:p>
                  </a:txBody>
                  <a:tcPr/>
                </a:tc>
                <a:tc>
                  <a:txBody>
                    <a:bodyPr/>
                    <a:lstStyle/>
                    <a:p>
                      <a:pPr algn="just"/>
                      <a:r>
                        <a:rPr lang="en-US" sz="2000" b="0" dirty="0">
                          <a:latin typeface="Times New Roman" panose="02020603050405020304" pitchFamily="18" charset="0"/>
                          <a:cs typeface="Times New Roman" panose="02020603050405020304" pitchFamily="18" charset="0"/>
                        </a:rPr>
                        <a:t>Contracted,</a:t>
                      </a:r>
                      <a:r>
                        <a:rPr lang="en-US" sz="2000" b="0" baseline="0" dirty="0">
                          <a:latin typeface="Times New Roman" panose="02020603050405020304" pitchFamily="18" charset="0"/>
                          <a:cs typeface="Times New Roman" panose="02020603050405020304" pitchFamily="18" charset="0"/>
                        </a:rPr>
                        <a:t> hard and </a:t>
                      </a:r>
                      <a:r>
                        <a:rPr lang="en-US" sz="2000" b="0" baseline="0" dirty="0" err="1">
                          <a:latin typeface="Times New Roman" panose="02020603050405020304" pitchFamily="18" charset="0"/>
                          <a:cs typeface="Times New Roman" panose="02020603050405020304" pitchFamily="18" charset="0"/>
                        </a:rPr>
                        <a:t>freshy</a:t>
                      </a:r>
                      <a:endParaRPr lang="en-US"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740219">
                <a:tc>
                  <a:txBody>
                    <a:bodyPr/>
                    <a:lstStyle/>
                    <a:p>
                      <a:pPr algn="just"/>
                      <a:r>
                        <a:rPr lang="en-US" sz="2000" b="0" dirty="0">
                          <a:latin typeface="Times New Roman" panose="02020603050405020304" pitchFamily="18" charset="0"/>
                          <a:cs typeface="Times New Roman" panose="02020603050405020304" pitchFamily="18" charset="0"/>
                        </a:rPr>
                        <a:t>Comb</a:t>
                      </a:r>
                    </a:p>
                  </a:txBody>
                  <a:tcPr/>
                </a:tc>
                <a:tc>
                  <a:txBody>
                    <a:bodyPr/>
                    <a:lstStyle/>
                    <a:p>
                      <a:pPr algn="just"/>
                      <a:r>
                        <a:rPr lang="en-US" sz="2000" b="0" dirty="0">
                          <a:latin typeface="Times New Roman" panose="02020603050405020304" pitchFamily="18" charset="0"/>
                          <a:cs typeface="Times New Roman" panose="02020603050405020304" pitchFamily="18" charset="0"/>
                        </a:rPr>
                        <a:t>Large, smooth, bright red,</a:t>
                      </a:r>
                      <a:r>
                        <a:rPr lang="en-US" sz="2000" b="0" baseline="0" dirty="0">
                          <a:latin typeface="Times New Roman" panose="02020603050405020304" pitchFamily="18" charset="0"/>
                          <a:cs typeface="Times New Roman" panose="02020603050405020304" pitchFamily="18" charset="0"/>
                        </a:rPr>
                        <a:t> glossy and soft</a:t>
                      </a:r>
                      <a:endParaRPr lang="en-US" sz="2000" b="0" dirty="0">
                        <a:latin typeface="Times New Roman" panose="02020603050405020304" pitchFamily="18" charset="0"/>
                        <a:cs typeface="Times New Roman" panose="02020603050405020304" pitchFamily="18" charset="0"/>
                      </a:endParaRPr>
                    </a:p>
                  </a:txBody>
                  <a:tcPr/>
                </a:tc>
                <a:tc>
                  <a:txBody>
                    <a:bodyPr/>
                    <a:lstStyle/>
                    <a:p>
                      <a:pPr algn="just"/>
                      <a:r>
                        <a:rPr lang="en-GB" sz="2000" b="0" noProof="0" dirty="0">
                          <a:latin typeface="Times New Roman" panose="02020603050405020304" pitchFamily="18" charset="0"/>
                          <a:cs typeface="Times New Roman" panose="02020603050405020304" pitchFamily="18" charset="0"/>
                        </a:rPr>
                        <a:t>Shrivelled</a:t>
                      </a:r>
                      <a:r>
                        <a:rPr lang="en-US" sz="2000" b="0" dirty="0">
                          <a:latin typeface="Times New Roman" panose="02020603050405020304" pitchFamily="18" charset="0"/>
                          <a:cs typeface="Times New Roman" panose="02020603050405020304" pitchFamily="18" charset="0"/>
                        </a:rPr>
                        <a:t>, dry, dull and scaly</a:t>
                      </a:r>
                    </a:p>
                  </a:txBody>
                  <a:tcPr/>
                </a:tc>
                <a:extLst>
                  <a:ext uri="{0D108BD9-81ED-4DB2-BD59-A6C34878D82A}">
                    <a16:rowId xmlns:a16="http://schemas.microsoft.com/office/drawing/2014/main" val="10004"/>
                  </a:ext>
                </a:extLst>
              </a:tr>
              <a:tr h="740219">
                <a:tc>
                  <a:txBody>
                    <a:bodyPr/>
                    <a:lstStyle/>
                    <a:p>
                      <a:pPr algn="just"/>
                      <a:r>
                        <a:rPr lang="en-US" sz="2000" b="0" dirty="0">
                          <a:latin typeface="Times New Roman" panose="02020603050405020304" pitchFamily="18" charset="0"/>
                          <a:cs typeface="Times New Roman" panose="02020603050405020304" pitchFamily="18" charset="0"/>
                        </a:rPr>
                        <a:t>Ear lobes and</a:t>
                      </a:r>
                      <a:r>
                        <a:rPr lang="en-US" sz="2000" b="0" baseline="0" dirty="0">
                          <a:latin typeface="Times New Roman" panose="02020603050405020304" pitchFamily="18" charset="0"/>
                          <a:cs typeface="Times New Roman" panose="02020603050405020304" pitchFamily="18" charset="0"/>
                        </a:rPr>
                        <a:t> wattles</a:t>
                      </a:r>
                      <a:endParaRPr lang="en-US" sz="2000" b="0" dirty="0">
                        <a:latin typeface="Times New Roman" panose="02020603050405020304" pitchFamily="18" charset="0"/>
                        <a:cs typeface="Times New Roman" panose="02020603050405020304" pitchFamily="18" charset="0"/>
                      </a:endParaRPr>
                    </a:p>
                  </a:txBody>
                  <a:tcPr/>
                </a:tc>
                <a:tc>
                  <a:txBody>
                    <a:bodyPr/>
                    <a:lstStyle/>
                    <a:p>
                      <a:pPr algn="just"/>
                      <a:r>
                        <a:rPr lang="en-US" sz="2000" b="0" dirty="0">
                          <a:latin typeface="Times New Roman" panose="02020603050405020304" pitchFamily="18" charset="0"/>
                          <a:cs typeface="Times New Roman" panose="02020603050405020304" pitchFamily="18" charset="0"/>
                        </a:rPr>
                        <a:t>Smooth and soft</a:t>
                      </a:r>
                    </a:p>
                  </a:txBody>
                  <a:tcPr/>
                </a:tc>
                <a:tc>
                  <a:txBody>
                    <a:bodyPr/>
                    <a:lstStyle/>
                    <a:p>
                      <a:pPr algn="just"/>
                      <a:r>
                        <a:rPr lang="en-US" sz="2000" b="0" dirty="0">
                          <a:latin typeface="Times New Roman" panose="02020603050405020304" pitchFamily="18" charset="0"/>
                          <a:cs typeface="Times New Roman" panose="02020603050405020304" pitchFamily="18" charset="0"/>
                        </a:rPr>
                        <a:t>Rough and dry</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69993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95A7ADB-FB2F-496D-8D26-B453E9679520}"/>
              </a:ext>
            </a:extLst>
          </p:cNvPr>
          <p:cNvGraphicFramePr>
            <a:graphicFrameLocks noGrp="1"/>
          </p:cNvGraphicFramePr>
          <p:nvPr>
            <p:extLst>
              <p:ext uri="{D42A27DB-BD31-4B8C-83A1-F6EECF244321}">
                <p14:modId xmlns:p14="http://schemas.microsoft.com/office/powerpoint/2010/main" val="531031134"/>
              </p:ext>
            </p:extLst>
          </p:nvPr>
        </p:nvGraphicFramePr>
        <p:xfrm>
          <a:off x="666206" y="483326"/>
          <a:ext cx="10528662" cy="5826031"/>
        </p:xfrm>
        <a:graphic>
          <a:graphicData uri="http://schemas.openxmlformats.org/drawingml/2006/table">
            <a:tbl>
              <a:tblPr>
                <a:tableStyleId>{35758FB7-9AC5-4552-8A53-C91805E547FA}</a:tableStyleId>
              </a:tblPr>
              <a:tblGrid>
                <a:gridCol w="2076994">
                  <a:extLst>
                    <a:ext uri="{9D8B030D-6E8A-4147-A177-3AD203B41FA5}">
                      <a16:colId xmlns:a16="http://schemas.microsoft.com/office/drawing/2014/main" val="3265776471"/>
                    </a:ext>
                  </a:extLst>
                </a:gridCol>
                <a:gridCol w="4493623">
                  <a:extLst>
                    <a:ext uri="{9D8B030D-6E8A-4147-A177-3AD203B41FA5}">
                      <a16:colId xmlns:a16="http://schemas.microsoft.com/office/drawing/2014/main" val="4169647019"/>
                    </a:ext>
                  </a:extLst>
                </a:gridCol>
                <a:gridCol w="3958045">
                  <a:extLst>
                    <a:ext uri="{9D8B030D-6E8A-4147-A177-3AD203B41FA5}">
                      <a16:colId xmlns:a16="http://schemas.microsoft.com/office/drawing/2014/main" val="4096993304"/>
                    </a:ext>
                  </a:extLst>
                </a:gridCol>
              </a:tblGrid>
              <a:tr h="477948">
                <a:tc>
                  <a:txBody>
                    <a:bodyPr/>
                    <a:lstStyle/>
                    <a:p>
                      <a:r>
                        <a:rPr lang="en-US" sz="1600" b="1" dirty="0">
                          <a:latin typeface="Times New Roman" panose="02020603050405020304" pitchFamily="18" charset="0"/>
                          <a:cs typeface="Times New Roman" panose="02020603050405020304" pitchFamily="18" charset="0"/>
                        </a:rPr>
                        <a:t>Aspect</a:t>
                      </a:r>
                    </a:p>
                  </a:txBody>
                  <a:tcPr marL="61702" marR="61702" marT="30851" marB="30851" anchor="ctr"/>
                </a:tc>
                <a:tc>
                  <a:txBody>
                    <a:bodyPr/>
                    <a:lstStyle/>
                    <a:p>
                      <a:r>
                        <a:rPr lang="en-US" sz="1600" b="1">
                          <a:latin typeface="Times New Roman" panose="02020603050405020304" pitchFamily="18" charset="0"/>
                          <a:cs typeface="Times New Roman" panose="02020603050405020304" pitchFamily="18" charset="0"/>
                        </a:rPr>
                        <a:t>Laying Hen</a:t>
                      </a:r>
                    </a:p>
                  </a:txBody>
                  <a:tcPr marL="61702" marR="61702" marT="30851" marB="30851" anchor="ctr"/>
                </a:tc>
                <a:tc>
                  <a:txBody>
                    <a:bodyPr/>
                    <a:lstStyle/>
                    <a:p>
                      <a:r>
                        <a:rPr lang="en-US" sz="1600" b="1" dirty="0">
                          <a:latin typeface="Times New Roman" panose="02020603050405020304" pitchFamily="18" charset="0"/>
                          <a:cs typeface="Times New Roman" panose="02020603050405020304" pitchFamily="18" charset="0"/>
                        </a:rPr>
                        <a:t>Non-Laying Hen</a:t>
                      </a:r>
                    </a:p>
                  </a:txBody>
                  <a:tcPr marL="61702" marR="61702" marT="30851" marB="30851" anchor="ctr"/>
                </a:tc>
                <a:extLst>
                  <a:ext uri="{0D108BD9-81ED-4DB2-BD59-A6C34878D82A}">
                    <a16:rowId xmlns:a16="http://schemas.microsoft.com/office/drawing/2014/main" val="2045627912"/>
                  </a:ext>
                </a:extLst>
              </a:tr>
              <a:tr h="334256">
                <a:tc>
                  <a:txBody>
                    <a:bodyPr/>
                    <a:lstStyle/>
                    <a:p>
                      <a:r>
                        <a:rPr lang="en-US" sz="1600" b="1">
                          <a:latin typeface="Times New Roman" panose="02020603050405020304" pitchFamily="18" charset="0"/>
                          <a:cs typeface="Times New Roman" panose="02020603050405020304" pitchFamily="18" charset="0"/>
                        </a:rPr>
                        <a:t>Egg production</a:t>
                      </a:r>
                      <a:endParaRPr lang="en-US" sz="1600">
                        <a:latin typeface="Times New Roman" panose="02020603050405020304" pitchFamily="18" charset="0"/>
                        <a:cs typeface="Times New Roman" panose="02020603050405020304" pitchFamily="18" charset="0"/>
                      </a:endParaRPr>
                    </a:p>
                  </a:txBody>
                  <a:tcPr marL="61702" marR="61702" marT="30851" marB="30851" anchor="ctr"/>
                </a:tc>
                <a:tc>
                  <a:txBody>
                    <a:bodyPr/>
                    <a:lstStyle/>
                    <a:p>
                      <a:r>
                        <a:rPr lang="en-US" sz="1600">
                          <a:latin typeface="Times New Roman" panose="02020603050405020304" pitchFamily="18" charset="0"/>
                          <a:cs typeface="Times New Roman" panose="02020603050405020304" pitchFamily="18" charset="0"/>
                        </a:rPr>
                        <a:t>Actively produces eggs</a:t>
                      </a:r>
                    </a:p>
                  </a:txBody>
                  <a:tcPr marL="61702" marR="61702" marT="30851" marB="30851" anchor="ctr"/>
                </a:tc>
                <a:tc>
                  <a:txBody>
                    <a:bodyPr/>
                    <a:lstStyle/>
                    <a:p>
                      <a:r>
                        <a:rPr lang="en-US" sz="1600" dirty="0">
                          <a:latin typeface="Times New Roman" panose="02020603050405020304" pitchFamily="18" charset="0"/>
                          <a:cs typeface="Times New Roman" panose="02020603050405020304" pitchFamily="18" charset="0"/>
                        </a:rPr>
                        <a:t>Does not produce eggs</a:t>
                      </a:r>
                    </a:p>
                  </a:txBody>
                  <a:tcPr marL="61702" marR="61702" marT="30851" marB="30851" anchor="ctr"/>
                </a:tc>
                <a:extLst>
                  <a:ext uri="{0D108BD9-81ED-4DB2-BD59-A6C34878D82A}">
                    <a16:rowId xmlns:a16="http://schemas.microsoft.com/office/drawing/2014/main" val="4218103639"/>
                  </a:ext>
                </a:extLst>
              </a:tr>
              <a:tr h="584946">
                <a:tc>
                  <a:txBody>
                    <a:bodyPr/>
                    <a:lstStyle/>
                    <a:p>
                      <a:r>
                        <a:rPr lang="en-US" sz="1600" b="1">
                          <a:latin typeface="Times New Roman" panose="02020603050405020304" pitchFamily="18" charset="0"/>
                          <a:cs typeface="Times New Roman" panose="02020603050405020304" pitchFamily="18" charset="0"/>
                        </a:rPr>
                        <a:t>Comb and wattles</a:t>
                      </a:r>
                      <a:endParaRPr lang="en-US" sz="1600">
                        <a:latin typeface="Times New Roman" panose="02020603050405020304" pitchFamily="18" charset="0"/>
                        <a:cs typeface="Times New Roman" panose="02020603050405020304" pitchFamily="18" charset="0"/>
                      </a:endParaRPr>
                    </a:p>
                  </a:txBody>
                  <a:tcPr marL="61702" marR="61702" marT="30851" marB="30851" anchor="ctr"/>
                </a:tc>
                <a:tc>
                  <a:txBody>
                    <a:bodyPr/>
                    <a:lstStyle/>
                    <a:p>
                      <a:r>
                        <a:rPr lang="en-US" sz="1600" dirty="0">
                          <a:latin typeface="Times New Roman" panose="02020603050405020304" pitchFamily="18" charset="0"/>
                          <a:cs typeface="Times New Roman" panose="02020603050405020304" pitchFamily="18" charset="0"/>
                        </a:rPr>
                        <a:t>Large, bright red, soft and warm</a:t>
                      </a:r>
                    </a:p>
                  </a:txBody>
                  <a:tcPr marL="61702" marR="61702" marT="30851" marB="30851" anchor="ctr"/>
                </a:tc>
                <a:tc>
                  <a:txBody>
                    <a:bodyPr/>
                    <a:lstStyle/>
                    <a:p>
                      <a:r>
                        <a:rPr lang="en-US" sz="1600" dirty="0">
                          <a:latin typeface="Times New Roman" panose="02020603050405020304" pitchFamily="18" charset="0"/>
                          <a:cs typeface="Times New Roman" panose="02020603050405020304" pitchFamily="18" charset="0"/>
                        </a:rPr>
                        <a:t>Small, pale, dry or shrunken</a:t>
                      </a:r>
                    </a:p>
                  </a:txBody>
                  <a:tcPr marL="61702" marR="61702" marT="30851" marB="30851" anchor="ctr"/>
                </a:tc>
                <a:extLst>
                  <a:ext uri="{0D108BD9-81ED-4DB2-BD59-A6C34878D82A}">
                    <a16:rowId xmlns:a16="http://schemas.microsoft.com/office/drawing/2014/main" val="2159039339"/>
                  </a:ext>
                </a:extLst>
              </a:tr>
              <a:tr h="584946">
                <a:tc>
                  <a:txBody>
                    <a:bodyPr/>
                    <a:lstStyle/>
                    <a:p>
                      <a:r>
                        <a:rPr lang="en-US" sz="1600" b="1" dirty="0">
                          <a:latin typeface="Times New Roman" panose="02020603050405020304" pitchFamily="18" charset="0"/>
                          <a:cs typeface="Times New Roman" panose="02020603050405020304" pitchFamily="18" charset="0"/>
                        </a:rPr>
                        <a:t>Vent (cloaca)</a:t>
                      </a:r>
                      <a:endParaRPr lang="en-US" sz="1600" dirty="0">
                        <a:latin typeface="Times New Roman" panose="02020603050405020304" pitchFamily="18" charset="0"/>
                        <a:cs typeface="Times New Roman" panose="02020603050405020304" pitchFamily="18" charset="0"/>
                      </a:endParaRPr>
                    </a:p>
                  </a:txBody>
                  <a:tcPr marL="61702" marR="61702" marT="30851" marB="30851" anchor="ctr"/>
                </a:tc>
                <a:tc>
                  <a:txBody>
                    <a:bodyPr/>
                    <a:lstStyle/>
                    <a:p>
                      <a:r>
                        <a:rPr lang="en-US" sz="1600">
                          <a:latin typeface="Times New Roman" panose="02020603050405020304" pitchFamily="18" charset="0"/>
                          <a:cs typeface="Times New Roman" panose="02020603050405020304" pitchFamily="18" charset="0"/>
                        </a:rPr>
                        <a:t>Large, moist, oval, and soft</a:t>
                      </a:r>
                    </a:p>
                  </a:txBody>
                  <a:tcPr marL="61702" marR="61702" marT="30851" marB="30851" anchor="ctr"/>
                </a:tc>
                <a:tc>
                  <a:txBody>
                    <a:bodyPr/>
                    <a:lstStyle/>
                    <a:p>
                      <a:r>
                        <a:rPr lang="en-US" sz="1600" dirty="0">
                          <a:latin typeface="Times New Roman" panose="02020603050405020304" pitchFamily="18" charset="0"/>
                          <a:cs typeface="Times New Roman" panose="02020603050405020304" pitchFamily="18" charset="0"/>
                        </a:rPr>
                        <a:t>Small, dry, round, and tight</a:t>
                      </a:r>
                    </a:p>
                  </a:txBody>
                  <a:tcPr marL="61702" marR="61702" marT="30851" marB="30851" anchor="ctr"/>
                </a:tc>
                <a:extLst>
                  <a:ext uri="{0D108BD9-81ED-4DB2-BD59-A6C34878D82A}">
                    <a16:rowId xmlns:a16="http://schemas.microsoft.com/office/drawing/2014/main" val="680313625"/>
                  </a:ext>
                </a:extLst>
              </a:tr>
              <a:tr h="584946">
                <a:tc>
                  <a:txBody>
                    <a:bodyPr/>
                    <a:lstStyle/>
                    <a:p>
                      <a:r>
                        <a:rPr lang="en-US" sz="1600" b="1">
                          <a:latin typeface="Times New Roman" panose="02020603050405020304" pitchFamily="18" charset="0"/>
                          <a:cs typeface="Times New Roman" panose="02020603050405020304" pitchFamily="18" charset="0"/>
                        </a:rPr>
                        <a:t>Pelvic (pubic) bones</a:t>
                      </a:r>
                      <a:endParaRPr lang="en-US" sz="1600">
                        <a:latin typeface="Times New Roman" panose="02020603050405020304" pitchFamily="18" charset="0"/>
                        <a:cs typeface="Times New Roman" panose="02020603050405020304" pitchFamily="18" charset="0"/>
                      </a:endParaRPr>
                    </a:p>
                  </a:txBody>
                  <a:tcPr marL="61702" marR="61702" marT="30851" marB="30851" anchor="ctr"/>
                </a:tc>
                <a:tc>
                  <a:txBody>
                    <a:bodyPr/>
                    <a:lstStyle/>
                    <a:p>
                      <a:r>
                        <a:rPr lang="en-US" sz="1600">
                          <a:latin typeface="Times New Roman" panose="02020603050405020304" pitchFamily="18" charset="0"/>
                          <a:cs typeface="Times New Roman" panose="02020603050405020304" pitchFamily="18" charset="0"/>
                        </a:rPr>
                        <a:t>Wide apart (2–3 fingers can fit)</a:t>
                      </a:r>
                    </a:p>
                  </a:txBody>
                  <a:tcPr marL="61702" marR="61702" marT="30851" marB="30851" anchor="ctr"/>
                </a:tc>
                <a:tc>
                  <a:txBody>
                    <a:bodyPr/>
                    <a:lstStyle/>
                    <a:p>
                      <a:r>
                        <a:rPr lang="en-US" sz="1600">
                          <a:latin typeface="Times New Roman" panose="02020603050405020304" pitchFamily="18" charset="0"/>
                          <a:cs typeface="Times New Roman" panose="02020603050405020304" pitchFamily="18" charset="0"/>
                        </a:rPr>
                        <a:t>Close together (1 finger or less)</a:t>
                      </a:r>
                    </a:p>
                  </a:txBody>
                  <a:tcPr marL="61702" marR="61702" marT="30851" marB="30851" anchor="ctr"/>
                </a:tc>
                <a:extLst>
                  <a:ext uri="{0D108BD9-81ED-4DB2-BD59-A6C34878D82A}">
                    <a16:rowId xmlns:a16="http://schemas.microsoft.com/office/drawing/2014/main" val="3219109032"/>
                  </a:ext>
                </a:extLst>
              </a:tr>
              <a:tr h="334256">
                <a:tc>
                  <a:txBody>
                    <a:bodyPr/>
                    <a:lstStyle/>
                    <a:p>
                      <a:r>
                        <a:rPr lang="en-US" sz="1600" b="1">
                          <a:latin typeface="Times New Roman" panose="02020603050405020304" pitchFamily="18" charset="0"/>
                          <a:cs typeface="Times New Roman" panose="02020603050405020304" pitchFamily="18" charset="0"/>
                        </a:rPr>
                        <a:t>Abdomen</a:t>
                      </a:r>
                      <a:endParaRPr lang="en-US" sz="1600">
                        <a:latin typeface="Times New Roman" panose="02020603050405020304" pitchFamily="18" charset="0"/>
                        <a:cs typeface="Times New Roman" panose="02020603050405020304" pitchFamily="18" charset="0"/>
                      </a:endParaRPr>
                    </a:p>
                  </a:txBody>
                  <a:tcPr marL="61702" marR="61702" marT="30851" marB="30851" anchor="ctr"/>
                </a:tc>
                <a:tc>
                  <a:txBody>
                    <a:bodyPr/>
                    <a:lstStyle/>
                    <a:p>
                      <a:r>
                        <a:rPr lang="en-US" sz="1600">
                          <a:latin typeface="Times New Roman" panose="02020603050405020304" pitchFamily="18" charset="0"/>
                          <a:cs typeface="Times New Roman" panose="02020603050405020304" pitchFamily="18" charset="0"/>
                        </a:rPr>
                        <a:t>Soft, full, and flexible</a:t>
                      </a:r>
                    </a:p>
                  </a:txBody>
                  <a:tcPr marL="61702" marR="61702" marT="30851" marB="30851" anchor="ctr"/>
                </a:tc>
                <a:tc>
                  <a:txBody>
                    <a:bodyPr/>
                    <a:lstStyle/>
                    <a:p>
                      <a:r>
                        <a:rPr lang="en-US" sz="1600">
                          <a:latin typeface="Times New Roman" panose="02020603050405020304" pitchFamily="18" charset="0"/>
                          <a:cs typeface="Times New Roman" panose="02020603050405020304" pitchFamily="18" charset="0"/>
                        </a:rPr>
                        <a:t>Hard, tight, and firm</a:t>
                      </a:r>
                    </a:p>
                  </a:txBody>
                  <a:tcPr marL="61702" marR="61702" marT="30851" marB="30851" anchor="ctr"/>
                </a:tc>
                <a:extLst>
                  <a:ext uri="{0D108BD9-81ED-4DB2-BD59-A6C34878D82A}">
                    <a16:rowId xmlns:a16="http://schemas.microsoft.com/office/drawing/2014/main" val="3490568405"/>
                  </a:ext>
                </a:extLst>
              </a:tr>
              <a:tr h="584946">
                <a:tc>
                  <a:txBody>
                    <a:bodyPr/>
                    <a:lstStyle/>
                    <a:p>
                      <a:r>
                        <a:rPr lang="en-US" sz="1600" b="1">
                          <a:latin typeface="Times New Roman" panose="02020603050405020304" pitchFamily="18" charset="0"/>
                          <a:cs typeface="Times New Roman" panose="02020603050405020304" pitchFamily="18" charset="0"/>
                        </a:rPr>
                        <a:t>Body condition</a:t>
                      </a:r>
                      <a:endParaRPr lang="en-US" sz="1600">
                        <a:latin typeface="Times New Roman" panose="02020603050405020304" pitchFamily="18" charset="0"/>
                        <a:cs typeface="Times New Roman" panose="02020603050405020304" pitchFamily="18" charset="0"/>
                      </a:endParaRPr>
                    </a:p>
                  </a:txBody>
                  <a:tcPr marL="61702" marR="61702" marT="30851" marB="30851" anchor="ctr"/>
                </a:tc>
                <a:tc>
                  <a:txBody>
                    <a:bodyPr/>
                    <a:lstStyle/>
                    <a:p>
                      <a:r>
                        <a:rPr lang="en-US" sz="1600">
                          <a:latin typeface="Times New Roman" panose="02020603050405020304" pitchFamily="18" charset="0"/>
                          <a:cs typeface="Times New Roman" panose="02020603050405020304" pitchFamily="18" charset="0"/>
                        </a:rPr>
                        <a:t>Slightly thinner due to egg laying</a:t>
                      </a:r>
                    </a:p>
                  </a:txBody>
                  <a:tcPr marL="61702" marR="61702" marT="30851" marB="30851" anchor="ctr"/>
                </a:tc>
                <a:tc>
                  <a:txBody>
                    <a:bodyPr/>
                    <a:lstStyle/>
                    <a:p>
                      <a:r>
                        <a:rPr lang="en-US" sz="1600">
                          <a:latin typeface="Times New Roman" panose="02020603050405020304" pitchFamily="18" charset="0"/>
                          <a:cs typeface="Times New Roman" panose="02020603050405020304" pitchFamily="18" charset="0"/>
                        </a:rPr>
                        <a:t>Heavier or fatter</a:t>
                      </a:r>
                    </a:p>
                  </a:txBody>
                  <a:tcPr marL="61702" marR="61702" marT="30851" marB="30851" anchor="ctr"/>
                </a:tc>
                <a:extLst>
                  <a:ext uri="{0D108BD9-81ED-4DB2-BD59-A6C34878D82A}">
                    <a16:rowId xmlns:a16="http://schemas.microsoft.com/office/drawing/2014/main" val="2353065360"/>
                  </a:ext>
                </a:extLst>
              </a:tr>
              <a:tr h="334256">
                <a:tc>
                  <a:txBody>
                    <a:bodyPr/>
                    <a:lstStyle/>
                    <a:p>
                      <a:r>
                        <a:rPr lang="en-US" sz="1600" b="1">
                          <a:latin typeface="Times New Roman" panose="02020603050405020304" pitchFamily="18" charset="0"/>
                          <a:cs typeface="Times New Roman" panose="02020603050405020304" pitchFamily="18" charset="0"/>
                        </a:rPr>
                        <a:t>Behavior</a:t>
                      </a:r>
                      <a:endParaRPr lang="en-US" sz="1600">
                        <a:latin typeface="Times New Roman" panose="02020603050405020304" pitchFamily="18" charset="0"/>
                        <a:cs typeface="Times New Roman" panose="02020603050405020304" pitchFamily="18" charset="0"/>
                      </a:endParaRPr>
                    </a:p>
                  </a:txBody>
                  <a:tcPr marL="61702" marR="61702" marT="30851" marB="30851" anchor="ctr"/>
                </a:tc>
                <a:tc>
                  <a:txBody>
                    <a:bodyPr/>
                    <a:lstStyle/>
                    <a:p>
                      <a:r>
                        <a:rPr lang="en-US" sz="1600">
                          <a:latin typeface="Times New Roman" panose="02020603050405020304" pitchFamily="18" charset="0"/>
                          <a:cs typeface="Times New Roman" panose="02020603050405020304" pitchFamily="18" charset="0"/>
                        </a:rPr>
                        <a:t>Active, alert, eats more</a:t>
                      </a:r>
                    </a:p>
                  </a:txBody>
                  <a:tcPr marL="61702" marR="61702" marT="30851" marB="30851" anchor="ctr"/>
                </a:tc>
                <a:tc>
                  <a:txBody>
                    <a:bodyPr/>
                    <a:lstStyle/>
                    <a:p>
                      <a:r>
                        <a:rPr lang="en-US" sz="1600">
                          <a:latin typeface="Times New Roman" panose="02020603050405020304" pitchFamily="18" charset="0"/>
                          <a:cs typeface="Times New Roman" panose="02020603050405020304" pitchFamily="18" charset="0"/>
                        </a:rPr>
                        <a:t>Less active, eats less</a:t>
                      </a:r>
                    </a:p>
                  </a:txBody>
                  <a:tcPr marL="61702" marR="61702" marT="30851" marB="30851" anchor="ctr"/>
                </a:tc>
                <a:extLst>
                  <a:ext uri="{0D108BD9-81ED-4DB2-BD59-A6C34878D82A}">
                    <a16:rowId xmlns:a16="http://schemas.microsoft.com/office/drawing/2014/main" val="1290938"/>
                  </a:ext>
                </a:extLst>
              </a:tr>
              <a:tr h="835639">
                <a:tc>
                  <a:txBody>
                    <a:bodyPr/>
                    <a:lstStyle/>
                    <a:p>
                      <a:r>
                        <a:rPr lang="en-US" sz="1600" b="1">
                          <a:latin typeface="Times New Roman" panose="02020603050405020304" pitchFamily="18" charset="0"/>
                          <a:cs typeface="Times New Roman" panose="02020603050405020304" pitchFamily="18" charset="0"/>
                        </a:rPr>
                        <a:t>Feeding requirement</a:t>
                      </a:r>
                      <a:endParaRPr lang="en-US" sz="1600">
                        <a:latin typeface="Times New Roman" panose="02020603050405020304" pitchFamily="18" charset="0"/>
                        <a:cs typeface="Times New Roman" panose="02020603050405020304" pitchFamily="18" charset="0"/>
                      </a:endParaRPr>
                    </a:p>
                  </a:txBody>
                  <a:tcPr marL="61702" marR="61702" marT="30851" marB="30851" anchor="ctr"/>
                </a:tc>
                <a:tc>
                  <a:txBody>
                    <a:bodyPr/>
                    <a:lstStyle/>
                    <a:p>
                      <a:r>
                        <a:rPr lang="en-US" sz="1600">
                          <a:latin typeface="Times New Roman" panose="02020603050405020304" pitchFamily="18" charset="0"/>
                          <a:cs typeface="Times New Roman" panose="02020603050405020304" pitchFamily="18" charset="0"/>
                        </a:rPr>
                        <a:t>High nutrient demand (especially calcium &amp; protein)</a:t>
                      </a:r>
                    </a:p>
                  </a:txBody>
                  <a:tcPr marL="61702" marR="61702" marT="30851" marB="30851" anchor="ctr"/>
                </a:tc>
                <a:tc>
                  <a:txBody>
                    <a:bodyPr/>
                    <a:lstStyle/>
                    <a:p>
                      <a:r>
                        <a:rPr lang="en-US" sz="1600">
                          <a:latin typeface="Times New Roman" panose="02020603050405020304" pitchFamily="18" charset="0"/>
                          <a:cs typeface="Times New Roman" panose="02020603050405020304" pitchFamily="18" charset="0"/>
                        </a:rPr>
                        <a:t>Lower nutrient requirement</a:t>
                      </a:r>
                    </a:p>
                  </a:txBody>
                  <a:tcPr marL="61702" marR="61702" marT="30851" marB="30851" anchor="ctr"/>
                </a:tc>
                <a:extLst>
                  <a:ext uri="{0D108BD9-81ED-4DB2-BD59-A6C34878D82A}">
                    <a16:rowId xmlns:a16="http://schemas.microsoft.com/office/drawing/2014/main" val="1924031736"/>
                  </a:ext>
                </a:extLst>
              </a:tr>
              <a:tr h="584946">
                <a:tc>
                  <a:txBody>
                    <a:bodyPr/>
                    <a:lstStyle/>
                    <a:p>
                      <a:r>
                        <a:rPr lang="en-US" sz="1600" b="1">
                          <a:latin typeface="Times New Roman" panose="02020603050405020304" pitchFamily="18" charset="0"/>
                          <a:cs typeface="Times New Roman" panose="02020603050405020304" pitchFamily="18" charset="0"/>
                        </a:rPr>
                        <a:t>Feather condition</a:t>
                      </a:r>
                      <a:endParaRPr lang="en-US" sz="1600">
                        <a:latin typeface="Times New Roman" panose="02020603050405020304" pitchFamily="18" charset="0"/>
                        <a:cs typeface="Times New Roman" panose="02020603050405020304" pitchFamily="18" charset="0"/>
                      </a:endParaRPr>
                    </a:p>
                  </a:txBody>
                  <a:tcPr marL="61702" marR="61702" marT="30851" marB="30851" anchor="ctr"/>
                </a:tc>
                <a:tc>
                  <a:txBody>
                    <a:bodyPr/>
                    <a:lstStyle/>
                    <a:p>
                      <a:r>
                        <a:rPr lang="en-US" sz="1600">
                          <a:latin typeface="Times New Roman" panose="02020603050405020304" pitchFamily="18" charset="0"/>
                          <a:cs typeface="Times New Roman" panose="02020603050405020304" pitchFamily="18" charset="0"/>
                        </a:rPr>
                        <a:t>Often worn or dull due to laying stress</a:t>
                      </a:r>
                    </a:p>
                  </a:txBody>
                  <a:tcPr marL="61702" marR="61702" marT="30851" marB="30851" anchor="ctr"/>
                </a:tc>
                <a:tc>
                  <a:txBody>
                    <a:bodyPr/>
                    <a:lstStyle/>
                    <a:p>
                      <a:r>
                        <a:rPr lang="en-US" sz="1600">
                          <a:latin typeface="Times New Roman" panose="02020603050405020304" pitchFamily="18" charset="0"/>
                          <a:cs typeface="Times New Roman" panose="02020603050405020304" pitchFamily="18" charset="0"/>
                        </a:rPr>
                        <a:t>Feathers smooth and glossy</a:t>
                      </a:r>
                    </a:p>
                  </a:txBody>
                  <a:tcPr marL="61702" marR="61702" marT="30851" marB="30851" anchor="ctr"/>
                </a:tc>
                <a:extLst>
                  <a:ext uri="{0D108BD9-81ED-4DB2-BD59-A6C34878D82A}">
                    <a16:rowId xmlns:a16="http://schemas.microsoft.com/office/drawing/2014/main" val="181165716"/>
                  </a:ext>
                </a:extLst>
              </a:tr>
              <a:tr h="584946">
                <a:tc>
                  <a:txBody>
                    <a:bodyPr/>
                    <a:lstStyle/>
                    <a:p>
                      <a:r>
                        <a:rPr lang="en-US" sz="1600" b="1">
                          <a:latin typeface="Times New Roman" panose="02020603050405020304" pitchFamily="18" charset="0"/>
                          <a:cs typeface="Times New Roman" panose="02020603050405020304" pitchFamily="18" charset="0"/>
                        </a:rPr>
                        <a:t>Purpose</a:t>
                      </a:r>
                      <a:endParaRPr lang="en-US" sz="1600">
                        <a:latin typeface="Times New Roman" panose="02020603050405020304" pitchFamily="18" charset="0"/>
                        <a:cs typeface="Times New Roman" panose="02020603050405020304" pitchFamily="18" charset="0"/>
                      </a:endParaRPr>
                    </a:p>
                  </a:txBody>
                  <a:tcPr marL="61702" marR="61702" marT="30851" marB="30851" anchor="ctr"/>
                </a:tc>
                <a:tc>
                  <a:txBody>
                    <a:bodyPr/>
                    <a:lstStyle/>
                    <a:p>
                      <a:r>
                        <a:rPr lang="en-US" sz="1600">
                          <a:latin typeface="Times New Roman" panose="02020603050405020304" pitchFamily="18" charset="0"/>
                          <a:cs typeface="Times New Roman" panose="02020603050405020304" pitchFamily="18" charset="0"/>
                        </a:rPr>
                        <a:t>Kept mainly for egg production</a:t>
                      </a:r>
                    </a:p>
                  </a:txBody>
                  <a:tcPr marL="61702" marR="61702" marT="30851" marB="30851" anchor="ctr"/>
                </a:tc>
                <a:tc>
                  <a:txBody>
                    <a:bodyPr/>
                    <a:lstStyle/>
                    <a:p>
                      <a:r>
                        <a:rPr lang="en-US" sz="1600" dirty="0">
                          <a:latin typeface="Times New Roman" panose="02020603050405020304" pitchFamily="18" charset="0"/>
                          <a:cs typeface="Times New Roman" panose="02020603050405020304" pitchFamily="18" charset="0"/>
                        </a:rPr>
                        <a:t>Kept for meat, breeding rest, or immature stage</a:t>
                      </a:r>
                    </a:p>
                  </a:txBody>
                  <a:tcPr marL="61702" marR="61702" marT="30851" marB="30851" anchor="ctr"/>
                </a:tc>
                <a:extLst>
                  <a:ext uri="{0D108BD9-81ED-4DB2-BD59-A6C34878D82A}">
                    <a16:rowId xmlns:a16="http://schemas.microsoft.com/office/drawing/2014/main" val="3426015868"/>
                  </a:ext>
                </a:extLst>
              </a:tr>
            </a:tbl>
          </a:graphicData>
        </a:graphic>
      </p:graphicFrame>
    </p:spTree>
    <p:extLst>
      <p:ext uri="{BB962C8B-B14F-4D97-AF65-F5344CB8AC3E}">
        <p14:creationId xmlns:p14="http://schemas.microsoft.com/office/powerpoint/2010/main" val="4006783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40"/>
            <a:ext cx="7886700" cy="611328"/>
          </a:xfrm>
        </p:spPr>
        <p:txBody>
          <a:bodyPr>
            <a:normAutofit/>
          </a:bodyPr>
          <a:lstStyle/>
          <a:p>
            <a:r>
              <a:rPr lang="en-GB" sz="2800" b="1" dirty="0">
                <a:solidFill>
                  <a:srgbClr val="00B0F0"/>
                </a:solidFill>
                <a:latin typeface="Century Gothic" panose="020B0502020202020204" pitchFamily="34" charset="0"/>
              </a:rPr>
              <a:t>Culling</a:t>
            </a:r>
          </a:p>
        </p:txBody>
      </p:sp>
      <p:sp>
        <p:nvSpPr>
          <p:cNvPr id="3" name="Content Placeholder 2"/>
          <p:cNvSpPr>
            <a:spLocks noGrp="1"/>
          </p:cNvSpPr>
          <p:nvPr>
            <p:ph idx="1"/>
          </p:nvPr>
        </p:nvSpPr>
        <p:spPr>
          <a:xfrm>
            <a:off x="338667" y="962167"/>
            <a:ext cx="10814755" cy="4933665"/>
          </a:xfrm>
        </p:spPr>
        <p:txBody>
          <a:bodyPr>
            <a:noAutofit/>
          </a:bodyPr>
          <a:lstStyle/>
          <a:p>
            <a:pPr algn="just">
              <a:lnSpc>
                <a:spcPct val="100000"/>
              </a:lnSpc>
            </a:pPr>
            <a:r>
              <a:rPr lang="en-US" sz="2200" dirty="0">
                <a:latin typeface="Century Gothic" panose="020B0502020202020204" pitchFamily="34" charset="0"/>
              </a:rPr>
              <a:t>Refers to the removal of sick, injured, or unproductive birds from the flock.</a:t>
            </a:r>
          </a:p>
          <a:p>
            <a:pPr algn="just">
              <a:lnSpc>
                <a:spcPct val="100000"/>
              </a:lnSpc>
            </a:pPr>
            <a:r>
              <a:rPr lang="en-US" sz="2200" dirty="0">
                <a:latin typeface="Century Gothic" panose="020B0502020202020204" pitchFamily="34" charset="0"/>
              </a:rPr>
              <a:t>Reasons for culling:</a:t>
            </a:r>
          </a:p>
          <a:p>
            <a:pPr marL="971550" lvl="1" indent="-514350" algn="just">
              <a:buFont typeface="+mj-lt"/>
              <a:buAutoNum type="romanLcPeriod"/>
            </a:pPr>
            <a:r>
              <a:rPr lang="en-US" sz="2200" dirty="0">
                <a:latin typeface="Century Gothic" panose="020B0502020202020204" pitchFamily="34" charset="0"/>
              </a:rPr>
              <a:t>Prevention of spread of diseases.</a:t>
            </a:r>
          </a:p>
          <a:p>
            <a:pPr marL="971550" lvl="1" indent="-514350" algn="just">
              <a:buFont typeface="+mj-lt"/>
              <a:buAutoNum type="romanLcPeriod"/>
            </a:pPr>
            <a:r>
              <a:rPr lang="en-US" sz="2200" dirty="0">
                <a:latin typeface="Century Gothic" panose="020B0502020202020204" pitchFamily="34" charset="0"/>
              </a:rPr>
              <a:t>Increase in the quality of the stock.</a:t>
            </a:r>
          </a:p>
          <a:p>
            <a:pPr marL="971550" lvl="1" indent="-514350" algn="just">
              <a:buFont typeface="+mj-lt"/>
              <a:buAutoNum type="romanLcPeriod"/>
            </a:pPr>
            <a:r>
              <a:rPr lang="en-US" sz="2200" dirty="0">
                <a:latin typeface="Century Gothic" panose="020B0502020202020204" pitchFamily="34" charset="0"/>
              </a:rPr>
              <a:t>More space is allowed for the remaining birds.</a:t>
            </a:r>
          </a:p>
          <a:p>
            <a:pPr marL="971550" lvl="1" indent="-514350" algn="just">
              <a:buFont typeface="+mj-lt"/>
              <a:buAutoNum type="romanLcPeriod"/>
            </a:pPr>
            <a:r>
              <a:rPr lang="en-US" sz="2200" dirty="0">
                <a:latin typeface="Century Gothic" panose="020B0502020202020204" pitchFamily="34" charset="0"/>
              </a:rPr>
              <a:t>Increase in profits principally by reducing feed required to produce a dozen eggs. </a:t>
            </a:r>
          </a:p>
        </p:txBody>
      </p:sp>
    </p:spTree>
    <p:extLst>
      <p:ext uri="{BB962C8B-B14F-4D97-AF65-F5344CB8AC3E}">
        <p14:creationId xmlns:p14="http://schemas.microsoft.com/office/powerpoint/2010/main" val="4285145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39"/>
            <a:ext cx="7886700" cy="1325563"/>
          </a:xfrm>
        </p:spPr>
        <p:txBody>
          <a:bodyPr>
            <a:normAutofit/>
          </a:bodyPr>
          <a:lstStyle/>
          <a:p>
            <a:r>
              <a:rPr lang="en-US" sz="2800" b="1" dirty="0" err="1">
                <a:solidFill>
                  <a:srgbClr val="00B0F0"/>
                </a:solidFill>
                <a:latin typeface="Century Gothic" panose="020B0502020202020204" pitchFamily="34" charset="0"/>
              </a:rPr>
              <a:t>Moulting</a:t>
            </a:r>
            <a:endParaRPr lang="en-GB" sz="2800" b="1" dirty="0">
              <a:solidFill>
                <a:srgbClr val="00B0F0"/>
              </a:solidFill>
              <a:latin typeface="Century Gothic" panose="020B0502020202020204" pitchFamily="34" charset="0"/>
            </a:endParaRPr>
          </a:p>
        </p:txBody>
      </p:sp>
      <p:sp>
        <p:nvSpPr>
          <p:cNvPr id="3" name="Content Placeholder 2"/>
          <p:cNvSpPr>
            <a:spLocks noGrp="1"/>
          </p:cNvSpPr>
          <p:nvPr>
            <p:ph idx="1"/>
          </p:nvPr>
        </p:nvSpPr>
        <p:spPr>
          <a:xfrm>
            <a:off x="2152650" y="1286933"/>
            <a:ext cx="8537928" cy="4685310"/>
          </a:xfrm>
        </p:spPr>
        <p:txBody>
          <a:bodyPr>
            <a:noAutofit/>
          </a:bodyPr>
          <a:lstStyle/>
          <a:p>
            <a:pPr>
              <a:lnSpc>
                <a:spcPct val="100000"/>
              </a:lnSpc>
            </a:pPr>
            <a:r>
              <a:rPr lang="en-US" sz="2200" dirty="0">
                <a:latin typeface="Century Gothic" panose="020B0502020202020204" pitchFamily="34" charset="0"/>
              </a:rPr>
              <a:t>This is the process of shedding and renewing feathers.</a:t>
            </a:r>
          </a:p>
          <a:p>
            <a:pPr>
              <a:lnSpc>
                <a:spcPct val="100000"/>
              </a:lnSpc>
            </a:pPr>
            <a:r>
              <a:rPr lang="en-US" sz="2200" dirty="0">
                <a:latin typeface="Century Gothic" panose="020B0502020202020204" pitchFamily="34" charset="0"/>
              </a:rPr>
              <a:t>Natural </a:t>
            </a:r>
            <a:r>
              <a:rPr lang="en-US" sz="2200" dirty="0" err="1">
                <a:latin typeface="Century Gothic" panose="020B0502020202020204" pitchFamily="34" charset="0"/>
              </a:rPr>
              <a:t>moulting</a:t>
            </a:r>
            <a:r>
              <a:rPr lang="en-US" sz="2200" dirty="0">
                <a:latin typeface="Century Gothic" panose="020B0502020202020204" pitchFamily="34" charset="0"/>
              </a:rPr>
              <a:t> can occur at any time due to birds being subjected to stress.</a:t>
            </a:r>
          </a:p>
          <a:p>
            <a:pPr>
              <a:lnSpc>
                <a:spcPct val="100000"/>
              </a:lnSpc>
            </a:pPr>
            <a:r>
              <a:rPr lang="en-US" sz="2200" dirty="0">
                <a:latin typeface="Century Gothic" panose="020B0502020202020204" pitchFamily="34" charset="0"/>
              </a:rPr>
              <a:t>Stress factors include:</a:t>
            </a:r>
          </a:p>
          <a:p>
            <a:pPr lvl="1">
              <a:lnSpc>
                <a:spcPct val="100000"/>
              </a:lnSpc>
              <a:buFont typeface="Wingdings" panose="05000000000000000000" pitchFamily="2" charset="2"/>
              <a:buChar char="ü"/>
            </a:pPr>
            <a:r>
              <a:rPr lang="en-US" sz="2200" dirty="0">
                <a:latin typeface="Century Gothic" panose="020B0502020202020204" pitchFamily="34" charset="0"/>
              </a:rPr>
              <a:t>Decreased lighting</a:t>
            </a:r>
          </a:p>
          <a:p>
            <a:pPr lvl="1">
              <a:lnSpc>
                <a:spcPct val="100000"/>
              </a:lnSpc>
              <a:buFont typeface="Wingdings" panose="05000000000000000000" pitchFamily="2" charset="2"/>
              <a:buChar char="ü"/>
            </a:pPr>
            <a:r>
              <a:rPr lang="en-US" sz="2200" dirty="0">
                <a:latin typeface="Century Gothic" panose="020B0502020202020204" pitchFamily="34" charset="0"/>
              </a:rPr>
              <a:t>Diseases</a:t>
            </a:r>
          </a:p>
          <a:p>
            <a:pPr lvl="1">
              <a:lnSpc>
                <a:spcPct val="100000"/>
              </a:lnSpc>
              <a:buFont typeface="Wingdings" panose="05000000000000000000" pitchFamily="2" charset="2"/>
              <a:buChar char="ü"/>
            </a:pPr>
            <a:r>
              <a:rPr lang="en-US" sz="2200" dirty="0">
                <a:latin typeface="Century Gothic" panose="020B0502020202020204" pitchFamily="34" charset="0"/>
              </a:rPr>
              <a:t>Poor nutrition</a:t>
            </a:r>
          </a:p>
          <a:p>
            <a:pPr lvl="1">
              <a:lnSpc>
                <a:spcPct val="100000"/>
              </a:lnSpc>
              <a:buFont typeface="Wingdings" panose="05000000000000000000" pitchFamily="2" charset="2"/>
              <a:buChar char="ü"/>
            </a:pPr>
            <a:r>
              <a:rPr lang="en-US" sz="2200" dirty="0">
                <a:latin typeface="Century Gothic" panose="020B0502020202020204" pitchFamily="34" charset="0"/>
              </a:rPr>
              <a:t>Prolonged broodiness</a:t>
            </a:r>
          </a:p>
          <a:p>
            <a:pPr lvl="1">
              <a:lnSpc>
                <a:spcPct val="100000"/>
              </a:lnSpc>
              <a:buFont typeface="Wingdings" panose="05000000000000000000" pitchFamily="2" charset="2"/>
              <a:buChar char="ü"/>
            </a:pPr>
            <a:r>
              <a:rPr lang="en-US" sz="2200" dirty="0">
                <a:latin typeface="Century Gothic" panose="020B0502020202020204" pitchFamily="34" charset="0"/>
              </a:rPr>
              <a:t>Mismanagement e.g. poor ventilation, </a:t>
            </a:r>
            <a:r>
              <a:rPr lang="en-US" sz="2200" dirty="0" err="1">
                <a:latin typeface="Century Gothic" panose="020B0502020202020204" pitchFamily="34" charset="0"/>
              </a:rPr>
              <a:t>debeaking</a:t>
            </a:r>
            <a:r>
              <a:rPr lang="en-US" sz="2200" dirty="0">
                <a:latin typeface="Century Gothic" panose="020B0502020202020204" pitchFamily="34" charset="0"/>
              </a:rPr>
              <a:t>.</a:t>
            </a:r>
          </a:p>
          <a:p>
            <a:pPr>
              <a:lnSpc>
                <a:spcPct val="100000"/>
              </a:lnSpc>
            </a:pPr>
            <a:r>
              <a:rPr lang="en-US" sz="2200" dirty="0">
                <a:latin typeface="Century Gothic" panose="020B0502020202020204" pitchFamily="34" charset="0"/>
              </a:rPr>
              <a:t>10 – 30% less egg production achieved after </a:t>
            </a:r>
            <a:r>
              <a:rPr lang="en-US" sz="2200" dirty="0" err="1">
                <a:latin typeface="Century Gothic" panose="020B0502020202020204" pitchFamily="34" charset="0"/>
              </a:rPr>
              <a:t>moulting</a:t>
            </a:r>
            <a:endParaRPr lang="en-US" sz="2200" dirty="0">
              <a:latin typeface="Century Gothic" panose="020B0502020202020204" pitchFamily="34" charset="0"/>
            </a:endParaRPr>
          </a:p>
        </p:txBody>
      </p:sp>
    </p:spTree>
    <p:extLst>
      <p:ext uri="{BB962C8B-B14F-4D97-AF65-F5344CB8AC3E}">
        <p14:creationId xmlns:p14="http://schemas.microsoft.com/office/powerpoint/2010/main" val="2152612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39"/>
            <a:ext cx="7886700" cy="1325563"/>
          </a:xfrm>
        </p:spPr>
        <p:txBody>
          <a:bodyPr>
            <a:normAutofit/>
          </a:bodyPr>
          <a:lstStyle/>
          <a:p>
            <a:r>
              <a:rPr lang="en-US" sz="2800" b="1" dirty="0">
                <a:solidFill>
                  <a:srgbClr val="00B0F0"/>
                </a:solidFill>
                <a:latin typeface="Century Gothic" panose="020B0502020202020204" pitchFamily="34" charset="0"/>
              </a:rPr>
              <a:t>Feather pecking and Cannibalism</a:t>
            </a:r>
            <a:endParaRPr lang="en-GB" sz="2800" b="1" dirty="0">
              <a:solidFill>
                <a:srgbClr val="00B0F0"/>
              </a:solidFill>
              <a:latin typeface="Century Gothic" panose="020B0502020202020204" pitchFamily="34" charset="0"/>
            </a:endParaRPr>
          </a:p>
        </p:txBody>
      </p:sp>
      <p:sp>
        <p:nvSpPr>
          <p:cNvPr id="3" name="Content Placeholder 2"/>
          <p:cNvSpPr>
            <a:spLocks noGrp="1"/>
          </p:cNvSpPr>
          <p:nvPr>
            <p:ph idx="1"/>
          </p:nvPr>
        </p:nvSpPr>
        <p:spPr>
          <a:xfrm>
            <a:off x="869244" y="1219201"/>
            <a:ext cx="10735734" cy="3826932"/>
          </a:xfrm>
        </p:spPr>
        <p:txBody>
          <a:bodyPr>
            <a:noAutofit/>
          </a:bodyPr>
          <a:lstStyle/>
          <a:p>
            <a:pPr>
              <a:lnSpc>
                <a:spcPct val="100000"/>
              </a:lnSpc>
            </a:pPr>
            <a:r>
              <a:rPr lang="en-US" sz="2200" dirty="0">
                <a:latin typeface="Century Gothic" panose="020B0502020202020204" pitchFamily="34" charset="0"/>
              </a:rPr>
              <a:t>Feather pecking is where feathers are pulled from one hen by another hen, and it is caused by overcrowding and boredom. </a:t>
            </a:r>
          </a:p>
          <a:p>
            <a:pPr>
              <a:lnSpc>
                <a:spcPct val="100000"/>
              </a:lnSpc>
            </a:pPr>
            <a:r>
              <a:rPr lang="en-US" sz="2200" dirty="0">
                <a:latin typeface="Century Gothic" panose="020B0502020202020204" pitchFamily="34" charset="0"/>
              </a:rPr>
              <a:t>Cannibalism (</a:t>
            </a:r>
            <a:r>
              <a:rPr lang="en-US" sz="2000" dirty="0"/>
              <a:t>the act of an animal </a:t>
            </a:r>
            <a:r>
              <a:rPr lang="en-US" sz="2000" b="1" dirty="0"/>
              <a:t>eating another animal</a:t>
            </a:r>
            <a:r>
              <a:rPr lang="en-US" b="1" dirty="0"/>
              <a:t>)</a:t>
            </a:r>
            <a:r>
              <a:rPr lang="en-US" sz="2200" dirty="0">
                <a:latin typeface="Century Gothic" panose="020B0502020202020204" pitchFamily="34" charset="0"/>
              </a:rPr>
              <a:t> happens because of poor management and can be difficult to eliminate if it becomes a habit.</a:t>
            </a:r>
          </a:p>
          <a:p>
            <a:pPr>
              <a:lnSpc>
                <a:spcPct val="100000"/>
              </a:lnSpc>
            </a:pPr>
            <a:r>
              <a:rPr lang="en-US" sz="2200" dirty="0">
                <a:latin typeface="Century Gothic" panose="020B0502020202020204" pitchFamily="34" charset="0"/>
              </a:rPr>
              <a:t>To help stop feather pecking and cannibalism, the birds should be kept occupied. This can be done by providing extra space for the hens to free range or hanging vegetable leaves for them to peck.</a:t>
            </a:r>
          </a:p>
          <a:p>
            <a:pPr>
              <a:lnSpc>
                <a:spcPct val="100000"/>
              </a:lnSpc>
            </a:pPr>
            <a:r>
              <a:rPr lang="en-US" sz="2200" dirty="0">
                <a:latin typeface="Century Gothic" panose="020B0502020202020204" pitchFamily="34" charset="0"/>
              </a:rPr>
              <a:t>Debeaking also discourages birds from developing the habit of cannibalism.</a:t>
            </a:r>
          </a:p>
        </p:txBody>
      </p:sp>
    </p:spTree>
    <p:extLst>
      <p:ext uri="{BB962C8B-B14F-4D97-AF65-F5344CB8AC3E}">
        <p14:creationId xmlns:p14="http://schemas.microsoft.com/office/powerpoint/2010/main" val="1600177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39"/>
            <a:ext cx="7886700" cy="1325563"/>
          </a:xfrm>
        </p:spPr>
        <p:txBody>
          <a:bodyPr>
            <a:normAutofit/>
          </a:bodyPr>
          <a:lstStyle/>
          <a:p>
            <a:r>
              <a:rPr lang="en-GB" sz="2800" b="1" dirty="0">
                <a:solidFill>
                  <a:srgbClr val="00B0F0"/>
                </a:solidFill>
                <a:latin typeface="Century Gothic" panose="020B0502020202020204" pitchFamily="34" charset="0"/>
              </a:rPr>
              <a:t>Broodiness</a:t>
            </a:r>
          </a:p>
        </p:txBody>
      </p:sp>
      <p:sp>
        <p:nvSpPr>
          <p:cNvPr id="3" name="Content Placeholder 2"/>
          <p:cNvSpPr>
            <a:spLocks noGrp="1"/>
          </p:cNvSpPr>
          <p:nvPr>
            <p:ph idx="1"/>
          </p:nvPr>
        </p:nvSpPr>
        <p:spPr>
          <a:xfrm>
            <a:off x="316089" y="846668"/>
            <a:ext cx="11593689" cy="3454400"/>
          </a:xfrm>
        </p:spPr>
        <p:txBody>
          <a:bodyPr>
            <a:noAutofit/>
          </a:bodyPr>
          <a:lstStyle/>
          <a:p>
            <a:r>
              <a:rPr lang="en-US" sz="2000" b="1" dirty="0"/>
              <a:t>Broodiness</a:t>
            </a:r>
            <a:r>
              <a:rPr lang="en-US" sz="2000" dirty="0"/>
              <a:t> is a natural </a:t>
            </a:r>
            <a:r>
              <a:rPr lang="en-US" sz="2000" dirty="0" err="1"/>
              <a:t>behaviour</a:t>
            </a:r>
            <a:r>
              <a:rPr lang="en-US" sz="2000" dirty="0"/>
              <a:t> in hens where they </a:t>
            </a:r>
            <a:r>
              <a:rPr lang="en-US" sz="2000" b="1" dirty="0"/>
              <a:t>stop laying eggs and sit on eggs continuously to incubate and hatch them</a:t>
            </a:r>
            <a:r>
              <a:rPr lang="en-US" sz="2000" dirty="0"/>
              <a:t>.</a:t>
            </a:r>
          </a:p>
          <a:p>
            <a:pPr>
              <a:lnSpc>
                <a:spcPct val="100000"/>
              </a:lnSpc>
            </a:pPr>
            <a:r>
              <a:rPr lang="en-US" sz="2200" dirty="0">
                <a:latin typeface="Century Gothic" panose="020B0502020202020204" pitchFamily="34" charset="0"/>
              </a:rPr>
              <a:t>This is a natural maternal instinct of hens and is needed to incubate eggs, but it will also cause a reduction in production as the broody hen occupies a nest but does not produce eggs. </a:t>
            </a:r>
          </a:p>
          <a:p>
            <a:pPr>
              <a:lnSpc>
                <a:spcPct val="100000"/>
              </a:lnSpc>
            </a:pPr>
            <a:r>
              <a:rPr lang="en-US" sz="2200" dirty="0">
                <a:latin typeface="Century Gothic" panose="020B0502020202020204" pitchFamily="34" charset="0"/>
              </a:rPr>
              <a:t>If hens are allowed to sit on their entire clutch of eggs then they are more likely to go off the lay so collect eggs frequently to prevent this. </a:t>
            </a:r>
          </a:p>
          <a:p>
            <a:pPr>
              <a:lnSpc>
                <a:spcPct val="100000"/>
              </a:lnSpc>
            </a:pPr>
            <a:r>
              <a:rPr lang="en-US" sz="2200" dirty="0">
                <a:latin typeface="Century Gothic" panose="020B0502020202020204" pitchFamily="34" charset="0"/>
              </a:rPr>
              <a:t>Broody hens should be moved to a separate wire coop without a nest box and given feed and water.</a:t>
            </a:r>
          </a:p>
        </p:txBody>
      </p:sp>
      <p:pic>
        <p:nvPicPr>
          <p:cNvPr id="5" name="Picture 4">
            <a:extLst>
              <a:ext uri="{FF2B5EF4-FFF2-40B4-BE49-F238E27FC236}">
                <a16:creationId xmlns:a16="http://schemas.microsoft.com/office/drawing/2014/main" id="{E42FC28F-E281-4068-8865-339457A47954}"/>
              </a:ext>
            </a:extLst>
          </p:cNvPr>
          <p:cNvPicPr>
            <a:picLocks noChangeAspect="1"/>
          </p:cNvPicPr>
          <p:nvPr/>
        </p:nvPicPr>
        <p:blipFill>
          <a:blip r:embed="rId3"/>
          <a:stretch>
            <a:fillRect/>
          </a:stretch>
        </p:blipFill>
        <p:spPr>
          <a:xfrm>
            <a:off x="4760625" y="4008659"/>
            <a:ext cx="4702749" cy="2678905"/>
          </a:xfrm>
          <a:prstGeom prst="rect">
            <a:avLst/>
          </a:prstGeom>
        </p:spPr>
      </p:pic>
    </p:spTree>
    <p:extLst>
      <p:ext uri="{BB962C8B-B14F-4D97-AF65-F5344CB8AC3E}">
        <p14:creationId xmlns:p14="http://schemas.microsoft.com/office/powerpoint/2010/main" val="1847996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39"/>
            <a:ext cx="7886700" cy="1325563"/>
          </a:xfrm>
        </p:spPr>
        <p:txBody>
          <a:bodyPr>
            <a:normAutofit/>
          </a:bodyPr>
          <a:lstStyle/>
          <a:p>
            <a:r>
              <a:rPr lang="en-GB" sz="2800" b="1" dirty="0">
                <a:solidFill>
                  <a:srgbClr val="00B0F0"/>
                </a:solidFill>
                <a:latin typeface="Century Gothic" panose="020B0502020202020204" pitchFamily="34" charset="0"/>
              </a:rPr>
              <a:t>Egg Eating</a:t>
            </a:r>
          </a:p>
        </p:txBody>
      </p:sp>
      <p:sp>
        <p:nvSpPr>
          <p:cNvPr id="3" name="Content Placeholder 2"/>
          <p:cNvSpPr>
            <a:spLocks noGrp="1"/>
          </p:cNvSpPr>
          <p:nvPr>
            <p:ph idx="1"/>
          </p:nvPr>
        </p:nvSpPr>
        <p:spPr>
          <a:xfrm>
            <a:off x="2152650" y="1539017"/>
            <a:ext cx="7655542" cy="4351338"/>
          </a:xfrm>
        </p:spPr>
        <p:txBody>
          <a:bodyPr>
            <a:noAutofit/>
          </a:bodyPr>
          <a:lstStyle/>
          <a:p>
            <a:pPr>
              <a:lnSpc>
                <a:spcPct val="100000"/>
              </a:lnSpc>
            </a:pPr>
            <a:r>
              <a:rPr lang="en-US" sz="2200" dirty="0">
                <a:latin typeface="Century Gothic" panose="020B0502020202020204" pitchFamily="34" charset="0"/>
              </a:rPr>
              <a:t>Hens will naturally eat any broken egg shells but sometimes this can develop into a vice where hens peck and eat unbroken eggs. </a:t>
            </a:r>
          </a:p>
          <a:p>
            <a:pPr>
              <a:lnSpc>
                <a:spcPct val="100000"/>
              </a:lnSpc>
            </a:pPr>
            <a:r>
              <a:rPr lang="en-US" sz="2200" dirty="0">
                <a:latin typeface="Century Gothic" panose="020B0502020202020204" pitchFamily="34" charset="0"/>
              </a:rPr>
              <a:t>This is an issue as it can result in large losses of production, and reduce annual egg production of the flock.</a:t>
            </a:r>
          </a:p>
          <a:p>
            <a:pPr>
              <a:lnSpc>
                <a:spcPct val="100000"/>
              </a:lnSpc>
            </a:pPr>
            <a:r>
              <a:rPr lang="en-US" sz="2200" dirty="0">
                <a:latin typeface="Century Gothic" panose="020B0502020202020204" pitchFamily="34" charset="0"/>
              </a:rPr>
              <a:t>Egg eating is not caused by a nutrient deficiency and it can be prevented by removing any broken shells regularly, placing decoy eggs in nests and </a:t>
            </a:r>
            <a:r>
              <a:rPr lang="en-GB" sz="2200" dirty="0">
                <a:latin typeface="Century Gothic" panose="020B0502020202020204" pitchFamily="34" charset="0"/>
              </a:rPr>
              <a:t>collecting eggs regularly.</a:t>
            </a:r>
            <a:endParaRPr lang="en-US" sz="2200" dirty="0">
              <a:latin typeface="Century Gothic" panose="020B0502020202020204" pitchFamily="34" charset="0"/>
            </a:endParaRPr>
          </a:p>
        </p:txBody>
      </p:sp>
    </p:spTree>
    <p:extLst>
      <p:ext uri="{BB962C8B-B14F-4D97-AF65-F5344CB8AC3E}">
        <p14:creationId xmlns:p14="http://schemas.microsoft.com/office/powerpoint/2010/main" val="1007472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39"/>
            <a:ext cx="7886700" cy="1325563"/>
          </a:xfrm>
        </p:spPr>
        <p:txBody>
          <a:bodyPr>
            <a:normAutofit/>
          </a:bodyPr>
          <a:lstStyle/>
          <a:p>
            <a:r>
              <a:rPr lang="en-GB" sz="2800" b="1" dirty="0">
                <a:solidFill>
                  <a:srgbClr val="00B0F0"/>
                </a:solidFill>
                <a:latin typeface="Century Gothic" panose="020B0502020202020204" pitchFamily="34" charset="0"/>
              </a:rPr>
              <a:t>Beak Trimming or </a:t>
            </a:r>
            <a:r>
              <a:rPr lang="en-GB" sz="2800" b="1" dirty="0" err="1">
                <a:solidFill>
                  <a:srgbClr val="00B0F0"/>
                </a:solidFill>
                <a:latin typeface="Century Gothic" panose="020B0502020202020204" pitchFamily="34" charset="0"/>
              </a:rPr>
              <a:t>Debeaking</a:t>
            </a:r>
            <a:endParaRPr lang="en-GB" sz="2800" b="1" dirty="0">
              <a:solidFill>
                <a:srgbClr val="00B0F0"/>
              </a:solidFill>
              <a:latin typeface="Century Gothic" panose="020B0502020202020204" pitchFamily="34" charset="0"/>
            </a:endParaRPr>
          </a:p>
        </p:txBody>
      </p:sp>
      <p:sp>
        <p:nvSpPr>
          <p:cNvPr id="3" name="Content Placeholder 2"/>
          <p:cNvSpPr>
            <a:spLocks noGrp="1"/>
          </p:cNvSpPr>
          <p:nvPr>
            <p:ph idx="1"/>
          </p:nvPr>
        </p:nvSpPr>
        <p:spPr>
          <a:xfrm>
            <a:off x="2084411" y="1451294"/>
            <a:ext cx="8272463" cy="4351338"/>
          </a:xfrm>
        </p:spPr>
        <p:txBody>
          <a:bodyPr>
            <a:noAutofit/>
          </a:bodyPr>
          <a:lstStyle/>
          <a:p>
            <a:pPr>
              <a:lnSpc>
                <a:spcPct val="100000"/>
              </a:lnSpc>
            </a:pPr>
            <a:r>
              <a:rPr lang="en-US" sz="2200" dirty="0">
                <a:latin typeface="Century Gothic" panose="020B0502020202020204" pitchFamily="34" charset="0"/>
              </a:rPr>
              <a:t>Trim beaks between 7 – 10 days of age to reduce feed wastage and make the beak less damaging to other birds.</a:t>
            </a:r>
          </a:p>
          <a:p>
            <a:pPr>
              <a:lnSpc>
                <a:spcPct val="100000"/>
              </a:lnSpc>
            </a:pPr>
            <a:r>
              <a:rPr lang="en-US" sz="2200" dirty="0">
                <a:latin typeface="Century Gothic" panose="020B0502020202020204" pitchFamily="34" charset="0"/>
              </a:rPr>
              <a:t>If necessary, re-trim at 6 weeks or 12 – 14 weeks of age.</a:t>
            </a:r>
          </a:p>
          <a:p>
            <a:pPr>
              <a:lnSpc>
                <a:spcPct val="100000"/>
              </a:lnSpc>
            </a:pPr>
            <a:r>
              <a:rPr lang="en-US" sz="2200" dirty="0">
                <a:latin typeface="Century Gothic" panose="020B0502020202020204" pitchFamily="34" charset="0"/>
              </a:rPr>
              <a:t>Do NOT beak-trim sick or stressed birds.</a:t>
            </a:r>
          </a:p>
          <a:p>
            <a:pPr>
              <a:lnSpc>
                <a:spcPct val="100000"/>
              </a:lnSpc>
            </a:pPr>
            <a:r>
              <a:rPr lang="en-US" sz="2200" dirty="0">
                <a:latin typeface="Century Gothic" panose="020B0502020202020204" pitchFamily="34" charset="0"/>
              </a:rPr>
              <a:t>Trim one-third of the upper beak. </a:t>
            </a:r>
          </a:p>
          <a:p>
            <a:pPr>
              <a:lnSpc>
                <a:spcPct val="100000"/>
              </a:lnSpc>
            </a:pPr>
            <a:r>
              <a:rPr lang="en-US" sz="2200" dirty="0">
                <a:latin typeface="Century Gothic" panose="020B0502020202020204" pitchFamily="34" charset="0"/>
              </a:rPr>
              <a:t>Provide vitamins at beak trimming time.</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4423" y="3736145"/>
            <a:ext cx="2961565" cy="2678474"/>
          </a:xfrm>
          <a:prstGeom prst="ellipse">
            <a:avLst/>
          </a:prstGeom>
          <a:ln>
            <a:noFill/>
          </a:ln>
          <a:effectLst>
            <a:softEdge rad="112500"/>
          </a:effectLst>
          <a:scene3d>
            <a:camera prst="orthographicFront">
              <a:rot lat="0" lon="0" rev="19199999"/>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90278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39"/>
            <a:ext cx="7886700" cy="710317"/>
          </a:xfrm>
        </p:spPr>
        <p:txBody>
          <a:bodyPr>
            <a:normAutofit/>
          </a:bodyPr>
          <a:lstStyle/>
          <a:p>
            <a:r>
              <a:rPr lang="en-GB" sz="2800" b="1" dirty="0">
                <a:solidFill>
                  <a:srgbClr val="00B0F0"/>
                </a:solidFill>
                <a:latin typeface="Century Gothic" panose="020B0502020202020204" pitchFamily="34" charset="0"/>
              </a:rPr>
              <a:t>Egg Collection and Storage</a:t>
            </a:r>
          </a:p>
        </p:txBody>
      </p:sp>
      <p:sp>
        <p:nvSpPr>
          <p:cNvPr id="3" name="Content Placeholder 2"/>
          <p:cNvSpPr>
            <a:spLocks noGrp="1"/>
          </p:cNvSpPr>
          <p:nvPr>
            <p:ph idx="1"/>
          </p:nvPr>
        </p:nvSpPr>
        <p:spPr>
          <a:xfrm>
            <a:off x="2152650" y="1566313"/>
            <a:ext cx="7887554" cy="4351338"/>
          </a:xfrm>
        </p:spPr>
        <p:txBody>
          <a:bodyPr>
            <a:noAutofit/>
          </a:bodyPr>
          <a:lstStyle/>
          <a:p>
            <a:pPr>
              <a:lnSpc>
                <a:spcPct val="100000"/>
              </a:lnSpc>
            </a:pPr>
            <a:r>
              <a:rPr lang="en-US" sz="2200" dirty="0">
                <a:latin typeface="Century Gothic" panose="020B0502020202020204" pitchFamily="34" charset="0"/>
              </a:rPr>
              <a:t>Eggs should be collected 3 to 4 times daily.</a:t>
            </a:r>
          </a:p>
          <a:p>
            <a:pPr>
              <a:lnSpc>
                <a:spcPct val="100000"/>
              </a:lnSpc>
            </a:pPr>
            <a:r>
              <a:rPr lang="en-US" sz="2200" dirty="0">
                <a:latin typeface="Century Gothic" panose="020B0502020202020204" pitchFamily="34" charset="0"/>
              </a:rPr>
              <a:t>Dirty eggs should be cleaned with a dry cloth or if too dirty, clean with a warm wet cloth and then dry before placing in trays.</a:t>
            </a:r>
          </a:p>
          <a:p>
            <a:pPr>
              <a:lnSpc>
                <a:spcPct val="100000"/>
              </a:lnSpc>
            </a:pPr>
            <a:r>
              <a:rPr lang="en-US" sz="2200" dirty="0">
                <a:latin typeface="Century Gothic" panose="020B0502020202020204" pitchFamily="34" charset="0"/>
              </a:rPr>
              <a:t>Eggs should be stored in a cool dry place in trays with the tip at the bottom.</a:t>
            </a:r>
          </a:p>
          <a:p>
            <a:pPr>
              <a:lnSpc>
                <a:spcPct val="100000"/>
              </a:lnSpc>
            </a:pPr>
            <a:r>
              <a:rPr lang="en-US" sz="2200" dirty="0">
                <a:latin typeface="Century Gothic" panose="020B0502020202020204" pitchFamily="34" charset="0"/>
              </a:rPr>
              <a:t>High temperatures cause eggs to lose their quality.</a:t>
            </a:r>
          </a:p>
          <a:p>
            <a:pPr>
              <a:lnSpc>
                <a:spcPct val="100000"/>
              </a:lnSpc>
            </a:pPr>
            <a:r>
              <a:rPr lang="en-US" sz="2200" dirty="0">
                <a:latin typeface="Century Gothic" panose="020B0502020202020204" pitchFamily="34" charset="0"/>
              </a:rPr>
              <a:t>Good eggs can stay for 2 weeks without going bad.</a:t>
            </a:r>
          </a:p>
        </p:txBody>
      </p:sp>
    </p:spTree>
    <p:extLst>
      <p:ext uri="{BB962C8B-B14F-4D97-AF65-F5344CB8AC3E}">
        <p14:creationId xmlns:p14="http://schemas.microsoft.com/office/powerpoint/2010/main" val="4053849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350839"/>
            <a:ext cx="7886700" cy="1325563"/>
          </a:xfrm>
        </p:spPr>
        <p:txBody>
          <a:bodyPr>
            <a:normAutofit/>
          </a:bodyPr>
          <a:lstStyle/>
          <a:p>
            <a:r>
              <a:rPr lang="en-GB" sz="2800" b="1" dirty="0">
                <a:solidFill>
                  <a:srgbClr val="00B0F0"/>
                </a:solidFill>
                <a:latin typeface="Century Gothic" panose="020B0502020202020204" pitchFamily="34" charset="0"/>
              </a:rPr>
              <a:t>Layers’ Health</a:t>
            </a:r>
          </a:p>
        </p:txBody>
      </p:sp>
      <p:sp>
        <p:nvSpPr>
          <p:cNvPr id="3" name="Content Placeholder 2"/>
          <p:cNvSpPr>
            <a:spLocks noGrp="1"/>
          </p:cNvSpPr>
          <p:nvPr>
            <p:ph idx="1"/>
          </p:nvPr>
        </p:nvSpPr>
        <p:spPr>
          <a:xfrm>
            <a:off x="2152650" y="1566313"/>
            <a:ext cx="7887554" cy="4351338"/>
          </a:xfrm>
        </p:spPr>
        <p:txBody>
          <a:bodyPr>
            <a:noAutofit/>
          </a:bodyPr>
          <a:lstStyle/>
          <a:p>
            <a:pPr>
              <a:lnSpc>
                <a:spcPct val="100000"/>
              </a:lnSpc>
            </a:pPr>
            <a:r>
              <a:rPr lang="en-US" sz="2200" dirty="0">
                <a:latin typeface="Century Gothic" panose="020B0502020202020204" pitchFamily="34" charset="0"/>
              </a:rPr>
              <a:t>Prevent introduction of viral and bacterial diseases into the flock by implementing biosecurity measures.</a:t>
            </a:r>
          </a:p>
          <a:p>
            <a:pPr>
              <a:lnSpc>
                <a:spcPct val="100000"/>
              </a:lnSpc>
            </a:pPr>
            <a:r>
              <a:rPr lang="en-US" sz="2200" dirty="0">
                <a:latin typeface="Century Gothic" panose="020B0502020202020204" pitchFamily="34" charset="0"/>
              </a:rPr>
              <a:t>Layer’s like broilers also affected by coccidiosis hence ensure that the house is always dry.</a:t>
            </a:r>
          </a:p>
          <a:p>
            <a:pPr>
              <a:lnSpc>
                <a:spcPct val="100000"/>
              </a:lnSpc>
            </a:pPr>
            <a:r>
              <a:rPr lang="en-US" sz="2200" dirty="0">
                <a:latin typeface="Century Gothic" panose="020B0502020202020204" pitchFamily="34" charset="0"/>
              </a:rPr>
              <a:t>Vaccinate your birds at the right time and ensure that they are dewormed.</a:t>
            </a:r>
          </a:p>
          <a:p>
            <a:pPr>
              <a:lnSpc>
                <a:spcPct val="100000"/>
              </a:lnSpc>
            </a:pPr>
            <a:r>
              <a:rPr lang="en-US" sz="2200" dirty="0">
                <a:latin typeface="Century Gothic" panose="020B0502020202020204" pitchFamily="34" charset="0"/>
              </a:rPr>
              <a:t>Isolate and treat any sick bird.</a:t>
            </a:r>
          </a:p>
          <a:p>
            <a:pPr>
              <a:lnSpc>
                <a:spcPct val="100000"/>
              </a:lnSpc>
            </a:pPr>
            <a:r>
              <a:rPr lang="en-US" sz="2200" dirty="0">
                <a:latin typeface="Century Gothic" panose="020B0502020202020204" pitchFamily="34" charset="0"/>
              </a:rPr>
              <a:t>Mites can irritate the birds leading to poor performance. Treat housing with the recommended insecticide.</a:t>
            </a:r>
          </a:p>
        </p:txBody>
      </p:sp>
    </p:spTree>
    <p:extLst>
      <p:ext uri="{BB962C8B-B14F-4D97-AF65-F5344CB8AC3E}">
        <p14:creationId xmlns:p14="http://schemas.microsoft.com/office/powerpoint/2010/main" val="2603689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en-GB" sz="3200" b="1" dirty="0">
                <a:solidFill>
                  <a:srgbClr val="00B0F0"/>
                </a:solidFill>
                <a:latin typeface="Century Gothic" panose="020B0502020202020204" pitchFamily="34" charset="0"/>
              </a:rPr>
              <a:t>Vaccinations and Other Medications</a:t>
            </a:r>
          </a:p>
        </p:txBody>
      </p:sp>
      <p:graphicFrame>
        <p:nvGraphicFramePr>
          <p:cNvPr id="4" name="Tijdelijke aanduiding voor inhoud 3"/>
          <p:cNvGraphicFramePr>
            <a:graphicFrameLocks noGrp="1"/>
          </p:cNvGraphicFramePr>
          <p:nvPr>
            <p:ph idx="1"/>
            <p:extLst>
              <p:ext uri="{D42A27DB-BD31-4B8C-83A1-F6EECF244321}">
                <p14:modId xmlns:p14="http://schemas.microsoft.com/office/powerpoint/2010/main" val="298531402"/>
              </p:ext>
            </p:extLst>
          </p:nvPr>
        </p:nvGraphicFramePr>
        <p:xfrm>
          <a:off x="2152650" y="1542200"/>
          <a:ext cx="7886700" cy="3933819"/>
        </p:xfrm>
        <a:graphic>
          <a:graphicData uri="http://schemas.openxmlformats.org/drawingml/2006/table">
            <a:tbl>
              <a:tblPr firstRow="1" bandRow="1">
                <a:tableStyleId>{5C22544A-7EE6-4342-B048-85BDC9FD1C3A}</a:tableStyleId>
              </a:tblPr>
              <a:tblGrid>
                <a:gridCol w="1971675">
                  <a:extLst>
                    <a:ext uri="{9D8B030D-6E8A-4147-A177-3AD203B41FA5}">
                      <a16:colId xmlns:a16="http://schemas.microsoft.com/office/drawing/2014/main" val="20000"/>
                    </a:ext>
                  </a:extLst>
                </a:gridCol>
                <a:gridCol w="1712368">
                  <a:extLst>
                    <a:ext uri="{9D8B030D-6E8A-4147-A177-3AD203B41FA5}">
                      <a16:colId xmlns:a16="http://schemas.microsoft.com/office/drawing/2014/main" val="20001"/>
                    </a:ext>
                  </a:extLst>
                </a:gridCol>
                <a:gridCol w="1910686">
                  <a:extLst>
                    <a:ext uri="{9D8B030D-6E8A-4147-A177-3AD203B41FA5}">
                      <a16:colId xmlns:a16="http://schemas.microsoft.com/office/drawing/2014/main" val="20002"/>
                    </a:ext>
                  </a:extLst>
                </a:gridCol>
                <a:gridCol w="2291971">
                  <a:extLst>
                    <a:ext uri="{9D8B030D-6E8A-4147-A177-3AD203B41FA5}">
                      <a16:colId xmlns:a16="http://schemas.microsoft.com/office/drawing/2014/main" val="20003"/>
                    </a:ext>
                  </a:extLst>
                </a:gridCol>
              </a:tblGrid>
              <a:tr h="434998">
                <a:tc>
                  <a:txBody>
                    <a:bodyPr/>
                    <a:lstStyle/>
                    <a:p>
                      <a:pPr algn="ctr"/>
                      <a:r>
                        <a:rPr lang="en-GB" dirty="0">
                          <a:latin typeface="Century Gothic" panose="020B0502020202020204" pitchFamily="34" charset="0"/>
                        </a:rPr>
                        <a:t>Period</a:t>
                      </a:r>
                    </a:p>
                  </a:txBody>
                  <a:tcPr/>
                </a:tc>
                <a:tc>
                  <a:txBody>
                    <a:bodyPr/>
                    <a:lstStyle/>
                    <a:p>
                      <a:pPr algn="ctr"/>
                      <a:r>
                        <a:rPr lang="en-GB" dirty="0">
                          <a:latin typeface="Century Gothic" panose="020B0502020202020204" pitchFamily="34" charset="0"/>
                        </a:rPr>
                        <a:t>Vaccine</a:t>
                      </a:r>
                    </a:p>
                  </a:txBody>
                  <a:tcPr/>
                </a:tc>
                <a:tc>
                  <a:txBody>
                    <a:bodyPr/>
                    <a:lstStyle/>
                    <a:p>
                      <a:pPr algn="ctr"/>
                      <a:r>
                        <a:rPr lang="en-GB" dirty="0">
                          <a:latin typeface="Century Gothic" panose="020B0502020202020204" pitchFamily="34" charset="0"/>
                        </a:rPr>
                        <a:t>Disease</a:t>
                      </a:r>
                    </a:p>
                  </a:txBody>
                  <a:tcPr/>
                </a:tc>
                <a:tc>
                  <a:txBody>
                    <a:bodyPr/>
                    <a:lstStyle/>
                    <a:p>
                      <a:pPr algn="ctr"/>
                      <a:r>
                        <a:rPr lang="en-GB" dirty="0">
                          <a:latin typeface="Century Gothic" panose="020B0502020202020204" pitchFamily="34" charset="0"/>
                        </a:rPr>
                        <a:t>Method</a:t>
                      </a:r>
                    </a:p>
                  </a:txBody>
                  <a:tcPr/>
                </a:tc>
                <a:extLst>
                  <a:ext uri="{0D108BD9-81ED-4DB2-BD59-A6C34878D82A}">
                    <a16:rowId xmlns:a16="http://schemas.microsoft.com/office/drawing/2014/main" val="10000"/>
                  </a:ext>
                </a:extLst>
              </a:tr>
              <a:tr h="434998">
                <a:tc>
                  <a:txBody>
                    <a:bodyPr/>
                    <a:lstStyle/>
                    <a:p>
                      <a:pPr algn="ctr"/>
                      <a:r>
                        <a:rPr lang="en-GB" dirty="0">
                          <a:latin typeface="Century Gothic" panose="020B0502020202020204" pitchFamily="34" charset="0"/>
                        </a:rPr>
                        <a:t>7 days</a:t>
                      </a:r>
                    </a:p>
                  </a:txBody>
                  <a:tcPr/>
                </a:tc>
                <a:tc>
                  <a:txBody>
                    <a:bodyPr/>
                    <a:lstStyle/>
                    <a:p>
                      <a:pPr algn="ctr"/>
                      <a:r>
                        <a:rPr lang="en-GB" dirty="0" err="1">
                          <a:latin typeface="Century Gothic" panose="020B0502020202020204" pitchFamily="34" charset="0"/>
                        </a:rPr>
                        <a:t>Bursine</a:t>
                      </a:r>
                      <a:r>
                        <a:rPr lang="en-GB" dirty="0">
                          <a:latin typeface="Century Gothic" panose="020B0502020202020204" pitchFamily="34" charset="0"/>
                        </a:rPr>
                        <a:t> II</a:t>
                      </a:r>
                    </a:p>
                  </a:txBody>
                  <a:tcPr/>
                </a:tc>
                <a:tc>
                  <a:txBody>
                    <a:bodyPr/>
                    <a:lstStyle/>
                    <a:p>
                      <a:pPr algn="ctr"/>
                      <a:r>
                        <a:rPr lang="en-GB" dirty="0" err="1">
                          <a:latin typeface="Century Gothic" panose="020B0502020202020204" pitchFamily="34" charset="0"/>
                        </a:rPr>
                        <a:t>Gumboro</a:t>
                      </a:r>
                      <a:endParaRPr lang="en-GB" dirty="0">
                        <a:latin typeface="Century Gothic" panose="020B0502020202020204" pitchFamily="34" charset="0"/>
                      </a:endParaRPr>
                    </a:p>
                  </a:txBody>
                  <a:tcPr/>
                </a:tc>
                <a:tc>
                  <a:txBody>
                    <a:bodyPr/>
                    <a:lstStyle/>
                    <a:p>
                      <a:pPr algn="ctr"/>
                      <a:r>
                        <a:rPr lang="en-GB" dirty="0">
                          <a:latin typeface="Century Gothic" panose="020B0502020202020204" pitchFamily="34" charset="0"/>
                        </a:rPr>
                        <a:t>Water</a:t>
                      </a:r>
                    </a:p>
                  </a:txBody>
                  <a:tcPr/>
                </a:tc>
                <a:extLst>
                  <a:ext uri="{0D108BD9-81ED-4DB2-BD59-A6C34878D82A}">
                    <a16:rowId xmlns:a16="http://schemas.microsoft.com/office/drawing/2014/main" val="10001"/>
                  </a:ext>
                </a:extLst>
              </a:tr>
              <a:tr h="453835">
                <a:tc>
                  <a:txBody>
                    <a:bodyPr/>
                    <a:lstStyle/>
                    <a:p>
                      <a:pPr algn="ctr"/>
                      <a:r>
                        <a:rPr lang="en-GB" dirty="0">
                          <a:latin typeface="Century Gothic" panose="020B0502020202020204" pitchFamily="34" charset="0"/>
                        </a:rPr>
                        <a:t>14 days</a:t>
                      </a:r>
                    </a:p>
                  </a:txBody>
                  <a:tcPr/>
                </a:tc>
                <a:tc>
                  <a:txBody>
                    <a:bodyPr/>
                    <a:lstStyle/>
                    <a:p>
                      <a:pPr algn="ctr"/>
                      <a:r>
                        <a:rPr lang="en-GB" dirty="0" err="1">
                          <a:latin typeface="Century Gothic" panose="020B0502020202020204" pitchFamily="34" charset="0"/>
                        </a:rPr>
                        <a:t>Hitchner</a:t>
                      </a:r>
                      <a:endParaRPr lang="en-GB" dirty="0">
                        <a:latin typeface="Century Gothic" panose="020B0502020202020204" pitchFamily="34" charset="0"/>
                      </a:endParaRPr>
                    </a:p>
                  </a:txBody>
                  <a:tcPr/>
                </a:tc>
                <a:tc>
                  <a:txBody>
                    <a:bodyPr/>
                    <a:lstStyle/>
                    <a:p>
                      <a:pPr algn="ctr"/>
                      <a:r>
                        <a:rPr lang="en-GB" dirty="0">
                          <a:latin typeface="Century Gothic" panose="020B0502020202020204" pitchFamily="34" charset="0"/>
                        </a:rPr>
                        <a:t>Newcastle</a:t>
                      </a:r>
                      <a:r>
                        <a:rPr lang="en-GB" baseline="0" dirty="0">
                          <a:latin typeface="Century Gothic" panose="020B0502020202020204" pitchFamily="34" charset="0"/>
                        </a:rPr>
                        <a:t> </a:t>
                      </a:r>
                      <a:endParaRPr lang="en-GB" dirty="0">
                        <a:latin typeface="Century Gothic" panose="020B0502020202020204" pitchFamily="34" charset="0"/>
                      </a:endParaRPr>
                    </a:p>
                  </a:txBody>
                  <a:tcPr/>
                </a:tc>
                <a:tc>
                  <a:txBody>
                    <a:bodyPr/>
                    <a:lstStyle/>
                    <a:p>
                      <a:pPr algn="ctr"/>
                      <a:r>
                        <a:rPr lang="en-GB" dirty="0">
                          <a:latin typeface="Century Gothic" panose="020B0502020202020204" pitchFamily="34" charset="0"/>
                        </a:rPr>
                        <a:t>Water, eye drop</a:t>
                      </a:r>
                    </a:p>
                  </a:txBody>
                  <a:tcPr/>
                </a:tc>
                <a:extLst>
                  <a:ext uri="{0D108BD9-81ED-4DB2-BD59-A6C34878D82A}">
                    <a16:rowId xmlns:a16="http://schemas.microsoft.com/office/drawing/2014/main" val="10002"/>
                  </a:ext>
                </a:extLst>
              </a:tr>
              <a:tr h="434998">
                <a:tc>
                  <a:txBody>
                    <a:bodyPr/>
                    <a:lstStyle/>
                    <a:p>
                      <a:pPr algn="ctr"/>
                      <a:r>
                        <a:rPr lang="en-GB" dirty="0">
                          <a:latin typeface="Century Gothic" panose="020B0502020202020204" pitchFamily="34" charset="0"/>
                        </a:rPr>
                        <a:t>21 days</a:t>
                      </a:r>
                    </a:p>
                  </a:txBody>
                  <a:tcPr/>
                </a:tc>
                <a:tc>
                  <a:txBody>
                    <a:bodyPr/>
                    <a:lstStyle/>
                    <a:p>
                      <a:pPr algn="ctr"/>
                      <a:r>
                        <a:rPr lang="en-GB" dirty="0" err="1">
                          <a:latin typeface="Century Gothic" panose="020B0502020202020204" pitchFamily="34" charset="0"/>
                        </a:rPr>
                        <a:t>Bursine</a:t>
                      </a:r>
                      <a:r>
                        <a:rPr lang="en-GB" dirty="0">
                          <a:latin typeface="Century Gothic" panose="020B0502020202020204" pitchFamily="34" charset="0"/>
                        </a:rPr>
                        <a:t> II</a:t>
                      </a:r>
                    </a:p>
                  </a:txBody>
                  <a:tcPr/>
                </a:tc>
                <a:tc>
                  <a:txBody>
                    <a:bodyPr/>
                    <a:lstStyle/>
                    <a:p>
                      <a:pPr algn="ctr"/>
                      <a:r>
                        <a:rPr lang="en-GB" dirty="0" err="1">
                          <a:latin typeface="Century Gothic" panose="020B0502020202020204" pitchFamily="34" charset="0"/>
                        </a:rPr>
                        <a:t>Gumboro</a:t>
                      </a:r>
                      <a:endParaRPr lang="en-GB" dirty="0">
                        <a:latin typeface="Century Gothic" panose="020B0502020202020204" pitchFamily="34" charset="0"/>
                      </a:endParaRPr>
                    </a:p>
                  </a:txBody>
                  <a:tcPr/>
                </a:tc>
                <a:tc>
                  <a:txBody>
                    <a:bodyPr/>
                    <a:lstStyle/>
                    <a:p>
                      <a:pPr algn="ctr"/>
                      <a:r>
                        <a:rPr lang="en-GB" dirty="0">
                          <a:latin typeface="Century Gothic" panose="020B0502020202020204" pitchFamily="34" charset="0"/>
                        </a:rPr>
                        <a:t>Water</a:t>
                      </a:r>
                    </a:p>
                  </a:txBody>
                  <a:tcPr/>
                </a:tc>
                <a:extLst>
                  <a:ext uri="{0D108BD9-81ED-4DB2-BD59-A6C34878D82A}">
                    <a16:rowId xmlns:a16="http://schemas.microsoft.com/office/drawing/2014/main" val="10003"/>
                  </a:ext>
                </a:extLst>
              </a:tr>
              <a:tr h="434998">
                <a:tc>
                  <a:txBody>
                    <a:bodyPr/>
                    <a:lstStyle/>
                    <a:p>
                      <a:pPr algn="ctr"/>
                      <a:r>
                        <a:rPr lang="en-GB" dirty="0">
                          <a:latin typeface="Century Gothic" panose="020B0502020202020204" pitchFamily="34" charset="0"/>
                        </a:rPr>
                        <a:t>28 days</a:t>
                      </a:r>
                    </a:p>
                  </a:txBody>
                  <a:tcPr/>
                </a:tc>
                <a:tc>
                  <a:txBody>
                    <a:bodyPr/>
                    <a:lstStyle/>
                    <a:p>
                      <a:pPr algn="ctr"/>
                      <a:r>
                        <a:rPr lang="en-GB" dirty="0" err="1">
                          <a:latin typeface="Century Gothic" panose="020B0502020202020204" pitchFamily="34" charset="0"/>
                        </a:rPr>
                        <a:t>Lasota</a:t>
                      </a:r>
                      <a:endParaRPr lang="en-GB" dirty="0">
                        <a:latin typeface="Century Gothic" panose="020B0502020202020204" pitchFamily="34"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dirty="0">
                          <a:latin typeface="Century Gothic" panose="020B0502020202020204" pitchFamily="34" charset="0"/>
                        </a:rPr>
                        <a:t>Newcastle</a:t>
                      </a:r>
                      <a:r>
                        <a:rPr lang="en-GB" baseline="0" dirty="0">
                          <a:latin typeface="Century Gothic" panose="020B0502020202020204" pitchFamily="34" charset="0"/>
                        </a:rPr>
                        <a:t> </a:t>
                      </a:r>
                      <a:endParaRPr lang="en-GB" dirty="0">
                        <a:latin typeface="Century Gothic" panose="020B0502020202020204" pitchFamily="34" charset="0"/>
                      </a:endParaRPr>
                    </a:p>
                  </a:txBody>
                  <a:tcPr/>
                </a:tc>
                <a:tc>
                  <a:txBody>
                    <a:bodyPr/>
                    <a:lstStyle/>
                    <a:p>
                      <a:pPr algn="ctr"/>
                      <a:r>
                        <a:rPr lang="en-GB" dirty="0">
                          <a:latin typeface="Century Gothic" panose="020B0502020202020204" pitchFamily="34" charset="0"/>
                        </a:rPr>
                        <a:t>Eye drop, water</a:t>
                      </a:r>
                    </a:p>
                  </a:txBody>
                  <a:tcPr/>
                </a:tc>
                <a:extLst>
                  <a:ext uri="{0D108BD9-81ED-4DB2-BD59-A6C34878D82A}">
                    <a16:rowId xmlns:a16="http://schemas.microsoft.com/office/drawing/2014/main" val="10004"/>
                  </a:ext>
                </a:extLst>
              </a:tr>
              <a:tr h="434998">
                <a:tc>
                  <a:txBody>
                    <a:bodyPr/>
                    <a:lstStyle/>
                    <a:p>
                      <a:pPr algn="ctr"/>
                      <a:r>
                        <a:rPr lang="en-GB" dirty="0">
                          <a:latin typeface="Century Gothic" panose="020B0502020202020204" pitchFamily="34" charset="0"/>
                        </a:rPr>
                        <a:t>5 weeks</a:t>
                      </a:r>
                    </a:p>
                  </a:txBody>
                  <a:tcPr/>
                </a:tc>
                <a:tc>
                  <a:txBody>
                    <a:bodyPr/>
                    <a:lstStyle/>
                    <a:p>
                      <a:pPr algn="ctr"/>
                      <a:r>
                        <a:rPr lang="en-GB" dirty="0">
                          <a:latin typeface="Century Gothic" panose="020B0502020202020204" pitchFamily="34" charset="0"/>
                        </a:rPr>
                        <a:t>Fowl Pox</a:t>
                      </a:r>
                    </a:p>
                  </a:txBody>
                  <a:tcPr/>
                </a:tc>
                <a:tc>
                  <a:txBody>
                    <a:bodyPr/>
                    <a:lstStyle/>
                    <a:p>
                      <a:pPr algn="ctr"/>
                      <a:r>
                        <a:rPr lang="en-GB" dirty="0">
                          <a:latin typeface="Century Gothic" panose="020B0502020202020204" pitchFamily="34" charset="0"/>
                        </a:rPr>
                        <a:t>Fowl Pox</a:t>
                      </a:r>
                    </a:p>
                  </a:txBody>
                  <a:tcPr/>
                </a:tc>
                <a:tc>
                  <a:txBody>
                    <a:bodyPr/>
                    <a:lstStyle/>
                    <a:p>
                      <a:pPr algn="ctr"/>
                      <a:r>
                        <a:rPr lang="en-GB" dirty="0">
                          <a:latin typeface="Century Gothic" panose="020B0502020202020204" pitchFamily="34" charset="0"/>
                        </a:rPr>
                        <a:t>Wing web</a:t>
                      </a:r>
                    </a:p>
                  </a:txBody>
                  <a:tcPr/>
                </a:tc>
                <a:extLst>
                  <a:ext uri="{0D108BD9-81ED-4DB2-BD59-A6C34878D82A}">
                    <a16:rowId xmlns:a16="http://schemas.microsoft.com/office/drawing/2014/main" val="10005"/>
                  </a:ext>
                </a:extLst>
              </a:tr>
              <a:tr h="434998">
                <a:tc>
                  <a:txBody>
                    <a:bodyPr/>
                    <a:lstStyle/>
                    <a:p>
                      <a:pPr algn="ctr"/>
                      <a:r>
                        <a:rPr lang="en-GB" dirty="0">
                          <a:latin typeface="Century Gothic" panose="020B0502020202020204" pitchFamily="34" charset="0"/>
                        </a:rPr>
                        <a:t>16 weeks</a:t>
                      </a:r>
                    </a:p>
                  </a:txBody>
                  <a:tcPr/>
                </a:tc>
                <a:tc>
                  <a:txBody>
                    <a:bodyPr/>
                    <a:lstStyle/>
                    <a:p>
                      <a:pPr algn="ctr"/>
                      <a:r>
                        <a:rPr lang="en-GB" dirty="0" err="1">
                          <a:latin typeface="Century Gothic" panose="020B0502020202020204" pitchFamily="34" charset="0"/>
                        </a:rPr>
                        <a:t>Lasota</a:t>
                      </a:r>
                      <a:endParaRPr lang="en-GB" dirty="0">
                        <a:latin typeface="Century Gothic" panose="020B0502020202020204" pitchFamily="34"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dirty="0">
                          <a:latin typeface="Century Gothic" panose="020B0502020202020204" pitchFamily="34" charset="0"/>
                        </a:rPr>
                        <a:t>Newcastle</a:t>
                      </a:r>
                      <a:r>
                        <a:rPr lang="en-GB" baseline="0" dirty="0">
                          <a:latin typeface="Century Gothic" panose="020B0502020202020204" pitchFamily="34" charset="0"/>
                        </a:rPr>
                        <a:t> </a:t>
                      </a:r>
                      <a:endParaRPr lang="en-GB" dirty="0">
                        <a:latin typeface="Century Gothic" panose="020B0502020202020204" pitchFamily="34" charset="0"/>
                      </a:endParaRPr>
                    </a:p>
                  </a:txBody>
                  <a:tcPr/>
                </a:tc>
                <a:tc>
                  <a:txBody>
                    <a:bodyPr/>
                    <a:lstStyle/>
                    <a:p>
                      <a:pPr algn="ctr"/>
                      <a:r>
                        <a:rPr lang="en-GB" dirty="0">
                          <a:latin typeface="Century Gothic" panose="020B0502020202020204" pitchFamily="34" charset="0"/>
                        </a:rPr>
                        <a:t>Eye drop, water</a:t>
                      </a:r>
                    </a:p>
                  </a:txBody>
                  <a:tcPr/>
                </a:tc>
                <a:extLst>
                  <a:ext uri="{0D108BD9-81ED-4DB2-BD59-A6C34878D82A}">
                    <a16:rowId xmlns:a16="http://schemas.microsoft.com/office/drawing/2014/main" val="10006"/>
                  </a:ext>
                </a:extLst>
              </a:tr>
              <a:tr h="434998">
                <a:tc>
                  <a:txBody>
                    <a:bodyPr/>
                    <a:lstStyle/>
                    <a:p>
                      <a:pPr algn="ctr"/>
                      <a:r>
                        <a:rPr lang="en-GB" dirty="0">
                          <a:latin typeface="Century Gothic" panose="020B0502020202020204" pitchFamily="34" charset="0"/>
                        </a:rPr>
                        <a:t>19</a:t>
                      </a:r>
                      <a:r>
                        <a:rPr lang="en-GB" baseline="0" dirty="0">
                          <a:latin typeface="Century Gothic" panose="020B0502020202020204" pitchFamily="34" charset="0"/>
                        </a:rPr>
                        <a:t> weeks</a:t>
                      </a:r>
                      <a:endParaRPr lang="en-GB" dirty="0">
                        <a:latin typeface="Century Gothic" panose="020B0502020202020204" pitchFamily="34" charset="0"/>
                      </a:endParaRPr>
                    </a:p>
                  </a:txBody>
                  <a:tcPr/>
                </a:tc>
                <a:tc>
                  <a:txBody>
                    <a:bodyPr/>
                    <a:lstStyle/>
                    <a:p>
                      <a:pPr algn="ctr"/>
                      <a:r>
                        <a:rPr lang="en-GB" dirty="0" err="1">
                          <a:latin typeface="Century Gothic" panose="020B0502020202020204" pitchFamily="34" charset="0"/>
                        </a:rPr>
                        <a:t>Dewormer</a:t>
                      </a:r>
                      <a:endParaRPr lang="en-GB" dirty="0">
                        <a:latin typeface="Century Gothic" panose="020B0502020202020204" pitchFamily="34" charset="0"/>
                      </a:endParaRPr>
                    </a:p>
                  </a:txBody>
                  <a:tcPr/>
                </a:tc>
                <a:tc>
                  <a:txBody>
                    <a:bodyPr/>
                    <a:lstStyle/>
                    <a:p>
                      <a:pPr algn="ctr"/>
                      <a:r>
                        <a:rPr lang="en-GB" dirty="0">
                          <a:latin typeface="Century Gothic" panose="020B0502020202020204" pitchFamily="34" charset="0"/>
                        </a:rPr>
                        <a:t>Worms</a:t>
                      </a:r>
                    </a:p>
                  </a:txBody>
                  <a:tcPr/>
                </a:tc>
                <a:tc>
                  <a:txBody>
                    <a:bodyPr/>
                    <a:lstStyle/>
                    <a:p>
                      <a:pPr algn="ctr"/>
                      <a:r>
                        <a:rPr lang="en-GB" dirty="0">
                          <a:latin typeface="Century Gothic" panose="020B0502020202020204" pitchFamily="34" charset="0"/>
                        </a:rPr>
                        <a:t>Water</a:t>
                      </a:r>
                    </a:p>
                  </a:txBody>
                  <a:tcPr/>
                </a:tc>
                <a:extLst>
                  <a:ext uri="{0D108BD9-81ED-4DB2-BD59-A6C34878D82A}">
                    <a16:rowId xmlns:a16="http://schemas.microsoft.com/office/drawing/2014/main" val="10007"/>
                  </a:ext>
                </a:extLst>
              </a:tr>
              <a:tr h="434998">
                <a:tc>
                  <a:txBody>
                    <a:bodyPr/>
                    <a:lstStyle/>
                    <a:p>
                      <a:pPr algn="ctr"/>
                      <a:r>
                        <a:rPr lang="en-GB" dirty="0">
                          <a:latin typeface="Century Gothic" panose="020B0502020202020204" pitchFamily="34" charset="0"/>
                        </a:rPr>
                        <a:t>Every 3 months</a:t>
                      </a:r>
                    </a:p>
                  </a:txBody>
                  <a:tcPr/>
                </a:tc>
                <a:tc>
                  <a:txBody>
                    <a:bodyPr/>
                    <a:lstStyle/>
                    <a:p>
                      <a:pPr algn="ctr"/>
                      <a:r>
                        <a:rPr lang="en-GB" dirty="0" err="1">
                          <a:latin typeface="Century Gothic" panose="020B0502020202020204" pitchFamily="34" charset="0"/>
                        </a:rPr>
                        <a:t>Lasota</a:t>
                      </a:r>
                      <a:endParaRPr lang="en-GB" dirty="0">
                        <a:latin typeface="Century Gothic" panose="020B0502020202020204" pitchFamily="34"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dirty="0">
                          <a:latin typeface="Century Gothic" panose="020B0502020202020204" pitchFamily="34" charset="0"/>
                        </a:rPr>
                        <a:t>Newcastle</a:t>
                      </a:r>
                      <a:r>
                        <a:rPr lang="en-GB" baseline="0" dirty="0">
                          <a:latin typeface="Century Gothic" panose="020B0502020202020204" pitchFamily="34" charset="0"/>
                        </a:rPr>
                        <a:t> </a:t>
                      </a:r>
                      <a:endParaRPr lang="en-GB" dirty="0">
                        <a:latin typeface="Century Gothic" panose="020B0502020202020204" pitchFamily="34"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dirty="0">
                          <a:latin typeface="Century Gothic" panose="020B0502020202020204" pitchFamily="34" charset="0"/>
                        </a:rPr>
                        <a:t>Eye drop, water</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2560622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13914</TotalTime>
  <Words>1328</Words>
  <Application>Microsoft Office PowerPoint</Application>
  <PresentationFormat>Widescreen</PresentationFormat>
  <Paragraphs>197</Paragraphs>
  <Slides>19</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Century Gothic</vt:lpstr>
      <vt:lpstr>Times New Roman</vt:lpstr>
      <vt:lpstr>Wingdings</vt:lpstr>
      <vt:lpstr>Wingdings 3</vt:lpstr>
      <vt:lpstr>Ion</vt:lpstr>
      <vt:lpstr>Layer Production and Management</vt:lpstr>
      <vt:lpstr>Layer Production and Management</vt:lpstr>
      <vt:lpstr>Chicks and Growers Management</vt:lpstr>
      <vt:lpstr>Housing</vt:lpstr>
      <vt:lpstr>Housing systems</vt:lpstr>
      <vt:lpstr>Feeding Regimes and Water Supply</vt:lpstr>
      <vt:lpstr>Temperature and Lighting</vt:lpstr>
      <vt:lpstr>Qualities of a Good Layer</vt:lpstr>
      <vt:lpstr>Differences btwn Laying &amp; Non-Laying Hens</vt:lpstr>
      <vt:lpstr>PowerPoint Presentation</vt:lpstr>
      <vt:lpstr>Culling</vt:lpstr>
      <vt:lpstr>Moulting</vt:lpstr>
      <vt:lpstr>Feather pecking and Cannibalism</vt:lpstr>
      <vt:lpstr>Broodiness</vt:lpstr>
      <vt:lpstr>Egg Eating</vt:lpstr>
      <vt:lpstr>Beak Trimming or Debeaking</vt:lpstr>
      <vt:lpstr>Egg Collection and Storage</vt:lpstr>
      <vt:lpstr>Layers’ Health</vt:lpstr>
      <vt:lpstr>Vaccinations and Other Medications</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Mike Luwe</dc:creator>
  <cp:lastModifiedBy>JOSEPH D. LIWONDE</cp:lastModifiedBy>
  <cp:revision>410</cp:revision>
  <dcterms:created xsi:type="dcterms:W3CDTF">2018-04-27T21:44:57Z</dcterms:created>
  <dcterms:modified xsi:type="dcterms:W3CDTF">2026-02-10T17:12:58Z</dcterms:modified>
</cp:coreProperties>
</file>