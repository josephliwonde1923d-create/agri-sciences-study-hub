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38" d="100"/>
          <a:sy n="38" d="100"/>
        </p:scale>
        <p:origin x="66"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3281619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47316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871994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983EFDB-2453-4530-8512-D49FFDB4BFD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62440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983EFDB-2453-4530-8512-D49FFDB4BFD4}"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409569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634392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30139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287790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983EFDB-2453-4530-8512-D49FFDB4BFD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08824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983EFDB-2453-4530-8512-D49FFDB4BFD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389107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659484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6877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146810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2595731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1391374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1415286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83EFDB-2453-4530-8512-D49FFDB4BFD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8E4A9-7170-4585-8ADD-E86514EFB355}" type="slidenum">
              <a:rPr lang="en-US" smtClean="0"/>
              <a:t>‹#›</a:t>
            </a:fld>
            <a:endParaRPr lang="en-US"/>
          </a:p>
        </p:txBody>
      </p:sp>
    </p:spTree>
    <p:extLst>
      <p:ext uri="{BB962C8B-B14F-4D97-AF65-F5344CB8AC3E}">
        <p14:creationId xmlns:p14="http://schemas.microsoft.com/office/powerpoint/2010/main" val="817362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983EFDB-2453-4530-8512-D49FFDB4BFD4}" type="datetimeFigureOut">
              <a:rPr lang="en-US" smtClean="0"/>
              <a:t>1/24/2025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AD8E4A9-7170-4585-8ADD-E86514EFB355}" type="slidenum">
              <a:rPr lang="en-US" smtClean="0"/>
              <a:t>‹#›</a:t>
            </a:fld>
            <a:endParaRPr lang="en-US"/>
          </a:p>
        </p:txBody>
      </p:sp>
    </p:spTree>
    <p:extLst>
      <p:ext uri="{BB962C8B-B14F-4D97-AF65-F5344CB8AC3E}">
        <p14:creationId xmlns:p14="http://schemas.microsoft.com/office/powerpoint/2010/main" val="14369344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5978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4400-0268-6745-1F19-7E83905941B1}"/>
              </a:ext>
            </a:extLst>
          </p:cNvPr>
          <p:cNvSpPr>
            <a:spLocks noGrp="1"/>
          </p:cNvSpPr>
          <p:nvPr>
            <p:ph type="title"/>
          </p:nvPr>
        </p:nvSpPr>
        <p:spPr>
          <a:xfrm>
            <a:off x="838200" y="1791589"/>
            <a:ext cx="10515600" cy="3572891"/>
          </a:xfrm>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Lecture 5: </a:t>
            </a:r>
            <a:r>
              <a:rPr lang="en-US" b="1" dirty="0" smtClean="0">
                <a:latin typeface="Century Gothic" panose="020B0502020202020204" pitchFamily="34" charset="0"/>
                <a:ea typeface="Calibri" panose="020F0502020204030204" pitchFamily="34" charset="0"/>
                <a:cs typeface="Times New Roman" panose="02020603050405020304" pitchFamily="18" charset="0"/>
              </a:rPr>
              <a:t/>
            </a:r>
            <a:br>
              <a:rPr lang="en-US" b="1" dirty="0" smtClean="0">
                <a:latin typeface="Century Gothic" panose="020B0502020202020204" pitchFamily="34" charset="0"/>
                <a:ea typeface="Calibri" panose="020F0502020204030204" pitchFamily="34" charset="0"/>
                <a:cs typeface="Times New Roman" panose="02020603050405020304" pitchFamily="18" charset="0"/>
              </a:rPr>
            </a:br>
            <a:r>
              <a:rPr lang="en-US" b="1" dirty="0" smtClean="0">
                <a:latin typeface="Century Gothic" panose="020B0502020202020204" pitchFamily="34" charset="0"/>
                <a:ea typeface="Calibri" panose="020F0502020204030204" pitchFamily="34" charset="0"/>
                <a:cs typeface="Times New Roman" panose="02020603050405020304" pitchFamily="18" charset="0"/>
              </a:rPr>
              <a:t/>
            </a:r>
            <a:br>
              <a:rPr lang="en-US" b="1" dirty="0" smtClean="0">
                <a:latin typeface="Century Gothic" panose="020B0502020202020204" pitchFamily="34" charset="0"/>
                <a:ea typeface="Calibri" panose="020F0502020204030204" pitchFamily="34" charset="0"/>
                <a:cs typeface="Times New Roman" panose="02020603050405020304" pitchFamily="18" charset="0"/>
              </a:rPr>
            </a:br>
            <a:r>
              <a:rPr lang="en-US" b="1" dirty="0" smtClean="0">
                <a:latin typeface="Century Gothic" panose="020B0502020202020204" pitchFamily="34" charset="0"/>
                <a:ea typeface="Calibri" panose="020F0502020204030204" pitchFamily="34" charset="0"/>
                <a:cs typeface="Times New Roman" panose="02020603050405020304" pitchFamily="18" charset="0"/>
              </a:rPr>
              <a:t>Consumer </a:t>
            </a:r>
            <a:r>
              <a:rPr lang="en-US" b="1" dirty="0">
                <a:latin typeface="Century Gothic" panose="020B0502020202020204" pitchFamily="34" charset="0"/>
                <a:ea typeface="Calibri" panose="020F0502020204030204" pitchFamily="34" charset="0"/>
                <a:cs typeface="Times New Roman" panose="02020603050405020304" pitchFamily="18" charset="0"/>
              </a:rPr>
              <a:t>Choice: Individual and Market Demand </a:t>
            </a:r>
            <a:endParaRPr lang="en-US" dirty="0"/>
          </a:p>
        </p:txBody>
      </p:sp>
    </p:spTree>
    <p:extLst>
      <p:ext uri="{BB962C8B-B14F-4D97-AF65-F5344CB8AC3E}">
        <p14:creationId xmlns:p14="http://schemas.microsoft.com/office/powerpoint/2010/main" val="3332261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E685-649F-BAB2-A040-B9FC8B522FB3}"/>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Consumer Choice Theory and Utility Maximization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F59912F-B7FF-DBB9-EFEE-65F0F7BC08F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Consumer choice theory explains how consumers make decisions based on their preferences and budget constraints.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Utility maximization is the core principle, where consumers seek to maximize their satisfaction or utility from the goods and services they consume.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05753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7BA64-03B5-8604-4431-428E8D2F21F9}"/>
              </a:ext>
            </a:extLst>
          </p:cNvPr>
          <p:cNvSpPr>
            <a:spLocks noGrp="1"/>
          </p:cNvSpPr>
          <p:nvPr>
            <p:ph type="title"/>
          </p:nvPr>
        </p:nvSpPr>
        <p:spPr>
          <a:xfrm>
            <a:off x="838200" y="365125"/>
            <a:ext cx="10515600" cy="2004002"/>
          </a:xfrm>
        </p:spPr>
        <p:txBody>
          <a:bodyPr>
            <a:normAutofit fontScale="90000"/>
          </a:bodyPr>
          <a:lstStyle/>
          <a:p>
            <a:pPr algn="ctr"/>
            <a:r>
              <a:rPr lang="en-US" sz="4900" b="1" kern="100" dirty="0">
                <a:latin typeface="Century Gothic" panose="020B0502020202020204" pitchFamily="34" charset="0"/>
                <a:ea typeface="Calibri" panose="020F0502020204030204" pitchFamily="34" charset="0"/>
                <a:cs typeface="Times New Roman" panose="02020603050405020304" pitchFamily="18" charset="0"/>
              </a:rPr>
              <a:t>Indifference Curves and Budget Constraints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EF9D024-9F6B-759E-9A38-37C5B8216116}"/>
              </a:ext>
            </a:extLst>
          </p:cNvPr>
          <p:cNvSpPr>
            <a:spLocks noGrp="1"/>
          </p:cNvSpPr>
          <p:nvPr>
            <p:ph idx="1"/>
          </p:nvPr>
        </p:nvSpPr>
        <p:spPr>
          <a:xfrm>
            <a:off x="838200" y="2369127"/>
            <a:ext cx="10515600" cy="3807836"/>
          </a:xfrm>
        </p:spPr>
        <p:txBody>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Indifference curves represent combinations of goods that provide the same level of satisfaction to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Budget constraints depict the limits on consumer choices due to their income and the prices of goods and services.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7658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21B0-DB37-E744-D6B7-9279DF5BCE6D}"/>
              </a:ext>
            </a:extLst>
          </p:cNvPr>
          <p:cNvSpPr>
            <a:spLocks noGrp="1"/>
          </p:cNvSpPr>
          <p:nvPr>
            <p:ph type="title"/>
          </p:nvPr>
        </p:nvSpPr>
        <p:spPr/>
        <p:txBody>
          <a:bodyPr/>
          <a:lstStyle/>
          <a:p>
            <a:pPr algn="ctr"/>
            <a:r>
              <a:rPr lang="en-US" b="1" dirty="0">
                <a:latin typeface="Century Gothic" panose="020B0502020202020204" pitchFamily="34" charset="0"/>
              </a:rPr>
              <a:t>Indifference Map </a:t>
            </a:r>
          </a:p>
        </p:txBody>
      </p:sp>
      <p:pic>
        <p:nvPicPr>
          <p:cNvPr id="4" name="Content Placeholder 3">
            <a:extLst>
              <a:ext uri="{FF2B5EF4-FFF2-40B4-BE49-F238E27FC236}">
                <a16:creationId xmlns:a16="http://schemas.microsoft.com/office/drawing/2014/main" id="{6C133395-F718-0153-AF59-B7D2D41DAEA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57550" y="1690688"/>
            <a:ext cx="5676900" cy="4079018"/>
          </a:xfrm>
          <a:prstGeom prst="rect">
            <a:avLst/>
          </a:prstGeom>
        </p:spPr>
      </p:pic>
    </p:spTree>
    <p:extLst>
      <p:ext uri="{BB962C8B-B14F-4D97-AF65-F5344CB8AC3E}">
        <p14:creationId xmlns:p14="http://schemas.microsoft.com/office/powerpoint/2010/main" val="407039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968EE-B0A6-E727-AE6E-C061EEFFA4F1}"/>
              </a:ext>
            </a:extLst>
          </p:cNvPr>
          <p:cNvSpPr>
            <a:spLocks noGrp="1"/>
          </p:cNvSpPr>
          <p:nvPr>
            <p:ph type="title"/>
          </p:nvPr>
        </p:nvSpPr>
        <p:spPr/>
        <p:txBody>
          <a:bodyPr/>
          <a:lstStyle/>
          <a:p>
            <a:pPr algn="ctr"/>
            <a:r>
              <a:rPr lang="en-US" b="1" dirty="0">
                <a:latin typeface="Century Gothic" panose="020B0502020202020204" pitchFamily="34" charset="0"/>
              </a:rPr>
              <a:t>Budget constraint </a:t>
            </a:r>
          </a:p>
        </p:txBody>
      </p:sp>
      <p:pic>
        <p:nvPicPr>
          <p:cNvPr id="4" name="Content Placeholder 3">
            <a:extLst>
              <a:ext uri="{FF2B5EF4-FFF2-40B4-BE49-F238E27FC236}">
                <a16:creationId xmlns:a16="http://schemas.microsoft.com/office/drawing/2014/main" id="{B9CC7B43-450E-09DB-B6DD-7C5FD3689D8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916842" y="1690688"/>
            <a:ext cx="6358316" cy="4351338"/>
          </a:xfrm>
          <a:prstGeom prst="rect">
            <a:avLst/>
          </a:prstGeom>
        </p:spPr>
      </p:pic>
    </p:spTree>
    <p:extLst>
      <p:ext uri="{BB962C8B-B14F-4D97-AF65-F5344CB8AC3E}">
        <p14:creationId xmlns:p14="http://schemas.microsoft.com/office/powerpoint/2010/main" val="1446488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19D01-85DC-F3FB-BCB4-C0D6C9A4A966}"/>
              </a:ext>
            </a:extLst>
          </p:cNvPr>
          <p:cNvSpPr>
            <a:spLocks noGrp="1"/>
          </p:cNvSpPr>
          <p:nvPr>
            <p:ph type="title"/>
          </p:nvPr>
        </p:nvSpPr>
        <p:spPr/>
        <p:txBody>
          <a:bodyPr/>
          <a:lstStyle/>
          <a:p>
            <a:pPr algn="ctr"/>
            <a:r>
              <a:rPr lang="en-US" b="1" dirty="0">
                <a:latin typeface="Century Gothic" panose="020B0502020202020204" pitchFamily="34" charset="0"/>
              </a:rPr>
              <a:t>Indifference Map and Budget constraint  </a:t>
            </a:r>
            <a:endParaRPr lang="en-US" dirty="0"/>
          </a:p>
        </p:txBody>
      </p:sp>
      <p:pic>
        <p:nvPicPr>
          <p:cNvPr id="4" name="Content Placeholder 3">
            <a:extLst>
              <a:ext uri="{FF2B5EF4-FFF2-40B4-BE49-F238E27FC236}">
                <a16:creationId xmlns:a16="http://schemas.microsoft.com/office/drawing/2014/main" id="{340B05F3-BF00-7C6F-153E-48C1F5AB52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2765" y="2052638"/>
            <a:ext cx="6148245" cy="4195762"/>
          </a:xfrm>
          <a:prstGeom prst="rect">
            <a:avLst/>
          </a:prstGeom>
        </p:spPr>
      </p:pic>
    </p:spTree>
    <p:extLst>
      <p:ext uri="{BB962C8B-B14F-4D97-AF65-F5344CB8AC3E}">
        <p14:creationId xmlns:p14="http://schemas.microsoft.com/office/powerpoint/2010/main" val="948917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197D6-B6FA-5EFF-D603-7B34FEC982F1}"/>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Individual Demand Curve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A056E00-EF88-7394-3759-EC5A728E8972}"/>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Individual demand curves show the quantity of a good a single consumer is willing to buy at different price levels, while keeping other factors constant.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We derive individual demand curves from utility-maximizing choices by analyzing the combinations of goods that maximize satisfaction within the budget constraint.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38227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FC14-3E67-5D7F-3DC8-2066AE2B084F}"/>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Market Demand Curve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5A8C901-A682-3511-B537-FD5ED4862169}"/>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demand curves represent the total quantity of a good that all consumers in the market are willing to buy at various price levels.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Market demand curves are obtained by horizontally summing the individual demand curves of all consumers in the market.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85219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4B63-533E-6885-F117-F6BFCEFDCAB7}"/>
              </a:ext>
            </a:extLst>
          </p:cNvPr>
          <p:cNvSpPr>
            <a:spLocks noGrp="1"/>
          </p:cNvSpPr>
          <p:nvPr>
            <p:ph type="title"/>
          </p:nvPr>
        </p:nvSpPr>
        <p:spPr/>
        <p:txBody>
          <a:bodyPr>
            <a:normAutofit fontScale="90000"/>
          </a:bodyPr>
          <a:lstStyle/>
          <a:p>
            <a:pPr marL="0" marR="0"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Application in Value Chain Agriculture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1BC215-86F5-3131-330B-DEEE0BFFD070}"/>
              </a:ext>
            </a:extLst>
          </p:cNvPr>
          <p:cNvSpPr>
            <a:spLocks noGrp="1"/>
          </p:cNvSpPr>
          <p:nvPr>
            <p:ph idx="1"/>
          </p:nvPr>
        </p:nvSpPr>
        <p:spPr/>
        <p:txBody>
          <a:bodyPr/>
          <a:lstStyle/>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value chain agriculture, consumer choice theory is applied to analyze the demand for different agricultural products.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Understanding consumer preferences and their response to price changes helps value chain actors make informed production and marketing decisions.</a:t>
            </a:r>
          </a:p>
          <a:p>
            <a:endParaRPr lang="en-US" dirty="0"/>
          </a:p>
        </p:txBody>
      </p:sp>
    </p:spTree>
    <p:extLst>
      <p:ext uri="{BB962C8B-B14F-4D97-AF65-F5344CB8AC3E}">
        <p14:creationId xmlns:p14="http://schemas.microsoft.com/office/powerpoint/2010/main" val="50411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669B-296C-E13F-C7FC-779B028562B8}"/>
              </a:ext>
            </a:extLst>
          </p:cNvPr>
          <p:cNvSpPr>
            <a:spLocks noGrp="1"/>
          </p:cNvSpPr>
          <p:nvPr>
            <p:ph type="title"/>
          </p:nvPr>
        </p:nvSpPr>
        <p:spPr>
          <a:xfrm>
            <a:off x="838200" y="365125"/>
            <a:ext cx="10515600" cy="5142057"/>
          </a:xfrm>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Drawing Indifference Curves, Deriving Individual Demand Curve, and Deriving Market Demand</a:t>
            </a:r>
            <a:endParaRPr lang="en-US" dirty="0"/>
          </a:p>
        </p:txBody>
      </p:sp>
    </p:spTree>
    <p:extLst>
      <p:ext uri="{BB962C8B-B14F-4D97-AF65-F5344CB8AC3E}">
        <p14:creationId xmlns:p14="http://schemas.microsoft.com/office/powerpoint/2010/main" val="2237827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113AC-FA86-CF31-6FED-2692A423A24D}"/>
              </a:ext>
            </a:extLst>
          </p:cNvPr>
          <p:cNvSpPr>
            <a:spLocks noGrp="1"/>
          </p:cNvSpPr>
          <p:nvPr>
            <p:ph type="title"/>
          </p:nvPr>
        </p:nvSpPr>
        <p:spPr>
          <a:xfrm>
            <a:off x="838200" y="365125"/>
            <a:ext cx="10515600" cy="1900093"/>
          </a:xfrm>
        </p:spPr>
        <p:txBody>
          <a:bodyPr>
            <a:normAutofit fontScale="90000"/>
          </a:bodyPr>
          <a:lstStyle/>
          <a:p>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3507DC7-2CAD-5A68-699B-EC6495A92AAC}"/>
              </a:ext>
            </a:extLst>
          </p:cNvPr>
          <p:cNvSpPr>
            <a:spLocks noGrp="1"/>
          </p:cNvSpPr>
          <p:nvPr>
            <p:ph idx="1"/>
          </p:nvPr>
        </p:nvSpPr>
        <p:spPr>
          <a:xfrm>
            <a:off x="838200" y="1163782"/>
            <a:ext cx="10515600" cy="5013181"/>
          </a:xfrm>
        </p:spPr>
        <p:txBody>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Consider the following utility function for a consumer, where X represents quantity of good X and Y represents quantity of good Y:</a:t>
            </a:r>
          </a:p>
          <a:p>
            <a:pPr marL="0" marR="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Utility function: U(X, Y) = X</a:t>
            </a:r>
            <a:r>
              <a:rPr lang="en-US"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284569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9CE1A3-11D9-AEA6-8621-21AA1E8F7C07}"/>
              </a:ext>
            </a:extLst>
          </p:cNvPr>
          <p:cNvSpPr>
            <a:spLocks noGrp="1"/>
          </p:cNvSpPr>
          <p:nvPr>
            <p:ph idx="1"/>
          </p:nvPr>
        </p:nvSpPr>
        <p:spPr>
          <a:xfrm>
            <a:off x="332509" y="249382"/>
            <a:ext cx="11021291" cy="5927581"/>
          </a:xfrm>
        </p:spPr>
        <p:txBody>
          <a:bodyPr>
            <a:normAutofit fontScale="92500" lnSpcReduction="10000"/>
          </a:bodyPr>
          <a:lstStyle/>
          <a:p>
            <a:pPr marL="0" indent="0" algn="just">
              <a:lnSpc>
                <a:spcPct val="120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Exercise Drawing Indifference Curves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 Plot the indifference curves for the utility levels U = 1, U = 4, and U = 9 on the same graph.</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Derive Individual Demand Curve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consumer's budget constraint is given by: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i="1" kern="100" dirty="0">
                <a:latin typeface="Century Gothic" panose="020B0502020202020204" pitchFamily="34" charset="0"/>
                <a:ea typeface="Calibri" panose="020F0502020204030204" pitchFamily="34" charset="0"/>
                <a:cs typeface="Times New Roman" panose="02020603050405020304" pitchFamily="18" charset="0"/>
              </a:rPr>
              <a:t> * X +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Y = M,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where:  P</a:t>
            </a:r>
            <a:r>
              <a:rPr lang="en-US" sz="2600"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is the price of good X,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137160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P</a:t>
            </a:r>
            <a:r>
              <a:rPr lang="en-US" sz="2600"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is the price of good Y,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137160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M is the consumer's income.</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sz="2600"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sz="26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Assume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 </a:t>
            </a:r>
            <a:r>
              <a:rPr lang="en-US" i="1" kern="100" dirty="0">
                <a:latin typeface="Century Gothic" panose="020B0502020202020204" pitchFamily="34" charset="0"/>
                <a:ea typeface="Calibri" panose="020F0502020204030204" pitchFamily="34" charset="0"/>
                <a:cs typeface="Times New Roman" panose="02020603050405020304" pitchFamily="18" charset="0"/>
              </a:rPr>
              <a:t>= 4,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2, and M = 16.</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err="1">
                <a:latin typeface="Century Gothic" panose="020B0502020202020204" pitchFamily="34" charset="0"/>
                <a:ea typeface="Calibri" panose="020F0502020204030204" pitchFamily="34" charset="0"/>
                <a:cs typeface="Times New Roman" panose="02020603050405020304" pitchFamily="18" charset="0"/>
              </a:rPr>
              <a:t>i</a:t>
            </a:r>
            <a:r>
              <a:rPr lang="en-US" i="1" kern="100" dirty="0">
                <a:latin typeface="Century Gothic" panose="020B0502020202020204" pitchFamily="34" charset="0"/>
                <a:ea typeface="Calibri" panose="020F0502020204030204" pitchFamily="34" charset="0"/>
                <a:cs typeface="Times New Roman" panose="02020603050405020304" pitchFamily="18" charset="0"/>
              </a:rPr>
              <a:t>) Calculate the consumer's budget line equation.</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 Plot the budget line on the graph with indifference curves from Part 1.</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20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iii) Determine the optimal bundle (X, Y) that maximizes the consumer's utility, given the budget constraint.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927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59DBC-486B-F87F-F933-5B5A55B8079C}"/>
              </a:ext>
            </a:extLst>
          </p:cNvPr>
          <p:cNvSpPr>
            <a:spLocks noGrp="1"/>
          </p:cNvSpPr>
          <p:nvPr>
            <p:ph type="title"/>
          </p:nvPr>
        </p:nvSpPr>
        <p:spPr/>
        <p:txBody>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Deriving Market Demand</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E8CFFCB-0FC9-A925-CF0F-A5439BD0DE96}"/>
              </a:ext>
            </a:extLst>
          </p:cNvPr>
          <p:cNvSpPr>
            <a:spLocks noGrp="1"/>
          </p:cNvSpPr>
          <p:nvPr>
            <p:ph idx="1"/>
          </p:nvPr>
        </p:nvSpPr>
        <p:spPr>
          <a:xfrm>
            <a:off x="838200" y="1825625"/>
            <a:ext cx="10515600" cy="4667250"/>
          </a:xfrm>
        </p:spPr>
        <p:txBody>
          <a:bodyPr>
            <a:normAutofit/>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Suppose there are two consumers in the market with the following utility functions: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457200" lvl="1" indent="0" algn="just">
              <a:lnSpc>
                <a:spcPct val="107000"/>
              </a:lnSpc>
              <a:spcBef>
                <a:spcPts val="0"/>
              </a:spcBef>
              <a:spcAft>
                <a:spcPts val="800"/>
              </a:spcAft>
              <a:buNone/>
            </a:pPr>
            <a:r>
              <a:rPr lang="en-US" sz="2800" i="1" kern="100" dirty="0">
                <a:latin typeface="Century Gothic" panose="020B0502020202020204" pitchFamily="34" charset="0"/>
                <a:ea typeface="Calibri" panose="020F0502020204030204" pitchFamily="34" charset="0"/>
                <a:cs typeface="Times New Roman" panose="02020603050405020304" pitchFamily="18" charset="0"/>
              </a:rPr>
              <a:t>Consumer 1: U(X, Y) = X</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457200" lvl="1" indent="0" algn="just">
              <a:lnSpc>
                <a:spcPct val="107000"/>
              </a:lnSpc>
              <a:spcBef>
                <a:spcPts val="0"/>
              </a:spcBef>
              <a:spcAft>
                <a:spcPts val="800"/>
              </a:spcAft>
              <a:buNone/>
            </a:pPr>
            <a:r>
              <a:rPr lang="en-US" sz="2800" i="1" kern="100" dirty="0">
                <a:latin typeface="Century Gothic" panose="020B0502020202020204" pitchFamily="34" charset="0"/>
                <a:ea typeface="Calibri" panose="020F0502020204030204" pitchFamily="34" charset="0"/>
                <a:cs typeface="Times New Roman" panose="02020603050405020304" pitchFamily="18" charset="0"/>
              </a:rPr>
              <a:t>Consumer 2: U(X, Y) = 2X</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 * Y</a:t>
            </a:r>
            <a:r>
              <a:rPr lang="en-US" sz="2800" i="1" kern="100" baseline="30000" dirty="0">
                <a:latin typeface="Century Gothic" panose="020B0502020202020204" pitchFamily="34" charset="0"/>
                <a:ea typeface="Calibri" panose="020F0502020204030204" pitchFamily="34" charset="0"/>
                <a:cs typeface="Times New Roman" panose="02020603050405020304" pitchFamily="18" charset="0"/>
              </a:rPr>
              <a:t>0.5</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The market prices are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X</a:t>
            </a:r>
            <a:r>
              <a:rPr lang="en-US" i="1" kern="100" dirty="0">
                <a:latin typeface="Century Gothic" panose="020B0502020202020204" pitchFamily="34" charset="0"/>
                <a:ea typeface="Calibri" panose="020F0502020204030204" pitchFamily="34" charset="0"/>
                <a:cs typeface="Times New Roman" panose="02020603050405020304" pitchFamily="18" charset="0"/>
              </a:rPr>
              <a:t> = 4 and P</a:t>
            </a:r>
            <a:r>
              <a:rPr lang="en-US" i="1" kern="100" baseline="-25000" dirty="0">
                <a:latin typeface="Century Gothic" panose="020B0502020202020204" pitchFamily="34" charset="0"/>
                <a:ea typeface="Calibri" panose="020F0502020204030204" pitchFamily="34" charset="0"/>
                <a:cs typeface="Times New Roman" panose="02020603050405020304" pitchFamily="18" charset="0"/>
              </a:rPr>
              <a:t>Y</a:t>
            </a:r>
            <a:r>
              <a:rPr lang="en-US" i="1" kern="100" dirty="0">
                <a:latin typeface="Century Gothic" panose="020B0502020202020204" pitchFamily="34" charset="0"/>
                <a:ea typeface="Calibri" panose="020F0502020204030204" pitchFamily="34" charset="0"/>
                <a:cs typeface="Times New Roman" panose="02020603050405020304" pitchFamily="18" charset="0"/>
              </a:rPr>
              <a:t> = 2, and both consumers have an income of M = 16.</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 </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err="1">
                <a:latin typeface="Century Gothic" panose="020B0502020202020204" pitchFamily="34" charset="0"/>
                <a:ea typeface="Calibri" panose="020F0502020204030204" pitchFamily="34" charset="0"/>
                <a:cs typeface="Times New Roman" panose="02020603050405020304" pitchFamily="18" charset="0"/>
              </a:rPr>
              <a:t>i</a:t>
            </a:r>
            <a:r>
              <a:rPr lang="en-US" i="1" kern="100" dirty="0">
                <a:latin typeface="Century Gothic" panose="020B0502020202020204" pitchFamily="34" charset="0"/>
                <a:ea typeface="Calibri" panose="020F0502020204030204" pitchFamily="34" charset="0"/>
                <a:cs typeface="Times New Roman" panose="02020603050405020304" pitchFamily="18" charset="0"/>
              </a:rPr>
              <a:t>) Derive the individual demand for good X and good Y for each consumer.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ii) Calculate the total market demand for good X and good 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11734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EDF6E-CD09-25D9-F6DB-8EC2ED3A25A4}"/>
              </a:ext>
            </a:extLst>
          </p:cNvPr>
          <p:cNvSpPr>
            <a:spLocks noGrp="1"/>
          </p:cNvSpPr>
          <p:nvPr>
            <p:ph idx="1"/>
          </p:nvPr>
        </p:nvSpPr>
        <p:spPr/>
        <p:txBody>
          <a:bodyPr/>
          <a:lstStyle/>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Understanding consumer choice theory and individual and market demand is vital VCA students as it enables them to predict market demand, analyze purchasing behavior, and make informed decisions in the agricultural sector. </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By grasping these concepts, students will be better equipped to contribute to the efficiency and sustainability of value chain agriculture.</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199202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TotalTime>
  <Words>436</Words>
  <Application>Microsoft Office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Century Gothic</vt:lpstr>
      <vt:lpstr>Times New Roman</vt:lpstr>
      <vt:lpstr>Wingdings 3</vt:lpstr>
      <vt:lpstr>Ion</vt:lpstr>
      <vt:lpstr>PowerPoint Presentation</vt:lpstr>
      <vt:lpstr>Lecture 5:   Consumer Choice: Individual and Market Demand </vt:lpstr>
      <vt:lpstr>Consumer Choice Theory and Utility Maximization  </vt:lpstr>
      <vt:lpstr>Indifference Curves and Budget Constraints  </vt:lpstr>
      <vt:lpstr>Indifference Map </vt:lpstr>
      <vt:lpstr>Budget constraint </vt:lpstr>
      <vt:lpstr>Indifference Map and Budget constraint  </vt:lpstr>
      <vt:lpstr>Individual Demand Curve  </vt:lpstr>
      <vt:lpstr>Market Demand Curve  </vt:lpstr>
      <vt:lpstr>  Application in Value Chain Agriculture  </vt:lpstr>
      <vt:lpstr>Exercises: Drawing Indifference Curves, Deriving Individual Demand Curve, and Deriving Market Demand</vt:lpstr>
      <vt:lpstr>  </vt:lpstr>
      <vt:lpstr>PowerPoint Presentation</vt:lpstr>
      <vt:lpstr>Deriving Market Demand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cp:revision>
  <dcterms:created xsi:type="dcterms:W3CDTF">2025-01-24T02:07:20Z</dcterms:created>
  <dcterms:modified xsi:type="dcterms:W3CDTF">2025-01-24T02:10:05Z</dcterms:modified>
</cp:coreProperties>
</file>