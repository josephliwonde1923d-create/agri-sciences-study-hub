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8" r:id="rId2"/>
    <p:sldId id="295" r:id="rId3"/>
    <p:sldId id="262" r:id="rId4"/>
    <p:sldId id="296" r:id="rId5"/>
    <p:sldId id="294" r:id="rId6"/>
    <p:sldId id="308" r:id="rId7"/>
    <p:sldId id="309" r:id="rId8"/>
    <p:sldId id="263" r:id="rId9"/>
    <p:sldId id="298" r:id="rId10"/>
    <p:sldId id="299" r:id="rId11"/>
    <p:sldId id="340" r:id="rId12"/>
    <p:sldId id="300" r:id="rId13"/>
    <p:sldId id="301" r:id="rId14"/>
    <p:sldId id="303" r:id="rId15"/>
    <p:sldId id="304" r:id="rId16"/>
    <p:sldId id="305" r:id="rId17"/>
    <p:sldId id="306" r:id="rId18"/>
    <p:sldId id="307" r:id="rId19"/>
    <p:sldId id="310" r:id="rId20"/>
    <p:sldId id="302" r:id="rId21"/>
    <p:sldId id="311" r:id="rId22"/>
    <p:sldId id="31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32" autoAdjust="0"/>
    <p:restoredTop sz="94660"/>
  </p:normalViewPr>
  <p:slideViewPr>
    <p:cSldViewPr snapToGrid="0">
      <p:cViewPr varScale="1">
        <p:scale>
          <a:sx n="77" d="100"/>
          <a:sy n="77" d="100"/>
        </p:scale>
        <p:origin x="30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709CAB-02CD-4275-80B3-FFE13BBC723D}" type="datetimeFigureOut">
              <a:rPr lang="en-US" smtClean="0"/>
              <a:t>10-Feb-26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014D8F-5287-4D8F-B5CD-D8B317BD5CBD}" type="slidenum">
              <a:rPr lang="en-US" smtClean="0"/>
              <a:t>‹#›</a:t>
            </a:fld>
            <a:endParaRPr lang="en-US"/>
          </a:p>
        </p:txBody>
      </p:sp>
    </p:spTree>
    <p:extLst>
      <p:ext uri="{BB962C8B-B14F-4D97-AF65-F5344CB8AC3E}">
        <p14:creationId xmlns:p14="http://schemas.microsoft.com/office/powerpoint/2010/main" val="271795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cloaca</a:t>
            </a:r>
            <a:r>
              <a:rPr lang="en-GB" b="1" dirty="0"/>
              <a:t> </a:t>
            </a:r>
            <a:r>
              <a:rPr lang="en-GB" dirty="0"/>
              <a:t>is an enlarged part connected to the large intestine. </a:t>
            </a:r>
          </a:p>
        </p:txBody>
      </p:sp>
      <p:sp>
        <p:nvSpPr>
          <p:cNvPr id="4" name="Slide Number Placeholder 3"/>
          <p:cNvSpPr>
            <a:spLocks noGrp="1"/>
          </p:cNvSpPr>
          <p:nvPr>
            <p:ph type="sldNum" sz="quarter" idx="10"/>
          </p:nvPr>
        </p:nvSpPr>
        <p:spPr/>
        <p:txBody>
          <a:bodyPr/>
          <a:lstStyle/>
          <a:p>
            <a:fld id="{AD71D7C1-5A09-4F0A-AD83-58B77AAF2BC1}" type="slidenum">
              <a:rPr lang="en-GB" smtClean="0"/>
              <a:t>1</a:t>
            </a:fld>
            <a:endParaRPr lang="en-GB"/>
          </a:p>
        </p:txBody>
      </p:sp>
    </p:spTree>
    <p:extLst>
      <p:ext uri="{BB962C8B-B14F-4D97-AF65-F5344CB8AC3E}">
        <p14:creationId xmlns:p14="http://schemas.microsoft.com/office/powerpoint/2010/main" val="1979248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a:t>
            </a:fld>
            <a:endParaRPr lang="en-GB"/>
          </a:p>
        </p:txBody>
      </p:sp>
    </p:spTree>
    <p:extLst>
      <p:ext uri="{BB962C8B-B14F-4D97-AF65-F5344CB8AC3E}">
        <p14:creationId xmlns:p14="http://schemas.microsoft.com/office/powerpoint/2010/main" val="646151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a:t>
            </a:fld>
            <a:endParaRPr lang="en-GB"/>
          </a:p>
        </p:txBody>
      </p:sp>
    </p:spTree>
    <p:extLst>
      <p:ext uri="{BB962C8B-B14F-4D97-AF65-F5344CB8AC3E}">
        <p14:creationId xmlns:p14="http://schemas.microsoft.com/office/powerpoint/2010/main" val="197901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Bile consists of bile salts, cholesterol and bilirubin </a:t>
            </a:r>
          </a:p>
        </p:txBody>
      </p:sp>
      <p:sp>
        <p:nvSpPr>
          <p:cNvPr id="4" name="Slide Number Placeholder 3"/>
          <p:cNvSpPr>
            <a:spLocks noGrp="1"/>
          </p:cNvSpPr>
          <p:nvPr>
            <p:ph type="sldNum" sz="quarter" idx="10"/>
          </p:nvPr>
        </p:nvSpPr>
        <p:spPr/>
        <p:txBody>
          <a:bodyPr/>
          <a:lstStyle/>
          <a:p>
            <a:fld id="{AD71D7C1-5A09-4F0A-AD83-58B77AAF2BC1}" type="slidenum">
              <a:rPr lang="en-GB" smtClean="0"/>
              <a:t>5</a:t>
            </a:fld>
            <a:endParaRPr lang="en-GB"/>
          </a:p>
        </p:txBody>
      </p:sp>
    </p:spTree>
    <p:extLst>
      <p:ext uri="{BB962C8B-B14F-4D97-AF65-F5344CB8AC3E}">
        <p14:creationId xmlns:p14="http://schemas.microsoft.com/office/powerpoint/2010/main" val="1267692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6</a:t>
            </a:fld>
            <a:endParaRPr lang="en-GB"/>
          </a:p>
        </p:txBody>
      </p:sp>
    </p:spTree>
    <p:extLst>
      <p:ext uri="{BB962C8B-B14F-4D97-AF65-F5344CB8AC3E}">
        <p14:creationId xmlns:p14="http://schemas.microsoft.com/office/powerpoint/2010/main" val="4024581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7</a:t>
            </a:fld>
            <a:endParaRPr lang="en-GB"/>
          </a:p>
        </p:txBody>
      </p:sp>
    </p:spTree>
    <p:extLst>
      <p:ext uri="{BB962C8B-B14F-4D97-AF65-F5344CB8AC3E}">
        <p14:creationId xmlns:p14="http://schemas.microsoft.com/office/powerpoint/2010/main" val="31683736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Taste is limited, the taste buds being located on the back half of the tongue and the adjacent pharynx.</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a:p>
        </p:txBody>
      </p:sp>
    </p:spTree>
    <p:extLst>
      <p:ext uri="{BB962C8B-B14F-4D97-AF65-F5344CB8AC3E}">
        <p14:creationId xmlns:p14="http://schemas.microsoft.com/office/powerpoint/2010/main" val="1821431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HI = Digestion,</a:t>
            </a:r>
            <a:r>
              <a:rPr lang="en-US" baseline="0" dirty="0"/>
              <a:t> metabolism, fermentation</a:t>
            </a:r>
          </a:p>
          <a:p>
            <a:r>
              <a:rPr lang="en-US" baseline="0" dirty="0"/>
              <a:t>NE = Maintenance, Production (</a:t>
            </a:r>
            <a:r>
              <a:rPr lang="en-US" baseline="0" dirty="0" err="1"/>
              <a:t>growth+lactation</a:t>
            </a:r>
            <a:r>
              <a:rPr lang="en-US" baseline="0" dirty="0"/>
              <a:t>)</a:t>
            </a:r>
            <a:endParaRPr lang="nl-BE" dirty="0"/>
          </a:p>
        </p:txBody>
      </p:sp>
      <p:sp>
        <p:nvSpPr>
          <p:cNvPr id="4" name="Tijdelijke aanduiding voor dianummer 3"/>
          <p:cNvSpPr>
            <a:spLocks noGrp="1"/>
          </p:cNvSpPr>
          <p:nvPr>
            <p:ph type="sldNum" sz="quarter" idx="10"/>
          </p:nvPr>
        </p:nvSpPr>
        <p:spPr/>
        <p:txBody>
          <a:bodyPr/>
          <a:lstStyle/>
          <a:p>
            <a:fld id="{AD71D7C1-5A09-4F0A-AD83-58B77AAF2BC1}" type="slidenum">
              <a:rPr lang="en-GB" smtClean="0"/>
              <a:t>11</a:t>
            </a:fld>
            <a:endParaRPr lang="en-GB"/>
          </a:p>
        </p:txBody>
      </p:sp>
    </p:spTree>
    <p:extLst>
      <p:ext uri="{BB962C8B-B14F-4D97-AF65-F5344CB8AC3E}">
        <p14:creationId xmlns:p14="http://schemas.microsoft.com/office/powerpoint/2010/main" val="1265710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20%</a:t>
            </a:r>
            <a:r>
              <a:rPr lang="en-GB" baseline="0" dirty="0"/>
              <a:t> of P occur as </a:t>
            </a:r>
            <a:r>
              <a:rPr lang="en-GB" baseline="0" dirty="0" err="1"/>
              <a:t>phytate</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16</a:t>
            </a:fld>
            <a:endParaRPr lang="en-GB"/>
          </a:p>
        </p:txBody>
      </p:sp>
    </p:spTree>
    <p:extLst>
      <p:ext uri="{BB962C8B-B14F-4D97-AF65-F5344CB8AC3E}">
        <p14:creationId xmlns:p14="http://schemas.microsoft.com/office/powerpoint/2010/main" val="504276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err="1"/>
              <a:t>Screwpressed</a:t>
            </a:r>
            <a:r>
              <a:rPr lang="en-GB" sz="1200" dirty="0"/>
              <a:t> materials have 200–500 mg free gossypol/kg, prepressed solvent-extracted</a:t>
            </a:r>
          </a:p>
          <a:p>
            <a:r>
              <a:rPr lang="en-GB" sz="1200" dirty="0"/>
              <a:t>meals 200–700 mg/kg and solvent-extracted 1000–5000 mg/kg</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18</a:t>
            </a:fld>
            <a:endParaRPr lang="en-GB"/>
          </a:p>
        </p:txBody>
      </p:sp>
    </p:spTree>
    <p:extLst>
      <p:ext uri="{BB962C8B-B14F-4D97-AF65-F5344CB8AC3E}">
        <p14:creationId xmlns:p14="http://schemas.microsoft.com/office/powerpoint/2010/main" val="2708004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19</a:t>
            </a:fld>
            <a:endParaRPr lang="en-GB"/>
          </a:p>
        </p:txBody>
      </p:sp>
    </p:spTree>
    <p:extLst>
      <p:ext uri="{BB962C8B-B14F-4D97-AF65-F5344CB8AC3E}">
        <p14:creationId xmlns:p14="http://schemas.microsoft.com/office/powerpoint/2010/main" val="26399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646769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4124396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3248703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624CBF-3EF2-4B0C-9746-B185D670778B}"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1732303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624CBF-3EF2-4B0C-9746-B185D670778B}" type="datetimeFigureOut">
              <a:rPr lang="en-US" smtClean="0"/>
              <a:t>10-Feb-26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100825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214087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27408107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4074199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24CBF-3EF2-4B0C-9746-B185D670778B}"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2967355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24CBF-3EF2-4B0C-9746-B185D670778B}"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1752913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3560737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800708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41039330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2226557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3049166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8391966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624CBF-3EF2-4B0C-9746-B185D670778B}"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86E5CDC-678F-4ABE-9D35-0007703AA531}" type="slidenum">
              <a:rPr lang="en-US" smtClean="0"/>
              <a:t>‹#›</a:t>
            </a:fld>
            <a:endParaRPr lang="en-US"/>
          </a:p>
        </p:txBody>
      </p:sp>
    </p:spTree>
    <p:extLst>
      <p:ext uri="{BB962C8B-B14F-4D97-AF65-F5344CB8AC3E}">
        <p14:creationId xmlns:p14="http://schemas.microsoft.com/office/powerpoint/2010/main" val="108613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624CBF-3EF2-4B0C-9746-B185D670778B}" type="datetimeFigureOut">
              <a:rPr lang="en-US" smtClean="0"/>
              <a:t>10-Feb-26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86E5CDC-678F-4ABE-9D35-0007703AA531}" type="slidenum">
              <a:rPr lang="en-US" smtClean="0"/>
              <a:t>‹#›</a:t>
            </a:fld>
            <a:endParaRPr lang="en-US"/>
          </a:p>
        </p:txBody>
      </p:sp>
    </p:spTree>
    <p:extLst>
      <p:ext uri="{BB962C8B-B14F-4D97-AF65-F5344CB8AC3E}">
        <p14:creationId xmlns:p14="http://schemas.microsoft.com/office/powerpoint/2010/main" val="4647485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165335"/>
            <a:ext cx="7055380" cy="918882"/>
          </a:xfrm>
        </p:spPr>
        <p:txBody>
          <a:bodyPr>
            <a:noAutofit/>
          </a:bodyPr>
          <a:lstStyle/>
          <a:p>
            <a:pPr algn="ctr"/>
            <a:r>
              <a:rPr lang="en-GB" sz="2800" b="1" dirty="0">
                <a:solidFill>
                  <a:srgbClr val="00B0F0"/>
                </a:solidFill>
              </a:rPr>
              <a:t>COMPARATIVE ANIMAL PHYSIOLOGY OF VARIOUS LIVESTOCK SPECIES </a:t>
            </a:r>
          </a:p>
        </p:txBody>
      </p:sp>
      <p:sp>
        <p:nvSpPr>
          <p:cNvPr id="3" name="Content Placeholder 2"/>
          <p:cNvSpPr>
            <a:spLocks noGrp="1"/>
          </p:cNvSpPr>
          <p:nvPr>
            <p:ph idx="1"/>
          </p:nvPr>
        </p:nvSpPr>
        <p:spPr>
          <a:xfrm>
            <a:off x="2008710" y="1371600"/>
            <a:ext cx="7914707" cy="4728754"/>
          </a:xfrm>
        </p:spPr>
        <p:txBody>
          <a:bodyPr>
            <a:normAutofit/>
          </a:bodyPr>
          <a:lstStyle/>
          <a:p>
            <a:r>
              <a:rPr lang="en-GB" sz="2200" dirty="0">
                <a:latin typeface="Century Gothic" panose="020B0502020202020204" pitchFamily="34" charset="0"/>
              </a:rPr>
              <a:t>The digestive system is made up of a number of organs. </a:t>
            </a:r>
          </a:p>
          <a:p>
            <a:r>
              <a:rPr lang="en-GB" sz="2200" dirty="0">
                <a:latin typeface="Century Gothic" panose="020B0502020202020204" pitchFamily="34" charset="0"/>
              </a:rPr>
              <a:t>The digestive system also includes a number of accessory organs e.g. teeth, tongue, salivary glands, liver, and pancreas.</a:t>
            </a:r>
          </a:p>
          <a:p>
            <a:r>
              <a:rPr lang="en-GB" sz="2200" dirty="0">
                <a:latin typeface="Century Gothic" panose="020B0502020202020204" pitchFamily="34" charset="0"/>
              </a:rPr>
              <a:t>The digestive systems of most livestock are very similar in terms of the parts they contain. However, there are some differences in the poultry digestive system.</a:t>
            </a:r>
          </a:p>
          <a:p>
            <a:r>
              <a:rPr lang="en-GB" sz="2200" dirty="0">
                <a:latin typeface="Century Gothic" panose="020B0502020202020204" pitchFamily="34" charset="0"/>
              </a:rPr>
              <a:t>Poultry have no teeth but they have a crop, gizzard, two blind pouches (caeca) that are attached to the small intestine, cloaca, and excretion in poultry is through the vent.</a:t>
            </a:r>
          </a:p>
        </p:txBody>
      </p:sp>
    </p:spTree>
    <p:extLst>
      <p:ext uri="{BB962C8B-B14F-4D97-AF65-F5344CB8AC3E}">
        <p14:creationId xmlns:p14="http://schemas.microsoft.com/office/powerpoint/2010/main" val="740890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56755"/>
            <a:ext cx="7886700" cy="800509"/>
          </a:xfrm>
        </p:spPr>
        <p:txBody>
          <a:bodyPr>
            <a:normAutofit/>
          </a:bodyPr>
          <a:lstStyle/>
          <a:p>
            <a:r>
              <a:rPr lang="en-GB" b="1" dirty="0">
                <a:solidFill>
                  <a:srgbClr val="00B0F0"/>
                </a:solidFill>
              </a:rPr>
              <a:t>Digestion in Ruminants</a:t>
            </a:r>
          </a:p>
        </p:txBody>
      </p:sp>
      <p:sp>
        <p:nvSpPr>
          <p:cNvPr id="3" name="Content Placeholder 2"/>
          <p:cNvSpPr>
            <a:spLocks noGrp="1"/>
          </p:cNvSpPr>
          <p:nvPr>
            <p:ph idx="1"/>
          </p:nvPr>
        </p:nvSpPr>
        <p:spPr>
          <a:xfrm>
            <a:off x="2152650" y="1100139"/>
            <a:ext cx="7886700" cy="5076825"/>
          </a:xfrm>
        </p:spPr>
        <p:txBody>
          <a:bodyPr>
            <a:noAutofit/>
          </a:bodyPr>
          <a:lstStyle/>
          <a:p>
            <a:r>
              <a:rPr lang="en-GB" sz="2200" dirty="0">
                <a:latin typeface="Century Gothic" panose="020B0502020202020204" pitchFamily="34" charset="0"/>
              </a:rPr>
              <a:t>Ruminants do not chew their food completely when they eat. Roughages, such as hay and silage, and coarse feeds, such as unbroken kernels of corn, are re-chewed later. The material is then forced back up the oesophagus to be chewed again. This is called rumination</a:t>
            </a:r>
            <a:r>
              <a:rPr lang="en-GB" sz="2200" b="1" dirty="0">
                <a:latin typeface="Century Gothic" panose="020B0502020202020204" pitchFamily="34" charset="0"/>
              </a:rPr>
              <a:t> </a:t>
            </a:r>
            <a:r>
              <a:rPr lang="en-GB" sz="2200" dirty="0">
                <a:latin typeface="Century Gothic" panose="020B0502020202020204" pitchFamily="34" charset="0"/>
              </a:rPr>
              <a:t>or chewing the cud.</a:t>
            </a:r>
          </a:p>
          <a:p>
            <a:r>
              <a:rPr lang="en-GB" sz="2200" dirty="0">
                <a:latin typeface="Century Gothic" panose="020B0502020202020204" pitchFamily="34" charset="0"/>
              </a:rPr>
              <a:t>The </a:t>
            </a:r>
            <a:r>
              <a:rPr lang="en-GB" sz="2200" dirty="0" err="1">
                <a:latin typeface="Century Gothic" panose="020B0502020202020204" pitchFamily="34" charset="0"/>
              </a:rPr>
              <a:t>reticulo</a:t>
            </a:r>
            <a:r>
              <a:rPr lang="en-GB" sz="2200" dirty="0">
                <a:latin typeface="Century Gothic" panose="020B0502020202020204" pitchFamily="34" charset="0"/>
              </a:rPr>
              <a:t>-rumen provides a continuous culture system for anaerobic bacteria, protozoa and fungi. </a:t>
            </a:r>
          </a:p>
          <a:p>
            <a:r>
              <a:rPr lang="en-GB" sz="2200" dirty="0">
                <a:latin typeface="Century Gothic" panose="020B0502020202020204" pitchFamily="34" charset="0"/>
              </a:rPr>
              <a:t>Food and water enter the rumen and the food is partially fermented to yield principally volatile fatty acids (acetic, butyric and propionic acids), microbial cells and the gases (methane and carbon dioxide).</a:t>
            </a:r>
          </a:p>
        </p:txBody>
      </p:sp>
    </p:spTree>
    <p:extLst>
      <p:ext uri="{BB962C8B-B14F-4D97-AF65-F5344CB8AC3E}">
        <p14:creationId xmlns:p14="http://schemas.microsoft.com/office/powerpoint/2010/main" val="30223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9132" y="256776"/>
            <a:ext cx="8708843" cy="1172657"/>
          </a:xfrm>
        </p:spPr>
        <p:txBody>
          <a:bodyPr>
            <a:normAutofit/>
          </a:bodyPr>
          <a:lstStyle/>
          <a:p>
            <a:r>
              <a:rPr lang="en-GB" sz="3200" b="1" dirty="0">
                <a:solidFill>
                  <a:srgbClr val="00B0F0"/>
                </a:solidFill>
              </a:rPr>
              <a:t>Comparative Animal Physiology of Various Livestock Species </a:t>
            </a:r>
          </a:p>
        </p:txBody>
      </p:sp>
      <p:pic>
        <p:nvPicPr>
          <p:cNvPr id="4" name="Content Placeholder 3"/>
          <p:cNvPicPr>
            <a:picLocks noGrp="1" noChangeAspect="1"/>
          </p:cNvPicPr>
          <p:nvPr>
            <p:ph idx="1"/>
          </p:nvPr>
        </p:nvPicPr>
        <p:blipFill>
          <a:blip r:embed="rId2"/>
          <a:stretch>
            <a:fillRect/>
          </a:stretch>
        </p:blipFill>
        <p:spPr>
          <a:xfrm>
            <a:off x="2580247" y="1625375"/>
            <a:ext cx="6317131" cy="3643312"/>
          </a:xfrm>
          <a:prstGeom prst="rect">
            <a:avLst/>
          </a:prstGeom>
        </p:spPr>
      </p:pic>
      <p:sp>
        <p:nvSpPr>
          <p:cNvPr id="5" name="Rectangle 4"/>
          <p:cNvSpPr/>
          <p:nvPr/>
        </p:nvSpPr>
        <p:spPr>
          <a:xfrm>
            <a:off x="6324601" y="5865019"/>
            <a:ext cx="4143375" cy="5572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Arial" panose="020B0604020202020204" pitchFamily="34" charset="0"/>
                <a:cs typeface="Arial" panose="020B0604020202020204" pitchFamily="34" charset="0"/>
              </a:rPr>
              <a:t>Adapted from Bondi, A.A. 1987. </a:t>
            </a:r>
            <a:r>
              <a:rPr lang="en-GB" sz="1400" i="1" dirty="0">
                <a:solidFill>
                  <a:schemeClr val="tx1"/>
                </a:solidFill>
                <a:latin typeface="Arial" panose="020B0604020202020204" pitchFamily="34" charset="0"/>
                <a:cs typeface="Arial" panose="020B0604020202020204" pitchFamily="34" charset="0"/>
              </a:rPr>
              <a:t>Animal Nutrition</a:t>
            </a:r>
            <a:r>
              <a:rPr lang="en-GB" sz="1400"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851709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
            <a:ext cx="7886700" cy="957263"/>
          </a:xfrm>
        </p:spPr>
        <p:txBody>
          <a:bodyPr>
            <a:normAutofit/>
          </a:bodyPr>
          <a:lstStyle/>
          <a:p>
            <a:r>
              <a:rPr lang="en-GB" b="1" dirty="0">
                <a:solidFill>
                  <a:srgbClr val="00B0F0"/>
                </a:solidFill>
              </a:rPr>
              <a:t>Digestion in Ruminants</a:t>
            </a:r>
          </a:p>
        </p:txBody>
      </p:sp>
      <p:sp>
        <p:nvSpPr>
          <p:cNvPr id="3" name="Content Placeholder 2"/>
          <p:cNvSpPr>
            <a:spLocks noGrp="1"/>
          </p:cNvSpPr>
          <p:nvPr>
            <p:ph idx="1"/>
          </p:nvPr>
        </p:nvSpPr>
        <p:spPr>
          <a:xfrm>
            <a:off x="2152650" y="1100139"/>
            <a:ext cx="7886700" cy="5076825"/>
          </a:xfrm>
        </p:spPr>
        <p:txBody>
          <a:bodyPr>
            <a:noAutofit/>
          </a:bodyPr>
          <a:lstStyle/>
          <a:p>
            <a:r>
              <a:rPr lang="en-GB" sz="2200" dirty="0">
                <a:latin typeface="Century Gothic" panose="020B0502020202020204" pitchFamily="34" charset="0"/>
              </a:rPr>
              <a:t>The gases are lost by eructation (belching) and the volatile fatty acids are mainly absorbed through the rumen wall. The microbial cells, together with </a:t>
            </a:r>
            <a:r>
              <a:rPr lang="en-GB" sz="2200" dirty="0" err="1">
                <a:latin typeface="Century Gothic" panose="020B0502020202020204" pitchFamily="34" charset="0"/>
              </a:rPr>
              <a:t>undegraded</a:t>
            </a:r>
            <a:r>
              <a:rPr lang="en-GB" sz="2200" dirty="0">
                <a:latin typeface="Century Gothic" panose="020B0502020202020204" pitchFamily="34" charset="0"/>
              </a:rPr>
              <a:t> food components, pass to the abomasum and small intestine; there they are digested by enzymes secreted by the host animal, and the products of digestion are absorbed same way as in </a:t>
            </a:r>
            <a:r>
              <a:rPr lang="en-GB" sz="2200" dirty="0" err="1">
                <a:latin typeface="Century Gothic" panose="020B0502020202020204" pitchFamily="34" charset="0"/>
              </a:rPr>
              <a:t>monogastrics</a:t>
            </a:r>
            <a:r>
              <a:rPr lang="en-GB" sz="2200" dirty="0">
                <a:latin typeface="Century Gothic" panose="020B0502020202020204" pitchFamily="34" charset="0"/>
              </a:rPr>
              <a:t>.</a:t>
            </a:r>
          </a:p>
          <a:p>
            <a:r>
              <a:rPr lang="en-GB" sz="2200" dirty="0">
                <a:latin typeface="Century Gothic" panose="020B0502020202020204" pitchFamily="34" charset="0"/>
              </a:rPr>
              <a:t>In the large intestine there is a second phase of microbial digestion. The volatile fatty acids produced in the large intestine are absorbed, but microbial cells are excreted – with undigested food components – in the faeces.</a:t>
            </a:r>
          </a:p>
        </p:txBody>
      </p:sp>
    </p:spTree>
    <p:extLst>
      <p:ext uri="{BB962C8B-B14F-4D97-AF65-F5344CB8AC3E}">
        <p14:creationId xmlns:p14="http://schemas.microsoft.com/office/powerpoint/2010/main" val="2362561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
            <a:ext cx="7886700" cy="553793"/>
          </a:xfrm>
        </p:spPr>
        <p:txBody>
          <a:bodyPr>
            <a:normAutofit fontScale="90000"/>
          </a:bodyPr>
          <a:lstStyle/>
          <a:p>
            <a:r>
              <a:rPr lang="en-GB" b="1" dirty="0">
                <a:solidFill>
                  <a:srgbClr val="00B0F0"/>
                </a:solidFill>
              </a:rPr>
              <a:t>Digestion in </a:t>
            </a:r>
            <a:r>
              <a:rPr lang="en-GB" b="1" dirty="0" err="1">
                <a:solidFill>
                  <a:srgbClr val="00B0F0"/>
                </a:solidFill>
              </a:rPr>
              <a:t>Monogastrics</a:t>
            </a:r>
            <a:endParaRPr lang="en-GB" b="1" dirty="0">
              <a:solidFill>
                <a:srgbClr val="00B0F0"/>
              </a:solidFill>
            </a:endParaRPr>
          </a:p>
        </p:txBody>
      </p:sp>
      <p:sp>
        <p:nvSpPr>
          <p:cNvPr id="3" name="Content Placeholder 2"/>
          <p:cNvSpPr>
            <a:spLocks noGrp="1"/>
          </p:cNvSpPr>
          <p:nvPr>
            <p:ph idx="1"/>
          </p:nvPr>
        </p:nvSpPr>
        <p:spPr>
          <a:xfrm>
            <a:off x="2016919" y="712576"/>
            <a:ext cx="8158163" cy="6023075"/>
          </a:xfrm>
        </p:spPr>
        <p:txBody>
          <a:bodyPr>
            <a:noAutofit/>
          </a:bodyPr>
          <a:lstStyle/>
          <a:p>
            <a:r>
              <a:rPr lang="en-GB" sz="2200" dirty="0">
                <a:latin typeface="Century Gothic" panose="020B0502020202020204" pitchFamily="34" charset="0"/>
                <a:cs typeface="Times New Roman" panose="02020603050405020304" pitchFamily="18" charset="0"/>
              </a:rPr>
              <a:t>Digestion in the mouth is mainly mechanical, mastication helping to break up large particles of food and to mix it with saliva, which acts as a lubricant and is a medium for taste perception.</a:t>
            </a:r>
          </a:p>
          <a:p>
            <a:r>
              <a:rPr lang="en-GB" sz="2200" dirty="0">
                <a:latin typeface="Century Gothic" panose="020B0502020202020204" pitchFamily="34" charset="0"/>
                <a:cs typeface="Times New Roman" panose="02020603050405020304" pitchFamily="18" charset="0"/>
              </a:rPr>
              <a:t>Some animals, such as the horse, lack salivary </a:t>
            </a:r>
            <a:r>
              <a:rPr lang="el-GR" sz="2200" dirty="0">
                <a:latin typeface="Century Gothic" panose="020B0502020202020204" pitchFamily="34" charset="0"/>
                <a:cs typeface="Times New Roman" panose="02020603050405020304" pitchFamily="18" charset="0"/>
              </a:rPr>
              <a:t>α</a:t>
            </a:r>
            <a:r>
              <a:rPr lang="en-GB" sz="2200" dirty="0">
                <a:latin typeface="Century Gothic" panose="020B0502020202020204" pitchFamily="34" charset="0"/>
                <a:cs typeface="Times New Roman" panose="02020603050405020304" pitchFamily="18" charset="0"/>
              </a:rPr>
              <a:t>-amylase, whereas the saliva of the pig has low </a:t>
            </a:r>
            <a:r>
              <a:rPr lang="el-GR" sz="2200" dirty="0">
                <a:latin typeface="Century Gothic" panose="020B0502020202020204" pitchFamily="34" charset="0"/>
                <a:cs typeface="Times New Roman" panose="02020603050405020304" pitchFamily="18" charset="0"/>
              </a:rPr>
              <a:t>α</a:t>
            </a:r>
            <a:r>
              <a:rPr lang="en-GB" sz="2200" dirty="0">
                <a:latin typeface="Century Gothic" panose="020B0502020202020204" pitchFamily="34" charset="0"/>
                <a:cs typeface="Times New Roman" panose="02020603050405020304" pitchFamily="18" charset="0"/>
              </a:rPr>
              <a:t>-</a:t>
            </a:r>
            <a:r>
              <a:rPr lang="el-GR" sz="2200" dirty="0">
                <a:latin typeface="Century Gothic" panose="020B0502020202020204" pitchFamily="34" charset="0"/>
                <a:cs typeface="Times New Roman" panose="02020603050405020304" pitchFamily="18" charset="0"/>
              </a:rPr>
              <a:t> </a:t>
            </a:r>
            <a:r>
              <a:rPr lang="en-GB" sz="2200" dirty="0">
                <a:latin typeface="Century Gothic" panose="020B0502020202020204" pitchFamily="34" charset="0"/>
                <a:cs typeface="Times New Roman" panose="02020603050405020304" pitchFamily="18" charset="0"/>
              </a:rPr>
              <a:t>amylase activity.</a:t>
            </a:r>
          </a:p>
          <a:p>
            <a:r>
              <a:rPr lang="en-GB" sz="2200" dirty="0">
                <a:latin typeface="Century Gothic" panose="020B0502020202020204" pitchFamily="34" charset="0"/>
                <a:cs typeface="Times New Roman" panose="02020603050405020304" pitchFamily="18" charset="0"/>
              </a:rPr>
              <a:t>After mastication, the food is swallowed and goes into the stomach.</a:t>
            </a:r>
          </a:p>
          <a:p>
            <a:r>
              <a:rPr lang="en-GB" sz="2200" dirty="0">
                <a:latin typeface="Century Gothic" panose="020B0502020202020204" pitchFamily="34" charset="0"/>
                <a:cs typeface="Times New Roman" panose="02020603050405020304" pitchFamily="18" charset="0"/>
              </a:rPr>
              <a:t>The stomach secretes digestive enzymes (pepsinogen, gastric lipase, and rennin) and gastric acid to facilitate food digestion. When the partially digested feed leaves the stomach and goes into the small intestines where it gets mixed with three digestive secretions (pancreatic juice, bile, and intestinal juice) from the pancreas, liver and duodenum.</a:t>
            </a:r>
          </a:p>
        </p:txBody>
      </p:sp>
    </p:spTree>
    <p:extLst>
      <p:ext uri="{BB962C8B-B14F-4D97-AF65-F5344CB8AC3E}">
        <p14:creationId xmlns:p14="http://schemas.microsoft.com/office/powerpoint/2010/main" val="2324077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20662"/>
            <a:ext cx="7886700" cy="1325563"/>
          </a:xfrm>
        </p:spPr>
        <p:txBody>
          <a:bodyPr>
            <a:normAutofit/>
          </a:bodyPr>
          <a:lstStyle/>
          <a:p>
            <a:r>
              <a:rPr lang="en-GB" b="1" dirty="0">
                <a:solidFill>
                  <a:srgbClr val="00B0F0"/>
                </a:solidFill>
              </a:rPr>
              <a:t>Digestion in </a:t>
            </a:r>
            <a:r>
              <a:rPr lang="en-GB" b="1" dirty="0" err="1">
                <a:solidFill>
                  <a:srgbClr val="00B0F0"/>
                </a:solidFill>
              </a:rPr>
              <a:t>Monogastrics</a:t>
            </a:r>
            <a:endParaRPr lang="en-GB" b="1" dirty="0">
              <a:solidFill>
                <a:srgbClr val="00B0F0"/>
              </a:solidFill>
            </a:endParaRPr>
          </a:p>
        </p:txBody>
      </p:sp>
      <p:sp>
        <p:nvSpPr>
          <p:cNvPr id="3" name="Content Placeholder 2"/>
          <p:cNvSpPr>
            <a:spLocks noGrp="1"/>
          </p:cNvSpPr>
          <p:nvPr>
            <p:ph idx="1"/>
          </p:nvPr>
        </p:nvSpPr>
        <p:spPr>
          <a:xfrm>
            <a:off x="2152650" y="533669"/>
            <a:ext cx="7886700" cy="5205413"/>
          </a:xfrm>
        </p:spPr>
        <p:txBody>
          <a:bodyPr>
            <a:noAutofit/>
          </a:bodyPr>
          <a:lstStyle/>
          <a:p>
            <a:r>
              <a:rPr lang="en-GB" dirty="0">
                <a:latin typeface="Century Gothic" panose="020B0502020202020204" pitchFamily="34" charset="0"/>
              </a:rPr>
              <a:t>Bile aids in the digestion of fats and fatty acids. It also helps in the action of the enzyme lipase. In all farm animals except the horse, bile is stored in the gall bladder until required.</a:t>
            </a:r>
          </a:p>
          <a:p>
            <a:r>
              <a:rPr lang="en-GB" dirty="0">
                <a:latin typeface="Century Gothic" panose="020B0502020202020204" pitchFamily="34" charset="0"/>
              </a:rPr>
              <a:t>The majority of digestion and absorption occurs in the small intestine. </a:t>
            </a:r>
          </a:p>
          <a:p>
            <a:r>
              <a:rPr lang="en-GB" dirty="0">
                <a:latin typeface="Century Gothic" panose="020B0502020202020204" pitchFamily="34" charset="0"/>
              </a:rPr>
              <a:t>The large intestine plays an important role in the retrieval of nutrients, electrolytes and water in the </a:t>
            </a:r>
            <a:r>
              <a:rPr lang="en-GB" dirty="0" err="1">
                <a:latin typeface="Century Gothic" panose="020B0502020202020204" pitchFamily="34" charset="0"/>
              </a:rPr>
              <a:t>digesta</a:t>
            </a:r>
            <a:r>
              <a:rPr lang="en-GB" dirty="0">
                <a:latin typeface="Century Gothic" panose="020B0502020202020204" pitchFamily="34" charset="0"/>
              </a:rPr>
              <a:t>.</a:t>
            </a:r>
          </a:p>
          <a:p>
            <a:r>
              <a:rPr lang="en-GB" dirty="0">
                <a:latin typeface="Century Gothic" panose="020B0502020202020204" pitchFamily="34" charset="0"/>
              </a:rPr>
              <a:t>Cellulose and many of the hemicelluloses are not attacked by any of the enzymes present in the digestive secretions while lignin is known to be completely unaffected and is thus indigestible.</a:t>
            </a:r>
          </a:p>
          <a:p>
            <a:r>
              <a:rPr lang="en-GB" dirty="0">
                <a:latin typeface="Century Gothic" panose="020B0502020202020204" pitchFamily="34" charset="0"/>
              </a:rPr>
              <a:t>Extensive microbial activity occurs in the large intestine, especially the caecum but is nevertheless small compared with that taking place in the horse and ruminants.</a:t>
            </a:r>
          </a:p>
        </p:txBody>
      </p:sp>
    </p:spTree>
    <p:extLst>
      <p:ext uri="{BB962C8B-B14F-4D97-AF65-F5344CB8AC3E}">
        <p14:creationId xmlns:p14="http://schemas.microsoft.com/office/powerpoint/2010/main" val="1783767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20662"/>
            <a:ext cx="7886700" cy="1325563"/>
          </a:xfrm>
        </p:spPr>
        <p:txBody>
          <a:bodyPr>
            <a:normAutofit/>
          </a:bodyPr>
          <a:lstStyle/>
          <a:p>
            <a:r>
              <a:rPr lang="en-GB" b="1" dirty="0">
                <a:solidFill>
                  <a:srgbClr val="00B0F0"/>
                </a:solidFill>
              </a:rPr>
              <a:t>Digestion in </a:t>
            </a:r>
            <a:r>
              <a:rPr lang="en-GB" b="1" dirty="0" err="1">
                <a:solidFill>
                  <a:srgbClr val="00B0F0"/>
                </a:solidFill>
              </a:rPr>
              <a:t>Monogastrics</a:t>
            </a:r>
            <a:endParaRPr lang="en-GB" b="1" dirty="0">
              <a:solidFill>
                <a:srgbClr val="00B0F0"/>
              </a:solidFill>
            </a:endParaRPr>
          </a:p>
        </p:txBody>
      </p:sp>
      <p:sp>
        <p:nvSpPr>
          <p:cNvPr id="3" name="Content Placeholder 2"/>
          <p:cNvSpPr>
            <a:spLocks noGrp="1"/>
          </p:cNvSpPr>
          <p:nvPr>
            <p:ph idx="1"/>
          </p:nvPr>
        </p:nvSpPr>
        <p:spPr>
          <a:xfrm>
            <a:off x="2152650" y="971551"/>
            <a:ext cx="7886700" cy="5205413"/>
          </a:xfrm>
        </p:spPr>
        <p:txBody>
          <a:bodyPr>
            <a:noAutofit/>
          </a:bodyPr>
          <a:lstStyle/>
          <a:p>
            <a:r>
              <a:rPr lang="en-GB" sz="2200" dirty="0">
                <a:latin typeface="Century Gothic" panose="020B0502020202020204" pitchFamily="34" charset="0"/>
              </a:rPr>
              <a:t>Horses and rabbits have a particularly high capacity to digest dietary fibre and plant-source protein in the large intestine, which allows them to graze on pasture and consume roughages. They are called “hindgut fermenters. </a:t>
            </a:r>
          </a:p>
          <a:p>
            <a:r>
              <a:rPr lang="en-GB" sz="2200" dirty="0">
                <a:latin typeface="Century Gothic" panose="020B0502020202020204" pitchFamily="34" charset="0"/>
              </a:rPr>
              <a:t>The waste material, or faeces, voided from the large intestine via the anus consists of water, undigested food residues, digestive secretions, epithelial cells from the tract, inorganic salts, bacteria and products of microbial decomposition.</a:t>
            </a:r>
          </a:p>
          <a:p>
            <a:endParaRPr lang="en-GB" sz="2200" dirty="0">
              <a:latin typeface="Century Gothic" panose="020B0502020202020204" pitchFamily="34" charset="0"/>
            </a:endParaRP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596814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1" y="290158"/>
            <a:ext cx="8459265" cy="1010608"/>
          </a:xfrm>
        </p:spPr>
        <p:txBody>
          <a:bodyPr>
            <a:noAutofit/>
          </a:bodyPr>
          <a:lstStyle/>
          <a:p>
            <a:r>
              <a:rPr lang="en-GB" sz="3200" b="1" dirty="0">
                <a:solidFill>
                  <a:srgbClr val="00B0F0"/>
                </a:solidFill>
              </a:rPr>
              <a:t>Comparative Animal Physiology of Various Livestock Species </a:t>
            </a:r>
          </a:p>
        </p:txBody>
      </p:sp>
      <p:pic>
        <p:nvPicPr>
          <p:cNvPr id="4" name="Picture 3"/>
          <p:cNvPicPr>
            <a:picLocks noChangeAspect="1"/>
          </p:cNvPicPr>
          <p:nvPr/>
        </p:nvPicPr>
        <p:blipFill rotWithShape="1">
          <a:blip r:embed="rId2"/>
          <a:srcRect l="5436" r="7331"/>
          <a:stretch/>
        </p:blipFill>
        <p:spPr>
          <a:xfrm>
            <a:off x="1973343" y="1733790"/>
            <a:ext cx="3944779" cy="3452335"/>
          </a:xfrm>
          <a:prstGeom prst="rect">
            <a:avLst/>
          </a:prstGeom>
        </p:spPr>
      </p:pic>
      <p:pic>
        <p:nvPicPr>
          <p:cNvPr id="5" name="Picture 4"/>
          <p:cNvPicPr>
            <a:picLocks noChangeAspect="1"/>
          </p:cNvPicPr>
          <p:nvPr/>
        </p:nvPicPr>
        <p:blipFill rotWithShape="1">
          <a:blip r:embed="rId3"/>
          <a:srcRect b="14421"/>
          <a:stretch/>
        </p:blipFill>
        <p:spPr>
          <a:xfrm>
            <a:off x="5738813" y="1690690"/>
            <a:ext cx="4594122" cy="3344771"/>
          </a:xfrm>
          <a:prstGeom prst="rect">
            <a:avLst/>
          </a:prstGeom>
        </p:spPr>
      </p:pic>
      <p:cxnSp>
        <p:nvCxnSpPr>
          <p:cNvPr id="7" name="Straight Connector 6"/>
          <p:cNvCxnSpPr/>
          <p:nvPr/>
        </p:nvCxnSpPr>
        <p:spPr>
          <a:xfrm>
            <a:off x="5738813" y="1690690"/>
            <a:ext cx="0" cy="3467099"/>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024064" y="1690689"/>
            <a:ext cx="801528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6324601" y="5865019"/>
            <a:ext cx="4143375" cy="5572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latin typeface="Arial" panose="020B0604020202020204" pitchFamily="34" charset="0"/>
                <a:cs typeface="Arial" panose="020B0604020202020204" pitchFamily="34" charset="0"/>
              </a:rPr>
              <a:t>Adapted from Bondi, A.A. 1987. </a:t>
            </a:r>
            <a:r>
              <a:rPr lang="en-GB" sz="1400" i="1" dirty="0">
                <a:solidFill>
                  <a:schemeClr val="tx1"/>
                </a:solidFill>
                <a:latin typeface="Arial" panose="020B0604020202020204" pitchFamily="34" charset="0"/>
                <a:cs typeface="Arial" panose="020B0604020202020204" pitchFamily="34" charset="0"/>
              </a:rPr>
              <a:t>Animal Nutrition</a:t>
            </a:r>
            <a:r>
              <a:rPr lang="en-GB" sz="1400" dirty="0">
                <a:solidFill>
                  <a:schemeClr val="tx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905653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6740" y="132702"/>
            <a:ext cx="7886700" cy="838848"/>
          </a:xfrm>
        </p:spPr>
        <p:txBody>
          <a:bodyPr>
            <a:normAutofit/>
          </a:bodyPr>
          <a:lstStyle/>
          <a:p>
            <a:r>
              <a:rPr lang="en-GB" b="1" dirty="0">
                <a:solidFill>
                  <a:srgbClr val="00B0F0"/>
                </a:solidFill>
              </a:rPr>
              <a:t>Digestion in Poultry</a:t>
            </a:r>
          </a:p>
        </p:txBody>
      </p:sp>
      <p:sp>
        <p:nvSpPr>
          <p:cNvPr id="3" name="Content Placeholder 2"/>
          <p:cNvSpPr>
            <a:spLocks noGrp="1"/>
          </p:cNvSpPr>
          <p:nvPr>
            <p:ph idx="1"/>
          </p:nvPr>
        </p:nvSpPr>
        <p:spPr>
          <a:xfrm>
            <a:off x="2152650" y="971551"/>
            <a:ext cx="7886700" cy="5205413"/>
          </a:xfrm>
        </p:spPr>
        <p:txBody>
          <a:bodyPr>
            <a:noAutofit/>
          </a:bodyPr>
          <a:lstStyle/>
          <a:p>
            <a:r>
              <a:rPr lang="en-GB" dirty="0">
                <a:latin typeface="Century Gothic" panose="020B0502020202020204" pitchFamily="34" charset="0"/>
              </a:rPr>
              <a:t>In the fowl, the lips and cheeks are replaced by the beak, the teeth being absent.</a:t>
            </a:r>
          </a:p>
          <a:p>
            <a:r>
              <a:rPr lang="en-GB" dirty="0">
                <a:latin typeface="Century Gothic" panose="020B0502020202020204" pitchFamily="34" charset="0"/>
              </a:rPr>
              <a:t>In poultry, ingested feed passes through the oesophagus into the crop, which is a temporary storage pouch before digestion starts in the </a:t>
            </a:r>
            <a:r>
              <a:rPr lang="en-GB" dirty="0" err="1">
                <a:latin typeface="Century Gothic" panose="020B0502020202020204" pitchFamily="34" charset="0"/>
              </a:rPr>
              <a:t>proventriculus</a:t>
            </a:r>
            <a:r>
              <a:rPr lang="en-GB" dirty="0">
                <a:latin typeface="Century Gothic" panose="020B0502020202020204" pitchFamily="34" charset="0"/>
              </a:rPr>
              <a:t> (also known as the “true stomach”). </a:t>
            </a:r>
          </a:p>
          <a:p>
            <a:r>
              <a:rPr lang="en-GB" dirty="0">
                <a:latin typeface="Century Gothic" panose="020B0502020202020204" pitchFamily="34" charset="0"/>
              </a:rPr>
              <a:t>Within the </a:t>
            </a:r>
            <a:r>
              <a:rPr lang="en-GB" dirty="0" err="1">
                <a:latin typeface="Century Gothic" panose="020B0502020202020204" pitchFamily="34" charset="0"/>
              </a:rPr>
              <a:t>proventriculus</a:t>
            </a:r>
            <a:r>
              <a:rPr lang="en-GB" dirty="0">
                <a:latin typeface="Century Gothic" panose="020B0502020202020204" pitchFamily="34" charset="0"/>
              </a:rPr>
              <a:t>, feed is mixed with hydrochloric acid (</a:t>
            </a:r>
            <a:r>
              <a:rPr lang="en-GB" dirty="0" err="1">
                <a:latin typeface="Century Gothic" panose="020B0502020202020204" pitchFamily="34" charset="0"/>
              </a:rPr>
              <a:t>HCl</a:t>
            </a:r>
            <a:r>
              <a:rPr lang="en-GB" dirty="0">
                <a:latin typeface="Century Gothic" panose="020B0502020202020204" pitchFamily="34" charset="0"/>
              </a:rPr>
              <a:t>) and digestive enzymes as in mammals to initiate the hydrolysis of proteins and fats. </a:t>
            </a:r>
          </a:p>
          <a:p>
            <a:r>
              <a:rPr lang="en-GB" dirty="0">
                <a:latin typeface="Century Gothic" panose="020B0502020202020204" pitchFamily="34" charset="0"/>
              </a:rPr>
              <a:t>The </a:t>
            </a:r>
            <a:r>
              <a:rPr lang="en-GB" dirty="0" err="1">
                <a:latin typeface="Century Gothic" panose="020B0502020202020204" pitchFamily="34" charset="0"/>
              </a:rPr>
              <a:t>digesta</a:t>
            </a:r>
            <a:r>
              <a:rPr lang="en-GB" dirty="0">
                <a:latin typeface="Century Gothic" panose="020B0502020202020204" pitchFamily="34" charset="0"/>
              </a:rPr>
              <a:t> enters the gizzard for grinding, mixing, and mashing, which helps to facilitate further digestion in the small intestine.</a:t>
            </a:r>
          </a:p>
          <a:p>
            <a:r>
              <a:rPr lang="en-GB" dirty="0">
                <a:latin typeface="Century Gothic" panose="020B0502020202020204" pitchFamily="34" charset="0"/>
              </a:rPr>
              <a:t>The pancreatic juice of fowls contains the same enzymes as the mammalian secretion, and the intestinal mucosa produces mucin, -amylase, maltase, </a:t>
            </a:r>
            <a:r>
              <a:rPr lang="en-GB" dirty="0" err="1">
                <a:latin typeface="Century Gothic" panose="020B0502020202020204" pitchFamily="34" charset="0"/>
              </a:rPr>
              <a:t>sucrase</a:t>
            </a:r>
            <a:r>
              <a:rPr lang="en-GB" dirty="0">
                <a:latin typeface="Century Gothic" panose="020B0502020202020204" pitchFamily="34" charset="0"/>
              </a:rPr>
              <a:t> and proteolytic enzymes.</a:t>
            </a:r>
          </a:p>
        </p:txBody>
      </p:sp>
    </p:spTree>
    <p:extLst>
      <p:ext uri="{BB962C8B-B14F-4D97-AF65-F5344CB8AC3E}">
        <p14:creationId xmlns:p14="http://schemas.microsoft.com/office/powerpoint/2010/main" val="11816714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944286" y="218653"/>
            <a:ext cx="6760628" cy="4224760"/>
          </a:xfrm>
          <a:prstGeom prst="rect">
            <a:avLst/>
          </a:prstGeom>
        </p:spPr>
      </p:pic>
      <p:sp>
        <p:nvSpPr>
          <p:cNvPr id="6" name="Rectangle 5"/>
          <p:cNvSpPr/>
          <p:nvPr/>
        </p:nvSpPr>
        <p:spPr>
          <a:xfrm>
            <a:off x="5580456" y="4195863"/>
            <a:ext cx="4124459" cy="3755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latin typeface="Arial" panose="020B0604020202020204" pitchFamily="34" charset="0"/>
                <a:cs typeface="Arial" panose="020B0604020202020204" pitchFamily="34" charset="0"/>
              </a:rPr>
              <a:t>Adapted from Bondi, A.A. 1987. </a:t>
            </a:r>
            <a:r>
              <a:rPr lang="en-GB" sz="1400" i="1" dirty="0">
                <a:solidFill>
                  <a:schemeClr val="tx1"/>
                </a:solidFill>
                <a:latin typeface="Arial" panose="020B0604020202020204" pitchFamily="34" charset="0"/>
                <a:cs typeface="Arial" panose="020B0604020202020204" pitchFamily="34" charset="0"/>
              </a:rPr>
              <a:t>Animal Nutrition</a:t>
            </a:r>
            <a:r>
              <a:rPr lang="en-GB" sz="1400" dirty="0">
                <a:solidFill>
                  <a:schemeClr val="tx1"/>
                </a:solidFill>
                <a:latin typeface="Arial" panose="020B0604020202020204" pitchFamily="34" charset="0"/>
                <a:cs typeface="Arial" panose="020B0604020202020204" pitchFamily="34" charset="0"/>
              </a:rPr>
              <a:t>. </a:t>
            </a:r>
          </a:p>
        </p:txBody>
      </p:sp>
      <p:sp>
        <p:nvSpPr>
          <p:cNvPr id="2" name="Rectangle 1"/>
          <p:cNvSpPr/>
          <p:nvPr/>
        </p:nvSpPr>
        <p:spPr>
          <a:xfrm>
            <a:off x="2187263" y="4699509"/>
            <a:ext cx="8274675" cy="1467068"/>
          </a:xfrm>
          <a:prstGeom prst="rect">
            <a:avLst/>
          </a:prstGeom>
        </p:spPr>
        <p:txBody>
          <a:bodyPr wrap="square">
            <a:spAutoFit/>
          </a:bodyPr>
          <a:lstStyle/>
          <a:p>
            <a:pPr marL="228600" indent="-228600">
              <a:lnSpc>
                <a:spcPct val="90000"/>
              </a:lnSpc>
              <a:spcBef>
                <a:spcPts val="1000"/>
              </a:spcBef>
              <a:buFont typeface="Arial" panose="020B0604020202020204" pitchFamily="34" charset="0"/>
              <a:buChar char="•"/>
            </a:pPr>
            <a:r>
              <a:rPr lang="en-GB" dirty="0">
                <a:latin typeface="Century Gothic" panose="020B0502020202020204" pitchFamily="34" charset="0"/>
              </a:rPr>
              <a:t>The caeca function as absorptive organs; and these empty by peristaltic contraction into the relatively short colon, whose main function is the transport of </a:t>
            </a:r>
            <a:r>
              <a:rPr lang="en-GB" dirty="0" err="1">
                <a:latin typeface="Century Gothic" panose="020B0502020202020204" pitchFamily="34" charset="0"/>
              </a:rPr>
              <a:t>digesta</a:t>
            </a:r>
            <a:r>
              <a:rPr lang="en-GB" dirty="0">
                <a:latin typeface="Century Gothic" panose="020B0502020202020204" pitchFamily="34" charset="0"/>
              </a:rPr>
              <a:t> to its termination at the cloaca.</a:t>
            </a:r>
          </a:p>
          <a:p>
            <a:pPr marL="228600" indent="-228600">
              <a:lnSpc>
                <a:spcPct val="90000"/>
              </a:lnSpc>
              <a:spcBef>
                <a:spcPts val="1000"/>
              </a:spcBef>
              <a:buFont typeface="Arial" panose="020B0604020202020204" pitchFamily="34" charset="0"/>
              <a:buChar char="•"/>
            </a:pPr>
            <a:r>
              <a:rPr lang="en-GB" dirty="0">
                <a:latin typeface="Century Gothic" panose="020B0502020202020204" pitchFamily="34" charset="0"/>
              </a:rPr>
              <a:t>The cloaca, from which faeces and urine are excreted together, combines the function of the rectum and bladder.</a:t>
            </a:r>
          </a:p>
        </p:txBody>
      </p:sp>
    </p:spTree>
    <p:extLst>
      <p:ext uri="{BB962C8B-B14F-4D97-AF65-F5344CB8AC3E}">
        <p14:creationId xmlns:p14="http://schemas.microsoft.com/office/powerpoint/2010/main" val="85183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2111087" y="1"/>
            <a:ext cx="7886700" cy="1325563"/>
          </a:xfrm>
        </p:spPr>
        <p:txBody>
          <a:bodyPr>
            <a:normAutofit/>
          </a:bodyPr>
          <a:lstStyle/>
          <a:p>
            <a:r>
              <a:rPr lang="en-US" sz="2400" b="1" dirty="0">
                <a:solidFill>
                  <a:srgbClr val="00B0F0"/>
                </a:solidFill>
                <a:latin typeface="Century Gothic" panose="020B0502020202020204" pitchFamily="34" charset="0"/>
              </a:rPr>
              <a:t>ENERGY</a:t>
            </a:r>
            <a:endParaRPr lang="nl-BE" sz="2400" b="1" dirty="0">
              <a:solidFill>
                <a:srgbClr val="00B0F0"/>
              </a:solidFill>
              <a:latin typeface="Century Gothic" panose="020B0502020202020204" pitchFamily="34" charset="0"/>
            </a:endParaRPr>
          </a:p>
        </p:txBody>
      </p:sp>
      <p:sp>
        <p:nvSpPr>
          <p:cNvPr id="3" name="Tijdelijke aanduiding voor inhoud 2"/>
          <p:cNvSpPr>
            <a:spLocks noGrp="1"/>
          </p:cNvSpPr>
          <p:nvPr>
            <p:ph idx="1"/>
          </p:nvPr>
        </p:nvSpPr>
        <p:spPr>
          <a:xfrm>
            <a:off x="613775" y="501041"/>
            <a:ext cx="10784910" cy="6150280"/>
          </a:xfrm>
        </p:spPr>
        <p:txBody>
          <a:bodyPr>
            <a:normAutofit/>
          </a:bodyPr>
          <a:lstStyle/>
          <a:p>
            <a:r>
              <a:rPr lang="en-US" sz="2200" dirty="0">
                <a:latin typeface="Century Gothic" panose="020B0502020202020204" pitchFamily="34" charset="0"/>
              </a:rPr>
              <a:t>Energy is the ability to do work</a:t>
            </a:r>
          </a:p>
          <a:p>
            <a:r>
              <a:rPr lang="en-US" sz="2200" dirty="0">
                <a:latin typeface="Century Gothic" panose="020B0502020202020204" pitchFamily="34" charset="0"/>
              </a:rPr>
              <a:t>it results from oxidation of organic molecules that are absorbed in the gastrointestinal tract</a:t>
            </a:r>
          </a:p>
          <a:p>
            <a:r>
              <a:rPr lang="en-US" sz="2200" dirty="0">
                <a:latin typeface="Century Gothic" panose="020B0502020202020204" pitchFamily="34" charset="0"/>
              </a:rPr>
              <a:t>Energy can be expressed in Calories (USA), Joules (Europe) and British Thermal Units.</a:t>
            </a:r>
            <a:endParaRPr lang="nl-BE" sz="2200" dirty="0">
              <a:latin typeface="Century Gothic" panose="020B0502020202020204" pitchFamily="34" charset="0"/>
            </a:endParaRPr>
          </a:p>
        </p:txBody>
      </p:sp>
      <p:sp>
        <p:nvSpPr>
          <p:cNvPr id="4" name="Afgeronde rechthoek 3"/>
          <p:cNvSpPr/>
          <p:nvPr/>
        </p:nvSpPr>
        <p:spPr>
          <a:xfrm>
            <a:off x="5541819" y="3061855"/>
            <a:ext cx="171796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DIGESTIBLE ENERGY (DE)</a:t>
            </a:r>
            <a:endParaRPr lang="nl-BE" dirty="0">
              <a:solidFill>
                <a:schemeClr val="tx1"/>
              </a:solidFill>
            </a:endParaRPr>
          </a:p>
        </p:txBody>
      </p:sp>
      <p:sp>
        <p:nvSpPr>
          <p:cNvPr id="5" name="Afgeronde rechthoek 4"/>
          <p:cNvSpPr/>
          <p:nvPr/>
        </p:nvSpPr>
        <p:spPr>
          <a:xfrm>
            <a:off x="2147456" y="4433457"/>
            <a:ext cx="171796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FAECAL ENERGY (FE)</a:t>
            </a:r>
            <a:endParaRPr lang="nl-BE" dirty="0">
              <a:solidFill>
                <a:schemeClr val="tx1"/>
              </a:solidFill>
            </a:endParaRPr>
          </a:p>
        </p:txBody>
      </p:sp>
      <p:sp>
        <p:nvSpPr>
          <p:cNvPr id="6" name="Afgeronde rechthoek 5"/>
          <p:cNvSpPr/>
          <p:nvPr/>
        </p:nvSpPr>
        <p:spPr>
          <a:xfrm>
            <a:off x="2272147" y="3061855"/>
            <a:ext cx="171796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GROSS ENERGY (GE)</a:t>
            </a:r>
            <a:endParaRPr lang="nl-BE" dirty="0">
              <a:solidFill>
                <a:schemeClr val="tx1"/>
              </a:solidFill>
            </a:endParaRPr>
          </a:p>
        </p:txBody>
      </p:sp>
      <p:sp>
        <p:nvSpPr>
          <p:cNvPr id="7" name="Afgeronde rechthoek 6"/>
          <p:cNvSpPr/>
          <p:nvPr/>
        </p:nvSpPr>
        <p:spPr>
          <a:xfrm>
            <a:off x="4378037" y="5583384"/>
            <a:ext cx="171796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HEAT INCREMENT (HI)</a:t>
            </a:r>
            <a:endParaRPr lang="nl-BE" dirty="0">
              <a:solidFill>
                <a:schemeClr val="tx1"/>
              </a:solidFill>
            </a:endParaRPr>
          </a:p>
        </p:txBody>
      </p:sp>
      <p:sp>
        <p:nvSpPr>
          <p:cNvPr id="8" name="Afgeronde rechthoek 7"/>
          <p:cNvSpPr/>
          <p:nvPr/>
        </p:nvSpPr>
        <p:spPr>
          <a:xfrm>
            <a:off x="6747161" y="5569531"/>
            <a:ext cx="171796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NET ENERGY (NE)</a:t>
            </a:r>
            <a:endParaRPr lang="nl-BE" dirty="0">
              <a:solidFill>
                <a:schemeClr val="tx1"/>
              </a:solidFill>
            </a:endParaRPr>
          </a:p>
        </p:txBody>
      </p:sp>
      <p:sp>
        <p:nvSpPr>
          <p:cNvPr id="9" name="Afgeronde rechthoek 8"/>
          <p:cNvSpPr/>
          <p:nvPr/>
        </p:nvSpPr>
        <p:spPr>
          <a:xfrm>
            <a:off x="8285019" y="3061855"/>
            <a:ext cx="1717963"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URINARY ENERGY (UE)</a:t>
            </a:r>
            <a:endParaRPr lang="nl-BE" dirty="0">
              <a:solidFill>
                <a:schemeClr val="tx1"/>
              </a:solidFill>
            </a:endParaRPr>
          </a:p>
        </p:txBody>
      </p:sp>
      <p:sp>
        <p:nvSpPr>
          <p:cNvPr id="10" name="Afgeronde rechthoek 9"/>
          <p:cNvSpPr/>
          <p:nvPr/>
        </p:nvSpPr>
        <p:spPr>
          <a:xfrm>
            <a:off x="5375560" y="4336473"/>
            <a:ext cx="2111358"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METABOLIZABLE ENERGY (ME)</a:t>
            </a:r>
            <a:endParaRPr lang="nl-BE" dirty="0">
              <a:solidFill>
                <a:schemeClr val="tx1"/>
              </a:solidFill>
            </a:endParaRPr>
          </a:p>
        </p:txBody>
      </p:sp>
      <p:sp>
        <p:nvSpPr>
          <p:cNvPr id="11" name="PIJL-OMLAAG 10"/>
          <p:cNvSpPr/>
          <p:nvPr/>
        </p:nvSpPr>
        <p:spPr>
          <a:xfrm>
            <a:off x="3006436" y="4017820"/>
            <a:ext cx="249382" cy="36021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PIJL-RECHTS 11"/>
          <p:cNvSpPr/>
          <p:nvPr/>
        </p:nvSpPr>
        <p:spPr>
          <a:xfrm>
            <a:off x="4045529" y="3345873"/>
            <a:ext cx="1330032" cy="3463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3" name="PIJL-RECHTS 12"/>
          <p:cNvSpPr/>
          <p:nvPr/>
        </p:nvSpPr>
        <p:spPr>
          <a:xfrm>
            <a:off x="7356762" y="3345873"/>
            <a:ext cx="817420" cy="3463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6" name="PIJL-OMLAAG 15"/>
          <p:cNvSpPr/>
          <p:nvPr/>
        </p:nvSpPr>
        <p:spPr>
          <a:xfrm>
            <a:off x="6192981" y="4073235"/>
            <a:ext cx="332511" cy="2216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7" name="PIJL-OMLAAG 16"/>
          <p:cNvSpPr/>
          <p:nvPr/>
        </p:nvSpPr>
        <p:spPr>
          <a:xfrm>
            <a:off x="6968832" y="5306295"/>
            <a:ext cx="332511" cy="2216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8" name="PIJL-OMLAAG 17"/>
          <p:cNvSpPr/>
          <p:nvPr/>
        </p:nvSpPr>
        <p:spPr>
          <a:xfrm>
            <a:off x="5569527" y="5334002"/>
            <a:ext cx="332511" cy="22167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503284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8710" y="452719"/>
            <a:ext cx="7055380" cy="719259"/>
          </a:xfrm>
        </p:spPr>
        <p:txBody>
          <a:bodyPr/>
          <a:lstStyle/>
          <a:p>
            <a:r>
              <a:rPr lang="en-GB" sz="3200" b="1" dirty="0">
                <a:solidFill>
                  <a:srgbClr val="00B0F0"/>
                </a:solidFill>
              </a:rPr>
              <a:t>CHARACTERISTICS OF FEEDSTUFF</a:t>
            </a:r>
          </a:p>
        </p:txBody>
      </p:sp>
      <p:sp>
        <p:nvSpPr>
          <p:cNvPr id="3" name="Content Placeholder 2"/>
          <p:cNvSpPr>
            <a:spLocks noGrp="1"/>
          </p:cNvSpPr>
          <p:nvPr>
            <p:ph idx="1"/>
          </p:nvPr>
        </p:nvSpPr>
        <p:spPr>
          <a:xfrm>
            <a:off x="789139" y="1171978"/>
            <a:ext cx="10446707" cy="5404186"/>
          </a:xfrm>
        </p:spPr>
        <p:txBody>
          <a:bodyPr>
            <a:noAutofit/>
          </a:bodyPr>
          <a:lstStyle/>
          <a:p>
            <a:pPr marL="0" indent="0">
              <a:buNone/>
            </a:pPr>
            <a:r>
              <a:rPr lang="en-GB" sz="2200" b="1" dirty="0">
                <a:latin typeface="Century Gothic" panose="020B0502020202020204" pitchFamily="34" charset="0"/>
              </a:rPr>
              <a:t>Maize</a:t>
            </a:r>
          </a:p>
          <a:p>
            <a:r>
              <a:rPr lang="en-GB" sz="2200" dirty="0">
                <a:latin typeface="Century Gothic" panose="020B0502020202020204" pitchFamily="34" charset="0"/>
              </a:rPr>
              <a:t>Principle grain used in livestock diets.</a:t>
            </a:r>
          </a:p>
          <a:p>
            <a:r>
              <a:rPr lang="en-GB" sz="2200" dirty="0">
                <a:latin typeface="Century Gothic" panose="020B0502020202020204" pitchFamily="34" charset="0"/>
              </a:rPr>
              <a:t>Maize, like the other cereal grains, has certain limitations as a food for farm animals. Though an excellent source of digestible energy it is low in protein, and the proteins present are of poor quality.</a:t>
            </a:r>
          </a:p>
          <a:p>
            <a:r>
              <a:rPr lang="en-GB" sz="2200" dirty="0">
                <a:latin typeface="Century Gothic" panose="020B0502020202020204" pitchFamily="34" charset="0"/>
              </a:rPr>
              <a:t>The maize kernel contains two main types of protein. </a:t>
            </a:r>
            <a:r>
              <a:rPr lang="en-GB" sz="2200" dirty="0" err="1">
                <a:latin typeface="Century Gothic" panose="020B0502020202020204" pitchFamily="34" charset="0"/>
              </a:rPr>
              <a:t>Zein</a:t>
            </a:r>
            <a:r>
              <a:rPr lang="en-GB" sz="2200" dirty="0">
                <a:latin typeface="Century Gothic" panose="020B0502020202020204" pitchFamily="34" charset="0"/>
              </a:rPr>
              <a:t>, occurring in the endosperm, is quantitatively the more important, but this protein is deficient in the indispensable amino acids tryptophan and lysine. The other protein, maize </a:t>
            </a:r>
            <a:r>
              <a:rPr lang="en-GB" sz="2200" dirty="0" err="1">
                <a:latin typeface="Century Gothic" panose="020B0502020202020204" pitchFamily="34" charset="0"/>
              </a:rPr>
              <a:t>glutelin</a:t>
            </a:r>
            <a:r>
              <a:rPr lang="en-GB" sz="2200" dirty="0">
                <a:latin typeface="Century Gothic" panose="020B0502020202020204" pitchFamily="34" charset="0"/>
              </a:rPr>
              <a:t>, occurring in lesser amounts in the endosperm and also in the germ, is a better source of these two amino acids.</a:t>
            </a:r>
          </a:p>
        </p:txBody>
      </p:sp>
    </p:spTree>
    <p:extLst>
      <p:ext uri="{BB962C8B-B14F-4D97-AF65-F5344CB8AC3E}">
        <p14:creationId xmlns:p14="http://schemas.microsoft.com/office/powerpoint/2010/main" val="3457199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882644"/>
            <a:ext cx="7886700" cy="4351338"/>
          </a:xfrm>
        </p:spPr>
        <p:txBody>
          <a:bodyPr>
            <a:normAutofit lnSpcReduction="10000"/>
          </a:bodyPr>
          <a:lstStyle/>
          <a:p>
            <a:pPr marL="0" indent="0">
              <a:buNone/>
            </a:pPr>
            <a:r>
              <a:rPr lang="en-GB" sz="2200" b="1" dirty="0">
                <a:latin typeface="Century Gothic" panose="020B0502020202020204" pitchFamily="34" charset="0"/>
              </a:rPr>
              <a:t>Sorghum</a:t>
            </a:r>
          </a:p>
          <a:p>
            <a:r>
              <a:rPr lang="en-GB" sz="2200" dirty="0">
                <a:latin typeface="Century Gothic" panose="020B0502020202020204" pitchFamily="34" charset="0"/>
              </a:rPr>
              <a:t>The kernel of sorghum is very similar to that of maize, although it is smaller in size.</a:t>
            </a:r>
          </a:p>
          <a:p>
            <a:r>
              <a:rPr lang="en-GB" sz="2200" dirty="0">
                <a:latin typeface="Century Gothic" panose="020B0502020202020204" pitchFamily="34" charset="0"/>
              </a:rPr>
              <a:t>It generally contains rather more protein but less oil than maize and has no pigmenting </a:t>
            </a:r>
            <a:r>
              <a:rPr lang="en-GB" sz="2200" dirty="0" err="1">
                <a:latin typeface="Century Gothic" panose="020B0502020202020204" pitchFamily="34" charset="0"/>
              </a:rPr>
              <a:t>xanthophylls</a:t>
            </a:r>
            <a:r>
              <a:rPr lang="en-GB" sz="2200" dirty="0">
                <a:latin typeface="Century Gothic" panose="020B0502020202020204" pitchFamily="34" charset="0"/>
              </a:rPr>
              <a:t>. </a:t>
            </a:r>
          </a:p>
          <a:p>
            <a:r>
              <a:rPr lang="en-GB" sz="2200" dirty="0">
                <a:latin typeface="Century Gothic" panose="020B0502020202020204" pitchFamily="34" charset="0"/>
              </a:rPr>
              <a:t>Dark varieties contain tannins, which reduce protein digestibility.</a:t>
            </a:r>
          </a:p>
          <a:p>
            <a:r>
              <a:rPr lang="en-GB" sz="2200" dirty="0">
                <a:latin typeface="Century Gothic" panose="020B0502020202020204" pitchFamily="34" charset="0"/>
              </a:rPr>
              <a:t>Whole sorghum grains can be given to sheep and poultry but are usually ground for other animals. </a:t>
            </a:r>
          </a:p>
          <a:p>
            <a:r>
              <a:rPr lang="en-GB" sz="2200" dirty="0">
                <a:latin typeface="Century Gothic" panose="020B0502020202020204" pitchFamily="34" charset="0"/>
              </a:rPr>
              <a:t>Care is needed in the grinding process, as this may produce a fine powder, which is pasty and unpalatable.</a:t>
            </a:r>
          </a:p>
        </p:txBody>
      </p:sp>
    </p:spTree>
    <p:extLst>
      <p:ext uri="{BB962C8B-B14F-4D97-AF65-F5344CB8AC3E}">
        <p14:creationId xmlns:p14="http://schemas.microsoft.com/office/powerpoint/2010/main" val="25335054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66925" y="739775"/>
            <a:ext cx="7886700" cy="4351338"/>
          </a:xfrm>
        </p:spPr>
        <p:txBody>
          <a:bodyPr>
            <a:normAutofit/>
          </a:bodyPr>
          <a:lstStyle/>
          <a:p>
            <a:pPr marL="0" indent="0">
              <a:buNone/>
            </a:pPr>
            <a:r>
              <a:rPr lang="en-GB" sz="2200" b="1" dirty="0">
                <a:latin typeface="Century Gothic" panose="020B0502020202020204" pitchFamily="34" charset="0"/>
              </a:rPr>
              <a:t>Wheat</a:t>
            </a:r>
          </a:p>
          <a:p>
            <a:r>
              <a:rPr lang="en-GB" sz="2200" dirty="0">
                <a:latin typeface="Century Gothic" panose="020B0502020202020204" pitchFamily="34" charset="0"/>
              </a:rPr>
              <a:t>Better amino acid distribution than maize – Lysine, Tryptophan, Methionine and </a:t>
            </a:r>
            <a:r>
              <a:rPr lang="en-GB" sz="2200" dirty="0" err="1">
                <a:latin typeface="Century Gothic" panose="020B0502020202020204" pitchFamily="34" charset="0"/>
              </a:rPr>
              <a:t>Cystine</a:t>
            </a:r>
            <a:endParaRPr lang="en-GB" sz="2200" dirty="0">
              <a:latin typeface="Century Gothic" panose="020B0502020202020204" pitchFamily="34" charset="0"/>
            </a:endParaRPr>
          </a:p>
          <a:p>
            <a:r>
              <a:rPr lang="en-GB" sz="2200" dirty="0">
                <a:latin typeface="Century Gothic" panose="020B0502020202020204" pitchFamily="34" charset="0"/>
              </a:rPr>
              <a:t>High percent in diet causes pasty mess on beaks of birds</a:t>
            </a:r>
          </a:p>
          <a:p>
            <a:r>
              <a:rPr lang="en-GB" sz="2200" dirty="0">
                <a:latin typeface="Century Gothic" panose="020B0502020202020204" pitchFamily="34" charset="0"/>
              </a:rPr>
              <a:t>Causes acidosis in ruminants – give less than 50% of the diet</a:t>
            </a:r>
          </a:p>
          <a:p>
            <a:r>
              <a:rPr lang="en-GB" sz="2200" dirty="0">
                <a:latin typeface="Century Gothic" panose="020B0502020202020204" pitchFamily="34" charset="0"/>
              </a:rPr>
              <a:t>Wheat bran commonly used in poultry diets</a:t>
            </a:r>
          </a:p>
          <a:p>
            <a:r>
              <a:rPr lang="en-GB" sz="2200" dirty="0">
                <a:latin typeface="Century Gothic" panose="020B0502020202020204" pitchFamily="34" charset="0"/>
              </a:rPr>
              <a:t>Phosphorus utilisation improved by the use of </a:t>
            </a:r>
            <a:r>
              <a:rPr lang="en-GB" sz="2200" dirty="0" err="1">
                <a:latin typeface="Century Gothic" panose="020B0502020202020204" pitchFamily="34" charset="0"/>
              </a:rPr>
              <a:t>phytases</a:t>
            </a:r>
            <a:endParaRPr lang="en-GB" sz="2200" dirty="0">
              <a:latin typeface="Century Gothic" panose="020B0502020202020204" pitchFamily="34" charset="0"/>
            </a:endParaRPr>
          </a:p>
        </p:txBody>
      </p:sp>
    </p:spTree>
    <p:extLst>
      <p:ext uri="{BB962C8B-B14F-4D97-AF65-F5344CB8AC3E}">
        <p14:creationId xmlns:p14="http://schemas.microsoft.com/office/powerpoint/2010/main" val="30413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311" y="438411"/>
            <a:ext cx="11123113" cy="4359057"/>
          </a:xfrm>
        </p:spPr>
        <p:txBody>
          <a:bodyPr>
            <a:normAutofit/>
          </a:bodyPr>
          <a:lstStyle/>
          <a:p>
            <a:pPr marL="0" indent="0">
              <a:buNone/>
            </a:pPr>
            <a:r>
              <a:rPr lang="en-GB" sz="2200" b="1" dirty="0">
                <a:latin typeface="Century Gothic" panose="020B0502020202020204" pitchFamily="34" charset="0"/>
              </a:rPr>
              <a:t>Cassava</a:t>
            </a:r>
          </a:p>
          <a:p>
            <a:r>
              <a:rPr lang="en-GB" sz="2200" dirty="0">
                <a:latin typeface="Century Gothic" panose="020B0502020202020204" pitchFamily="34" charset="0"/>
              </a:rPr>
              <a:t>Contains about 30% NFE – readily available carbohydrates</a:t>
            </a:r>
          </a:p>
          <a:p>
            <a:r>
              <a:rPr lang="en-GB" sz="2200" dirty="0">
                <a:latin typeface="Century Gothic" panose="020B0502020202020204" pitchFamily="34" charset="0"/>
              </a:rPr>
              <a:t>Low CP content (1 – 2%)</a:t>
            </a:r>
          </a:p>
          <a:p>
            <a:r>
              <a:rPr lang="en-GB" sz="2200" dirty="0">
                <a:latin typeface="Century Gothic" panose="020B0502020202020204" pitchFamily="34" charset="0"/>
              </a:rPr>
              <a:t>Energy source for growing and finishing pigs, gestating and lactating cows</a:t>
            </a:r>
          </a:p>
          <a:p>
            <a:r>
              <a:rPr lang="en-GB" sz="2200" dirty="0">
                <a:latin typeface="Century Gothic" panose="020B0502020202020204" pitchFamily="34" charset="0"/>
              </a:rPr>
              <a:t>Fresh cassava contains prussic acid, hydrocyanic acid – reduce it by drying or boiling</a:t>
            </a:r>
          </a:p>
        </p:txBody>
      </p:sp>
    </p:spTree>
    <p:extLst>
      <p:ext uri="{BB962C8B-B14F-4D97-AF65-F5344CB8AC3E}">
        <p14:creationId xmlns:p14="http://schemas.microsoft.com/office/powerpoint/2010/main" val="3990681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995" y="275573"/>
            <a:ext cx="11448789" cy="6037545"/>
          </a:xfrm>
        </p:spPr>
        <p:txBody>
          <a:bodyPr>
            <a:noAutofit/>
          </a:bodyPr>
          <a:lstStyle/>
          <a:p>
            <a:pPr marL="0" indent="0">
              <a:buNone/>
            </a:pPr>
            <a:r>
              <a:rPr lang="en-GB" sz="2200" b="1" dirty="0">
                <a:latin typeface="Century Gothic" panose="020B0502020202020204" pitchFamily="34" charset="0"/>
              </a:rPr>
              <a:t>Potatoes</a:t>
            </a:r>
          </a:p>
          <a:p>
            <a:r>
              <a:rPr lang="en-GB" sz="2200" dirty="0">
                <a:latin typeface="Century Gothic" panose="020B0502020202020204" pitchFamily="34" charset="0"/>
              </a:rPr>
              <a:t>The crude fibre content of potatoes is very low, which makes them particularly suitable for pigs and poultry.</a:t>
            </a:r>
          </a:p>
          <a:p>
            <a:r>
              <a:rPr lang="en-GB" sz="2200" dirty="0">
                <a:latin typeface="Century Gothic" panose="020B0502020202020204" pitchFamily="34" charset="0"/>
              </a:rPr>
              <a:t>Potatoes contain a protease inhibitor that reduces the digestibility not only of potato protein but also of protein in other components of the diet.</a:t>
            </a:r>
          </a:p>
          <a:p>
            <a:r>
              <a:rPr lang="en-GB" sz="2200" dirty="0">
                <a:latin typeface="Century Gothic" panose="020B0502020202020204" pitchFamily="34" charset="0"/>
              </a:rPr>
              <a:t>Potatoes are a poor source of minerals, except for the abundant element potassium and phosphorus.</a:t>
            </a:r>
          </a:p>
          <a:p>
            <a:r>
              <a:rPr lang="en-GB" sz="2200" dirty="0" err="1">
                <a:latin typeface="Century Gothic" panose="020B0502020202020204" pitchFamily="34" charset="0"/>
              </a:rPr>
              <a:t>Solanidine</a:t>
            </a:r>
            <a:r>
              <a:rPr lang="en-GB" sz="2200" dirty="0">
                <a:latin typeface="Century Gothic" panose="020B0502020202020204" pitchFamily="34" charset="0"/>
              </a:rPr>
              <a:t> and its derivatives are toxic to animals, causing gastroenteritis. Green potatoes should be regarded as suspect.</a:t>
            </a:r>
          </a:p>
          <a:p>
            <a:r>
              <a:rPr lang="en-GB" sz="2200" dirty="0">
                <a:latin typeface="Century Gothic" panose="020B0502020202020204" pitchFamily="34" charset="0"/>
              </a:rPr>
              <a:t>The risk of toxicity is reduced considerably if potatoes are steamed or otherwise cooked, the water in which the tubers have been boiled being discarded. Ensiling also destroys some of the toxin,</a:t>
            </a:r>
          </a:p>
          <a:p>
            <a:r>
              <a:rPr lang="en-GB" sz="2200" dirty="0">
                <a:latin typeface="Century Gothic" panose="020B0502020202020204" pitchFamily="34" charset="0"/>
              </a:rPr>
              <a:t>Ruminants are more resistant to toxicity than </a:t>
            </a:r>
            <a:r>
              <a:rPr lang="en-GB" sz="2200" dirty="0" err="1">
                <a:latin typeface="Century Gothic" panose="020B0502020202020204" pitchFamily="34" charset="0"/>
              </a:rPr>
              <a:t>monogastric</a:t>
            </a:r>
            <a:r>
              <a:rPr lang="en-GB" sz="2200" dirty="0">
                <a:latin typeface="Century Gothic" panose="020B0502020202020204" pitchFamily="34" charset="0"/>
              </a:rPr>
              <a:t> animals,</a:t>
            </a:r>
          </a:p>
        </p:txBody>
      </p:sp>
    </p:spTree>
    <p:extLst>
      <p:ext uri="{BB962C8B-B14F-4D97-AF65-F5344CB8AC3E}">
        <p14:creationId xmlns:p14="http://schemas.microsoft.com/office/powerpoint/2010/main" val="3772006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6093" y="463463"/>
            <a:ext cx="10860066" cy="5323562"/>
          </a:xfrm>
        </p:spPr>
        <p:txBody>
          <a:bodyPr>
            <a:noAutofit/>
          </a:bodyPr>
          <a:lstStyle/>
          <a:p>
            <a:pPr marL="0" indent="0">
              <a:buNone/>
            </a:pPr>
            <a:r>
              <a:rPr lang="en-GB" sz="2400" b="1" dirty="0">
                <a:latin typeface="Century Gothic" panose="020B0502020202020204" pitchFamily="34" charset="0"/>
              </a:rPr>
              <a:t>Soya bean meal</a:t>
            </a:r>
            <a:endParaRPr lang="en-GB" sz="2200" b="1" dirty="0">
              <a:latin typeface="Century Gothic" panose="020B0502020202020204" pitchFamily="34" charset="0"/>
            </a:endParaRPr>
          </a:p>
          <a:p>
            <a:r>
              <a:rPr lang="en-GB" sz="2200" dirty="0">
                <a:latin typeface="Century Gothic" panose="020B0502020202020204" pitchFamily="34" charset="0"/>
              </a:rPr>
              <a:t>Soya bean meal contains a number of toxic, stimulatory and inhibitory substances including allergenic, </a:t>
            </a:r>
            <a:r>
              <a:rPr lang="en-GB" sz="2200" dirty="0" err="1">
                <a:latin typeface="Century Gothic" panose="020B0502020202020204" pitchFamily="34" charset="0"/>
              </a:rPr>
              <a:t>goitrogenic</a:t>
            </a:r>
            <a:r>
              <a:rPr lang="en-GB" sz="2200" dirty="0">
                <a:latin typeface="Century Gothic" panose="020B0502020202020204" pitchFamily="34" charset="0"/>
              </a:rPr>
              <a:t> and anticoagulant factors. Of particular importance in nutrition are the protease inhibitors which are </a:t>
            </a:r>
            <a:r>
              <a:rPr lang="en-GB" sz="2400" dirty="0">
                <a:latin typeface="Century Gothic" panose="020B0502020202020204" pitchFamily="34" charset="0"/>
              </a:rPr>
              <a:t>responsible for the growth-retarding property</a:t>
            </a:r>
            <a:r>
              <a:rPr lang="en-GB" sz="2200" dirty="0">
                <a:latin typeface="Century Gothic" panose="020B0502020202020204" pitchFamily="34" charset="0"/>
              </a:rPr>
              <a:t>.</a:t>
            </a:r>
          </a:p>
          <a:p>
            <a:r>
              <a:rPr lang="en-GB" sz="2400" dirty="0">
                <a:latin typeface="Century Gothic" panose="020B0502020202020204" pitchFamily="34" charset="0"/>
              </a:rPr>
              <a:t>Another substance contributing to the growth retardation is a </a:t>
            </a:r>
            <a:r>
              <a:rPr lang="en-GB" sz="2400" dirty="0" err="1">
                <a:latin typeface="Century Gothic" panose="020B0502020202020204" pitchFamily="34" charset="0"/>
              </a:rPr>
              <a:t>haemagglutenin</a:t>
            </a:r>
            <a:r>
              <a:rPr lang="en-GB" sz="2400" dirty="0">
                <a:latin typeface="Century Gothic" panose="020B0502020202020204" pitchFamily="34" charset="0"/>
              </a:rPr>
              <a:t>, which is capable of agglutinating red blood cells.</a:t>
            </a:r>
            <a:endParaRPr lang="en-GB" sz="2200" dirty="0">
              <a:latin typeface="Century Gothic" panose="020B0502020202020204" pitchFamily="34" charset="0"/>
            </a:endParaRPr>
          </a:p>
          <a:p>
            <a:r>
              <a:rPr lang="en-GB" sz="2200" dirty="0">
                <a:latin typeface="Century Gothic" panose="020B0502020202020204" pitchFamily="34" charset="0"/>
              </a:rPr>
              <a:t>The inhibitors are inactivated by heating. For ruminant animals, the inhibitors are not important and toasting is unnecessary.</a:t>
            </a:r>
          </a:p>
          <a:p>
            <a:r>
              <a:rPr lang="en-GB" sz="2200" dirty="0">
                <a:latin typeface="Century Gothic" panose="020B0502020202020204" pitchFamily="34" charset="0"/>
              </a:rPr>
              <a:t>The process of toasting must be carefully controlled since overheating will reduce the availability of lysine and arginine and reduce the value of the protein.</a:t>
            </a:r>
          </a:p>
        </p:txBody>
      </p:sp>
    </p:spTree>
    <p:extLst>
      <p:ext uri="{BB962C8B-B14F-4D97-AF65-F5344CB8AC3E}">
        <p14:creationId xmlns:p14="http://schemas.microsoft.com/office/powerpoint/2010/main" val="2785249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8411" y="212942"/>
            <a:ext cx="10897644" cy="6363221"/>
          </a:xfrm>
        </p:spPr>
        <p:txBody>
          <a:bodyPr>
            <a:noAutofit/>
          </a:bodyPr>
          <a:lstStyle/>
          <a:p>
            <a:pPr marL="0" indent="0">
              <a:buNone/>
            </a:pPr>
            <a:r>
              <a:rPr lang="en-GB" sz="2200" b="1" dirty="0">
                <a:latin typeface="Century Gothic" panose="020B0502020202020204" pitchFamily="34" charset="0"/>
              </a:rPr>
              <a:t>Cotton seed meal</a:t>
            </a:r>
          </a:p>
          <a:p>
            <a:r>
              <a:rPr lang="en-GB" sz="2200" dirty="0">
                <a:latin typeface="Century Gothic" panose="020B0502020202020204" pitchFamily="34" charset="0"/>
              </a:rPr>
              <a:t>The protein of cotton seed meal is of good quality but has the common disadvantage of oilseed proteins of having a low content of </a:t>
            </a:r>
            <a:r>
              <a:rPr lang="en-GB" sz="2200" dirty="0" err="1">
                <a:latin typeface="Century Gothic" panose="020B0502020202020204" pitchFamily="34" charset="0"/>
              </a:rPr>
              <a:t>cystine</a:t>
            </a:r>
            <a:r>
              <a:rPr lang="en-GB" sz="2200" dirty="0">
                <a:latin typeface="Century Gothic" panose="020B0502020202020204" pitchFamily="34" charset="0"/>
              </a:rPr>
              <a:t>, methionine, and lysine.</a:t>
            </a:r>
          </a:p>
          <a:p>
            <a:r>
              <a:rPr lang="en-GB" sz="2200" dirty="0">
                <a:latin typeface="Century Gothic" panose="020B0502020202020204" pitchFamily="34" charset="0"/>
              </a:rPr>
              <a:t>Cotton seeds contain a yellow pigment known as gossypol, which is an antioxidant and polymerisation inhibitor toxic to simple-stomached animals.</a:t>
            </a:r>
          </a:p>
          <a:p>
            <a:r>
              <a:rPr lang="en-GB" sz="2200" dirty="0">
                <a:latin typeface="Century Gothic" panose="020B0502020202020204" pitchFamily="34" charset="0"/>
              </a:rPr>
              <a:t>The free gossypol content of cotton seed meal decreases during processing (Screw-pressed, prepressed solvent-extract, and solvent-extracted) and varies according to the methods used. </a:t>
            </a:r>
          </a:p>
          <a:p>
            <a:r>
              <a:rPr lang="en-GB" sz="2200" dirty="0">
                <a:latin typeface="Century Gothic" panose="020B0502020202020204" pitchFamily="34" charset="0"/>
              </a:rPr>
              <a:t>It is generally considered that pig and poultry diets should not contain more than 100 mg free gossypol/kg. Ruminant animals do not show ill effects, even when they consume large quantities of cotton seed meal.</a:t>
            </a:r>
          </a:p>
        </p:txBody>
      </p:sp>
    </p:spTree>
    <p:extLst>
      <p:ext uri="{BB962C8B-B14F-4D97-AF65-F5344CB8AC3E}">
        <p14:creationId xmlns:p14="http://schemas.microsoft.com/office/powerpoint/2010/main" val="4005287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757239"/>
            <a:ext cx="7886700" cy="5419725"/>
          </a:xfrm>
        </p:spPr>
        <p:txBody>
          <a:bodyPr>
            <a:noAutofit/>
          </a:bodyPr>
          <a:lstStyle/>
          <a:p>
            <a:pPr marL="0" indent="0">
              <a:buNone/>
            </a:pPr>
            <a:r>
              <a:rPr lang="en-GB" sz="2200" b="1" dirty="0">
                <a:latin typeface="Century Gothic" panose="020B0502020202020204" pitchFamily="34" charset="0"/>
              </a:rPr>
              <a:t>Sunflower seed meal </a:t>
            </a:r>
          </a:p>
          <a:p>
            <a:r>
              <a:rPr lang="en-GB" sz="2200" dirty="0">
                <a:latin typeface="Century Gothic" panose="020B0502020202020204" pitchFamily="34" charset="0"/>
              </a:rPr>
              <a:t>Protein source of up to 50% if </a:t>
            </a:r>
            <a:r>
              <a:rPr lang="en-GB" sz="2200" dirty="0" err="1">
                <a:latin typeface="Century Gothic" panose="020B0502020202020204" pitchFamily="34" charset="0"/>
              </a:rPr>
              <a:t>dehulled</a:t>
            </a:r>
            <a:r>
              <a:rPr lang="en-GB" sz="2200" dirty="0">
                <a:latin typeface="Century Gothic" panose="020B0502020202020204" pitchFamily="34" charset="0"/>
              </a:rPr>
              <a:t> can be attained..</a:t>
            </a:r>
          </a:p>
          <a:p>
            <a:r>
              <a:rPr lang="en-GB" sz="2200" dirty="0">
                <a:latin typeface="Century Gothic" panose="020B0502020202020204" pitchFamily="34" charset="0"/>
              </a:rPr>
              <a:t>Removing the hulls from the meal produces a more digestible product with a higher crude protein content.</a:t>
            </a:r>
          </a:p>
          <a:p>
            <a:r>
              <a:rPr lang="en-GB" sz="2200" dirty="0">
                <a:latin typeface="Century Gothic" panose="020B0502020202020204" pitchFamily="34" charset="0"/>
              </a:rPr>
              <a:t>It is low in lysine but high in CF (up to 11%).</a:t>
            </a:r>
          </a:p>
          <a:p>
            <a:r>
              <a:rPr lang="en-GB" sz="2200" dirty="0">
                <a:latin typeface="Century Gothic" panose="020B0502020202020204" pitchFamily="34" charset="0"/>
              </a:rPr>
              <a:t>The high levels of CF limits its usage in </a:t>
            </a:r>
            <a:r>
              <a:rPr lang="en-GB" sz="2200" dirty="0" err="1">
                <a:latin typeface="Century Gothic" panose="020B0502020202020204" pitchFamily="34" charset="0"/>
              </a:rPr>
              <a:t>monogastrics</a:t>
            </a:r>
            <a:r>
              <a:rPr lang="en-GB" sz="2200" dirty="0">
                <a:latin typeface="Century Gothic" panose="020B0502020202020204" pitchFamily="34" charset="0"/>
              </a:rPr>
              <a:t>. Therefore, </a:t>
            </a:r>
            <a:r>
              <a:rPr lang="en-GB" sz="2200" dirty="0" err="1">
                <a:latin typeface="Century Gothic" panose="020B0502020202020204" pitchFamily="34" charset="0"/>
              </a:rPr>
              <a:t>dehulling</a:t>
            </a:r>
            <a:r>
              <a:rPr lang="en-GB" sz="2200" dirty="0">
                <a:latin typeface="Century Gothic" panose="020B0502020202020204" pitchFamily="34" charset="0"/>
              </a:rPr>
              <a:t> is done if its to be used.</a:t>
            </a:r>
          </a:p>
          <a:p>
            <a:r>
              <a:rPr lang="en-GB" sz="2200" dirty="0">
                <a:latin typeface="Century Gothic" panose="020B0502020202020204" pitchFamily="34" charset="0"/>
              </a:rPr>
              <a:t>It contains tannins</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3985185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771525"/>
            <a:ext cx="7886700" cy="5405438"/>
          </a:xfrm>
        </p:spPr>
        <p:txBody>
          <a:bodyPr>
            <a:normAutofit/>
          </a:bodyPr>
          <a:lstStyle/>
          <a:p>
            <a:pPr marL="0" indent="0">
              <a:buNone/>
            </a:pPr>
            <a:r>
              <a:rPr lang="en-GB" sz="2200" b="1" dirty="0">
                <a:latin typeface="Century Gothic" panose="020B0502020202020204" pitchFamily="34" charset="0"/>
              </a:rPr>
              <a:t>Groundnut meal</a:t>
            </a:r>
          </a:p>
          <a:p>
            <a:r>
              <a:rPr lang="en-GB" sz="2200" dirty="0">
                <a:latin typeface="Century Gothic" panose="020B0502020202020204" pitchFamily="34" charset="0"/>
              </a:rPr>
              <a:t>The protein of groundnut meal has suboptimal amounts of </a:t>
            </a:r>
            <a:r>
              <a:rPr lang="en-GB" sz="2200" dirty="0" err="1">
                <a:latin typeface="Century Gothic" panose="020B0502020202020204" pitchFamily="34" charset="0"/>
              </a:rPr>
              <a:t>cystine</a:t>
            </a:r>
            <a:r>
              <a:rPr lang="en-GB" sz="2200" dirty="0">
                <a:latin typeface="Century Gothic" panose="020B0502020202020204" pitchFamily="34" charset="0"/>
              </a:rPr>
              <a:t> and methionine, although the first limiting amino acid is lysine.</a:t>
            </a:r>
          </a:p>
          <a:p>
            <a:r>
              <a:rPr lang="en-GB" sz="2200" dirty="0">
                <a:latin typeface="Century Gothic" panose="020B0502020202020204" pitchFamily="34" charset="0"/>
              </a:rPr>
              <a:t>Palatable for most ruminants not </a:t>
            </a:r>
            <a:r>
              <a:rPr lang="en-GB" sz="2200" dirty="0" err="1">
                <a:latin typeface="Century Gothic" panose="020B0502020202020204" pitchFamily="34" charset="0"/>
              </a:rPr>
              <a:t>monogastrics</a:t>
            </a:r>
            <a:r>
              <a:rPr lang="en-GB" sz="2200" dirty="0">
                <a:latin typeface="Century Gothic" panose="020B0502020202020204" pitchFamily="34" charset="0"/>
              </a:rPr>
              <a:t>.</a:t>
            </a:r>
          </a:p>
          <a:p>
            <a:r>
              <a:rPr lang="en-GB" sz="2200" dirty="0">
                <a:latin typeface="Century Gothic" panose="020B0502020202020204" pitchFamily="34" charset="0"/>
              </a:rPr>
              <a:t>It should not form more than 25 per cent of the diet because of its troublesome laxative action.</a:t>
            </a:r>
          </a:p>
          <a:p>
            <a:r>
              <a:rPr lang="en-GB" sz="2200" dirty="0">
                <a:latin typeface="Century Gothic" panose="020B0502020202020204" pitchFamily="34" charset="0"/>
              </a:rPr>
              <a:t>It has been reported that both a growth factor and an antitrypsin factor occur in groundnut meal. </a:t>
            </a:r>
          </a:p>
          <a:p>
            <a:r>
              <a:rPr lang="en-GB" sz="2200" dirty="0">
                <a:latin typeface="Century Gothic" panose="020B0502020202020204" pitchFamily="34" charset="0"/>
              </a:rPr>
              <a:t>Susceptible to attack by </a:t>
            </a:r>
            <a:r>
              <a:rPr lang="en-GB" sz="2200" i="1" dirty="0">
                <a:latin typeface="Century Gothic" panose="020B0502020202020204" pitchFamily="34" charset="0"/>
              </a:rPr>
              <a:t>Aspergillus </a:t>
            </a:r>
            <a:r>
              <a:rPr lang="en-GB" sz="2200" i="1" dirty="0" err="1">
                <a:latin typeface="Century Gothic" panose="020B0502020202020204" pitchFamily="34" charset="0"/>
              </a:rPr>
              <a:t>flavus</a:t>
            </a:r>
            <a:r>
              <a:rPr lang="en-GB" sz="2200" i="1" dirty="0">
                <a:latin typeface="Century Gothic" panose="020B0502020202020204" pitchFamily="34" charset="0"/>
              </a:rPr>
              <a:t>.</a:t>
            </a: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2763290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2650" y="771525"/>
            <a:ext cx="7886700" cy="5405438"/>
          </a:xfrm>
        </p:spPr>
        <p:txBody>
          <a:bodyPr>
            <a:normAutofit/>
          </a:bodyPr>
          <a:lstStyle/>
          <a:p>
            <a:pPr marL="0" indent="0">
              <a:buNone/>
            </a:pPr>
            <a:r>
              <a:rPr lang="en-GB" sz="2200" b="1" dirty="0">
                <a:latin typeface="Century Gothic" panose="020B0502020202020204" pitchFamily="34" charset="0"/>
              </a:rPr>
              <a:t>Fish meal</a:t>
            </a:r>
          </a:p>
          <a:p>
            <a:r>
              <a:rPr lang="en-GB" sz="2200" dirty="0">
                <a:latin typeface="Century Gothic" panose="020B0502020202020204" pitchFamily="34" charset="0"/>
              </a:rPr>
              <a:t>It is a good source of essential amino acids particularly lysine, </a:t>
            </a:r>
            <a:r>
              <a:rPr lang="en-GB" sz="2200" dirty="0" err="1">
                <a:latin typeface="Century Gothic" panose="020B0502020202020204" pitchFamily="34" charset="0"/>
              </a:rPr>
              <a:t>cystine</a:t>
            </a:r>
            <a:r>
              <a:rPr lang="en-GB" sz="2200" dirty="0">
                <a:latin typeface="Century Gothic" panose="020B0502020202020204" pitchFamily="34" charset="0"/>
              </a:rPr>
              <a:t>, methionine and tryptophan.</a:t>
            </a:r>
          </a:p>
          <a:p>
            <a:r>
              <a:rPr lang="en-GB" sz="2200" dirty="0">
                <a:latin typeface="Century Gothic" panose="020B0502020202020204" pitchFamily="34" charset="0"/>
              </a:rPr>
              <a:t>Fish meals have a high mineral content such as calcium and phosphorus and a number of desirable trace minerals, including manganese, iron and iodine. </a:t>
            </a:r>
          </a:p>
          <a:p>
            <a:r>
              <a:rPr lang="en-GB" sz="2200" dirty="0">
                <a:latin typeface="Century Gothic" panose="020B0502020202020204" pitchFamily="34" charset="0"/>
              </a:rPr>
              <a:t>They are a good source of B complex vitamins, particularly choline, B12 and riboflavin.</a:t>
            </a:r>
          </a:p>
          <a:p>
            <a:r>
              <a:rPr lang="en-GB" sz="2200" dirty="0">
                <a:latin typeface="Century Gothic" panose="020B0502020202020204" pitchFamily="34" charset="0"/>
              </a:rPr>
              <a:t>Its usage is limited due to high cost, competition with humans, susceptibility to oxidation, and fish odour in products.</a:t>
            </a:r>
          </a:p>
          <a:p>
            <a:endParaRPr lang="en-GB" sz="2200" i="1" dirty="0">
              <a:latin typeface="Century Gothic" panose="020B0502020202020204" pitchFamily="34" charset="0"/>
            </a:endParaRP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3644649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1249" y="676404"/>
            <a:ext cx="10496811" cy="5761973"/>
          </a:xfrm>
        </p:spPr>
        <p:txBody>
          <a:bodyPr>
            <a:normAutofit/>
          </a:bodyPr>
          <a:lstStyle/>
          <a:p>
            <a:pPr marL="0" indent="0">
              <a:buNone/>
            </a:pPr>
            <a:r>
              <a:rPr lang="en-GB" sz="2200" b="1" dirty="0">
                <a:latin typeface="Century Gothic" panose="020B0502020202020204" pitchFamily="34" charset="0"/>
              </a:rPr>
              <a:t>Urea</a:t>
            </a:r>
          </a:p>
          <a:p>
            <a:r>
              <a:rPr lang="en-GB" sz="2200" dirty="0">
                <a:latin typeface="Century Gothic" panose="020B0502020202020204" pitchFamily="34" charset="0"/>
              </a:rPr>
              <a:t>It is a least costly non-protein nitrogen source for ruminants</a:t>
            </a:r>
          </a:p>
          <a:p>
            <a:r>
              <a:rPr lang="en-GB" sz="2200" dirty="0">
                <a:latin typeface="Century Gothic" panose="020B0502020202020204" pitchFamily="34" charset="0"/>
              </a:rPr>
              <a:t>Little usage in </a:t>
            </a:r>
            <a:r>
              <a:rPr lang="en-GB" sz="2200" dirty="0" err="1">
                <a:latin typeface="Century Gothic" panose="020B0502020202020204" pitchFamily="34" charset="0"/>
              </a:rPr>
              <a:t>monogastrics</a:t>
            </a:r>
            <a:endParaRPr lang="en-GB" sz="2200" dirty="0">
              <a:latin typeface="Century Gothic" panose="020B0502020202020204" pitchFamily="34" charset="0"/>
            </a:endParaRPr>
          </a:p>
          <a:p>
            <a:r>
              <a:rPr lang="en-GB" sz="2200" dirty="0">
                <a:latin typeface="Century Gothic" panose="020B0502020202020204" pitchFamily="34" charset="0"/>
              </a:rPr>
              <a:t>It is most effective when given as a supplement to diets of low protein content, particularly if the protein is resistant to microbial breakdown.</a:t>
            </a:r>
          </a:p>
          <a:p>
            <a:r>
              <a:rPr lang="en-GB" sz="2200" dirty="0">
                <a:latin typeface="Century Gothic" panose="020B0502020202020204" pitchFamily="34" charset="0"/>
              </a:rPr>
              <a:t>Urea, like other non-protein nitrogen sources, will not be used efficiently by the ruminant animal unless the diet does not contain sufficient degradable protein to satisfy the needs of its rumen microorganisms.</a:t>
            </a:r>
          </a:p>
          <a:p>
            <a:r>
              <a:rPr lang="en-GB" sz="2200" dirty="0">
                <a:latin typeface="Century Gothic" panose="020B0502020202020204" pitchFamily="34" charset="0"/>
              </a:rPr>
              <a:t>Ammonia produced upon urea hydrolysis can be toxic if liberated in excessive amounts. </a:t>
            </a:r>
          </a:p>
          <a:p>
            <a:endParaRPr lang="en-GB" sz="2200" i="1" dirty="0">
              <a:latin typeface="Century Gothic" panose="020B0502020202020204" pitchFamily="34" charset="0"/>
            </a:endParaRPr>
          </a:p>
          <a:p>
            <a:endParaRPr lang="en-GB" sz="2200" dirty="0">
              <a:latin typeface="Century Gothic" panose="020B0502020202020204" pitchFamily="34" charset="0"/>
            </a:endParaRPr>
          </a:p>
        </p:txBody>
      </p:sp>
    </p:spTree>
    <p:extLst>
      <p:ext uri="{BB962C8B-B14F-4D97-AF65-F5344CB8AC3E}">
        <p14:creationId xmlns:p14="http://schemas.microsoft.com/office/powerpoint/2010/main" val="271940656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16</TotalTime>
  <Words>2099</Words>
  <Application>Microsoft Office PowerPoint</Application>
  <PresentationFormat>Widescreen</PresentationFormat>
  <Paragraphs>131</Paragraphs>
  <Slides>22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Century Gothic</vt:lpstr>
      <vt:lpstr>Wingdings 3</vt:lpstr>
      <vt:lpstr>Ion</vt:lpstr>
      <vt:lpstr>COMPARATIVE ANIMAL PHYSIOLOGY OF VARIOUS LIVESTOCK SPECIES </vt:lpstr>
      <vt:lpstr>Digestion in Ruminants</vt:lpstr>
      <vt:lpstr>Comparative Animal Physiology of Various Livestock Species </vt:lpstr>
      <vt:lpstr>Digestion in Ruminants</vt:lpstr>
      <vt:lpstr>Digestion in Monogastrics</vt:lpstr>
      <vt:lpstr>Digestion in Monogastrics</vt:lpstr>
      <vt:lpstr>Digestion in Monogastrics</vt:lpstr>
      <vt:lpstr>Comparative Animal Physiology of Various Livestock Species </vt:lpstr>
      <vt:lpstr>Digestion in Poultry</vt:lpstr>
      <vt:lpstr>PowerPoint Presentation</vt:lpstr>
      <vt:lpstr>ENERGY</vt:lpstr>
      <vt:lpstr>CHARACTERISTICS OF FEEDSTUFF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ANIMAL PHYSIOLOGY OF VARIOUS LIVESTOCK SPECIES </dc:title>
  <dc:creator>JOSEPH D. LIWONDE</dc:creator>
  <cp:lastModifiedBy>JOSEPH D. LIWONDE</cp:lastModifiedBy>
  <cp:revision>9</cp:revision>
  <dcterms:created xsi:type="dcterms:W3CDTF">2025-12-30T06:01:50Z</dcterms:created>
  <dcterms:modified xsi:type="dcterms:W3CDTF">2026-02-10T14:26:13Z</dcterms:modified>
</cp:coreProperties>
</file>