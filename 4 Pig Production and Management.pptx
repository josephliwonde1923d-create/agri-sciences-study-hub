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378" r:id="rId4"/>
    <p:sldId id="415" r:id="rId5"/>
    <p:sldId id="416" r:id="rId6"/>
    <p:sldId id="417" r:id="rId7"/>
    <p:sldId id="380" r:id="rId8"/>
    <p:sldId id="418" r:id="rId9"/>
    <p:sldId id="420" r:id="rId10"/>
    <p:sldId id="280" r:id="rId11"/>
    <p:sldId id="421" r:id="rId12"/>
    <p:sldId id="379" r:id="rId13"/>
    <p:sldId id="419" r:id="rId14"/>
    <p:sldId id="260" r:id="rId15"/>
    <p:sldId id="422" r:id="rId16"/>
    <p:sldId id="433" r:id="rId17"/>
    <p:sldId id="445" r:id="rId18"/>
    <p:sldId id="423" r:id="rId19"/>
    <p:sldId id="448" r:id="rId20"/>
    <p:sldId id="430" r:id="rId21"/>
    <p:sldId id="429" r:id="rId22"/>
    <p:sldId id="446" r:id="rId23"/>
    <p:sldId id="447" r:id="rId24"/>
    <p:sldId id="275" r:id="rId25"/>
    <p:sldId id="450" r:id="rId26"/>
    <p:sldId id="376" r:id="rId27"/>
    <p:sldId id="434" r:id="rId28"/>
    <p:sldId id="383" r:id="rId29"/>
    <p:sldId id="436" r:id="rId30"/>
    <p:sldId id="444" r:id="rId31"/>
    <p:sldId id="431" r:id="rId32"/>
    <p:sldId id="435" r:id="rId33"/>
    <p:sldId id="437" r:id="rId34"/>
    <p:sldId id="439" r:id="rId35"/>
    <p:sldId id="441" r:id="rId36"/>
    <p:sldId id="438" r:id="rId37"/>
    <p:sldId id="425" r:id="rId38"/>
    <p:sldId id="428" r:id="rId39"/>
    <p:sldId id="424" r:id="rId40"/>
    <p:sldId id="449" r:id="rId41"/>
    <p:sldId id="442" r:id="rId42"/>
    <p:sldId id="426" r:id="rId43"/>
    <p:sldId id="427" r:id="rId44"/>
    <p:sldId id="443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6" autoAdjust="0"/>
    <p:restoredTop sz="94622" autoAdjust="0"/>
  </p:normalViewPr>
  <p:slideViewPr>
    <p:cSldViewPr snapToGrid="0">
      <p:cViewPr varScale="1">
        <p:scale>
          <a:sx n="85" d="100"/>
          <a:sy n="85" d="100"/>
        </p:scale>
        <p:origin x="124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18B1-72DE-48AA-BFD7-0D5A7F933011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1D7C1-5A09-4F0A-AD83-58B77AAF2B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46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Century Gothic" pitchFamily="34" charset="0"/>
              </a:rPr>
              <a:t>Are scavengers and clean up the environment as they pick up whatever they can eat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040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03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8922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8922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040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1D7C1-5A09-4F0A-AD83-58B77AAF2BC1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06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52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56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53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84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40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46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77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97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37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90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CF3B9-C39F-47CA-9493-2CE341F9200B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2BB90-863B-4217-96DC-A8B9EB50A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0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Pig Production and Management</a:t>
            </a:r>
          </a:p>
        </p:txBody>
      </p:sp>
      <p:pic>
        <p:nvPicPr>
          <p:cNvPr id="5" name="Picture 4" descr="1 Principles of Livestock Production 1 BTCD 2303.pptx [Autosaved] - Microsoft PowerPoint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1" t="28367" r="21406" b="65887"/>
          <a:stretch/>
        </p:blipFill>
        <p:spPr>
          <a:xfrm>
            <a:off x="389744" y="284813"/>
            <a:ext cx="8475649" cy="794479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971550" y="4987925"/>
            <a:ext cx="6858000" cy="1655762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Michael Luwe</a:t>
            </a:r>
          </a:p>
          <a:p>
            <a:r>
              <a:rPr lang="en-GB" b="1" dirty="0">
                <a:solidFill>
                  <a:srgbClr val="0070C0"/>
                </a:solidFill>
              </a:rPr>
              <a:t>Veterinarian</a:t>
            </a:r>
          </a:p>
          <a:p>
            <a:r>
              <a:rPr lang="en-GB" b="1" dirty="0">
                <a:solidFill>
                  <a:srgbClr val="0070C0"/>
                </a:solidFill>
              </a:rPr>
              <a:t>Department of Animal Health and Livestock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571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Pig Production 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72463" cy="4351338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Century Gothic" panose="020B0502020202020204" pitchFamily="34" charset="0"/>
              </a:rPr>
              <a:t>Common breeds of Pigs 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latin typeface="Century Gothic" panose="020B0502020202020204" pitchFamily="34" charset="0"/>
              </a:rPr>
              <a:t>Large White or Yorkshire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latin typeface="Century Gothic" panose="020B0502020202020204" pitchFamily="34" charset="0"/>
              </a:rPr>
              <a:t>Landrace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 err="1">
                <a:latin typeface="Century Gothic" panose="020B0502020202020204" pitchFamily="34" charset="0"/>
              </a:rPr>
              <a:t>Duroc</a:t>
            </a:r>
            <a:endParaRPr lang="en-GB" sz="24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latin typeface="Century Gothic" panose="020B0502020202020204" pitchFamily="34" charset="0"/>
              </a:rPr>
              <a:t>Tri-Star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latin typeface="Century Gothic" panose="020B0502020202020204" pitchFamily="34" charset="0"/>
              </a:rPr>
              <a:t>Indigenous breed</a:t>
            </a:r>
          </a:p>
          <a:p>
            <a:pPr marL="514350" indent="-514350">
              <a:buFont typeface="+mj-lt"/>
              <a:buAutoNum type="romanLcPeriod"/>
            </a:pPr>
            <a:endParaRPr lang="en-GB" sz="2400" dirty="0">
              <a:latin typeface="Century Gothic" panose="020B0502020202020204" pitchFamily="34" charset="0"/>
            </a:endParaRPr>
          </a:p>
          <a:p>
            <a:r>
              <a:rPr lang="en-GB" sz="2400" dirty="0">
                <a:latin typeface="Century Gothic" panose="020B0502020202020204" pitchFamily="34" charset="0"/>
              </a:rPr>
              <a:t>Malawi has all the above except </a:t>
            </a:r>
            <a:r>
              <a:rPr lang="en-GB" sz="2400" dirty="0" err="1">
                <a:latin typeface="Century Gothic" panose="020B0502020202020204" pitchFamily="34" charset="0"/>
              </a:rPr>
              <a:t>Duroc</a:t>
            </a:r>
            <a:r>
              <a:rPr lang="en-GB" sz="2400" dirty="0"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71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Large White or Yorkshire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Large, long, white pig of British origin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It has dished face and straight ears.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Has wide adaptability under varying conditions hence used for crossbreeding in tropics.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Most prolific with an average litter size of 12 and sows are good mothers.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Breed is slow in maturing but efficient in feed conversion, high growth rates and lean carcasses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The breed is susceptible to sunburn and heat stroke when hot.</a:t>
            </a:r>
          </a:p>
          <a:p>
            <a:pPr>
              <a:lnSpc>
                <a:spcPct val="100000"/>
              </a:lnSpc>
            </a:pPr>
            <a:endParaRPr lang="en-GB" sz="24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04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Landrace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entury Gothic" pitchFamily="34" charset="0"/>
              </a:rPr>
              <a:t>Can be Danish, Swedish or German types</a:t>
            </a:r>
          </a:p>
          <a:p>
            <a:r>
              <a:rPr lang="en-GB" sz="2400" dirty="0">
                <a:latin typeface="Century Gothic" pitchFamily="34" charset="0"/>
              </a:rPr>
              <a:t>It has a straight face and drooping ears.</a:t>
            </a:r>
          </a:p>
          <a:p>
            <a:r>
              <a:rPr lang="en-GB" sz="2400" dirty="0">
                <a:latin typeface="Century Gothic" pitchFamily="34" charset="0"/>
              </a:rPr>
              <a:t>The breed is white and has an average litter size of 11.</a:t>
            </a:r>
          </a:p>
          <a:p>
            <a:r>
              <a:rPr lang="en-GB" sz="2400" dirty="0">
                <a:latin typeface="Century Gothic" pitchFamily="34" charset="0"/>
              </a:rPr>
              <a:t>Landrace requires close management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It has normally poor mothering ability </a:t>
            </a:r>
            <a:endParaRPr lang="en-GB" sz="2400" dirty="0">
              <a:latin typeface="Century Gothic" pitchFamily="34" charset="0"/>
            </a:endParaRP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itchFamily="34" charset="0"/>
              </a:rPr>
              <a:t>The breed is susceptible to sunburn and heat stroke when hot.</a:t>
            </a:r>
          </a:p>
          <a:p>
            <a:pPr>
              <a:lnSpc>
                <a:spcPct val="100000"/>
              </a:lnSpc>
            </a:pPr>
            <a:endParaRPr lang="en-GB" sz="24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40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Tri-Star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It is a composite breed with:</a:t>
            </a:r>
          </a:p>
          <a:p>
            <a:pPr marL="900113" lvl="1" indent="-442913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anose="020B0502020202020204" pitchFamily="34" charset="0"/>
              </a:rPr>
              <a:t>50% Large White </a:t>
            </a:r>
          </a:p>
          <a:p>
            <a:pPr marL="900113" lvl="1" indent="-442913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anose="020B0502020202020204" pitchFamily="34" charset="0"/>
              </a:rPr>
              <a:t>25% Landrace  </a:t>
            </a:r>
          </a:p>
          <a:p>
            <a:pPr marL="900113" lvl="1" indent="-442913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anose="020B0502020202020204" pitchFamily="34" charset="0"/>
              </a:rPr>
              <a:t>25% </a:t>
            </a:r>
            <a:r>
              <a:rPr lang="en-GB" dirty="0" err="1">
                <a:latin typeface="Century Gothic" panose="020B0502020202020204" pitchFamily="34" charset="0"/>
              </a:rPr>
              <a:t>Duroc</a:t>
            </a:r>
            <a:endParaRPr lang="en-GB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It is hardy and adaptable to all environments.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Developed to produce large lean meat (with less fat)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It has good mothering ability.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GB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67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Indigenous breed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7" y="1576243"/>
            <a:ext cx="814647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Widely distributed in African and Asian countries.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Have varying colours with black being dominant.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Well adapted to tropical conditions.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Often reared as scavengers or for backyard systems.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Slow growing and not very prolific but early maturing.</a:t>
            </a:r>
          </a:p>
        </p:txBody>
      </p:sp>
    </p:spTree>
    <p:extLst>
      <p:ext uri="{BB962C8B-B14F-4D97-AF65-F5344CB8AC3E}">
        <p14:creationId xmlns:p14="http://schemas.microsoft.com/office/powerpoint/2010/main" val="385813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829158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Advantages of Pig Production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72417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Pigs are omnivores hence capable of utilising by-products and waste.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Highly prolific as compared to other livestock species.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630922" y="336995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Disadvantages of Pig Production</a:t>
            </a:r>
          </a:p>
        </p:txBody>
      </p:sp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630922" y="4352777"/>
            <a:ext cx="7886700" cy="1013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Century Gothic" panose="020B0502020202020204" pitchFamily="34" charset="0"/>
              </a:rPr>
              <a:t>Competes for food with man.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Associated with social and religious taboos.</a:t>
            </a:r>
          </a:p>
        </p:txBody>
      </p:sp>
    </p:spTree>
    <p:extLst>
      <p:ext uri="{BB962C8B-B14F-4D97-AF65-F5344CB8AC3E}">
        <p14:creationId xmlns:p14="http://schemas.microsoft.com/office/powerpoint/2010/main" val="361090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940" y="555343"/>
            <a:ext cx="8272463" cy="57325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Meat Products terminologies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Bacon – processed meat usually from heavy pigs weighing above 100kgs live-weight. The meat has more fat than lean meat and bones.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Pork – meat consumed in fresh state from young early maturing pigs weighing 45 to 55kg live-weight. Pork comprises of more lean meat than fat.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Cutter – meat from pigs not qualifying as pork or bacon and usually culled old breeding animal. Its meat is mainly used in making sausages and pork pies.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Lard – pig fat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3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82" y="1155832"/>
            <a:ext cx="8054099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err="1">
                <a:latin typeface="Century Gothic" panose="020B0502020202020204" pitchFamily="34" charset="0"/>
              </a:rPr>
              <a:t>i</a:t>
            </a:r>
            <a:r>
              <a:rPr lang="en-GB" b="1" dirty="0">
                <a:latin typeface="Century Gothic" panose="020B0502020202020204" pitchFamily="34" charset="0"/>
              </a:rPr>
              <a:t>. Free-range (Extensive system)</a:t>
            </a:r>
          </a:p>
          <a:p>
            <a:pPr marL="0" indent="0">
              <a:lnSpc>
                <a:spcPct val="150000"/>
              </a:lnSpc>
              <a:buNone/>
            </a:pPr>
            <a:endParaRPr lang="en-GB" sz="800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  <a:p>
            <a:r>
              <a:rPr lang="en-GB" sz="2400" dirty="0">
                <a:latin typeface="Century Gothic" pitchFamily="34" charset="0"/>
              </a:rPr>
              <a:t>Simple and cheap system used for raising indigenous pigs.</a:t>
            </a:r>
          </a:p>
          <a:p>
            <a:r>
              <a:rPr lang="en-GB" sz="2400" dirty="0">
                <a:latin typeface="Century Gothic" pitchFamily="34" charset="0"/>
              </a:rPr>
              <a:t>Pigs housed or tied at night and free-range during daytime.</a:t>
            </a:r>
          </a:p>
          <a:p>
            <a:r>
              <a:rPr lang="en-GB" sz="2400" dirty="0">
                <a:latin typeface="Century Gothic" pitchFamily="34" charset="0"/>
              </a:rPr>
              <a:t>Sometimes are provided with feed supplement depending on availability e.g. bananas, kitchen waste</a:t>
            </a:r>
          </a:p>
          <a:p>
            <a:r>
              <a:rPr lang="en-GB" sz="2400" dirty="0">
                <a:latin typeface="Century Gothic" pitchFamily="34" charset="0"/>
              </a:rPr>
              <a:t>Indiscriminate breeding and high disease incidences e.g. African Swine Fever, </a:t>
            </a:r>
            <a:r>
              <a:rPr lang="en-GB" sz="2400" dirty="0" err="1">
                <a:latin typeface="Century Gothic" pitchFamily="34" charset="0"/>
              </a:rPr>
              <a:t>Cysticeercosis</a:t>
            </a:r>
            <a:r>
              <a:rPr lang="en-GB" sz="2400" dirty="0">
                <a:latin typeface="Century Gothic" pitchFamily="34" charset="0"/>
              </a:rPr>
              <a:t>.</a:t>
            </a:r>
          </a:p>
          <a:p>
            <a:r>
              <a:rPr lang="en-GB" sz="2400" dirty="0">
                <a:latin typeface="Century Gothic" pitchFamily="34" charset="0"/>
              </a:rPr>
              <a:t>Poor growth rate </a:t>
            </a:r>
          </a:p>
        </p:txBody>
      </p:sp>
      <p:sp>
        <p:nvSpPr>
          <p:cNvPr id="2" name="Rechthoek 1"/>
          <p:cNvSpPr/>
          <p:nvPr/>
        </p:nvSpPr>
        <p:spPr>
          <a:xfrm>
            <a:off x="627797" y="286597"/>
            <a:ext cx="8243248" cy="996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Systems of Production</a:t>
            </a:r>
          </a:p>
        </p:txBody>
      </p:sp>
    </p:spTree>
    <p:extLst>
      <p:ext uri="{BB962C8B-B14F-4D97-AF65-F5344CB8AC3E}">
        <p14:creationId xmlns:p14="http://schemas.microsoft.com/office/powerpoint/2010/main" val="240805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Improvements in free-range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75497"/>
            <a:ext cx="8086725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Gothic" pitchFamily="34" charset="0"/>
              </a:rPr>
              <a:t>Regular provision of supplementary feeds to those on scavenging – left-overs from human foods (swill), by products such as bran and other waste feeds</a:t>
            </a:r>
          </a:p>
          <a:p>
            <a:r>
              <a:rPr lang="en-GB" sz="2400" dirty="0">
                <a:latin typeface="Century Gothic" pitchFamily="34" charset="0"/>
              </a:rPr>
              <a:t>Practice controlled breeding and probably introduce improved sires to upgrade them.</a:t>
            </a:r>
          </a:p>
          <a:p>
            <a:r>
              <a:rPr lang="en-GB" sz="2400" dirty="0">
                <a:latin typeface="Century Gothic" pitchFamily="34" charset="0"/>
              </a:rPr>
              <a:t>Provide proper housing and confine the pigs.</a:t>
            </a:r>
          </a:p>
          <a:p>
            <a:r>
              <a:rPr lang="en-GB" sz="2400" dirty="0">
                <a:latin typeface="Century Gothic" pitchFamily="34" charset="0"/>
              </a:rPr>
              <a:t>Practice record keeping.</a:t>
            </a:r>
          </a:p>
          <a:p>
            <a:r>
              <a:rPr lang="en-GB" sz="2400" dirty="0">
                <a:latin typeface="Century Gothic" pitchFamily="34" charset="0"/>
              </a:rPr>
              <a:t>Deworm the pigs</a:t>
            </a:r>
          </a:p>
          <a:p>
            <a:endParaRPr lang="en-GB" sz="24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7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Century Gothic" panose="020B0502020202020204" pitchFamily="34" charset="0"/>
              </a:rPr>
              <a:t>Free-range (Extensive system)</a:t>
            </a:r>
            <a:endParaRPr lang="en-GB" sz="3200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1696" y="1856092"/>
            <a:ext cx="7266174" cy="3835023"/>
          </a:xfrm>
          <a:prstGeom prst="rect">
            <a:avLst/>
          </a:prstGeom>
          <a:noFill/>
        </p:spPr>
      </p:pic>
      <p:sp>
        <p:nvSpPr>
          <p:cNvPr id="6" name="Rechthoek 5"/>
          <p:cNvSpPr/>
          <p:nvPr/>
        </p:nvSpPr>
        <p:spPr>
          <a:xfrm>
            <a:off x="1091819" y="5162259"/>
            <a:ext cx="2497542" cy="399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Deep litter structures</a:t>
            </a:r>
          </a:p>
        </p:txBody>
      </p:sp>
    </p:spTree>
    <p:extLst>
      <p:ext uri="{BB962C8B-B14F-4D97-AF65-F5344CB8AC3E}">
        <p14:creationId xmlns:p14="http://schemas.microsoft.com/office/powerpoint/2010/main" val="321266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82" y="1155832"/>
            <a:ext cx="789032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Century Gothic" panose="020B0502020202020204" pitchFamily="34" charset="0"/>
              </a:rPr>
              <a:t>ii. Intensive system</a:t>
            </a:r>
          </a:p>
          <a:p>
            <a:pPr marL="0" indent="0">
              <a:lnSpc>
                <a:spcPct val="150000"/>
              </a:lnSpc>
              <a:buNone/>
            </a:pPr>
            <a:endParaRPr lang="en-GB" sz="800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itchFamily="34" charset="0"/>
              </a:rPr>
              <a:t>This is mainly done by commercial producers 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itchFamily="34" charset="0"/>
              </a:rPr>
              <a:t>The total number of pig farms  and commercial pig production is increasing in tropical countries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itchFamily="34" charset="0"/>
              </a:rPr>
              <a:t>Exotic breeds are raised in confinements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itchFamily="34" charset="0"/>
              </a:rPr>
              <a:t>There is use of labour for feeding, watering, cleaning the pens, removal of effluent, assisting mating and furrowing</a:t>
            </a:r>
          </a:p>
          <a:p>
            <a:pPr>
              <a:lnSpc>
                <a:spcPct val="100000"/>
              </a:lnSpc>
            </a:pPr>
            <a:r>
              <a:rPr lang="en-GB" altLang="en-US" sz="2400" dirty="0">
                <a:latin typeface="Century Gothic" pitchFamily="34" charset="0"/>
              </a:rPr>
              <a:t>Houses are cleaned regularly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627797" y="286597"/>
            <a:ext cx="8243248" cy="996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Systems of Production</a:t>
            </a:r>
          </a:p>
        </p:txBody>
      </p:sp>
    </p:spTree>
    <p:extLst>
      <p:ext uri="{BB962C8B-B14F-4D97-AF65-F5344CB8AC3E}">
        <p14:creationId xmlns:p14="http://schemas.microsoft.com/office/powerpoint/2010/main" val="118805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82" y="1224072"/>
            <a:ext cx="789032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Century Gothic" panose="020B0502020202020204" pitchFamily="34" charset="0"/>
              </a:rPr>
              <a:t>iii. Semi intensive system</a:t>
            </a:r>
          </a:p>
          <a:p>
            <a:pPr marL="0" indent="0">
              <a:lnSpc>
                <a:spcPct val="150000"/>
              </a:lnSpc>
              <a:buNone/>
            </a:pPr>
            <a:endParaRPr lang="en-GB" sz="800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  <a:p>
            <a:r>
              <a:rPr lang="en-GB" altLang="en-US" sz="2400" dirty="0">
                <a:latin typeface="Century Gothic" pitchFamily="34" charset="0"/>
              </a:rPr>
              <a:t>Not a common system and it requires big land.</a:t>
            </a:r>
          </a:p>
          <a:p>
            <a:r>
              <a:rPr lang="en-GB" altLang="en-US" sz="2400" dirty="0">
                <a:latin typeface="Century Gothic" pitchFamily="34" charset="0"/>
              </a:rPr>
              <a:t>Breeding pigs are raised outside on grass in paddocks that have movable food and water troughs</a:t>
            </a:r>
          </a:p>
          <a:p>
            <a:r>
              <a:rPr lang="en-GB" altLang="en-US" sz="2400" dirty="0">
                <a:latin typeface="Century Gothic" pitchFamily="34" charset="0"/>
              </a:rPr>
              <a:t>Fattening and nursing pigs are raised intensively in buildings</a:t>
            </a:r>
          </a:p>
          <a:p>
            <a:r>
              <a:rPr lang="en-GB" altLang="en-US" sz="2400" dirty="0">
                <a:latin typeface="Century Gothic" pitchFamily="34" charset="0"/>
              </a:rPr>
              <a:t>Gilts and in-pig (pregnant) sows graze with or without boars</a:t>
            </a:r>
          </a:p>
          <a:p>
            <a:r>
              <a:rPr lang="en-GB" altLang="en-US" sz="2400" dirty="0">
                <a:latin typeface="Century Gothic" pitchFamily="34" charset="0"/>
              </a:rPr>
              <a:t>The area is fenced and on well-drained soils</a:t>
            </a: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627797" y="286597"/>
            <a:ext cx="8243248" cy="996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Systems of Production</a:t>
            </a:r>
          </a:p>
        </p:txBody>
      </p:sp>
    </p:spTree>
    <p:extLst>
      <p:ext uri="{BB962C8B-B14F-4D97-AF65-F5344CB8AC3E}">
        <p14:creationId xmlns:p14="http://schemas.microsoft.com/office/powerpoint/2010/main" val="21349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8665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Biological Features of Pigs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694444"/>
            <a:ext cx="7886700" cy="4351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400" dirty="0">
                <a:latin typeface="Century Gothic" panose="020B0502020202020204" pitchFamily="34" charset="0"/>
              </a:rPr>
              <a:t>Heat regulation is ineffective in neonatal pigs.</a:t>
            </a:r>
          </a:p>
          <a:p>
            <a:pPr>
              <a:defRPr/>
            </a:pPr>
            <a:r>
              <a:rPr lang="en-GB" sz="2400" dirty="0">
                <a:latin typeface="Century Gothic" panose="020B0502020202020204" pitchFamily="34" charset="0"/>
              </a:rPr>
              <a:t>Young pigs are poorly insulated against coldness due to sparse hair coat and thin layer of subcutaneous fat. As they grow, more fat is deposited, providing better insulation.</a:t>
            </a:r>
          </a:p>
          <a:p>
            <a:r>
              <a:rPr lang="en-GB" altLang="en-US" sz="2400" dirty="0">
                <a:latin typeface="Century Gothic" pitchFamily="34" charset="0"/>
              </a:rPr>
              <a:t>Pig skin is poorly vascularised and has no sweat glands for cooling by evaporation. This makes them poorly adapted to high temperatures.</a:t>
            </a:r>
          </a:p>
          <a:p>
            <a:pPr>
              <a:defRPr/>
            </a:pPr>
            <a:r>
              <a:rPr lang="en-GB" sz="2400" dirty="0">
                <a:latin typeface="Century Gothic" panose="020B0502020202020204" pitchFamily="34" charset="0"/>
              </a:rPr>
              <a:t>Loss of heat in pigs is through panting, wallowing and moistening their skins.</a:t>
            </a:r>
          </a:p>
          <a:p>
            <a:pPr>
              <a:defRPr/>
            </a:pPr>
            <a:endParaRPr lang="en-GB" sz="2400" dirty="0">
              <a:latin typeface="Century Gothic" panose="020B0502020202020204" pitchFamily="34" charset="0"/>
            </a:endParaRPr>
          </a:p>
          <a:p>
            <a:pPr>
              <a:defRPr/>
            </a:pPr>
            <a:endParaRPr lang="en-GB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64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8665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Biological Features of Pigs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694444"/>
            <a:ext cx="7886700" cy="4351338"/>
          </a:xfrm>
        </p:spPr>
        <p:txBody>
          <a:bodyPr>
            <a:noAutofit/>
          </a:bodyPr>
          <a:lstStyle/>
          <a:p>
            <a:r>
              <a:rPr lang="en-GB" altLang="en-US" sz="2400" dirty="0">
                <a:latin typeface="Century Gothic" pitchFamily="34" charset="0"/>
              </a:rPr>
              <a:t>Pigs are borne with poor glycogen reserves hence easily susceptible to hypoglycaemia (blood sugar deficiency) within the first week of life if exposed to cold stress and inadequate milk intake.</a:t>
            </a:r>
          </a:p>
          <a:p>
            <a:pPr>
              <a:lnSpc>
                <a:spcPct val="80000"/>
              </a:lnSpc>
            </a:pPr>
            <a:r>
              <a:rPr lang="en-GB" altLang="en-US" sz="2400" dirty="0">
                <a:latin typeface="Century Gothic" pitchFamily="34" charset="0"/>
              </a:rPr>
              <a:t>Milk of a sow is low in iron and can only supply one-fifteenth of what piglets require.</a:t>
            </a:r>
          </a:p>
          <a:p>
            <a:pPr>
              <a:lnSpc>
                <a:spcPct val="80000"/>
              </a:lnSpc>
            </a:pPr>
            <a:r>
              <a:rPr lang="en-GB" altLang="en-US" sz="2400" dirty="0">
                <a:latin typeface="Century Gothic" pitchFamily="34" charset="0"/>
              </a:rPr>
              <a:t>On the other hand, piglets are borne with adequate iron but depletes fast due to their fast growth during first 3 weeks.</a:t>
            </a:r>
          </a:p>
          <a:p>
            <a:pPr>
              <a:lnSpc>
                <a:spcPct val="80000"/>
              </a:lnSpc>
            </a:pPr>
            <a:r>
              <a:rPr lang="en-GB" altLang="en-US" sz="2400" dirty="0">
                <a:latin typeface="Century Gothic" pitchFamily="34" charset="0"/>
              </a:rPr>
              <a:t>This requires supplementing iron within 3 – 7 days</a:t>
            </a:r>
            <a:endParaRPr lang="en-US" altLang="en-US" sz="2400" dirty="0">
              <a:latin typeface="Century Gothic" pitchFamily="34" charset="0"/>
            </a:endParaRPr>
          </a:p>
          <a:p>
            <a:r>
              <a:rPr lang="en-GB" sz="2400" dirty="0">
                <a:latin typeface="Century Gothic" panose="020B0502020202020204" pitchFamily="34" charset="0"/>
              </a:rPr>
              <a:t>Naturally pigs dig on earth and acquire iron. (through scavenging).</a:t>
            </a:r>
          </a:p>
          <a:p>
            <a:endParaRPr lang="en-GB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29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latin typeface="Century Gothic" panose="020B0502020202020204" pitchFamily="34" charset="0"/>
              </a:rPr>
              <a:t>Site</a:t>
            </a:r>
          </a:p>
          <a:p>
            <a:endParaRPr lang="en-GB" sz="8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The place should have good drainage and not waterlogged.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It should be away from residences.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site must be on the downwind side of human settlements.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site selected should be easily accessible.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It should be close to a reliable water and feed sources and pig market.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Housing</a:t>
            </a:r>
          </a:p>
        </p:txBody>
      </p:sp>
    </p:spTree>
    <p:extLst>
      <p:ext uri="{BB962C8B-B14F-4D97-AF65-F5344CB8AC3E}">
        <p14:creationId xmlns:p14="http://schemas.microsoft.com/office/powerpoint/2010/main" val="167143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latin typeface="Century Gothic" panose="020B0502020202020204" pitchFamily="34" charset="0"/>
              </a:rPr>
              <a:t>Design</a:t>
            </a:r>
          </a:p>
          <a:p>
            <a:endParaRPr lang="en-GB" sz="800" dirty="0">
              <a:latin typeface="Century Gothic" panose="020B0502020202020204" pitchFamily="34" charset="0"/>
            </a:endParaRPr>
          </a:p>
          <a:p>
            <a:r>
              <a:rPr lang="en-GB" sz="2200" dirty="0">
                <a:latin typeface="Century Gothic" panose="020B0502020202020204" pitchFamily="34" charset="0"/>
              </a:rPr>
              <a:t>House should be constructed in an east-west direction to protect pigs from adverse environmental condition.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It should have provision for food and water.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Provision of dry and hygienic conditions.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Strong and secure walls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floor should provide insulation against both cold and damp. 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The floor should not be too rough nor too smooth.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Easy to clean floors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Roof should provide good insulation and shade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Housing</a:t>
            </a:r>
          </a:p>
        </p:txBody>
      </p:sp>
    </p:spTree>
    <p:extLst>
      <p:ext uri="{BB962C8B-B14F-4D97-AF65-F5344CB8AC3E}">
        <p14:creationId xmlns:p14="http://schemas.microsoft.com/office/powerpoint/2010/main" val="2150137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ijdelijke aanduiding voor inhoud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0537"/>
              </p:ext>
            </p:extLst>
          </p:nvPr>
        </p:nvGraphicFramePr>
        <p:xfrm>
          <a:off x="1297408" y="1923561"/>
          <a:ext cx="638628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Live-weight (Kg)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Area (m</a:t>
                      </a:r>
                      <a:r>
                        <a:rPr lang="en-GB" sz="2400" baseline="30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  <a:r>
                        <a:rPr lang="en-GB" sz="2400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) per Pig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Less than 10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0.15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10 –</a:t>
                      </a:r>
                      <a:r>
                        <a:rPr lang="en-GB" sz="2400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20</a:t>
                      </a:r>
                      <a:endParaRPr lang="en-GB" sz="24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0.20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 – 30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0.30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30 – 50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0.40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50 – 85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0.55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85 – 110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0.65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Above 110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1.0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Floor Space Requirement for Growing Pigs Based on Live-weight</a:t>
            </a:r>
          </a:p>
        </p:txBody>
      </p:sp>
    </p:spTree>
    <p:extLst>
      <p:ext uri="{BB962C8B-B14F-4D97-AF65-F5344CB8AC3E}">
        <p14:creationId xmlns:p14="http://schemas.microsoft.com/office/powerpoint/2010/main" val="1208320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Floor Space Requirement for Pigs Based on Production Stage</a:t>
            </a:r>
          </a:p>
        </p:txBody>
      </p:sp>
      <p:graphicFrame>
        <p:nvGraphicFramePr>
          <p:cNvPr id="5" name="Group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140899"/>
              </p:ext>
            </p:extLst>
          </p:nvPr>
        </p:nvGraphicFramePr>
        <p:xfrm>
          <a:off x="657060" y="1678438"/>
          <a:ext cx="7422415" cy="3931640"/>
        </p:xfrm>
        <a:graphic>
          <a:graphicData uri="http://schemas.openxmlformats.org/drawingml/2006/table">
            <a:tbl>
              <a:tblPr/>
              <a:tblGrid>
                <a:gridCol w="5511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</a:rPr>
                        <a:t>Production stage / type of pig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Floor space (m</a:t>
                      </a:r>
                      <a:r>
                        <a:rPr kumimoji="0" lang="en-GB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/pig)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Weaned sow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1.80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Pregnant sow grouped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4.00-6.00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Pregnant sow, individually confined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1.50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8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Farrowing pen with guard rails and creep area, 6 week period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8.00-11.00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Weaning and growing pigs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0.36-0.46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Boars, with mating space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9.30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1443" marR="91443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10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Example of a Pigsty – Side view</a:t>
            </a:r>
          </a:p>
        </p:txBody>
      </p:sp>
      <p:sp>
        <p:nvSpPr>
          <p:cNvPr id="2" name="Rechthoek 1"/>
          <p:cNvSpPr/>
          <p:nvPr/>
        </p:nvSpPr>
        <p:spPr>
          <a:xfrm>
            <a:off x="5076967" y="6086905"/>
            <a:ext cx="3411940" cy="368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Source: </a:t>
            </a:r>
            <a:r>
              <a:rPr lang="en-GB" i="1" dirty="0" err="1">
                <a:solidFill>
                  <a:schemeClr val="tx1"/>
                </a:solidFill>
              </a:rPr>
              <a:t>Agromisa</a:t>
            </a:r>
            <a:r>
              <a:rPr lang="en-GB" i="1" dirty="0">
                <a:solidFill>
                  <a:schemeClr val="tx1"/>
                </a:solidFill>
              </a:rPr>
              <a:t>, 2011</a:t>
            </a: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95450"/>
            <a:ext cx="8229600" cy="4335463"/>
          </a:xfrm>
          <a:noFill/>
        </p:spPr>
      </p:pic>
    </p:spTree>
    <p:extLst>
      <p:ext uri="{BB962C8B-B14F-4D97-AF65-F5344CB8AC3E}">
        <p14:creationId xmlns:p14="http://schemas.microsoft.com/office/powerpoint/2010/main" val="3036374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Example of a Floor Plan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1562658"/>
            <a:ext cx="7886700" cy="4456584"/>
          </a:xfrm>
          <a:noFill/>
        </p:spPr>
      </p:pic>
      <p:sp>
        <p:nvSpPr>
          <p:cNvPr id="2" name="Rechthoek 1"/>
          <p:cNvSpPr/>
          <p:nvPr/>
        </p:nvSpPr>
        <p:spPr>
          <a:xfrm>
            <a:off x="5076967" y="6086905"/>
            <a:ext cx="3411940" cy="368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Source: </a:t>
            </a:r>
            <a:r>
              <a:rPr lang="en-GB" i="1" dirty="0" err="1">
                <a:solidFill>
                  <a:schemeClr val="tx1"/>
                </a:solidFill>
              </a:rPr>
              <a:t>Agromisa</a:t>
            </a:r>
            <a:r>
              <a:rPr lang="en-GB" i="1" dirty="0">
                <a:solidFill>
                  <a:schemeClr val="tx1"/>
                </a:solidFill>
              </a:rPr>
              <a:t>, 2011</a:t>
            </a:r>
          </a:p>
        </p:txBody>
      </p:sp>
    </p:spTree>
    <p:extLst>
      <p:ext uri="{BB962C8B-B14F-4D97-AF65-F5344CB8AC3E}">
        <p14:creationId xmlns:p14="http://schemas.microsoft.com/office/powerpoint/2010/main" val="3185563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977" y="846666"/>
            <a:ext cx="8523111" cy="583635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farrowing pen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specialized enclosure or housing unit designed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a sow before, during, and after farrowing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Its main purpose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the piglets, ensure sow comfort, and make management easier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have the following features: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Creep for warmth, feeding and protection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Comfortable sleeping area for the sow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Dunging and feeding area with a clean water source.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Farrowing rails (Guard rails) should be 0.2 m from the wall and 0.2 m high.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creep area with an infrared lamp.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Lactating sows require 4 – 6 m</a:t>
            </a:r>
            <a:r>
              <a:rPr lang="en-GB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sow.</a:t>
            </a:r>
            <a:endParaRPr lang="en-GB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330199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Farrowing Pen</a:t>
            </a:r>
          </a:p>
        </p:txBody>
      </p:sp>
    </p:spTree>
    <p:extLst>
      <p:ext uri="{BB962C8B-B14F-4D97-AF65-F5344CB8AC3E}">
        <p14:creationId xmlns:p14="http://schemas.microsoft.com/office/powerpoint/2010/main" val="566892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Common locally available feed sources for pigs are: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entury Gothic" panose="020B0502020202020204" pitchFamily="34" charset="0"/>
              </a:rPr>
              <a:t>Maize bran, rice bran, beer wastes, cassava peels, swill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Whole feed rations can be formulated from maize grain, bran, fish meal, sorghum, soybean, meat and bone meal, etc.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Provide water ad libitum.</a:t>
            </a:r>
          </a:p>
          <a:p>
            <a:pPr>
              <a:lnSpc>
                <a:spcPct val="100000"/>
              </a:lnSpc>
            </a:pP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Pig Feeding</a:t>
            </a:r>
          </a:p>
        </p:txBody>
      </p:sp>
    </p:spTree>
    <p:extLst>
      <p:ext uri="{BB962C8B-B14F-4D97-AF65-F5344CB8AC3E}">
        <p14:creationId xmlns:p14="http://schemas.microsoft.com/office/powerpoint/2010/main" val="3565885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8490"/>
            <a:ext cx="7886700" cy="1146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sz="3200" b="1" dirty="0">
                <a:solidFill>
                  <a:srgbClr val="00B0F0"/>
                </a:solidFill>
                <a:latin typeface="Century Gothic" pitchFamily="34" charset="0"/>
              </a:rPr>
              <a:t>Feeding regimes with respect to bone, muscle and fat growth in pigs</a:t>
            </a:r>
            <a:endParaRPr lang="en-GB" sz="320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Afbeelding 3" descr="Pig Production and Management NANDOLO.ppt [Compatibiliteitsmodus] - Microsoft PowerPoint (Productactivering is mislukt)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1" t="33236" r="21194" b="9182"/>
          <a:stretch/>
        </p:blipFill>
        <p:spPr>
          <a:xfrm>
            <a:off x="293261" y="1330714"/>
            <a:ext cx="8557479" cy="495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22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8EF2D8-43C2-4831-AF2A-FADB91AF6551}"/>
              </a:ext>
            </a:extLst>
          </p:cNvPr>
          <p:cNvSpPr txBox="1"/>
          <p:nvPr/>
        </p:nvSpPr>
        <p:spPr>
          <a:xfrm>
            <a:off x="679269" y="613955"/>
            <a:ext cx="805978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Energy is conserved during resting, leading to an improvement in feed conversion.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Growth rate can be equal to or better than that of birds reared on continuous light when </a:t>
            </a:r>
            <a:r>
              <a:rPr lang="en-GB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compensatory gain is attained.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Lighting programs designed </a:t>
            </a: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prevent excessive growth between 7 and 21 days have been shown to reduce mortality due to ascites, sudden death, leg problems and spiking mortality.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43358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759505"/>
          </a:xfrm>
        </p:spPr>
        <p:txBody>
          <a:bodyPr>
            <a:normAutofit/>
          </a:bodyPr>
          <a:lstStyle/>
          <a:p>
            <a:r>
              <a:rPr lang="en-GB" altLang="en-US" sz="3200" b="1" dirty="0">
                <a:solidFill>
                  <a:srgbClr val="00B0F0"/>
                </a:solidFill>
                <a:latin typeface="Century Gothic" pitchFamily="34" charset="0"/>
              </a:rPr>
              <a:t>Nutritional requirement for pigs</a:t>
            </a:r>
            <a:endParaRPr lang="en-GB" sz="3200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698832"/>
              </p:ext>
            </p:extLst>
          </p:nvPr>
        </p:nvGraphicFramePr>
        <p:xfrm>
          <a:off x="468313" y="1323975"/>
          <a:ext cx="8208962" cy="4257676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7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Feed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Age / wt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DE (opt)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TDN % (opt)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CP % (min)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EE % (max)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CF % (opt)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Lys % (min)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Ca % (opt)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P % (opt)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0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Milk pellets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 – 3 weeks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3600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22-24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1.20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0.85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0.70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Creep feed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 wks to 1 week after weaning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3350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1.00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0.85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0.70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Weaner feed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Weaning to 35 kg LW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3135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16.5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0.90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0.85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0.70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Fatterner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35 kg to 60 kg or to porker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3170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0.70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0.80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0.65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Finisher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60 kg to slaughter at 105 kg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3200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0.65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0.80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0.65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Sow and Boar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35 kg onwards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3000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68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0.55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0.75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0.65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Box 93"/>
          <p:cNvSpPr txBox="1">
            <a:spLocks noChangeArrowheads="1"/>
          </p:cNvSpPr>
          <p:nvPr/>
        </p:nvSpPr>
        <p:spPr bwMode="auto">
          <a:xfrm>
            <a:off x="468313" y="5795283"/>
            <a:ext cx="47513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400" dirty="0">
                <a:latin typeface="Century Gothic" pitchFamily="34" charset="0"/>
              </a:rPr>
              <a:t>From IPC Livestock, Netherlands</a:t>
            </a:r>
            <a:endParaRPr lang="en-US" altLang="en-US" sz="14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907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Feeding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600501" y="1542197"/>
            <a:ext cx="7710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Century Gothic" pitchFamily="34" charset="0"/>
              </a:rPr>
              <a:t>Basic level of 2.5 kg per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Century Gothic" pitchFamily="34" charset="0"/>
              </a:rPr>
              <a:t>Additions based on physiological status</a:t>
            </a:r>
            <a:endParaRPr lang="en-US" altLang="en-US" sz="2400" dirty="0">
              <a:latin typeface="Century Gothic" pitchFamily="34" charset="0"/>
            </a:endParaRPr>
          </a:p>
        </p:txBody>
      </p:sp>
      <p:pic>
        <p:nvPicPr>
          <p:cNvPr id="8" name="Afbeelding 7" descr=".Pig Production and Management.ppt [Laatst opgeslagen door gebruiker] - Microsoft PowerPoint (Productactivering is mislukt)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2" t="50000" r="26865" b="6939"/>
          <a:stretch/>
        </p:blipFill>
        <p:spPr>
          <a:xfrm>
            <a:off x="491318" y="2651169"/>
            <a:ext cx="7820169" cy="392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22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74209"/>
            <a:ext cx="7886700" cy="44027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Creep </a:t>
            </a:r>
            <a:r>
              <a:rPr lang="en-US" sz="2400" dirty="0">
                <a:latin typeface="Century Gothic" panose="020B0502020202020204" pitchFamily="34" charset="0"/>
              </a:rPr>
              <a:t>feeding helps the piglets to get used to solid diet at an early age.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The feed should be provided from 7 days up to weaning (8 weeks).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Growth rate is better in piglets receiving creep feed than those relying solely on milk.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It also helps in reducing the drain of nutrients from the sow.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Creep Feeding</a:t>
            </a:r>
          </a:p>
        </p:txBody>
      </p:sp>
    </p:spTree>
    <p:extLst>
      <p:ext uri="{BB962C8B-B14F-4D97-AF65-F5344CB8AC3E}">
        <p14:creationId xmlns:p14="http://schemas.microsoft.com/office/powerpoint/2010/main" val="372809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The age to breed a gilt is 8 months.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The gilt must be between 100 – 120kg live-weight.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Duration of heat period is 2 – 3 days.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One boar can effectively service 15 – 20 sows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Two services at 12 – 14 hours interval required.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Pigs have an 18 – 24 days oestrous cycle (average 21 days).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Heat occurs 2 – 10 days after weaning.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Gestation period in pigs is 115 days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Reproduction in Pigs</a:t>
            </a:r>
          </a:p>
        </p:txBody>
      </p:sp>
    </p:spTree>
    <p:extLst>
      <p:ext uri="{BB962C8B-B14F-4D97-AF65-F5344CB8AC3E}">
        <p14:creationId xmlns:p14="http://schemas.microsoft.com/office/powerpoint/2010/main" val="975986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8675"/>
            <a:ext cx="7886700" cy="44982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It is extremely important to select a good boar since it contributes half the quality </a:t>
            </a:r>
            <a:r>
              <a:rPr lang="en-GB" sz="2400" dirty="0">
                <a:latin typeface="Century Gothic" panose="020B0502020202020204" pitchFamily="34" charset="0"/>
              </a:rPr>
              <a:t>of the herd.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Recommended to buy or exchange boar to prevent inbreeding.</a:t>
            </a: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Over-</a:t>
            </a:r>
            <a:r>
              <a:rPr lang="en-US" sz="2400" dirty="0" err="1">
                <a:latin typeface="Century Gothic" panose="020B0502020202020204" pitchFamily="34" charset="0"/>
              </a:rPr>
              <a:t>utilised</a:t>
            </a:r>
            <a:r>
              <a:rPr lang="en-US" sz="2400" dirty="0">
                <a:latin typeface="Century Gothic" panose="020B0502020202020204" pitchFamily="34" charset="0"/>
              </a:rPr>
              <a:t> boar will be worn out too soon while </a:t>
            </a:r>
            <a:r>
              <a:rPr lang="en-US" sz="2400" dirty="0" err="1">
                <a:latin typeface="Century Gothic" panose="020B0502020202020204" pitchFamily="34" charset="0"/>
              </a:rPr>
              <a:t>under-utilisation</a:t>
            </a:r>
            <a:r>
              <a:rPr lang="en-US" sz="2400" dirty="0">
                <a:latin typeface="Century Gothic" panose="020B0502020202020204" pitchFamily="34" charset="0"/>
              </a:rPr>
              <a:t> will make him lazy and too fat. </a:t>
            </a:r>
            <a:endParaRPr lang="nl-BE" sz="2400" b="1" dirty="0">
              <a:latin typeface="Century Gothic" panose="020B0502020202020204" pitchFamily="34" charset="0"/>
            </a:endParaRPr>
          </a:p>
          <a:p>
            <a:r>
              <a:rPr lang="en-GB" sz="2400" dirty="0">
                <a:latin typeface="Century Gothic" panose="020B0502020202020204" pitchFamily="34" charset="0"/>
              </a:rPr>
              <a:t>Always keep an extra boar in case of injury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Breeding</a:t>
            </a:r>
          </a:p>
        </p:txBody>
      </p:sp>
    </p:spTree>
    <p:extLst>
      <p:ext uri="{BB962C8B-B14F-4D97-AF65-F5344CB8AC3E}">
        <p14:creationId xmlns:p14="http://schemas.microsoft.com/office/powerpoint/2010/main" val="1011052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Select gilts: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with at least 12 teats so as to accommodate a large litter;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without </a:t>
            </a:r>
            <a:r>
              <a:rPr lang="en-GB" dirty="0">
                <a:latin typeface="Century Gothic" panose="020B0502020202020204" pitchFamily="34" charset="0"/>
              </a:rPr>
              <a:t>supernumerary and </a:t>
            </a:r>
            <a:r>
              <a:rPr lang="en-US" dirty="0">
                <a:latin typeface="Century Gothic" panose="020B0502020202020204" pitchFamily="34" charset="0"/>
              </a:rPr>
              <a:t>inverted teats.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from sows which wean 9 -10 or more piglets per litter and are known to be good mothers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That are fast growing weaners (between 5 – 8 weeks or at 16 weeks); and these are likely to consume less feed per unit live weight gain.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good body confirmation i.e. strong legs, </a:t>
            </a:r>
            <a:r>
              <a:rPr lang="en-GB" dirty="0">
                <a:latin typeface="Century Gothic" panose="020B0502020202020204" pitchFamily="34" charset="0"/>
              </a:rPr>
              <a:t>sound feet etc.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Century Gothic" panose="020B0502020202020204" pitchFamily="34" charset="0"/>
              </a:rPr>
              <a:t>at least 8 months old at </a:t>
            </a:r>
            <a:r>
              <a:rPr lang="en-GB" dirty="0">
                <a:latin typeface="Century Gothic" panose="020B0502020202020204" pitchFamily="34" charset="0"/>
              </a:rPr>
              <a:t>first service.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Selection of Breeding Gilt</a:t>
            </a:r>
          </a:p>
        </p:txBody>
      </p:sp>
    </p:spTree>
    <p:extLst>
      <p:ext uri="{BB962C8B-B14F-4D97-AF65-F5344CB8AC3E}">
        <p14:creationId xmlns:p14="http://schemas.microsoft.com/office/powerpoint/2010/main" val="1665539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37731"/>
            <a:ext cx="7886700" cy="46347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Boar to have sound feet with good, full hams, uniform curve at the back </a:t>
            </a:r>
            <a:r>
              <a:rPr lang="en-GB" sz="2400" dirty="0">
                <a:latin typeface="Century Gothic" panose="020B0502020202020204" pitchFamily="34" charset="0"/>
              </a:rPr>
              <a:t>and of good length.</a:t>
            </a:r>
            <a:endParaRPr lang="en-US" sz="2400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Boar to be selected from sows, which wean 8 -10 or more piglets per litter and are known to be good mothers.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Boar to be selected from the herd which is having normal sex organs, active, </a:t>
            </a:r>
            <a:r>
              <a:rPr lang="en-GB" sz="2400" dirty="0">
                <a:latin typeface="Century Gothic" panose="020B0502020202020204" pitchFamily="34" charset="0"/>
              </a:rPr>
              <a:t>healthy and strong.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Selection to be done before castration i.e. at 4 weeks. Select biggest from the </a:t>
            </a:r>
            <a:r>
              <a:rPr lang="en-GB" sz="2400" dirty="0">
                <a:latin typeface="Century Gothic" panose="020B0502020202020204" pitchFamily="34" charset="0"/>
              </a:rPr>
              <a:t>litter.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Boar must be at least 8 months old at first service.</a:t>
            </a:r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Selection of Breeding Boar</a:t>
            </a:r>
          </a:p>
        </p:txBody>
      </p:sp>
    </p:spTree>
    <p:extLst>
      <p:ext uri="{BB962C8B-B14F-4D97-AF65-F5344CB8AC3E}">
        <p14:creationId xmlns:p14="http://schemas.microsoft.com/office/powerpoint/2010/main" val="1925370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5027"/>
            <a:ext cx="7886700" cy="4511936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latin typeface="Century Gothic" panose="020B0502020202020204" pitchFamily="34" charset="0"/>
              </a:rPr>
              <a:t>General restlessness</a:t>
            </a: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Loss of appetite</a:t>
            </a:r>
            <a:endParaRPr lang="nl-BE" sz="2400" dirty="0">
              <a:latin typeface="Century Gothic" panose="020B0502020202020204" pitchFamily="34" charset="0"/>
            </a:endParaRP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Redness and enlargement of the vulva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Mucus discharge from the vulva.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Sows will be more alert and the ears will stand up.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Tendency to mount or be mounted by others</a:t>
            </a:r>
            <a:endParaRPr lang="nl-BE" sz="2400" b="1" dirty="0">
              <a:latin typeface="Century Gothic" panose="020B0502020202020204" pitchFamily="34" charset="0"/>
            </a:endParaRPr>
          </a:p>
          <a:p>
            <a:pPr lvl="0"/>
            <a:r>
              <a:rPr lang="en-US" sz="2400" dirty="0">
                <a:latin typeface="Century Gothic" panose="020B0502020202020204" pitchFamily="34" charset="0"/>
              </a:rPr>
              <a:t>It will stand still when pressure is applied to the back.</a:t>
            </a:r>
            <a:endParaRPr lang="nl-BE" sz="2400" b="1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Signs of Heat</a:t>
            </a:r>
          </a:p>
        </p:txBody>
      </p:sp>
    </p:spTree>
    <p:extLst>
      <p:ext uri="{BB962C8B-B14F-4D97-AF65-F5344CB8AC3E}">
        <p14:creationId xmlns:p14="http://schemas.microsoft.com/office/powerpoint/2010/main" val="59014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1255"/>
            <a:ext cx="7886700" cy="467570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Nutrition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Health of the sow/gilt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Stress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Light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Boar contact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Genotype of the gilt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Factors affecting onset of oestrus</a:t>
            </a:r>
          </a:p>
        </p:txBody>
      </p:sp>
    </p:spTree>
    <p:extLst>
      <p:ext uri="{BB962C8B-B14F-4D97-AF65-F5344CB8AC3E}">
        <p14:creationId xmlns:p14="http://schemas.microsoft.com/office/powerpoint/2010/main" val="970298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83391"/>
            <a:ext cx="7886700" cy="429357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Century Gothic" panose="020B0502020202020204" pitchFamily="34" charset="0"/>
              </a:rPr>
              <a:t>The sow is too fat.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Century Gothic" panose="020B0502020202020204" pitchFamily="34" charset="0"/>
              </a:rPr>
              <a:t>Mating pig on its first heat cycle.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Century Gothic" panose="020B0502020202020204" pitchFamily="34" charset="0"/>
              </a:rPr>
              <a:t>Using very young boar.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Century Gothic" panose="020B0502020202020204" pitchFamily="34" charset="0"/>
              </a:rPr>
              <a:t>The boar exhaustion from being overworked (used for more than five </a:t>
            </a:r>
            <a:r>
              <a:rPr lang="en-US" sz="2400" dirty="0" err="1">
                <a:latin typeface="Century Gothic" panose="020B0502020202020204" pitchFamily="34" charset="0"/>
              </a:rPr>
              <a:t>matings</a:t>
            </a:r>
            <a:r>
              <a:rPr lang="en-US" sz="2400" dirty="0">
                <a:latin typeface="Century Gothic" panose="020B0502020202020204" pitchFamily="34" charset="0"/>
              </a:rPr>
              <a:t> a week).</a:t>
            </a: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Common Causes of Poor Conception Rates</a:t>
            </a:r>
          </a:p>
        </p:txBody>
      </p:sp>
    </p:spTree>
    <p:extLst>
      <p:ext uri="{BB962C8B-B14F-4D97-AF65-F5344CB8AC3E}">
        <p14:creationId xmlns:p14="http://schemas.microsoft.com/office/powerpoint/2010/main" val="3565313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7606"/>
            <a:ext cx="7886700" cy="46893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Transfer pregnant sows to farrowing pens 1 – 2 weeks before parturition.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Farrowing takes 2 to 6 hours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Do not interfere when the pig is farrowing.</a:t>
            </a:r>
          </a:p>
          <a:p>
            <a:pPr>
              <a:lnSpc>
                <a:spcPct val="100000"/>
              </a:lnSpc>
            </a:pPr>
            <a:r>
              <a:rPr lang="en-GB" sz="2400" dirty="0">
                <a:latin typeface="Century Gothic" panose="020B0502020202020204" pitchFamily="34" charset="0"/>
              </a:rPr>
              <a:t>Signs of farrowing include: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itchFamily="34" charset="0"/>
              </a:rPr>
              <a:t>Enlargement of the udder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itchFamily="34" charset="0"/>
              </a:rPr>
              <a:t>Restlessness of the sow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Century Gothic" pitchFamily="34" charset="0"/>
              </a:rPr>
              <a:t>Sow start building a nest</a:t>
            </a:r>
          </a:p>
          <a:p>
            <a:pPr>
              <a:lnSpc>
                <a:spcPct val="100000"/>
              </a:lnSpc>
            </a:pPr>
            <a:endParaRPr lang="en-GB" sz="24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095825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Sow during Farrowing</a:t>
            </a:r>
          </a:p>
        </p:txBody>
      </p:sp>
    </p:spTree>
    <p:extLst>
      <p:ext uri="{BB962C8B-B14F-4D97-AF65-F5344CB8AC3E}">
        <p14:creationId xmlns:p14="http://schemas.microsoft.com/office/powerpoint/2010/main" val="1106165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7606"/>
            <a:ext cx="7886700" cy="468935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off the umbilicus approximately 2 cm from the abdomen and disinfect with diluted iodine solution.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cases of a tail bite are common, cut off the tail to about 4cm on their first day of life.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piglets receive colostrum which is enriched with nutrients and maternal antibodies.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Colostrum is produced in the first 1 -2 days and contains antibodies.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piglets in a warm environment during their first 3 – 5 days of life.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095825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Piglets</a:t>
            </a:r>
          </a:p>
        </p:txBody>
      </p:sp>
    </p:spTree>
    <p:extLst>
      <p:ext uri="{BB962C8B-B14F-4D97-AF65-F5344CB8AC3E}">
        <p14:creationId xmlns:p14="http://schemas.microsoft.com/office/powerpoint/2010/main" val="3848046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487606"/>
            <a:ext cx="7928497" cy="468935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6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Castration can be done at an early age (4 weeks).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 dextran injection must be administered between 3 – 7 days of life. Alternatively, iron paste can be given orally.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 the needle (incisor and canine) teeth during first or second week of life.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the piglets from being crushed by the sow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095825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Management of Piglets</a:t>
            </a:r>
          </a:p>
        </p:txBody>
      </p:sp>
    </p:spTree>
    <p:extLst>
      <p:ext uri="{BB962C8B-B14F-4D97-AF65-F5344CB8AC3E}">
        <p14:creationId xmlns:p14="http://schemas.microsoft.com/office/powerpoint/2010/main" val="3333344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Piglets can be weaned at 8 weeks although early weaning is sometimes practiced.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It is advisable that the sow must be removed from the piglets and not vice versa. This minimizes stress since the piglets are in a familiar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Sort into group if more than one litter is available.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entury Gothic" panose="020B0502020202020204" pitchFamily="34" charset="0"/>
              </a:rPr>
              <a:t>Put groups in pens that are unfamiliar to all piglets.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entury Gothic" panose="020B0502020202020204" pitchFamily="34" charset="0"/>
              </a:rPr>
              <a:t>Provide correct floor spacing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Once weaned, the sow is supposed to come on heat within 4 – 7 days.</a:t>
            </a:r>
          </a:p>
          <a:p>
            <a:pPr>
              <a:lnSpc>
                <a:spcPct val="100000"/>
              </a:lnSpc>
            </a:pPr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9"/>
            <a:ext cx="7886700" cy="772568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Weaning</a:t>
            </a:r>
          </a:p>
        </p:txBody>
      </p:sp>
    </p:spTree>
    <p:extLst>
      <p:ext uri="{BB962C8B-B14F-4D97-AF65-F5344CB8AC3E}">
        <p14:creationId xmlns:p14="http://schemas.microsoft.com/office/powerpoint/2010/main" val="1731650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1815"/>
            <a:ext cx="7886700" cy="47712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Fostering can happen when, for example, there are too many piglets against the number of teats on a sow.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Century Gothic" panose="020B0502020202020204" pitchFamily="34" charset="0"/>
              </a:rPr>
              <a:t>Foster sows should be in approx. the same stage of lactation as the mother sow.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Piglets can also be reared artificially with cow’s milk or milk substitutes. It is by no means as effective as rearing on their own mother’s milk.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An example of milk formula:</a:t>
            </a:r>
          </a:p>
          <a:p>
            <a:pPr>
              <a:lnSpc>
                <a:spcPct val="100000"/>
              </a:lnSpc>
            </a:pPr>
            <a:endParaRPr lang="en-GB" sz="100" dirty="0">
              <a:latin typeface="Century Gothic" panose="020B0502020202020204" pitchFamily="34" charset="0"/>
            </a:endParaRPr>
          </a:p>
          <a:p>
            <a:pPr lvl="2">
              <a:lnSpc>
                <a:spcPct val="100000"/>
              </a:lnSpc>
              <a:buFont typeface="Century Gothic" panose="020B0502020202020204" pitchFamily="34" charset="0"/>
              <a:buChar char="►"/>
            </a:pPr>
            <a:r>
              <a:rPr lang="en-GB" sz="2200" dirty="0">
                <a:latin typeface="Century Gothic" panose="020B0502020202020204" pitchFamily="34" charset="0"/>
              </a:rPr>
              <a:t>2.5 litres fresh </a:t>
            </a:r>
          </a:p>
          <a:p>
            <a:pPr lvl="2">
              <a:lnSpc>
                <a:spcPct val="100000"/>
              </a:lnSpc>
              <a:buFont typeface="Century Gothic" panose="020B0502020202020204" pitchFamily="34" charset="0"/>
              <a:buChar char="►"/>
            </a:pPr>
            <a:r>
              <a:rPr lang="en-GB" sz="2200" dirty="0">
                <a:latin typeface="Century Gothic" panose="020B0502020202020204" pitchFamily="34" charset="0"/>
              </a:rPr>
              <a:t>150ml fresh cream</a:t>
            </a:r>
          </a:p>
          <a:p>
            <a:pPr lvl="2">
              <a:lnSpc>
                <a:spcPct val="100000"/>
              </a:lnSpc>
              <a:buFont typeface="Century Gothic" panose="020B0502020202020204" pitchFamily="34" charset="0"/>
              <a:buChar char="►"/>
            </a:pPr>
            <a:r>
              <a:rPr lang="en-GB" sz="2200" dirty="0">
                <a:latin typeface="Century Gothic" panose="020B0502020202020204" pitchFamily="34" charset="0"/>
              </a:rPr>
              <a:t>8 beaten eggs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50582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Fostering and Artificial Rearing</a:t>
            </a:r>
          </a:p>
        </p:txBody>
      </p:sp>
      <p:sp>
        <p:nvSpPr>
          <p:cNvPr id="2" name="Rechteraccolade 1"/>
          <p:cNvSpPr/>
          <p:nvPr/>
        </p:nvSpPr>
        <p:spPr>
          <a:xfrm>
            <a:off x="4080680" y="4285396"/>
            <a:ext cx="873457" cy="15558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hthoek 4"/>
          <p:cNvSpPr/>
          <p:nvPr/>
        </p:nvSpPr>
        <p:spPr>
          <a:xfrm>
            <a:off x="4954137" y="4285396"/>
            <a:ext cx="3821373" cy="1774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Century Gothic" panose="020B0502020202020204" pitchFamily="34" charset="0"/>
              </a:rPr>
              <a:t>Small quantities should be given every 2 – 3 hrs.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Century Gothic" panose="020B0502020202020204" pitchFamily="34" charset="0"/>
              </a:rPr>
              <a:t>Start by giving 50ml and then increase to 90 – 100ml at approx. 3 </a:t>
            </a:r>
            <a:r>
              <a:rPr lang="en-GB" sz="22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wks</a:t>
            </a:r>
            <a:r>
              <a:rPr lang="en-GB" sz="2200" dirty="0">
                <a:solidFill>
                  <a:schemeClr val="tx1"/>
                </a:solidFill>
                <a:latin typeface="Century Gothic" panose="020B0502020202020204" pitchFamily="34" charset="0"/>
              </a:rPr>
              <a:t> of age</a:t>
            </a:r>
          </a:p>
        </p:txBody>
      </p:sp>
    </p:spTree>
    <p:extLst>
      <p:ext uri="{BB962C8B-B14F-4D97-AF65-F5344CB8AC3E}">
        <p14:creationId xmlns:p14="http://schemas.microsoft.com/office/powerpoint/2010/main" val="3741727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4901"/>
            <a:ext cx="7886700" cy="4662062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Pig identification is necessary for accurate performance records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Identification can be done through use of ear notches, ear tattoos, and ear tags (rare).</a:t>
            </a:r>
          </a:p>
          <a:p>
            <a:r>
              <a:rPr lang="en-GB" sz="2400" dirty="0">
                <a:latin typeface="Century Gothic" panose="020B0502020202020204" pitchFamily="34" charset="0"/>
              </a:rPr>
              <a:t>Ear notching is the simplest method of identification</a:t>
            </a:r>
          </a:p>
          <a:p>
            <a:pPr lvl="1"/>
            <a:r>
              <a:rPr lang="en-GB" dirty="0">
                <a:latin typeface="Century Gothic" panose="020B0502020202020204" pitchFamily="34" charset="0"/>
              </a:rPr>
              <a:t>Not more than 2 notches per quadrant.</a:t>
            </a:r>
          </a:p>
          <a:p>
            <a:pPr lvl="1"/>
            <a:r>
              <a:rPr lang="en-GB" dirty="0">
                <a:latin typeface="Century Gothic" panose="020B0502020202020204" pitchFamily="34" charset="0"/>
              </a:rPr>
              <a:t>1-3-9 system used</a:t>
            </a:r>
          </a:p>
          <a:p>
            <a:pPr lvl="1"/>
            <a:r>
              <a:rPr lang="en-GB" dirty="0">
                <a:latin typeface="Century Gothic" panose="020B0502020202020204" pitchFamily="34" charset="0"/>
              </a:rPr>
              <a:t>Right ear is used for litter mark</a:t>
            </a:r>
          </a:p>
          <a:p>
            <a:pPr lvl="1"/>
            <a:r>
              <a:rPr lang="en-GB" dirty="0">
                <a:latin typeface="Century Gothic" panose="020B0502020202020204" pitchFamily="34" charset="0"/>
              </a:rPr>
              <a:t>Left ear used for individual pig marks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9670309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Record keeping is vital in any livestock enterprise.</a:t>
            </a:r>
          </a:p>
          <a:p>
            <a:pPr>
              <a:lnSpc>
                <a:spcPct val="100000"/>
              </a:lnSpc>
            </a:pPr>
            <a:r>
              <a:rPr lang="en-GB" sz="2200" dirty="0">
                <a:latin typeface="Century Gothic" panose="020B0502020202020204" pitchFamily="34" charset="0"/>
              </a:rPr>
              <a:t>Some of the types of records kept: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Century Gothic" panose="020B0502020202020204" pitchFamily="34" charset="0"/>
              </a:rPr>
              <a:t>Breeding records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Century Gothic" panose="020B0502020202020204" pitchFamily="34" charset="0"/>
              </a:rPr>
              <a:t>Feeding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Century Gothic" panose="020B0502020202020204" pitchFamily="34" charset="0"/>
              </a:rPr>
              <a:t>Individual animal cards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Century Gothic" panose="020B0502020202020204" pitchFamily="34" charset="0"/>
              </a:rPr>
              <a:t>Health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Century Gothic" panose="020B0502020202020204" pitchFamily="34" charset="0"/>
              </a:rPr>
              <a:t>Financial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Record Keeping</a:t>
            </a:r>
          </a:p>
        </p:txBody>
      </p:sp>
    </p:spTree>
    <p:extLst>
      <p:ext uri="{BB962C8B-B14F-4D97-AF65-F5344CB8AC3E}">
        <p14:creationId xmlns:p14="http://schemas.microsoft.com/office/powerpoint/2010/main" val="4267195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Century Gothic" panose="020B0502020202020204" pitchFamily="34" charset="0"/>
              </a:rPr>
              <a:t>Most pigs are sold informally through middlemen who take them to local markets or slaughter them for meat.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Individual sales at local markets by pig farmers and auctioning of live pigs are also done in some areas.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Others sale to meat traders on contract.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At local markets, pigs are usually slaughtered at slaughter slabs which are separate from other livestock and its meat is sold ungraded.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Some processing factories buy pigs and they are slaughtered and processed into various products. </a:t>
            </a:r>
          </a:p>
          <a:p>
            <a:endParaRPr lang="en-GB" sz="2200" dirty="0">
              <a:latin typeface="Century Gothic" panose="020B0502020202020204" pitchFamily="34" charset="0"/>
            </a:endParaRPr>
          </a:p>
          <a:p>
            <a:endParaRPr lang="en-GB" sz="2200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2157995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5719"/>
            <a:ext cx="7886700" cy="4771244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Century Gothic" panose="020B0502020202020204" pitchFamily="34" charset="0"/>
              </a:rPr>
              <a:t>Biosecurity is the best preventive measure.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Pigs are highly susceptible to diseases when stressed hence ensure good animal welfare.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Worms, African Swine Fever, mange and anaemia are some of the notable diseases which occur when management has been compromised.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Be able to pick out early signs of a disease and react promptly.</a:t>
            </a:r>
          </a:p>
          <a:p>
            <a:r>
              <a:rPr lang="en-GB" sz="2200" dirty="0">
                <a:latin typeface="Century Gothic" panose="020B0502020202020204" pitchFamily="34" charset="0"/>
              </a:rPr>
              <a:t>Always ensure that sick pigs are isolated from the rest.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50838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Century Gothic" pitchFamily="34" charset="0"/>
              </a:rPr>
              <a:t>Pig Health</a:t>
            </a:r>
          </a:p>
        </p:txBody>
      </p:sp>
    </p:spTree>
    <p:extLst>
      <p:ext uri="{BB962C8B-B14F-4D97-AF65-F5344CB8AC3E}">
        <p14:creationId xmlns:p14="http://schemas.microsoft.com/office/powerpoint/2010/main" val="246883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25390</TotalTime>
  <Words>2699</Words>
  <Application>Microsoft Office PowerPoint</Application>
  <PresentationFormat>On-screen Show (4:3)</PresentationFormat>
  <Paragraphs>402</Paragraphs>
  <Slides>44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Pig Production and Management</vt:lpstr>
      <vt:lpstr>Pig Production and Management</vt:lpstr>
      <vt:lpstr>Large White or Yorkshire</vt:lpstr>
      <vt:lpstr>Landrace</vt:lpstr>
      <vt:lpstr>Tri-Star</vt:lpstr>
      <vt:lpstr>Indigenous breed</vt:lpstr>
      <vt:lpstr>Advantages of Pig Production</vt:lpstr>
      <vt:lpstr>PowerPoint Presentation</vt:lpstr>
      <vt:lpstr>PowerPoint Presentation</vt:lpstr>
      <vt:lpstr>Improvements in free-range system</vt:lpstr>
      <vt:lpstr>Free-range (Extensive system)</vt:lpstr>
      <vt:lpstr>PowerPoint Presentation</vt:lpstr>
      <vt:lpstr>PowerPoint Presentation</vt:lpstr>
      <vt:lpstr>Biological Features of Pigs</vt:lpstr>
      <vt:lpstr>Biological Features of Pigs</vt:lpstr>
      <vt:lpstr>Housing</vt:lpstr>
      <vt:lpstr>Housing</vt:lpstr>
      <vt:lpstr>Floor Space Requirement for Growing Pigs Based on Live-weight</vt:lpstr>
      <vt:lpstr>Floor Space Requirement for Pigs Based on Production Stage</vt:lpstr>
      <vt:lpstr>Example of a Pigsty – Side view</vt:lpstr>
      <vt:lpstr>Example of a Floor Plan</vt:lpstr>
      <vt:lpstr>Farrowing Pen</vt:lpstr>
      <vt:lpstr>Pig Feeding</vt:lpstr>
      <vt:lpstr>PowerPoint Presentation</vt:lpstr>
      <vt:lpstr>PowerPoint Presentation</vt:lpstr>
      <vt:lpstr>Nutritional requirement for pigs</vt:lpstr>
      <vt:lpstr>Feeding</vt:lpstr>
      <vt:lpstr>Creep Feeding</vt:lpstr>
      <vt:lpstr>Reproduction in Pigs</vt:lpstr>
      <vt:lpstr>Breeding</vt:lpstr>
      <vt:lpstr>Selection of Breeding Gilt</vt:lpstr>
      <vt:lpstr>Selection of Breeding Boar</vt:lpstr>
      <vt:lpstr>Signs of Heat</vt:lpstr>
      <vt:lpstr>Factors affecting onset of oestrus</vt:lpstr>
      <vt:lpstr>Common Causes of Poor Conception Rates</vt:lpstr>
      <vt:lpstr>Management of Sow during Farrowing</vt:lpstr>
      <vt:lpstr>Management of Piglets</vt:lpstr>
      <vt:lpstr>Management of Piglets</vt:lpstr>
      <vt:lpstr>Weaning</vt:lpstr>
      <vt:lpstr>Fostering and Artificial Rearing</vt:lpstr>
      <vt:lpstr>Identification</vt:lpstr>
      <vt:lpstr>Record Keeping</vt:lpstr>
      <vt:lpstr>Marketing</vt:lpstr>
      <vt:lpstr>Pig Health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Luwe</dc:creator>
  <cp:lastModifiedBy>JOSEPH D. LIWONDE</cp:lastModifiedBy>
  <cp:revision>453</cp:revision>
  <dcterms:created xsi:type="dcterms:W3CDTF">2018-04-27T21:44:57Z</dcterms:created>
  <dcterms:modified xsi:type="dcterms:W3CDTF">2026-02-11T03:58:26Z</dcterms:modified>
</cp:coreProperties>
</file>