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56" r:id="rId2"/>
    <p:sldId id="289" r:id="rId3"/>
    <p:sldId id="257" r:id="rId4"/>
    <p:sldId id="258" r:id="rId5"/>
    <p:sldId id="259" r:id="rId6"/>
    <p:sldId id="260" r:id="rId7"/>
    <p:sldId id="261" r:id="rId8"/>
    <p:sldId id="262"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7" d="100"/>
          <a:sy n="87" d="100"/>
        </p:scale>
        <p:origin x="96"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567AFB-F80D-4386-9F70-FC75CE52C130}" type="datetimeFigureOut">
              <a:rPr lang="en-US" smtClean="0"/>
              <a:t>11-Feb-26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F8EB5E-BBF0-476B-B245-13F2E139E32B}" type="slidenum">
              <a:rPr lang="en-US" smtClean="0"/>
              <a:t>‹#›</a:t>
            </a:fld>
            <a:endParaRPr lang="en-US"/>
          </a:p>
        </p:txBody>
      </p:sp>
    </p:spTree>
    <p:extLst>
      <p:ext uri="{BB962C8B-B14F-4D97-AF65-F5344CB8AC3E}">
        <p14:creationId xmlns:p14="http://schemas.microsoft.com/office/powerpoint/2010/main" val="2724849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AD71D7C1-5A09-4F0A-AD83-58B77AAF2BC1}" type="slidenum">
              <a:rPr lang="en-GB" smtClean="0"/>
              <a:t>5</a:t>
            </a:fld>
            <a:endParaRPr lang="en-GB"/>
          </a:p>
        </p:txBody>
      </p:sp>
    </p:spTree>
    <p:extLst>
      <p:ext uri="{BB962C8B-B14F-4D97-AF65-F5344CB8AC3E}">
        <p14:creationId xmlns:p14="http://schemas.microsoft.com/office/powerpoint/2010/main" val="14324546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Feeding standards are based on average requirements and may not meet the needs under specific feeding conditions. If unusual conditions such as weather stress are present, adjustments in the diet may be needed.</a:t>
            </a:r>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9</a:t>
            </a:fld>
            <a:endParaRPr lang="en-GB"/>
          </a:p>
        </p:txBody>
      </p:sp>
    </p:spTree>
    <p:extLst>
      <p:ext uri="{BB962C8B-B14F-4D97-AF65-F5344CB8AC3E}">
        <p14:creationId xmlns:p14="http://schemas.microsoft.com/office/powerpoint/2010/main" val="18805595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The sum of the numbers on the right equals the difference in the numbers on the left . This fact is used as a check to see if the square is set up correctly.</a:t>
            </a:r>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12</a:t>
            </a:fld>
            <a:endParaRPr lang="en-GB"/>
          </a:p>
        </p:txBody>
      </p:sp>
    </p:spTree>
    <p:extLst>
      <p:ext uri="{BB962C8B-B14F-4D97-AF65-F5344CB8AC3E}">
        <p14:creationId xmlns:p14="http://schemas.microsoft.com/office/powerpoint/2010/main" val="15979294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The sum of the numbers on the right equals the difference in the numbers on the left . This fact is used as a check to see if the square is set up correctly.</a:t>
            </a:r>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17</a:t>
            </a:fld>
            <a:endParaRPr lang="en-GB"/>
          </a:p>
        </p:txBody>
      </p:sp>
    </p:spTree>
    <p:extLst>
      <p:ext uri="{BB962C8B-B14F-4D97-AF65-F5344CB8AC3E}">
        <p14:creationId xmlns:p14="http://schemas.microsoft.com/office/powerpoint/2010/main" val="1569731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1110E93-138A-4175-BE7C-29B94AF0E0D1}" type="datetimeFigureOut">
              <a:rPr lang="en-US" smtClean="0"/>
              <a:t>11-Feb-26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AF5331-366B-4CC7-817D-433856715F70}" type="slidenum">
              <a:rPr lang="en-US" smtClean="0"/>
              <a:t>‹#›</a:t>
            </a:fld>
            <a:endParaRPr lang="en-US"/>
          </a:p>
        </p:txBody>
      </p:sp>
    </p:spTree>
    <p:extLst>
      <p:ext uri="{BB962C8B-B14F-4D97-AF65-F5344CB8AC3E}">
        <p14:creationId xmlns:p14="http://schemas.microsoft.com/office/powerpoint/2010/main" val="456508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6047" y="304437"/>
            <a:ext cx="9404723" cy="767687"/>
          </a:xfrm>
        </p:spPr>
        <p:txBody>
          <a:bodyPr/>
          <a:lstStyle>
            <a:lvl1pPr>
              <a:defRPr b="1">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436047" y="1170621"/>
            <a:ext cx="10586180" cy="4195481"/>
          </a:xfrm>
        </p:spPr>
        <p:txBody>
          <a:bodyPr/>
          <a:lstStyle>
            <a:lvl1pPr algn="just">
              <a:defRPr>
                <a:latin typeface="Times New Roman" panose="02020603050405020304" pitchFamily="18" charset="0"/>
                <a:cs typeface="Times New Roman" panose="02020603050405020304" pitchFamily="18" charset="0"/>
              </a:defRPr>
            </a:lvl1pPr>
            <a:lvl2pPr algn="just">
              <a:defRPr>
                <a:latin typeface="Times New Roman" panose="02020603050405020304" pitchFamily="18" charset="0"/>
                <a:cs typeface="Times New Roman" panose="02020603050405020304" pitchFamily="18" charset="0"/>
              </a:defRPr>
            </a:lvl2pPr>
            <a:lvl3pPr algn="just">
              <a:defRPr>
                <a:latin typeface="Times New Roman" panose="02020603050405020304" pitchFamily="18" charset="0"/>
                <a:cs typeface="Times New Roman" panose="02020603050405020304" pitchFamily="18" charset="0"/>
              </a:defRPr>
            </a:lvl3pPr>
            <a:lvl4pPr algn="just">
              <a:defRPr>
                <a:latin typeface="Times New Roman" panose="02020603050405020304" pitchFamily="18" charset="0"/>
                <a:cs typeface="Times New Roman" panose="02020603050405020304" pitchFamily="18" charset="0"/>
              </a:defRPr>
            </a:lvl4pPr>
            <a:lvl5pPr algn="just">
              <a:defRPr>
                <a:latin typeface="Times New Roman" panose="02020603050405020304" pitchFamily="18" charset="0"/>
                <a:cs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05580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1110E93-138A-4175-BE7C-29B94AF0E0D1}" type="datetimeFigureOut">
              <a:rPr lang="en-US" smtClean="0"/>
              <a:t>11-Feb-26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AF5331-366B-4CC7-817D-433856715F70}" type="slidenum">
              <a:rPr lang="en-US" smtClean="0"/>
              <a:t>‹#›</a:t>
            </a:fld>
            <a:endParaRPr lang="en-US"/>
          </a:p>
        </p:txBody>
      </p:sp>
    </p:spTree>
    <p:extLst>
      <p:ext uri="{BB962C8B-B14F-4D97-AF65-F5344CB8AC3E}">
        <p14:creationId xmlns:p14="http://schemas.microsoft.com/office/powerpoint/2010/main" val="2035853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1110E93-138A-4175-BE7C-29B94AF0E0D1}" type="datetimeFigureOut">
              <a:rPr lang="en-US" smtClean="0"/>
              <a:t>11-Feb-26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AF5331-366B-4CC7-817D-433856715F70}" type="slidenum">
              <a:rPr lang="en-US" smtClean="0"/>
              <a:t>‹#›</a:t>
            </a:fld>
            <a:endParaRPr lang="en-US"/>
          </a:p>
        </p:txBody>
      </p:sp>
    </p:spTree>
    <p:extLst>
      <p:ext uri="{BB962C8B-B14F-4D97-AF65-F5344CB8AC3E}">
        <p14:creationId xmlns:p14="http://schemas.microsoft.com/office/powerpoint/2010/main" val="261067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1110E93-138A-4175-BE7C-29B94AF0E0D1}" type="datetimeFigureOut">
              <a:rPr lang="en-US" smtClean="0"/>
              <a:t>11-Feb-26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EAF5331-366B-4CC7-817D-433856715F70}" type="slidenum">
              <a:rPr lang="en-US" smtClean="0"/>
              <a:t>‹#›</a:t>
            </a:fld>
            <a:endParaRPr lang="en-US"/>
          </a:p>
        </p:txBody>
      </p:sp>
    </p:spTree>
    <p:extLst>
      <p:ext uri="{BB962C8B-B14F-4D97-AF65-F5344CB8AC3E}">
        <p14:creationId xmlns:p14="http://schemas.microsoft.com/office/powerpoint/2010/main" val="32776988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A1110E93-138A-4175-BE7C-29B94AF0E0D1}" type="datetimeFigureOut">
              <a:rPr lang="en-US" smtClean="0"/>
              <a:t>11-Feb-26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EEAF5331-366B-4CC7-817D-433856715F70}" type="slidenum">
              <a:rPr lang="en-US" smtClean="0"/>
              <a:t>‹#›</a:t>
            </a:fld>
            <a:endParaRPr lang="en-US"/>
          </a:p>
        </p:txBody>
      </p:sp>
    </p:spTree>
    <p:extLst>
      <p:ext uri="{BB962C8B-B14F-4D97-AF65-F5344CB8AC3E}">
        <p14:creationId xmlns:p14="http://schemas.microsoft.com/office/powerpoint/2010/main" val="1091413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1110E93-138A-4175-BE7C-29B94AF0E0D1}" type="datetimeFigureOut">
              <a:rPr lang="en-US" smtClean="0"/>
              <a:t>11-Feb-26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EEAF5331-366B-4CC7-817D-433856715F70}" type="slidenum">
              <a:rPr lang="en-US" smtClean="0"/>
              <a:t>‹#›</a:t>
            </a:fld>
            <a:endParaRPr lang="en-US"/>
          </a:p>
        </p:txBody>
      </p:sp>
    </p:spTree>
    <p:extLst>
      <p:ext uri="{BB962C8B-B14F-4D97-AF65-F5344CB8AC3E}">
        <p14:creationId xmlns:p14="http://schemas.microsoft.com/office/powerpoint/2010/main" val="33515250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A1110E93-138A-4175-BE7C-29B94AF0E0D1}" type="datetimeFigureOut">
              <a:rPr lang="en-US" smtClean="0"/>
              <a:t>11-Feb-26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EEAF5331-366B-4CC7-817D-433856715F70}" type="slidenum">
              <a:rPr lang="en-US" smtClean="0"/>
              <a:t>‹#›</a:t>
            </a:fld>
            <a:endParaRPr lang="en-US"/>
          </a:p>
        </p:txBody>
      </p:sp>
    </p:spTree>
    <p:extLst>
      <p:ext uri="{BB962C8B-B14F-4D97-AF65-F5344CB8AC3E}">
        <p14:creationId xmlns:p14="http://schemas.microsoft.com/office/powerpoint/2010/main" val="2374587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1110E93-138A-4175-BE7C-29B94AF0E0D1}" type="datetimeFigureOut">
              <a:rPr lang="en-US" smtClean="0"/>
              <a:t>11-Feb-26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AF5331-366B-4CC7-817D-433856715F70}" type="slidenum">
              <a:rPr lang="en-US" smtClean="0"/>
              <a:t>‹#›</a:t>
            </a:fld>
            <a:endParaRPr lang="en-US"/>
          </a:p>
        </p:txBody>
      </p:sp>
    </p:spTree>
    <p:extLst>
      <p:ext uri="{BB962C8B-B14F-4D97-AF65-F5344CB8AC3E}">
        <p14:creationId xmlns:p14="http://schemas.microsoft.com/office/powerpoint/2010/main" val="16219847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1110E93-138A-4175-BE7C-29B94AF0E0D1}" type="datetimeFigureOut">
              <a:rPr lang="en-US" smtClean="0"/>
              <a:t>11-Feb-26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AF5331-366B-4CC7-817D-433856715F70}" type="slidenum">
              <a:rPr lang="en-US" smtClean="0"/>
              <a:t>‹#›</a:t>
            </a:fld>
            <a:endParaRPr lang="en-US"/>
          </a:p>
        </p:txBody>
      </p:sp>
    </p:spTree>
    <p:extLst>
      <p:ext uri="{BB962C8B-B14F-4D97-AF65-F5344CB8AC3E}">
        <p14:creationId xmlns:p14="http://schemas.microsoft.com/office/powerpoint/2010/main" val="4201553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A1110E93-138A-4175-BE7C-29B94AF0E0D1}" type="datetimeFigureOut">
              <a:rPr lang="en-US" smtClean="0"/>
              <a:t>11-Feb-26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AF5331-366B-4CC7-817D-433856715F70}" type="slidenum">
              <a:rPr lang="en-US" smtClean="0"/>
              <a:t>‹#›</a:t>
            </a:fld>
            <a:endParaRPr lang="en-US"/>
          </a:p>
        </p:txBody>
      </p:sp>
    </p:spTree>
    <p:extLst>
      <p:ext uri="{BB962C8B-B14F-4D97-AF65-F5344CB8AC3E}">
        <p14:creationId xmlns:p14="http://schemas.microsoft.com/office/powerpoint/2010/main" val="17126065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A1110E93-138A-4175-BE7C-29B94AF0E0D1}" type="datetimeFigureOut">
              <a:rPr lang="en-US" smtClean="0"/>
              <a:t>11-Feb-26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AF5331-366B-4CC7-817D-433856715F70}"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4872810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1110E93-138A-4175-BE7C-29B94AF0E0D1}" type="datetimeFigureOut">
              <a:rPr lang="en-US" smtClean="0"/>
              <a:t>11-Feb-26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AF5331-366B-4CC7-817D-433856715F70}" type="slidenum">
              <a:rPr lang="en-US" smtClean="0"/>
              <a:t>‹#›</a:t>
            </a:fld>
            <a:endParaRPr lang="en-US"/>
          </a:p>
        </p:txBody>
      </p:sp>
    </p:spTree>
    <p:extLst>
      <p:ext uri="{BB962C8B-B14F-4D97-AF65-F5344CB8AC3E}">
        <p14:creationId xmlns:p14="http://schemas.microsoft.com/office/powerpoint/2010/main" val="4484114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1110E93-138A-4175-BE7C-29B94AF0E0D1}" type="datetimeFigureOut">
              <a:rPr lang="en-US" smtClean="0"/>
              <a:t>11-Feb-26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AF5331-366B-4CC7-817D-433856715F70}" type="slidenum">
              <a:rPr lang="en-US" smtClean="0"/>
              <a:t>‹#›</a:t>
            </a:fld>
            <a:endParaRPr lang="en-US"/>
          </a:p>
        </p:txBody>
      </p:sp>
    </p:spTree>
    <p:extLst>
      <p:ext uri="{BB962C8B-B14F-4D97-AF65-F5344CB8AC3E}">
        <p14:creationId xmlns:p14="http://schemas.microsoft.com/office/powerpoint/2010/main" val="8088604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1110E93-138A-4175-BE7C-29B94AF0E0D1}" type="datetimeFigureOut">
              <a:rPr lang="en-US" smtClean="0"/>
              <a:t>11-Feb-26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AF5331-366B-4CC7-817D-433856715F70}" type="slidenum">
              <a:rPr lang="en-US" smtClean="0"/>
              <a:t>‹#›</a:t>
            </a:fld>
            <a:endParaRPr lang="en-US"/>
          </a:p>
        </p:txBody>
      </p:sp>
    </p:spTree>
    <p:extLst>
      <p:ext uri="{BB962C8B-B14F-4D97-AF65-F5344CB8AC3E}">
        <p14:creationId xmlns:p14="http://schemas.microsoft.com/office/powerpoint/2010/main" val="42849070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110E93-138A-4175-BE7C-29B94AF0E0D1}" type="datetimeFigureOut">
              <a:rPr lang="en-US" smtClean="0"/>
              <a:t>11-Feb-26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AF5331-366B-4CC7-817D-433856715F70}" type="slidenum">
              <a:rPr lang="en-US" smtClean="0"/>
              <a:t>‹#›</a:t>
            </a:fld>
            <a:endParaRPr lang="en-US"/>
          </a:p>
        </p:txBody>
      </p:sp>
    </p:spTree>
    <p:extLst>
      <p:ext uri="{BB962C8B-B14F-4D97-AF65-F5344CB8AC3E}">
        <p14:creationId xmlns:p14="http://schemas.microsoft.com/office/powerpoint/2010/main" val="1405846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110E93-138A-4175-BE7C-29B94AF0E0D1}" type="datetimeFigureOut">
              <a:rPr lang="en-US" smtClean="0"/>
              <a:t>11-Feb-26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AF5331-366B-4CC7-817D-433856715F70}" type="slidenum">
              <a:rPr lang="en-US" smtClean="0"/>
              <a:t>‹#›</a:t>
            </a:fld>
            <a:endParaRPr lang="en-US"/>
          </a:p>
        </p:txBody>
      </p:sp>
    </p:spTree>
    <p:extLst>
      <p:ext uri="{BB962C8B-B14F-4D97-AF65-F5344CB8AC3E}">
        <p14:creationId xmlns:p14="http://schemas.microsoft.com/office/powerpoint/2010/main" val="2833567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491969" y="2038333"/>
            <a:ext cx="10006570" cy="419548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1110E93-138A-4175-BE7C-29B94AF0E0D1}" type="datetimeFigureOut">
              <a:rPr lang="en-US" smtClean="0"/>
              <a:t>11-Feb-26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EEAF5331-366B-4CC7-817D-433856715F70}" type="slidenum">
              <a:rPr lang="en-US" smtClean="0"/>
              <a:t>‹#›</a:t>
            </a:fld>
            <a:endParaRPr lang="en-US"/>
          </a:p>
        </p:txBody>
      </p:sp>
    </p:spTree>
    <p:extLst>
      <p:ext uri="{BB962C8B-B14F-4D97-AF65-F5344CB8AC3E}">
        <p14:creationId xmlns:p14="http://schemas.microsoft.com/office/powerpoint/2010/main" val="299257533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8457" y="2224216"/>
            <a:ext cx="10114407" cy="1268062"/>
          </a:xfrm>
        </p:spPr>
        <p:txBody>
          <a:bodyPr/>
          <a:lstStyle/>
          <a:p>
            <a:r>
              <a:rPr lang="en-US" sz="6000" dirty="0"/>
              <a:t>Feed Ration Formulation </a:t>
            </a:r>
          </a:p>
        </p:txBody>
      </p:sp>
    </p:spTree>
    <p:extLst>
      <p:ext uri="{BB962C8B-B14F-4D97-AF65-F5344CB8AC3E}">
        <p14:creationId xmlns:p14="http://schemas.microsoft.com/office/powerpoint/2010/main" val="42893872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07974" y="208019"/>
            <a:ext cx="7055380" cy="603350"/>
          </a:xfrm>
        </p:spPr>
        <p:txBody>
          <a:bodyPr/>
          <a:lstStyle/>
          <a:p>
            <a:r>
              <a:rPr lang="en-GB" b="1" dirty="0">
                <a:solidFill>
                  <a:srgbClr val="00B0F0"/>
                </a:solidFill>
              </a:rPr>
              <a:t>RATION FORMULATION</a:t>
            </a:r>
          </a:p>
        </p:txBody>
      </p:sp>
      <p:sp>
        <p:nvSpPr>
          <p:cNvPr id="3" name="Content Placeholder 2"/>
          <p:cNvSpPr>
            <a:spLocks noGrp="1"/>
          </p:cNvSpPr>
          <p:nvPr>
            <p:ph idx="1"/>
          </p:nvPr>
        </p:nvSpPr>
        <p:spPr>
          <a:xfrm>
            <a:off x="2007974" y="1138525"/>
            <a:ext cx="8312296" cy="5094850"/>
          </a:xfrm>
        </p:spPr>
        <p:txBody>
          <a:bodyPr>
            <a:normAutofit lnSpcReduction="10000"/>
          </a:bodyPr>
          <a:lstStyle/>
          <a:p>
            <a:r>
              <a:rPr lang="en-GB" sz="2200" dirty="0">
                <a:latin typeface="Century Gothic" panose="020B0502020202020204" pitchFamily="34" charset="0"/>
              </a:rPr>
              <a:t>A </a:t>
            </a:r>
            <a:r>
              <a:rPr lang="en-GB" sz="2200" b="1" dirty="0">
                <a:latin typeface="Century Gothic" panose="020B0502020202020204" pitchFamily="34" charset="0"/>
              </a:rPr>
              <a:t>ration </a:t>
            </a:r>
            <a:r>
              <a:rPr lang="en-GB" sz="2200" dirty="0">
                <a:latin typeface="Century Gothic" panose="020B0502020202020204" pitchFamily="34" charset="0"/>
              </a:rPr>
              <a:t>is the amount of feed given to an animal to meet its needs. </a:t>
            </a:r>
          </a:p>
          <a:p>
            <a:r>
              <a:rPr lang="en-GB" sz="2200" dirty="0">
                <a:latin typeface="Century Gothic" panose="020B0502020202020204" pitchFamily="34" charset="0"/>
              </a:rPr>
              <a:t>A </a:t>
            </a:r>
            <a:r>
              <a:rPr lang="en-GB" sz="2200" b="1" dirty="0">
                <a:latin typeface="Century Gothic" panose="020B0502020202020204" pitchFamily="34" charset="0"/>
              </a:rPr>
              <a:t>balanced ration </a:t>
            </a:r>
            <a:r>
              <a:rPr lang="en-GB" sz="2200" dirty="0">
                <a:latin typeface="Century Gothic" panose="020B0502020202020204" pitchFamily="34" charset="0"/>
              </a:rPr>
              <a:t>is one that has all the nutrients the animal needs in the right proportions and amounts.</a:t>
            </a:r>
          </a:p>
          <a:p>
            <a:r>
              <a:rPr lang="en-GB" sz="2200" dirty="0">
                <a:latin typeface="Century Gothic" panose="020B0502020202020204" pitchFamily="34" charset="0"/>
              </a:rPr>
              <a:t>The functions of a ration must be considered when determining the nutrient requirements of livestock. These functions include </a:t>
            </a:r>
          </a:p>
          <a:p>
            <a:pPr lvl="2"/>
            <a:r>
              <a:rPr lang="en-GB" sz="1800" dirty="0">
                <a:latin typeface="Century Gothic" panose="020B0502020202020204" pitchFamily="34" charset="0"/>
              </a:rPr>
              <a:t>maintenance, </a:t>
            </a:r>
          </a:p>
          <a:p>
            <a:pPr lvl="2"/>
            <a:r>
              <a:rPr lang="en-GB" sz="1800" dirty="0">
                <a:latin typeface="Century Gothic" panose="020B0502020202020204" pitchFamily="34" charset="0"/>
              </a:rPr>
              <a:t>growth, </a:t>
            </a:r>
          </a:p>
          <a:p>
            <a:pPr lvl="2"/>
            <a:r>
              <a:rPr lang="en-GB" sz="1800" dirty="0">
                <a:latin typeface="Century Gothic" panose="020B0502020202020204" pitchFamily="34" charset="0"/>
              </a:rPr>
              <a:t>fattening, </a:t>
            </a:r>
          </a:p>
          <a:p>
            <a:pPr lvl="2"/>
            <a:r>
              <a:rPr lang="en-GB" sz="1800" dirty="0">
                <a:latin typeface="Century Gothic" panose="020B0502020202020204" pitchFamily="34" charset="0"/>
              </a:rPr>
              <a:t>production, </a:t>
            </a:r>
          </a:p>
          <a:p>
            <a:pPr lvl="2"/>
            <a:r>
              <a:rPr lang="en-GB" sz="1800" dirty="0">
                <a:latin typeface="Century Gothic" panose="020B0502020202020204" pitchFamily="34" charset="0"/>
              </a:rPr>
              <a:t>reproduction, and </a:t>
            </a:r>
          </a:p>
          <a:p>
            <a:pPr lvl="2"/>
            <a:r>
              <a:rPr lang="en-GB" sz="1800" dirty="0">
                <a:latin typeface="Century Gothic" panose="020B0502020202020204" pitchFamily="34" charset="0"/>
              </a:rPr>
              <a:t>work.</a:t>
            </a:r>
          </a:p>
        </p:txBody>
      </p:sp>
    </p:spTree>
    <p:extLst>
      <p:ext uri="{BB962C8B-B14F-4D97-AF65-F5344CB8AC3E}">
        <p14:creationId xmlns:p14="http://schemas.microsoft.com/office/powerpoint/2010/main" val="20270413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2152650" y="115737"/>
            <a:ext cx="7886700" cy="1325563"/>
          </a:xfrm>
        </p:spPr>
        <p:txBody>
          <a:bodyPr>
            <a:normAutofit/>
          </a:bodyPr>
          <a:lstStyle/>
          <a:p>
            <a:r>
              <a:rPr lang="en-US" sz="2400" b="1" dirty="0">
                <a:solidFill>
                  <a:srgbClr val="00B0F0"/>
                </a:solidFill>
                <a:latin typeface="Century Gothic" panose="020B0502020202020204" pitchFamily="34" charset="0"/>
              </a:rPr>
              <a:t>FEED PROCESSING, MIXING AND STORAGE</a:t>
            </a:r>
            <a:endParaRPr lang="nl-BE" sz="2400" b="1" dirty="0">
              <a:solidFill>
                <a:srgbClr val="00B0F0"/>
              </a:solidFill>
              <a:latin typeface="Century Gothic" panose="020B0502020202020204" pitchFamily="34" charset="0"/>
            </a:endParaRPr>
          </a:p>
        </p:txBody>
      </p:sp>
      <p:sp>
        <p:nvSpPr>
          <p:cNvPr id="3" name="Tijdelijke aanduiding voor inhoud 2"/>
          <p:cNvSpPr>
            <a:spLocks noGrp="1"/>
          </p:cNvSpPr>
          <p:nvPr>
            <p:ph idx="1"/>
          </p:nvPr>
        </p:nvSpPr>
        <p:spPr>
          <a:xfrm>
            <a:off x="2152650" y="1326845"/>
            <a:ext cx="7886700" cy="4351338"/>
          </a:xfrm>
        </p:spPr>
        <p:txBody>
          <a:bodyPr>
            <a:noAutofit/>
          </a:bodyPr>
          <a:lstStyle/>
          <a:p>
            <a:r>
              <a:rPr lang="en-US" sz="2200" b="1" dirty="0">
                <a:latin typeface="Century Gothic" panose="020B0502020202020204" pitchFamily="34" charset="0"/>
              </a:rPr>
              <a:t>Why process?</a:t>
            </a:r>
          </a:p>
          <a:p>
            <a:pPr marL="571500" indent="-571500">
              <a:buFont typeface="+mj-lt"/>
              <a:buAutoNum type="romanLcPeriod"/>
            </a:pPr>
            <a:r>
              <a:rPr lang="en-US" sz="2200" dirty="0">
                <a:latin typeface="Century Gothic" panose="020B0502020202020204" pitchFamily="34" charset="0"/>
              </a:rPr>
              <a:t>Alter particle size or physical form</a:t>
            </a:r>
          </a:p>
          <a:p>
            <a:pPr marL="571500" indent="-571500">
              <a:buFont typeface="+mj-lt"/>
              <a:buAutoNum type="romanLcPeriod"/>
            </a:pPr>
            <a:r>
              <a:rPr lang="en-US" sz="2200" dirty="0">
                <a:latin typeface="Century Gothic" panose="020B0502020202020204" pitchFamily="34" charset="0"/>
              </a:rPr>
              <a:t>Improve palatability</a:t>
            </a:r>
          </a:p>
          <a:p>
            <a:pPr marL="571500" indent="-571500">
              <a:buFont typeface="+mj-lt"/>
              <a:buAutoNum type="romanLcPeriod"/>
            </a:pPr>
            <a:r>
              <a:rPr lang="en-US" sz="2200" dirty="0">
                <a:latin typeface="Century Gothic" panose="020B0502020202020204" pitchFamily="34" charset="0"/>
              </a:rPr>
              <a:t>Prevent spoilage</a:t>
            </a:r>
          </a:p>
          <a:p>
            <a:pPr marL="571500" indent="-571500">
              <a:buFont typeface="+mj-lt"/>
              <a:buAutoNum type="romanLcPeriod"/>
            </a:pPr>
            <a:r>
              <a:rPr lang="en-US" sz="2200" dirty="0">
                <a:latin typeface="Century Gothic" panose="020B0502020202020204" pitchFamily="34" charset="0"/>
              </a:rPr>
              <a:t>Detoxify poisons or anti-nutritional factors</a:t>
            </a:r>
          </a:p>
          <a:p>
            <a:endParaRPr lang="en-US" sz="2200" dirty="0">
              <a:latin typeface="Century Gothic" panose="020B0502020202020204" pitchFamily="34" charset="0"/>
            </a:endParaRPr>
          </a:p>
          <a:p>
            <a:r>
              <a:rPr lang="en-US" sz="2200" b="1" dirty="0">
                <a:latin typeface="Century Gothic" panose="020B0502020202020204" pitchFamily="34" charset="0"/>
              </a:rPr>
              <a:t>Methods of feed processing</a:t>
            </a:r>
          </a:p>
          <a:p>
            <a:pPr marL="571500" indent="-571500">
              <a:buFont typeface="+mj-lt"/>
              <a:buAutoNum type="romanLcPeriod"/>
            </a:pPr>
            <a:r>
              <a:rPr lang="en-US" sz="2200" dirty="0">
                <a:latin typeface="Century Gothic" panose="020B0502020202020204" pitchFamily="34" charset="0"/>
              </a:rPr>
              <a:t>Mechanical e.g. hammer mill</a:t>
            </a:r>
          </a:p>
          <a:p>
            <a:pPr marL="571500" indent="-571500">
              <a:buFont typeface="+mj-lt"/>
              <a:buAutoNum type="romanLcPeriod"/>
            </a:pPr>
            <a:r>
              <a:rPr lang="en-US" sz="2200" dirty="0">
                <a:latin typeface="Century Gothic" panose="020B0502020202020204" pitchFamily="34" charset="0"/>
              </a:rPr>
              <a:t>Chemical e.g. solvent extraction</a:t>
            </a:r>
          </a:p>
          <a:p>
            <a:pPr marL="571500" indent="-571500">
              <a:buFont typeface="+mj-lt"/>
              <a:buAutoNum type="romanLcPeriod"/>
            </a:pPr>
            <a:r>
              <a:rPr lang="en-US" sz="2200" dirty="0">
                <a:latin typeface="Century Gothic" panose="020B0502020202020204" pitchFamily="34" charset="0"/>
              </a:rPr>
              <a:t>Thermal e.g. roasting</a:t>
            </a:r>
          </a:p>
          <a:p>
            <a:pPr marL="571500" indent="-571500">
              <a:buFont typeface="+mj-lt"/>
              <a:buAutoNum type="romanLcPeriod"/>
            </a:pPr>
            <a:r>
              <a:rPr lang="en-US" sz="2200" dirty="0">
                <a:latin typeface="Century Gothic" panose="020B0502020202020204" pitchFamily="34" charset="0"/>
              </a:rPr>
              <a:t>Microbial fermentation </a:t>
            </a:r>
            <a:endParaRPr lang="nl-BE" sz="2200" dirty="0">
              <a:latin typeface="Century Gothic" panose="020B0502020202020204" pitchFamily="34" charset="0"/>
            </a:endParaRPr>
          </a:p>
        </p:txBody>
      </p:sp>
    </p:spTree>
    <p:extLst>
      <p:ext uri="{BB962C8B-B14F-4D97-AF65-F5344CB8AC3E}">
        <p14:creationId xmlns:p14="http://schemas.microsoft.com/office/powerpoint/2010/main" val="2829214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2152650" y="115737"/>
            <a:ext cx="7886700" cy="1325563"/>
          </a:xfrm>
        </p:spPr>
        <p:txBody>
          <a:bodyPr>
            <a:normAutofit/>
          </a:bodyPr>
          <a:lstStyle/>
          <a:p>
            <a:r>
              <a:rPr lang="en-US" sz="2400" b="1" dirty="0">
                <a:solidFill>
                  <a:srgbClr val="00B0F0"/>
                </a:solidFill>
                <a:latin typeface="Century Gothic" panose="020B0502020202020204" pitchFamily="34" charset="0"/>
              </a:rPr>
              <a:t>FEED PROCESSING, MIXING AND STORAGE</a:t>
            </a:r>
            <a:endParaRPr lang="nl-BE" sz="2400" b="1" dirty="0">
              <a:solidFill>
                <a:srgbClr val="00B0F0"/>
              </a:solidFill>
              <a:latin typeface="Century Gothic" panose="020B0502020202020204" pitchFamily="34" charset="0"/>
            </a:endParaRPr>
          </a:p>
        </p:txBody>
      </p:sp>
      <p:sp>
        <p:nvSpPr>
          <p:cNvPr id="3" name="Tijdelijke aanduiding voor inhoud 2"/>
          <p:cNvSpPr>
            <a:spLocks noGrp="1"/>
          </p:cNvSpPr>
          <p:nvPr>
            <p:ph idx="1"/>
          </p:nvPr>
        </p:nvSpPr>
        <p:spPr>
          <a:xfrm>
            <a:off x="2166504" y="1077464"/>
            <a:ext cx="7886700" cy="4351338"/>
          </a:xfrm>
        </p:spPr>
        <p:txBody>
          <a:bodyPr>
            <a:noAutofit/>
          </a:bodyPr>
          <a:lstStyle/>
          <a:p>
            <a:r>
              <a:rPr lang="en-US" b="1" dirty="0">
                <a:latin typeface="Century Gothic" panose="020B0502020202020204" pitchFamily="34" charset="0"/>
              </a:rPr>
              <a:t>Grinding</a:t>
            </a:r>
          </a:p>
          <a:p>
            <a:r>
              <a:rPr lang="en-US" dirty="0">
                <a:latin typeface="Century Gothic" panose="020B0502020202020204" pitchFamily="34" charset="0"/>
              </a:rPr>
              <a:t>Commonest processing method - using hammer mill</a:t>
            </a:r>
          </a:p>
          <a:p>
            <a:r>
              <a:rPr lang="en-US" dirty="0">
                <a:latin typeface="Century Gothic" panose="020B0502020202020204" pitchFamily="34" charset="0"/>
              </a:rPr>
              <a:t>Improves digestibility of small hard seeds</a:t>
            </a:r>
          </a:p>
          <a:p>
            <a:r>
              <a:rPr lang="en-US" dirty="0">
                <a:latin typeface="Century Gothic" panose="020B0502020202020204" pitchFamily="34" charset="0"/>
              </a:rPr>
              <a:t>Particle size is controlled by changing screen size</a:t>
            </a:r>
          </a:p>
          <a:p>
            <a:endParaRPr lang="en-US" dirty="0">
              <a:latin typeface="Century Gothic" panose="020B0502020202020204" pitchFamily="34" charset="0"/>
            </a:endParaRPr>
          </a:p>
          <a:p>
            <a:r>
              <a:rPr lang="en-US" b="1" dirty="0">
                <a:latin typeface="Century Gothic" panose="020B0502020202020204" pitchFamily="34" charset="0"/>
              </a:rPr>
              <a:t>Soaked grain</a:t>
            </a:r>
          </a:p>
          <a:p>
            <a:r>
              <a:rPr lang="en-US" dirty="0">
                <a:latin typeface="Century Gothic" panose="020B0502020202020204" pitchFamily="34" charset="0"/>
              </a:rPr>
              <a:t>Softens grains and improves palatability</a:t>
            </a:r>
          </a:p>
          <a:p>
            <a:r>
              <a:rPr lang="en-US" dirty="0">
                <a:latin typeface="Century Gothic" panose="020B0502020202020204" pitchFamily="34" charset="0"/>
              </a:rPr>
              <a:t>Soak for 12 to 24hours in water</a:t>
            </a:r>
          </a:p>
          <a:p>
            <a:endParaRPr lang="en-US" dirty="0">
              <a:latin typeface="Century Gothic" panose="020B0502020202020204" pitchFamily="34" charset="0"/>
            </a:endParaRPr>
          </a:p>
          <a:p>
            <a:r>
              <a:rPr lang="en-US" b="1" dirty="0">
                <a:latin typeface="Century Gothic" panose="020B0502020202020204" pitchFamily="34" charset="0"/>
              </a:rPr>
              <a:t>Roller mill cracking and grinding</a:t>
            </a:r>
          </a:p>
          <a:p>
            <a:r>
              <a:rPr lang="en-US" dirty="0">
                <a:latin typeface="Century Gothic" panose="020B0502020202020204" pitchFamily="34" charset="0"/>
              </a:rPr>
              <a:t>Compress grain between corrugated rolls that can be screwed together</a:t>
            </a:r>
          </a:p>
          <a:p>
            <a:r>
              <a:rPr lang="en-US" dirty="0">
                <a:latin typeface="Century Gothic" panose="020B0502020202020204" pitchFamily="34" charset="0"/>
              </a:rPr>
              <a:t>Less dusty than hammer mill</a:t>
            </a:r>
            <a:endParaRPr lang="nl-BE" dirty="0">
              <a:latin typeface="Century Gothic" panose="020B0502020202020204" pitchFamily="34" charset="0"/>
            </a:endParaRPr>
          </a:p>
        </p:txBody>
      </p:sp>
    </p:spTree>
    <p:extLst>
      <p:ext uri="{BB962C8B-B14F-4D97-AF65-F5344CB8AC3E}">
        <p14:creationId xmlns:p14="http://schemas.microsoft.com/office/powerpoint/2010/main" val="3652410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2152650" y="115737"/>
            <a:ext cx="7886700" cy="1325563"/>
          </a:xfrm>
        </p:spPr>
        <p:txBody>
          <a:bodyPr>
            <a:normAutofit/>
          </a:bodyPr>
          <a:lstStyle/>
          <a:p>
            <a:r>
              <a:rPr lang="en-US" sz="2400" b="1" dirty="0">
                <a:solidFill>
                  <a:srgbClr val="00B0F0"/>
                </a:solidFill>
                <a:latin typeface="Century Gothic" panose="020B0502020202020204" pitchFamily="34" charset="0"/>
              </a:rPr>
              <a:t>FEED PROCESSING, MIXING AND STORAGE</a:t>
            </a:r>
            <a:endParaRPr lang="nl-BE" sz="2400" b="1" dirty="0">
              <a:solidFill>
                <a:srgbClr val="00B0F0"/>
              </a:solidFill>
              <a:latin typeface="Century Gothic" panose="020B0502020202020204" pitchFamily="34" charset="0"/>
            </a:endParaRPr>
          </a:p>
        </p:txBody>
      </p:sp>
      <p:sp>
        <p:nvSpPr>
          <p:cNvPr id="3" name="Tijdelijke aanduiding voor inhoud 2"/>
          <p:cNvSpPr>
            <a:spLocks noGrp="1"/>
          </p:cNvSpPr>
          <p:nvPr>
            <p:ph idx="1"/>
          </p:nvPr>
        </p:nvSpPr>
        <p:spPr>
          <a:xfrm>
            <a:off x="2152650" y="650311"/>
            <a:ext cx="7886700" cy="6072461"/>
          </a:xfrm>
        </p:spPr>
        <p:txBody>
          <a:bodyPr>
            <a:noAutofit/>
          </a:bodyPr>
          <a:lstStyle/>
          <a:p>
            <a:r>
              <a:rPr lang="en-US" sz="2200" b="1" dirty="0">
                <a:latin typeface="Century Gothic" panose="020B0502020202020204" pitchFamily="34" charset="0"/>
              </a:rPr>
              <a:t>Extruding</a:t>
            </a:r>
          </a:p>
          <a:p>
            <a:r>
              <a:rPr lang="en-US" sz="2200" dirty="0">
                <a:latin typeface="Century Gothic" panose="020B0502020202020204" pitchFamily="34" charset="0"/>
              </a:rPr>
              <a:t>Passing feed through a machine with a spiral screw which forces feed through a tapered head</a:t>
            </a:r>
          </a:p>
          <a:p>
            <a:r>
              <a:rPr lang="en-US" sz="2200" dirty="0">
                <a:latin typeface="Century Gothic" panose="020B0502020202020204" pitchFamily="34" charset="0"/>
              </a:rPr>
              <a:t>Heating removes anti-nutritional factors</a:t>
            </a:r>
          </a:p>
          <a:p>
            <a:endParaRPr lang="en-US" sz="2200" dirty="0">
              <a:latin typeface="Century Gothic" panose="020B0502020202020204" pitchFamily="34" charset="0"/>
            </a:endParaRPr>
          </a:p>
          <a:p>
            <a:r>
              <a:rPr lang="en-US" sz="2200" b="1" dirty="0">
                <a:latin typeface="Century Gothic" panose="020B0502020202020204" pitchFamily="34" charset="0"/>
              </a:rPr>
              <a:t>Solvent extraction</a:t>
            </a:r>
          </a:p>
          <a:p>
            <a:r>
              <a:rPr lang="en-US" sz="2200" dirty="0">
                <a:latin typeface="Century Gothic" panose="020B0502020202020204" pitchFamily="34" charset="0"/>
              </a:rPr>
              <a:t>Removal of oils/fats from feed using solvents such as ether</a:t>
            </a:r>
          </a:p>
          <a:p>
            <a:endParaRPr lang="en-US" sz="2200" dirty="0">
              <a:latin typeface="Century Gothic" panose="020B0502020202020204" pitchFamily="34" charset="0"/>
            </a:endParaRPr>
          </a:p>
          <a:p>
            <a:r>
              <a:rPr lang="en-US" sz="2200" b="1" dirty="0">
                <a:latin typeface="Century Gothic" panose="020B0502020202020204" pitchFamily="34" charset="0"/>
              </a:rPr>
              <a:t>Roasting</a:t>
            </a:r>
          </a:p>
          <a:p>
            <a:r>
              <a:rPr lang="en-US" sz="2200" dirty="0">
                <a:latin typeface="Century Gothic" panose="020B0502020202020204" pitchFamily="34" charset="0"/>
              </a:rPr>
              <a:t>Passing grain through flame which results in heating and expansion of the grain</a:t>
            </a:r>
          </a:p>
          <a:p>
            <a:r>
              <a:rPr lang="en-US" sz="2200" dirty="0">
                <a:latin typeface="Century Gothic" panose="020B0502020202020204" pitchFamily="34" charset="0"/>
              </a:rPr>
              <a:t>Improves palatability</a:t>
            </a:r>
            <a:endParaRPr lang="nl-BE" sz="2200" dirty="0">
              <a:latin typeface="Century Gothic" panose="020B0502020202020204" pitchFamily="34" charset="0"/>
            </a:endParaRPr>
          </a:p>
        </p:txBody>
      </p:sp>
    </p:spTree>
    <p:extLst>
      <p:ext uri="{BB962C8B-B14F-4D97-AF65-F5344CB8AC3E}">
        <p14:creationId xmlns:p14="http://schemas.microsoft.com/office/powerpoint/2010/main" val="3752376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2152650" y="365127"/>
            <a:ext cx="7886700" cy="881783"/>
          </a:xfrm>
        </p:spPr>
        <p:txBody>
          <a:bodyPr>
            <a:normAutofit/>
          </a:bodyPr>
          <a:lstStyle/>
          <a:p>
            <a:r>
              <a:rPr lang="en-US" sz="2400" b="1" dirty="0">
                <a:solidFill>
                  <a:srgbClr val="00B0F0"/>
                </a:solidFill>
                <a:latin typeface="Century Gothic" panose="020B0502020202020204" pitchFamily="34" charset="0"/>
              </a:rPr>
              <a:t>FEED MIXING AND STORAGE</a:t>
            </a:r>
            <a:endParaRPr lang="nl-BE" sz="2400" b="1" dirty="0">
              <a:solidFill>
                <a:srgbClr val="00B0F0"/>
              </a:solidFill>
              <a:latin typeface="Century Gothic" panose="020B0502020202020204" pitchFamily="34" charset="0"/>
            </a:endParaRPr>
          </a:p>
        </p:txBody>
      </p:sp>
      <p:sp>
        <p:nvSpPr>
          <p:cNvPr id="3" name="Tijdelijke aanduiding voor inhoud 2"/>
          <p:cNvSpPr>
            <a:spLocks noGrp="1"/>
          </p:cNvSpPr>
          <p:nvPr>
            <p:ph idx="1"/>
          </p:nvPr>
        </p:nvSpPr>
        <p:spPr>
          <a:xfrm>
            <a:off x="2152650" y="1371601"/>
            <a:ext cx="7886700" cy="4805363"/>
          </a:xfrm>
        </p:spPr>
        <p:txBody>
          <a:bodyPr>
            <a:normAutofit/>
          </a:bodyPr>
          <a:lstStyle/>
          <a:p>
            <a:r>
              <a:rPr lang="en-US" sz="2200" b="1" dirty="0">
                <a:latin typeface="Century Gothic" panose="020B0502020202020204" pitchFamily="34" charset="0"/>
              </a:rPr>
              <a:t>FEED MIXING </a:t>
            </a:r>
          </a:p>
          <a:p>
            <a:r>
              <a:rPr lang="en-US" sz="2200" dirty="0">
                <a:latin typeface="Century Gothic" panose="020B0502020202020204" pitchFamily="34" charset="0"/>
              </a:rPr>
              <a:t>It must be done thoroughly.</a:t>
            </a:r>
          </a:p>
          <a:p>
            <a:pPr marL="971550" lvl="1" indent="-514350">
              <a:buFont typeface="+mj-lt"/>
              <a:buAutoNum type="alphaLcParenR"/>
            </a:pPr>
            <a:r>
              <a:rPr lang="en-US" sz="2200" dirty="0">
                <a:latin typeface="Century Gothic" panose="020B0502020202020204" pitchFamily="34" charset="0"/>
              </a:rPr>
              <a:t>Feed mixer</a:t>
            </a:r>
          </a:p>
          <a:p>
            <a:pPr marL="971550" lvl="1" indent="-514350">
              <a:buFont typeface="+mj-lt"/>
              <a:buAutoNum type="alphaLcParenR"/>
            </a:pPr>
            <a:r>
              <a:rPr lang="en-US" sz="2200" dirty="0">
                <a:latin typeface="Century Gothic" panose="020B0502020202020204" pitchFamily="34" charset="0"/>
              </a:rPr>
              <a:t>Drum mixer</a:t>
            </a:r>
          </a:p>
          <a:p>
            <a:pPr marL="971550" lvl="1" indent="-514350">
              <a:buFont typeface="+mj-lt"/>
              <a:buAutoNum type="alphaLcParenR"/>
            </a:pPr>
            <a:r>
              <a:rPr lang="en-US" sz="2200" dirty="0">
                <a:latin typeface="Century Gothic" panose="020B0502020202020204" pitchFamily="34" charset="0"/>
              </a:rPr>
              <a:t>Floor (shovel/spade)</a:t>
            </a:r>
          </a:p>
          <a:p>
            <a:endParaRPr lang="en-US" sz="2200" dirty="0">
              <a:latin typeface="Century Gothic" panose="020B0502020202020204" pitchFamily="34" charset="0"/>
            </a:endParaRPr>
          </a:p>
          <a:p>
            <a:r>
              <a:rPr lang="en-US" sz="2200" b="1" dirty="0">
                <a:latin typeface="Century Gothic" panose="020B0502020202020204" pitchFamily="34" charset="0"/>
              </a:rPr>
              <a:t>STORAGE</a:t>
            </a:r>
          </a:p>
          <a:p>
            <a:r>
              <a:rPr lang="en-US" sz="2200" dirty="0">
                <a:latin typeface="Century Gothic" panose="020B0502020202020204" pitchFamily="34" charset="0"/>
              </a:rPr>
              <a:t>Store in cool and dry place</a:t>
            </a:r>
          </a:p>
          <a:p>
            <a:r>
              <a:rPr lang="en-US" sz="2200" dirty="0">
                <a:latin typeface="Century Gothic" panose="020B0502020202020204" pitchFamily="34" charset="0"/>
              </a:rPr>
              <a:t>Avoid direct sunlight – destroys vitamins</a:t>
            </a:r>
          </a:p>
          <a:p>
            <a:r>
              <a:rPr lang="en-US" sz="2200" dirty="0">
                <a:latin typeface="Century Gothic" panose="020B0502020202020204" pitchFamily="34" charset="0"/>
              </a:rPr>
              <a:t>Prevent rodents or insect attack</a:t>
            </a:r>
            <a:endParaRPr lang="nl-BE" sz="2200" dirty="0">
              <a:latin typeface="Century Gothic" panose="020B0502020202020204" pitchFamily="34" charset="0"/>
            </a:endParaRPr>
          </a:p>
        </p:txBody>
      </p:sp>
    </p:spTree>
    <p:extLst>
      <p:ext uri="{BB962C8B-B14F-4D97-AF65-F5344CB8AC3E}">
        <p14:creationId xmlns:p14="http://schemas.microsoft.com/office/powerpoint/2010/main" val="4101040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4742" y="231354"/>
            <a:ext cx="11016868" cy="6213513"/>
          </a:xfrm>
        </p:spPr>
        <p:txBody>
          <a:bodyPr>
            <a:noAutofit/>
          </a:bodyPr>
          <a:lstStyle/>
          <a:p>
            <a:pPr marL="0" indent="0">
              <a:buNone/>
            </a:pPr>
            <a:r>
              <a:rPr lang="en-GB" sz="2400" b="1" dirty="0">
                <a:solidFill>
                  <a:srgbClr val="00B0F0"/>
                </a:solidFill>
              </a:rPr>
              <a:t>General Principles</a:t>
            </a:r>
            <a:endParaRPr lang="en-GB" sz="2400" dirty="0">
              <a:solidFill>
                <a:srgbClr val="00B0F0"/>
              </a:solidFill>
            </a:endParaRPr>
          </a:p>
          <a:p>
            <a:r>
              <a:rPr lang="en-GB" sz="2400" dirty="0">
                <a:latin typeface="Times New Roman" panose="02020603050405020304" pitchFamily="18" charset="0"/>
                <a:cs typeface="Times New Roman" panose="02020603050405020304" pitchFamily="18" charset="0"/>
              </a:rPr>
              <a:t>The nutrient allowance figured in the balanced ration should not be more than 3 percent below the animal’s requirement, which should be met as closely as possible.</a:t>
            </a:r>
          </a:p>
          <a:p>
            <a:r>
              <a:rPr lang="en-GB" sz="2400" dirty="0">
                <a:latin typeface="Times New Roman" panose="02020603050405020304" pitchFamily="18" charset="0"/>
                <a:cs typeface="Times New Roman" panose="02020603050405020304" pitchFamily="18" charset="0"/>
              </a:rPr>
              <a:t>The amount of protein in the ration may be measured by the total protein (TP)  need of the animal</a:t>
            </a:r>
          </a:p>
          <a:p>
            <a:r>
              <a:rPr lang="en-GB" sz="2400" dirty="0">
                <a:latin typeface="Times New Roman" panose="02020603050405020304" pitchFamily="18" charset="0"/>
                <a:cs typeface="Times New Roman" panose="02020603050405020304" pitchFamily="18" charset="0"/>
              </a:rPr>
              <a:t>Digestible protein (DP) may also be used as the measure to balance the ration.</a:t>
            </a:r>
          </a:p>
          <a:p>
            <a:r>
              <a:rPr lang="en-GB" sz="2400" dirty="0">
                <a:latin typeface="Times New Roman" panose="02020603050405020304" pitchFamily="18" charset="0"/>
                <a:cs typeface="Times New Roman" panose="02020603050405020304" pitchFamily="18" charset="0"/>
              </a:rPr>
              <a:t>The essential amino acids must be included when balancing rations for non-ruminants.</a:t>
            </a:r>
          </a:p>
          <a:p>
            <a:r>
              <a:rPr lang="en-GB" sz="2400" dirty="0">
                <a:latin typeface="Times New Roman" panose="02020603050405020304" pitchFamily="18" charset="0"/>
                <a:cs typeface="Times New Roman" panose="02020603050405020304" pitchFamily="18" charset="0"/>
              </a:rPr>
              <a:t>It is acceptable to allow 5 to 10 percent more protein in the ration than the animal needs. However, too much protein above the animal’s needs will raise the cost of the ration.</a:t>
            </a:r>
          </a:p>
        </p:txBody>
      </p:sp>
    </p:spTree>
    <p:extLst>
      <p:ext uri="{BB962C8B-B14F-4D97-AF65-F5344CB8AC3E}">
        <p14:creationId xmlns:p14="http://schemas.microsoft.com/office/powerpoint/2010/main" val="2817063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907" y="0"/>
            <a:ext cx="7886700" cy="558558"/>
          </a:xfrm>
        </p:spPr>
        <p:txBody>
          <a:bodyPr/>
          <a:lstStyle/>
          <a:p>
            <a:r>
              <a:rPr lang="en-GB" b="1" dirty="0">
                <a:solidFill>
                  <a:srgbClr val="00B0F0"/>
                </a:solidFill>
              </a:rPr>
              <a:t>BASIC GUIDELINES</a:t>
            </a:r>
          </a:p>
        </p:txBody>
      </p:sp>
      <p:sp>
        <p:nvSpPr>
          <p:cNvPr id="3" name="Content Placeholder 2"/>
          <p:cNvSpPr>
            <a:spLocks noGrp="1"/>
          </p:cNvSpPr>
          <p:nvPr>
            <p:ph idx="1"/>
          </p:nvPr>
        </p:nvSpPr>
        <p:spPr>
          <a:xfrm>
            <a:off x="176270" y="558559"/>
            <a:ext cx="11435508" cy="6128680"/>
          </a:xfrm>
        </p:spPr>
        <p:txBody>
          <a:bodyPr>
            <a:noAutofit/>
          </a:bodyPr>
          <a:lstStyle/>
          <a:p>
            <a:pPr marL="571500" indent="-571500">
              <a:buFont typeface="+mj-lt"/>
              <a:buAutoNum type="romanLcPeriod"/>
            </a:pPr>
            <a:r>
              <a:rPr lang="en-GB" sz="1600" dirty="0"/>
              <a:t>Get the requirements for the subject to be fed from the table of nutrient requirements.</a:t>
            </a:r>
          </a:p>
          <a:p>
            <a:pPr marL="571500" indent="-571500">
              <a:buFont typeface="+mj-lt"/>
              <a:buAutoNum type="romanLcPeriod"/>
            </a:pPr>
            <a:r>
              <a:rPr lang="en-GB" sz="1600" dirty="0"/>
              <a:t>Identify the composition of ingredients to be used for the nutrients energy, Crude Protein, Lysine, Methionine, calcium, and phosphorus.</a:t>
            </a:r>
          </a:p>
          <a:p>
            <a:pPr marL="571500" indent="-571500">
              <a:buFont typeface="+mj-lt"/>
              <a:buAutoNum type="romanLcPeriod"/>
            </a:pPr>
            <a:r>
              <a:rPr lang="en-GB" sz="1600" dirty="0"/>
              <a:t>Start by balancing for crude protein or crude protein and energy using major ingredients (grains and protein sources). While doing this leave a space for inclusion of premixes, salt and other minor ingredients.</a:t>
            </a:r>
          </a:p>
          <a:p>
            <a:pPr marL="571500" indent="-571500">
              <a:buFont typeface="+mj-lt"/>
              <a:buAutoNum type="romanLcPeriod"/>
            </a:pPr>
            <a:r>
              <a:rPr lang="en-GB" sz="1600" dirty="0"/>
              <a:t>Check the total contributions of these major ingredients to all nutrients, energy, crude protein, lysine, methionine, calcium and phosphorus.</a:t>
            </a:r>
          </a:p>
          <a:p>
            <a:pPr marL="571500" indent="-571500">
              <a:buFont typeface="+mj-lt"/>
              <a:buAutoNum type="romanLcPeriod" startAt="5"/>
            </a:pPr>
            <a:r>
              <a:rPr lang="en-GB" sz="1600" dirty="0"/>
              <a:t>Take note of the deficiencies in any of the nutrients above as shown below, in the order given:</a:t>
            </a:r>
          </a:p>
          <a:p>
            <a:pPr marL="914400" lvl="2" indent="0">
              <a:buNone/>
            </a:pPr>
            <a:r>
              <a:rPr lang="en-GB" u="sng" dirty="0"/>
              <a:t>Deficiency in</a:t>
            </a:r>
            <a:r>
              <a:rPr lang="en-GB" dirty="0"/>
              <a:t> 	</a:t>
            </a:r>
            <a:r>
              <a:rPr lang="en-GB" u="sng" dirty="0"/>
              <a:t>To be added</a:t>
            </a:r>
          </a:p>
          <a:p>
            <a:pPr marL="914400" lvl="2" indent="0">
              <a:buNone/>
            </a:pPr>
            <a:r>
              <a:rPr lang="en-GB" dirty="0"/>
              <a:t>Energy		fat or oil</a:t>
            </a:r>
          </a:p>
          <a:p>
            <a:pPr marL="914400" lvl="2" indent="0">
              <a:buNone/>
            </a:pPr>
            <a:r>
              <a:rPr lang="en-GB" dirty="0"/>
              <a:t>Lysine		synthetic lysine</a:t>
            </a:r>
          </a:p>
          <a:p>
            <a:pPr marL="914400" lvl="2" indent="0">
              <a:buNone/>
            </a:pPr>
            <a:r>
              <a:rPr lang="en-GB" dirty="0"/>
              <a:t>Methionine  	synthetic Methionine</a:t>
            </a:r>
          </a:p>
          <a:p>
            <a:pPr marL="914400" lvl="2" indent="0">
              <a:buNone/>
            </a:pPr>
            <a:r>
              <a:rPr lang="en-GB" dirty="0"/>
              <a:t>Phosphorus	bone meal or Calcium phosphate</a:t>
            </a:r>
          </a:p>
          <a:p>
            <a:pPr marL="914400" lvl="2" indent="0">
              <a:buNone/>
            </a:pPr>
            <a:r>
              <a:rPr lang="en-GB" dirty="0"/>
              <a:t>Calcium		Limestone</a:t>
            </a:r>
          </a:p>
          <a:p>
            <a:pPr marL="571500" indent="-571500">
              <a:buFont typeface="+mj-lt"/>
              <a:buAutoNum type="romanLcPeriod" startAt="5"/>
            </a:pPr>
            <a:r>
              <a:rPr lang="en-GB" sz="1600" dirty="0"/>
              <a:t>Add mineral and vitamin premixes at a rate recommended by the manufacturer</a:t>
            </a:r>
          </a:p>
          <a:p>
            <a:pPr marL="571500" indent="-571500">
              <a:buFont typeface="+mj-lt"/>
              <a:buAutoNum type="romanLcPeriod" startAt="5"/>
            </a:pPr>
            <a:r>
              <a:rPr lang="en-GB" sz="1600" dirty="0"/>
              <a:t>Add salt at any rate between 0.25% and 0.5% of the mixture</a:t>
            </a:r>
          </a:p>
          <a:p>
            <a:pPr marL="571500" indent="-571500">
              <a:buFont typeface="+mj-lt"/>
              <a:buAutoNum type="romanLcPeriod" startAt="5"/>
            </a:pPr>
            <a:r>
              <a:rPr lang="en-GB" sz="1600" dirty="0"/>
              <a:t>Energy content need not to be exact, a level falling within the requirement value ±10% is acceptable.</a:t>
            </a:r>
          </a:p>
        </p:txBody>
      </p:sp>
    </p:spTree>
    <p:extLst>
      <p:ext uri="{BB962C8B-B14F-4D97-AF65-F5344CB8AC3E}">
        <p14:creationId xmlns:p14="http://schemas.microsoft.com/office/powerpoint/2010/main" val="2444934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93671"/>
            <a:ext cx="7886700" cy="1325563"/>
          </a:xfrm>
        </p:spPr>
        <p:txBody>
          <a:bodyPr/>
          <a:lstStyle/>
          <a:p>
            <a:r>
              <a:rPr lang="en-GB" b="1" dirty="0">
                <a:solidFill>
                  <a:srgbClr val="00B0F0"/>
                </a:solidFill>
              </a:rPr>
              <a:t>CONSIDERATIONS DURING FEED FORMULATION</a:t>
            </a:r>
          </a:p>
        </p:txBody>
      </p:sp>
      <p:sp>
        <p:nvSpPr>
          <p:cNvPr id="3" name="Content Placeholder 2"/>
          <p:cNvSpPr>
            <a:spLocks noGrp="1"/>
          </p:cNvSpPr>
          <p:nvPr>
            <p:ph idx="1"/>
          </p:nvPr>
        </p:nvSpPr>
        <p:spPr>
          <a:xfrm>
            <a:off x="2152650" y="1568443"/>
            <a:ext cx="7886700" cy="4351338"/>
          </a:xfrm>
        </p:spPr>
        <p:txBody>
          <a:bodyPr>
            <a:noAutofit/>
          </a:bodyPr>
          <a:lstStyle/>
          <a:p>
            <a:pPr marL="571500" indent="-571500">
              <a:buFont typeface="+mj-lt"/>
              <a:buAutoNum type="romanLcPeriod"/>
            </a:pPr>
            <a:r>
              <a:rPr lang="en-GB" sz="2200" dirty="0">
                <a:latin typeface="Century Gothic" panose="020B0502020202020204" pitchFamily="34" charset="0"/>
              </a:rPr>
              <a:t>Nutrient requirement of the animal – look it up in the feeding standards table</a:t>
            </a:r>
          </a:p>
          <a:p>
            <a:pPr marL="571500" indent="-571500">
              <a:buFont typeface="+mj-lt"/>
              <a:buAutoNum type="romanLcPeriod"/>
            </a:pPr>
            <a:r>
              <a:rPr lang="en-GB" sz="2200" dirty="0">
                <a:latin typeface="Century Gothic" panose="020B0502020202020204" pitchFamily="34" charset="0"/>
              </a:rPr>
              <a:t>Availability and price of feedstuff</a:t>
            </a:r>
          </a:p>
          <a:p>
            <a:pPr marL="571500" indent="-571500">
              <a:buFont typeface="+mj-lt"/>
              <a:buAutoNum type="romanLcPeriod"/>
            </a:pPr>
            <a:r>
              <a:rPr lang="en-GB" sz="2200" dirty="0">
                <a:latin typeface="Century Gothic" panose="020B0502020202020204" pitchFamily="34" charset="0"/>
              </a:rPr>
              <a:t>Restrictions/limitations to use a particular feed ingredient</a:t>
            </a:r>
          </a:p>
          <a:p>
            <a:pPr marL="571500" indent="-571500">
              <a:buFont typeface="+mj-lt"/>
              <a:buAutoNum type="romanLcPeriod"/>
            </a:pPr>
            <a:r>
              <a:rPr lang="en-GB" sz="2200" dirty="0">
                <a:latin typeface="Century Gothic" panose="020B0502020202020204" pitchFamily="34" charset="0"/>
              </a:rPr>
              <a:t>Other ingredients / additives</a:t>
            </a:r>
          </a:p>
          <a:p>
            <a:pPr marL="571500" indent="-571500">
              <a:buFont typeface="+mj-lt"/>
              <a:buAutoNum type="romanLcPeriod"/>
            </a:pPr>
            <a:r>
              <a:rPr lang="en-GB" sz="2200" dirty="0">
                <a:latin typeface="Century Gothic" panose="020B0502020202020204" pitchFamily="34" charset="0"/>
              </a:rPr>
              <a:t>Type of ration – complete feed, concentrate, supplement</a:t>
            </a:r>
          </a:p>
          <a:p>
            <a:pPr marL="571500" indent="-571500">
              <a:buFont typeface="+mj-lt"/>
              <a:buAutoNum type="romanLcPeriod"/>
            </a:pPr>
            <a:r>
              <a:rPr lang="en-GB" sz="2200" dirty="0">
                <a:latin typeface="Century Gothic" panose="020B0502020202020204" pitchFamily="34" charset="0"/>
              </a:rPr>
              <a:t>Method used in feed formulation</a:t>
            </a:r>
          </a:p>
          <a:p>
            <a:pPr marL="1485900" lvl="2" indent="-571500">
              <a:buFont typeface="+mj-lt"/>
              <a:buAutoNum type="alphaLcPeriod"/>
            </a:pPr>
            <a:r>
              <a:rPr lang="en-GB" sz="2200" dirty="0">
                <a:latin typeface="Century Gothic" panose="020B0502020202020204" pitchFamily="34" charset="0"/>
              </a:rPr>
              <a:t>Pearson Square method</a:t>
            </a:r>
          </a:p>
          <a:p>
            <a:pPr marL="1485900" lvl="2" indent="-571500">
              <a:buFont typeface="+mj-lt"/>
              <a:buAutoNum type="alphaLcPeriod"/>
            </a:pPr>
            <a:r>
              <a:rPr lang="en-GB" sz="2200" dirty="0">
                <a:latin typeface="Century Gothic" panose="020B0502020202020204" pitchFamily="34" charset="0"/>
              </a:rPr>
              <a:t>Algebraic method</a:t>
            </a:r>
          </a:p>
          <a:p>
            <a:pPr marL="1485900" lvl="2" indent="-571500">
              <a:buFont typeface="+mj-lt"/>
              <a:buAutoNum type="alphaLcPeriod"/>
            </a:pPr>
            <a:r>
              <a:rPr lang="en-GB" sz="2200" dirty="0">
                <a:latin typeface="Century Gothic" panose="020B0502020202020204" pitchFamily="34" charset="0"/>
              </a:rPr>
              <a:t>Computer based method</a:t>
            </a:r>
          </a:p>
          <a:p>
            <a:endParaRPr lang="en-GB" sz="2200" dirty="0">
              <a:latin typeface="Century Gothic" panose="020B0502020202020204" pitchFamily="34" charset="0"/>
            </a:endParaRPr>
          </a:p>
        </p:txBody>
      </p:sp>
    </p:spTree>
    <p:extLst>
      <p:ext uri="{BB962C8B-B14F-4D97-AF65-F5344CB8AC3E}">
        <p14:creationId xmlns:p14="http://schemas.microsoft.com/office/powerpoint/2010/main" val="3587648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08710" y="452718"/>
            <a:ext cx="8350197" cy="732138"/>
          </a:xfrm>
        </p:spPr>
        <p:txBody>
          <a:bodyPr/>
          <a:lstStyle/>
          <a:p>
            <a:r>
              <a:rPr lang="en-GB" b="1" dirty="0">
                <a:solidFill>
                  <a:srgbClr val="00B0F0"/>
                </a:solidFill>
              </a:rPr>
              <a:t>POULTRY RATION FORMULATION</a:t>
            </a:r>
          </a:p>
        </p:txBody>
      </p:sp>
      <p:sp>
        <p:nvSpPr>
          <p:cNvPr id="3" name="Content Placeholder 2"/>
          <p:cNvSpPr>
            <a:spLocks noGrp="1"/>
          </p:cNvSpPr>
          <p:nvPr>
            <p:ph idx="1"/>
          </p:nvPr>
        </p:nvSpPr>
        <p:spPr>
          <a:xfrm>
            <a:off x="2008710" y="2086442"/>
            <a:ext cx="6711654" cy="4195481"/>
          </a:xfrm>
        </p:spPr>
        <p:txBody>
          <a:bodyPr>
            <a:normAutofit/>
          </a:bodyPr>
          <a:lstStyle/>
          <a:p>
            <a:pPr marL="514350" indent="-514350">
              <a:buFont typeface="+mj-lt"/>
              <a:buAutoNum type="alphaLcPeriod"/>
            </a:pPr>
            <a:r>
              <a:rPr lang="en-GB" sz="2200" b="1" dirty="0">
                <a:latin typeface="Century Gothic" panose="020B0502020202020204" pitchFamily="34" charset="0"/>
              </a:rPr>
              <a:t>Pearson Square method</a:t>
            </a:r>
          </a:p>
          <a:p>
            <a:r>
              <a:rPr lang="en-GB" sz="2200" dirty="0">
                <a:latin typeface="Century Gothic" panose="020B0502020202020204" pitchFamily="34" charset="0"/>
              </a:rPr>
              <a:t>The Pearson Square is a useful tool for simplifying the balancing of rations. </a:t>
            </a:r>
          </a:p>
          <a:p>
            <a:r>
              <a:rPr lang="en-GB" sz="2200" dirty="0">
                <a:latin typeface="Century Gothic" panose="020B0502020202020204" pitchFamily="34" charset="0"/>
              </a:rPr>
              <a:t>It shows the proportions or percentages of two feeds to be mixed together to give a percent of the needed nutrient.</a:t>
            </a:r>
          </a:p>
          <a:p>
            <a:r>
              <a:rPr lang="en-GB" sz="2200" dirty="0">
                <a:latin typeface="Century Gothic" panose="020B0502020202020204" pitchFamily="34" charset="0"/>
              </a:rPr>
              <a:t>Energy and protein ingredients used in most cases </a:t>
            </a:r>
          </a:p>
          <a:p>
            <a:r>
              <a:rPr lang="en-GB" sz="2200" dirty="0">
                <a:latin typeface="Century Gothic" panose="020B0502020202020204" pitchFamily="34" charset="0"/>
              </a:rPr>
              <a:t>Protein is used as the critical nutrient when using Pearson Square method</a:t>
            </a:r>
          </a:p>
          <a:p>
            <a:endParaRPr lang="en-GB" sz="2200" dirty="0">
              <a:latin typeface="Century Gothic" panose="020B0502020202020204" pitchFamily="34" charset="0"/>
            </a:endParaRPr>
          </a:p>
        </p:txBody>
      </p:sp>
    </p:spTree>
    <p:extLst>
      <p:ext uri="{BB962C8B-B14F-4D97-AF65-F5344CB8AC3E}">
        <p14:creationId xmlns:p14="http://schemas.microsoft.com/office/powerpoint/2010/main" val="8448490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
            <a:ext cx="7886700" cy="1325563"/>
          </a:xfrm>
        </p:spPr>
        <p:txBody>
          <a:bodyPr/>
          <a:lstStyle/>
          <a:p>
            <a:r>
              <a:rPr lang="en-GB" b="1" dirty="0">
                <a:solidFill>
                  <a:srgbClr val="00B0F0"/>
                </a:solidFill>
              </a:rPr>
              <a:t>Pearson Square method involving two feeds</a:t>
            </a:r>
          </a:p>
        </p:txBody>
      </p:sp>
      <p:sp>
        <p:nvSpPr>
          <p:cNvPr id="3" name="Content Placeholder 2"/>
          <p:cNvSpPr>
            <a:spLocks noGrp="1"/>
          </p:cNvSpPr>
          <p:nvPr>
            <p:ph idx="1"/>
          </p:nvPr>
        </p:nvSpPr>
        <p:spPr>
          <a:xfrm>
            <a:off x="2152650" y="1325563"/>
            <a:ext cx="7886700" cy="4851400"/>
          </a:xfrm>
        </p:spPr>
        <p:txBody>
          <a:bodyPr>
            <a:normAutofit/>
          </a:bodyPr>
          <a:lstStyle/>
          <a:p>
            <a:r>
              <a:rPr lang="en-GB" sz="2200" dirty="0">
                <a:latin typeface="Century Gothic" panose="020B0502020202020204" pitchFamily="34" charset="0"/>
              </a:rPr>
              <a:t>Assume we want to formulate layers marsh with 16% CP</a:t>
            </a:r>
          </a:p>
          <a:p>
            <a:r>
              <a:rPr lang="en-GB" sz="2200" dirty="0">
                <a:latin typeface="Century Gothic" panose="020B0502020202020204" pitchFamily="34" charset="0"/>
              </a:rPr>
              <a:t>A farmer wants to use maize and soybeans in his ration. A feed composition table shows that maize has 8% and soybean meal has 37 % crude protein on an as-fed basis. How much maize and soybean meal need to be mixed together?</a:t>
            </a:r>
          </a:p>
        </p:txBody>
      </p:sp>
    </p:spTree>
    <p:extLst>
      <p:ext uri="{BB962C8B-B14F-4D97-AF65-F5344CB8AC3E}">
        <p14:creationId xmlns:p14="http://schemas.microsoft.com/office/powerpoint/2010/main" val="3720646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8350" y="265702"/>
            <a:ext cx="7886700" cy="725488"/>
          </a:xfrm>
        </p:spPr>
        <p:style>
          <a:lnRef idx="2">
            <a:schemeClr val="dk1"/>
          </a:lnRef>
          <a:fillRef idx="1">
            <a:schemeClr val="lt1"/>
          </a:fillRef>
          <a:effectRef idx="0">
            <a:schemeClr val="dk1"/>
          </a:effectRef>
          <a:fontRef idx="minor">
            <a:schemeClr val="dk1"/>
          </a:fontRef>
        </p:style>
        <p:txBody>
          <a:bodyPr/>
          <a:lstStyle/>
          <a:p>
            <a:r>
              <a:rPr lang="en-GB" b="1" dirty="0">
                <a:solidFill>
                  <a:schemeClr val="bg1"/>
                </a:solidFill>
              </a:rPr>
              <a:t>Pearson Square method</a:t>
            </a:r>
          </a:p>
        </p:txBody>
      </p:sp>
      <p:sp>
        <p:nvSpPr>
          <p:cNvPr id="4" name="Rectangle 3"/>
          <p:cNvSpPr/>
          <p:nvPr/>
        </p:nvSpPr>
        <p:spPr>
          <a:xfrm>
            <a:off x="1896534" y="1104903"/>
            <a:ext cx="8142817" cy="120967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r>
              <a:rPr lang="en-GB" sz="2200" dirty="0">
                <a:solidFill>
                  <a:schemeClr val="bg1"/>
                </a:solidFill>
                <a:latin typeface="Century Gothic" panose="020B0502020202020204" pitchFamily="34" charset="0"/>
              </a:rPr>
              <a:t>Draw a square with lines connecting the opposite corners. Write the percent of crude protein needed (16) in the centre of the square where the lines cross.</a:t>
            </a:r>
          </a:p>
        </p:txBody>
      </p:sp>
      <p:sp>
        <p:nvSpPr>
          <p:cNvPr id="5" name="Rectangle 4"/>
          <p:cNvSpPr/>
          <p:nvPr/>
        </p:nvSpPr>
        <p:spPr>
          <a:xfrm>
            <a:off x="4110038" y="2728913"/>
            <a:ext cx="2743200" cy="24431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solidFill>
                <a:schemeClr val="bg1"/>
              </a:solidFill>
            </a:endParaRPr>
          </a:p>
        </p:txBody>
      </p:sp>
      <p:cxnSp>
        <p:nvCxnSpPr>
          <p:cNvPr id="7" name="Straight Connector 6"/>
          <p:cNvCxnSpPr/>
          <p:nvPr/>
        </p:nvCxnSpPr>
        <p:spPr>
          <a:xfrm>
            <a:off x="4152901" y="2786063"/>
            <a:ext cx="1171575" cy="957262"/>
          </a:xfrm>
          <a:prstGeom prst="line">
            <a:avLst/>
          </a:prstGeom>
        </p:spPr>
        <p:style>
          <a:lnRef idx="2">
            <a:schemeClr val="dk1"/>
          </a:lnRef>
          <a:fillRef idx="1">
            <a:schemeClr val="lt1"/>
          </a:fillRef>
          <a:effectRef idx="0">
            <a:schemeClr val="dk1"/>
          </a:effectRef>
          <a:fontRef idx="minor">
            <a:schemeClr val="dk1"/>
          </a:fontRef>
        </p:style>
      </p:cxnSp>
      <p:cxnSp>
        <p:nvCxnSpPr>
          <p:cNvPr id="14" name="Straight Connector 13"/>
          <p:cNvCxnSpPr/>
          <p:nvPr/>
        </p:nvCxnSpPr>
        <p:spPr>
          <a:xfrm flipV="1">
            <a:off x="4152900" y="4250532"/>
            <a:ext cx="1014416" cy="900115"/>
          </a:xfrm>
          <a:prstGeom prst="line">
            <a:avLst/>
          </a:prstGeom>
        </p:spPr>
        <p:style>
          <a:lnRef idx="2">
            <a:schemeClr val="dk1"/>
          </a:lnRef>
          <a:fillRef idx="1">
            <a:schemeClr val="lt1"/>
          </a:fillRef>
          <a:effectRef idx="0">
            <a:schemeClr val="dk1"/>
          </a:effectRef>
          <a:fontRef idx="minor">
            <a:schemeClr val="dk1"/>
          </a:fontRef>
        </p:style>
      </p:cxnSp>
      <p:sp>
        <p:nvSpPr>
          <p:cNvPr id="19" name="Rectangle 18"/>
          <p:cNvSpPr/>
          <p:nvPr/>
        </p:nvSpPr>
        <p:spPr>
          <a:xfrm>
            <a:off x="5167316" y="3650457"/>
            <a:ext cx="671512" cy="60007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GB" sz="2400" dirty="0">
                <a:solidFill>
                  <a:schemeClr val="bg1"/>
                </a:solidFill>
              </a:rPr>
              <a:t>16</a:t>
            </a:r>
          </a:p>
        </p:txBody>
      </p:sp>
      <p:sp>
        <p:nvSpPr>
          <p:cNvPr id="23" name="Rectangle 22"/>
          <p:cNvSpPr/>
          <p:nvPr/>
        </p:nvSpPr>
        <p:spPr>
          <a:xfrm>
            <a:off x="2324100" y="2491384"/>
            <a:ext cx="1443038" cy="589359"/>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r"/>
            <a:r>
              <a:rPr lang="en-GB" sz="2400" dirty="0">
                <a:solidFill>
                  <a:schemeClr val="bg1"/>
                </a:solidFill>
              </a:rPr>
              <a:t>Maize 8</a:t>
            </a:r>
          </a:p>
        </p:txBody>
      </p:sp>
      <p:sp>
        <p:nvSpPr>
          <p:cNvPr id="24" name="Rectangle 23"/>
          <p:cNvSpPr/>
          <p:nvPr/>
        </p:nvSpPr>
        <p:spPr>
          <a:xfrm>
            <a:off x="1648178" y="4580933"/>
            <a:ext cx="2118960" cy="589359"/>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r"/>
            <a:r>
              <a:rPr lang="en-GB" sz="2400" dirty="0">
                <a:solidFill>
                  <a:schemeClr val="bg1"/>
                </a:solidFill>
              </a:rPr>
              <a:t>Soybean 37</a:t>
            </a:r>
          </a:p>
        </p:txBody>
      </p:sp>
      <p:sp>
        <p:nvSpPr>
          <p:cNvPr id="25" name="Rectangle 24"/>
          <p:cNvSpPr/>
          <p:nvPr/>
        </p:nvSpPr>
        <p:spPr>
          <a:xfrm>
            <a:off x="7074693" y="2491383"/>
            <a:ext cx="2450306" cy="589359"/>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GB" sz="2400" dirty="0">
                <a:solidFill>
                  <a:schemeClr val="bg1"/>
                </a:solidFill>
              </a:rPr>
              <a:t>21 parts Maize</a:t>
            </a:r>
          </a:p>
        </p:txBody>
      </p:sp>
      <p:sp>
        <p:nvSpPr>
          <p:cNvPr id="26" name="Rectangle 25"/>
          <p:cNvSpPr/>
          <p:nvPr/>
        </p:nvSpPr>
        <p:spPr>
          <a:xfrm>
            <a:off x="7074692" y="4580934"/>
            <a:ext cx="2850358" cy="589359"/>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GB" sz="2400" dirty="0">
                <a:solidFill>
                  <a:schemeClr val="bg1"/>
                </a:solidFill>
              </a:rPr>
              <a:t>8 parts Soybean</a:t>
            </a:r>
          </a:p>
        </p:txBody>
      </p:sp>
      <p:sp>
        <p:nvSpPr>
          <p:cNvPr id="27" name="Rectangle 26"/>
          <p:cNvSpPr/>
          <p:nvPr/>
        </p:nvSpPr>
        <p:spPr>
          <a:xfrm>
            <a:off x="7074692" y="5491758"/>
            <a:ext cx="2227352" cy="589359"/>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GB" sz="2400" dirty="0">
                <a:solidFill>
                  <a:schemeClr val="bg1"/>
                </a:solidFill>
              </a:rPr>
              <a:t>29 Total parts</a:t>
            </a:r>
          </a:p>
        </p:txBody>
      </p:sp>
      <p:cxnSp>
        <p:nvCxnSpPr>
          <p:cNvPr id="29" name="Straight Connector 28"/>
          <p:cNvCxnSpPr/>
          <p:nvPr/>
        </p:nvCxnSpPr>
        <p:spPr>
          <a:xfrm>
            <a:off x="7321153" y="5313232"/>
            <a:ext cx="1957387" cy="14288"/>
          </a:xfrm>
          <a:prstGeom prst="line">
            <a:avLst/>
          </a:prstGeom>
          <a:ln/>
        </p:spPr>
        <p:style>
          <a:lnRef idx="2">
            <a:schemeClr val="dk1"/>
          </a:lnRef>
          <a:fillRef idx="1">
            <a:schemeClr val="lt1"/>
          </a:fillRef>
          <a:effectRef idx="0">
            <a:schemeClr val="dk1"/>
          </a:effectRef>
          <a:fontRef idx="minor">
            <a:schemeClr val="dk1"/>
          </a:fontRef>
        </p:style>
      </p:cxnSp>
      <p:cxnSp>
        <p:nvCxnSpPr>
          <p:cNvPr id="31" name="Straight Arrow Connector 30"/>
          <p:cNvCxnSpPr/>
          <p:nvPr/>
        </p:nvCxnSpPr>
        <p:spPr>
          <a:xfrm flipV="1">
            <a:off x="5838829" y="2786062"/>
            <a:ext cx="971549" cy="864394"/>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32" name="Straight Arrow Connector 31"/>
          <p:cNvCxnSpPr/>
          <p:nvPr/>
        </p:nvCxnSpPr>
        <p:spPr>
          <a:xfrm>
            <a:off x="5838829" y="4250532"/>
            <a:ext cx="971549" cy="864393"/>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Tree>
    <p:extLst>
      <p:ext uri="{BB962C8B-B14F-4D97-AF65-F5344CB8AC3E}">
        <p14:creationId xmlns:p14="http://schemas.microsoft.com/office/powerpoint/2010/main" val="13623031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365127"/>
            <a:ext cx="7886700" cy="1460499"/>
          </a:xfrm>
        </p:spPr>
        <p:txBody>
          <a:bodyPr>
            <a:normAutofit/>
          </a:bodyPr>
          <a:lstStyle/>
          <a:p>
            <a:r>
              <a:rPr lang="en-GB" sz="2200" dirty="0">
                <a:latin typeface="Century Gothic" panose="020B0502020202020204" pitchFamily="34" charset="0"/>
              </a:rPr>
              <a:t>Divide the parts of each feed by the total parts to find the percent of each feed in the ration.</a:t>
            </a:r>
          </a:p>
        </p:txBody>
      </p:sp>
      <p:cxnSp>
        <p:nvCxnSpPr>
          <p:cNvPr id="5" name="Straight Connector 4"/>
          <p:cNvCxnSpPr/>
          <p:nvPr/>
        </p:nvCxnSpPr>
        <p:spPr>
          <a:xfrm>
            <a:off x="4524375" y="2214563"/>
            <a:ext cx="514350" cy="0"/>
          </a:xfrm>
          <a:prstGeom prst="line">
            <a:avLst/>
          </a:prstGeom>
          <a:ln/>
        </p:spPr>
        <p:style>
          <a:lnRef idx="2">
            <a:schemeClr val="dk1"/>
          </a:lnRef>
          <a:fillRef idx="1">
            <a:schemeClr val="lt1"/>
          </a:fillRef>
          <a:effectRef idx="0">
            <a:schemeClr val="dk1"/>
          </a:effectRef>
          <a:fontRef idx="minor">
            <a:schemeClr val="dk1"/>
          </a:fontRef>
        </p:style>
      </p:cxnSp>
      <p:sp>
        <p:nvSpPr>
          <p:cNvPr id="6" name="Rectangle 5"/>
          <p:cNvSpPr/>
          <p:nvPr/>
        </p:nvSpPr>
        <p:spPr>
          <a:xfrm>
            <a:off x="4495800" y="2228852"/>
            <a:ext cx="571500" cy="39449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GB" sz="2400" dirty="0">
                <a:solidFill>
                  <a:schemeClr val="bg1"/>
                </a:solidFill>
              </a:rPr>
              <a:t>29</a:t>
            </a:r>
          </a:p>
        </p:txBody>
      </p:sp>
      <p:sp>
        <p:nvSpPr>
          <p:cNvPr id="7" name="Rectangle 6"/>
          <p:cNvSpPr/>
          <p:nvPr/>
        </p:nvSpPr>
        <p:spPr>
          <a:xfrm>
            <a:off x="4495800" y="1705769"/>
            <a:ext cx="571500" cy="4000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GB" sz="2400" dirty="0">
                <a:solidFill>
                  <a:schemeClr val="bg1"/>
                </a:solidFill>
              </a:rPr>
              <a:t>21</a:t>
            </a:r>
          </a:p>
        </p:txBody>
      </p:sp>
      <p:sp>
        <p:nvSpPr>
          <p:cNvPr id="8" name="Rectangle 7"/>
          <p:cNvSpPr/>
          <p:nvPr/>
        </p:nvSpPr>
        <p:spPr>
          <a:xfrm>
            <a:off x="4936926" y="1708549"/>
            <a:ext cx="571500" cy="4000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GB" sz="2400" dirty="0">
                <a:solidFill>
                  <a:schemeClr val="bg1"/>
                </a:solidFill>
              </a:rPr>
              <a:t>x</a:t>
            </a:r>
          </a:p>
        </p:txBody>
      </p:sp>
      <p:sp>
        <p:nvSpPr>
          <p:cNvPr id="9" name="Rectangle 8"/>
          <p:cNvSpPr/>
          <p:nvPr/>
        </p:nvSpPr>
        <p:spPr>
          <a:xfrm>
            <a:off x="5366144" y="1705769"/>
            <a:ext cx="729856" cy="4000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GB" sz="2400" dirty="0">
                <a:solidFill>
                  <a:schemeClr val="bg1"/>
                </a:solidFill>
              </a:rPr>
              <a:t>100</a:t>
            </a:r>
          </a:p>
        </p:txBody>
      </p:sp>
      <p:sp>
        <p:nvSpPr>
          <p:cNvPr id="10" name="Rectangle 9"/>
          <p:cNvSpPr/>
          <p:nvPr/>
        </p:nvSpPr>
        <p:spPr>
          <a:xfrm>
            <a:off x="5960862" y="1705769"/>
            <a:ext cx="571500" cy="4000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GB" sz="2400" dirty="0">
                <a:solidFill>
                  <a:schemeClr val="bg1"/>
                </a:solidFill>
              </a:rPr>
              <a:t>=</a:t>
            </a:r>
          </a:p>
        </p:txBody>
      </p:sp>
      <p:sp>
        <p:nvSpPr>
          <p:cNvPr id="11" name="Rectangle 10"/>
          <p:cNvSpPr/>
          <p:nvPr/>
        </p:nvSpPr>
        <p:spPr>
          <a:xfrm>
            <a:off x="6377874" y="1705769"/>
            <a:ext cx="1264705" cy="4000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GB" sz="2400" dirty="0">
                <a:solidFill>
                  <a:schemeClr val="bg1"/>
                </a:solidFill>
              </a:rPr>
              <a:t>72.41%</a:t>
            </a:r>
          </a:p>
        </p:txBody>
      </p:sp>
      <p:sp>
        <p:nvSpPr>
          <p:cNvPr id="12" name="Rectangle 11"/>
          <p:cNvSpPr/>
          <p:nvPr/>
        </p:nvSpPr>
        <p:spPr>
          <a:xfrm>
            <a:off x="2631880" y="1705769"/>
            <a:ext cx="1404338" cy="4000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GB" sz="2400" dirty="0">
                <a:solidFill>
                  <a:schemeClr val="bg1"/>
                </a:solidFill>
              </a:rPr>
              <a:t>Maize</a:t>
            </a:r>
          </a:p>
        </p:txBody>
      </p:sp>
      <p:sp>
        <p:nvSpPr>
          <p:cNvPr id="13" name="Rectangle 12"/>
          <p:cNvSpPr/>
          <p:nvPr/>
        </p:nvSpPr>
        <p:spPr>
          <a:xfrm>
            <a:off x="4171952" y="1705769"/>
            <a:ext cx="312539" cy="4000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GB" sz="2400" dirty="0">
                <a:solidFill>
                  <a:schemeClr val="bg1"/>
                </a:solidFill>
              </a:rPr>
              <a:t>:</a:t>
            </a:r>
          </a:p>
        </p:txBody>
      </p:sp>
      <p:sp>
        <p:nvSpPr>
          <p:cNvPr id="14" name="Rectangle 13"/>
          <p:cNvSpPr/>
          <p:nvPr/>
        </p:nvSpPr>
        <p:spPr>
          <a:xfrm>
            <a:off x="2596446" y="3411579"/>
            <a:ext cx="2671763" cy="4000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GB" sz="2400" dirty="0">
                <a:solidFill>
                  <a:schemeClr val="bg1"/>
                </a:solidFill>
              </a:rPr>
              <a:t>Soybean meal</a:t>
            </a:r>
          </a:p>
        </p:txBody>
      </p:sp>
      <p:sp>
        <p:nvSpPr>
          <p:cNvPr id="15" name="Rectangle 14"/>
          <p:cNvSpPr/>
          <p:nvPr/>
        </p:nvSpPr>
        <p:spPr>
          <a:xfrm>
            <a:off x="5707240" y="3411579"/>
            <a:ext cx="312539" cy="4000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GB" sz="2400" dirty="0">
                <a:solidFill>
                  <a:schemeClr val="bg1"/>
                </a:solidFill>
              </a:rPr>
              <a:t>:</a:t>
            </a:r>
          </a:p>
        </p:txBody>
      </p:sp>
      <p:sp>
        <p:nvSpPr>
          <p:cNvPr id="16" name="Rectangle 15"/>
          <p:cNvSpPr/>
          <p:nvPr/>
        </p:nvSpPr>
        <p:spPr>
          <a:xfrm>
            <a:off x="6901433" y="3410189"/>
            <a:ext cx="729856" cy="4000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GB" sz="2400" dirty="0">
                <a:solidFill>
                  <a:schemeClr val="bg1"/>
                </a:solidFill>
              </a:rPr>
              <a:t>100</a:t>
            </a:r>
          </a:p>
        </p:txBody>
      </p:sp>
      <p:sp>
        <p:nvSpPr>
          <p:cNvPr id="17" name="Rectangle 16"/>
          <p:cNvSpPr/>
          <p:nvPr/>
        </p:nvSpPr>
        <p:spPr>
          <a:xfrm>
            <a:off x="6187359" y="3353744"/>
            <a:ext cx="312539" cy="4000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GB" sz="2400" dirty="0">
                <a:solidFill>
                  <a:schemeClr val="bg1"/>
                </a:solidFill>
              </a:rPr>
              <a:t>8</a:t>
            </a:r>
          </a:p>
        </p:txBody>
      </p:sp>
      <p:sp>
        <p:nvSpPr>
          <p:cNvPr id="18" name="Rectangle 17"/>
          <p:cNvSpPr/>
          <p:nvPr/>
        </p:nvSpPr>
        <p:spPr>
          <a:xfrm>
            <a:off x="6059665" y="3920375"/>
            <a:ext cx="542925" cy="4000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GB" sz="2400" dirty="0">
                <a:solidFill>
                  <a:schemeClr val="bg1"/>
                </a:solidFill>
              </a:rPr>
              <a:t>29</a:t>
            </a:r>
          </a:p>
        </p:txBody>
      </p:sp>
      <p:sp>
        <p:nvSpPr>
          <p:cNvPr id="19" name="Rectangle 18"/>
          <p:cNvSpPr/>
          <p:nvPr/>
        </p:nvSpPr>
        <p:spPr>
          <a:xfrm>
            <a:off x="6656172" y="3410189"/>
            <a:ext cx="312539" cy="4000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GB" sz="2400" dirty="0">
                <a:solidFill>
                  <a:schemeClr val="bg1"/>
                </a:solidFill>
              </a:rPr>
              <a:t>x</a:t>
            </a:r>
          </a:p>
        </p:txBody>
      </p:sp>
      <p:sp>
        <p:nvSpPr>
          <p:cNvPr id="20" name="Rectangle 19"/>
          <p:cNvSpPr/>
          <p:nvPr/>
        </p:nvSpPr>
        <p:spPr>
          <a:xfrm>
            <a:off x="7631290" y="3411579"/>
            <a:ext cx="312539" cy="4000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GB" sz="2400" dirty="0">
                <a:solidFill>
                  <a:schemeClr val="bg1"/>
                </a:solidFill>
              </a:rPr>
              <a:t>=</a:t>
            </a:r>
          </a:p>
        </p:txBody>
      </p:sp>
      <p:sp>
        <p:nvSpPr>
          <p:cNvPr id="21" name="Rectangle 20"/>
          <p:cNvSpPr/>
          <p:nvPr/>
        </p:nvSpPr>
        <p:spPr>
          <a:xfrm>
            <a:off x="7913163" y="3411579"/>
            <a:ext cx="1329637" cy="4000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GB" sz="2400" dirty="0">
                <a:solidFill>
                  <a:schemeClr val="bg1"/>
                </a:solidFill>
              </a:rPr>
              <a:t>27.59%</a:t>
            </a:r>
          </a:p>
        </p:txBody>
      </p:sp>
      <p:cxnSp>
        <p:nvCxnSpPr>
          <p:cNvPr id="22" name="Straight Connector 21"/>
          <p:cNvCxnSpPr/>
          <p:nvPr/>
        </p:nvCxnSpPr>
        <p:spPr>
          <a:xfrm>
            <a:off x="6059664" y="3810239"/>
            <a:ext cx="514350" cy="0"/>
          </a:xfrm>
          <a:prstGeom prst="line">
            <a:avLst/>
          </a:prstGeom>
          <a:ln/>
        </p:spPr>
        <p:style>
          <a:lnRef idx="2">
            <a:schemeClr val="dk1"/>
          </a:lnRef>
          <a:fillRef idx="1">
            <a:schemeClr val="lt1"/>
          </a:fillRef>
          <a:effectRef idx="0">
            <a:schemeClr val="dk1"/>
          </a:effectRef>
          <a:fontRef idx="minor">
            <a:schemeClr val="dk1"/>
          </a:fontRef>
        </p:style>
      </p:cxnSp>
    </p:spTree>
    <p:extLst>
      <p:ext uri="{BB962C8B-B14F-4D97-AF65-F5344CB8AC3E}">
        <p14:creationId xmlns:p14="http://schemas.microsoft.com/office/powerpoint/2010/main" val="1988337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9762" y="129646"/>
            <a:ext cx="8515350" cy="784754"/>
          </a:xfrm>
        </p:spPr>
        <p:txBody>
          <a:bodyPr/>
          <a:lstStyle/>
          <a:p>
            <a:r>
              <a:rPr lang="en-GB" sz="3600" b="1" dirty="0"/>
              <a:t>Summary of Pearson Square method</a:t>
            </a:r>
          </a:p>
        </p:txBody>
      </p:sp>
      <p:sp>
        <p:nvSpPr>
          <p:cNvPr id="3" name="Content Placeholder 2"/>
          <p:cNvSpPr>
            <a:spLocks noGrp="1"/>
          </p:cNvSpPr>
          <p:nvPr>
            <p:ph idx="1"/>
          </p:nvPr>
        </p:nvSpPr>
        <p:spPr>
          <a:xfrm>
            <a:off x="2224087" y="914400"/>
            <a:ext cx="7886700" cy="5508978"/>
          </a:xfrm>
        </p:spPr>
        <p:txBody>
          <a:bodyPr>
            <a:normAutofit/>
          </a:bodyPr>
          <a:lstStyle/>
          <a:p>
            <a:pPr marL="0" indent="0">
              <a:buNone/>
            </a:pPr>
            <a:r>
              <a:rPr lang="en-GB" sz="2200" b="1" dirty="0">
                <a:latin typeface="Times New Roman" panose="02020603050405020304" pitchFamily="18" charset="0"/>
                <a:cs typeface="Times New Roman" panose="02020603050405020304" pitchFamily="18" charset="0"/>
              </a:rPr>
              <a:t>Step 1. </a:t>
            </a:r>
            <a:r>
              <a:rPr lang="en-GB" sz="2200" dirty="0">
                <a:latin typeface="Times New Roman" panose="02020603050405020304" pitchFamily="18" charset="0"/>
                <a:cs typeface="Times New Roman" panose="02020603050405020304" pitchFamily="18" charset="0"/>
              </a:rPr>
              <a:t>Draw a square with lines connecting the opposite corners. 			Write the percent of crude protein needed in the centre 			of the square where the lines cross.</a:t>
            </a:r>
          </a:p>
          <a:p>
            <a:pPr marL="0" indent="0">
              <a:buNone/>
            </a:pPr>
            <a:endParaRPr lang="en-GB" sz="2200" dirty="0">
              <a:latin typeface="Times New Roman" panose="02020603050405020304" pitchFamily="18" charset="0"/>
              <a:cs typeface="Times New Roman" panose="02020603050405020304" pitchFamily="18" charset="0"/>
            </a:endParaRPr>
          </a:p>
          <a:p>
            <a:pPr marL="0" indent="0">
              <a:buNone/>
            </a:pPr>
            <a:r>
              <a:rPr lang="en-GB" sz="2200" b="1" dirty="0">
                <a:latin typeface="Times New Roman" panose="02020603050405020304" pitchFamily="18" charset="0"/>
                <a:cs typeface="Times New Roman" panose="02020603050405020304" pitchFamily="18" charset="0"/>
              </a:rPr>
              <a:t>Step 2. </a:t>
            </a:r>
            <a:r>
              <a:rPr lang="en-GB" sz="2200" dirty="0">
                <a:latin typeface="Times New Roman" panose="02020603050405020304" pitchFamily="18" charset="0"/>
                <a:cs typeface="Times New Roman" panose="02020603050405020304" pitchFamily="18" charset="0"/>
              </a:rPr>
              <a:t>Write the feeds to be used and their crude protein percent </a:t>
            </a:r>
          </a:p>
          <a:p>
            <a:pPr marL="0" indent="0">
              <a:buNone/>
            </a:pPr>
            <a:r>
              <a:rPr lang="en-GB" sz="2200" dirty="0">
                <a:latin typeface="Times New Roman" panose="02020603050405020304" pitchFamily="18" charset="0"/>
                <a:cs typeface="Times New Roman" panose="02020603050405020304" pitchFamily="18" charset="0"/>
              </a:rPr>
              <a:t>			at the left - hand corners of the square.</a:t>
            </a:r>
          </a:p>
          <a:p>
            <a:pPr marL="0" indent="0">
              <a:buNone/>
            </a:pPr>
            <a:endParaRPr lang="en-GB" sz="2200" dirty="0">
              <a:latin typeface="Times New Roman" panose="02020603050405020304" pitchFamily="18" charset="0"/>
              <a:cs typeface="Times New Roman" panose="02020603050405020304" pitchFamily="18" charset="0"/>
            </a:endParaRPr>
          </a:p>
          <a:p>
            <a:pPr marL="0" indent="0">
              <a:buNone/>
            </a:pPr>
            <a:r>
              <a:rPr lang="en-GB" sz="2200" b="1" dirty="0">
                <a:latin typeface="Times New Roman" panose="02020603050405020304" pitchFamily="18" charset="0"/>
                <a:cs typeface="Times New Roman" panose="02020603050405020304" pitchFamily="18" charset="0"/>
              </a:rPr>
              <a:t>Step 3. </a:t>
            </a:r>
            <a:r>
              <a:rPr lang="en-GB" sz="2200" dirty="0">
                <a:latin typeface="Times New Roman" panose="02020603050405020304" pitchFamily="18" charset="0"/>
                <a:cs typeface="Times New Roman" panose="02020603050405020304" pitchFamily="18" charset="0"/>
              </a:rPr>
              <a:t>Subtract the smaller number from the larger, along the 			diagonal lines. Write the difference at the opposite end 			of the diagonals.</a:t>
            </a:r>
          </a:p>
          <a:p>
            <a:pPr marL="0" indent="0">
              <a:buNone/>
            </a:pPr>
            <a:endParaRPr lang="en-GB" sz="2200" dirty="0">
              <a:latin typeface="Times New Roman" panose="02020603050405020304" pitchFamily="18" charset="0"/>
              <a:cs typeface="Times New Roman" panose="02020603050405020304" pitchFamily="18" charset="0"/>
            </a:endParaRPr>
          </a:p>
          <a:p>
            <a:pPr marL="0" indent="0">
              <a:buNone/>
            </a:pPr>
            <a:r>
              <a:rPr lang="en-GB" sz="2200" b="1" dirty="0">
                <a:latin typeface="Times New Roman" panose="02020603050405020304" pitchFamily="18" charset="0"/>
                <a:cs typeface="Times New Roman" panose="02020603050405020304" pitchFamily="18" charset="0"/>
              </a:rPr>
              <a:t>Step 4. </a:t>
            </a:r>
            <a:r>
              <a:rPr lang="en-GB" sz="2200" dirty="0">
                <a:latin typeface="Times New Roman" panose="02020603050405020304" pitchFamily="18" charset="0"/>
                <a:cs typeface="Times New Roman" panose="02020603050405020304" pitchFamily="18" charset="0"/>
              </a:rPr>
              <a:t>Divide the parts of each feed by the total parts to find the 			percent of each feed in the ration.</a:t>
            </a:r>
          </a:p>
        </p:txBody>
      </p:sp>
    </p:spTree>
    <p:extLst>
      <p:ext uri="{BB962C8B-B14F-4D97-AF65-F5344CB8AC3E}">
        <p14:creationId xmlns:p14="http://schemas.microsoft.com/office/powerpoint/2010/main" val="32093153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395112"/>
            <a:ext cx="7886700" cy="666044"/>
          </a:xfrm>
        </p:spPr>
        <p:txBody>
          <a:bodyPr/>
          <a:lstStyle/>
          <a:p>
            <a:r>
              <a:rPr lang="en-GB" sz="2000" b="1" dirty="0">
                <a:solidFill>
                  <a:srgbClr val="00B0F0"/>
                </a:solidFill>
              </a:rPr>
              <a:t>Pearson Square method involving more than two feeds</a:t>
            </a:r>
          </a:p>
        </p:txBody>
      </p:sp>
      <p:sp>
        <p:nvSpPr>
          <p:cNvPr id="3" name="Content Placeholder 2"/>
          <p:cNvSpPr>
            <a:spLocks noGrp="1"/>
          </p:cNvSpPr>
          <p:nvPr>
            <p:ph idx="1"/>
          </p:nvPr>
        </p:nvSpPr>
        <p:spPr>
          <a:xfrm>
            <a:off x="2152650" y="1325564"/>
            <a:ext cx="7886700" cy="3596393"/>
          </a:xfrm>
        </p:spPr>
        <p:txBody>
          <a:bodyPr>
            <a:normAutofit/>
          </a:bodyPr>
          <a:lstStyle/>
          <a:p>
            <a:r>
              <a:rPr lang="en-GB" sz="2200" dirty="0">
                <a:latin typeface="Century Gothic" panose="020B0502020202020204" pitchFamily="34" charset="0"/>
              </a:rPr>
              <a:t>Assume we want to formulate layers marsh with 16% CP</a:t>
            </a:r>
          </a:p>
          <a:p>
            <a:r>
              <a:rPr lang="en-GB" sz="2200" dirty="0">
                <a:latin typeface="Century Gothic" panose="020B0502020202020204" pitchFamily="34" charset="0"/>
              </a:rPr>
              <a:t>A farmer wants to use maize, maize bran and soybeans in his ration. A feed composition table shows that maize has 8%, maize bran 11% and soybean meal has 37 % crude protein on an as-fed basis. How much maize, maize bran and soybean meal need to be mixed together?</a:t>
            </a:r>
          </a:p>
        </p:txBody>
      </p:sp>
    </p:spTree>
    <p:extLst>
      <p:ext uri="{BB962C8B-B14F-4D97-AF65-F5344CB8AC3E}">
        <p14:creationId xmlns:p14="http://schemas.microsoft.com/office/powerpoint/2010/main" val="1114643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266950" y="785813"/>
            <a:ext cx="7629525" cy="6072187"/>
          </a:xfrm>
          <a:prstGeom prst="rect">
            <a:avLst/>
          </a:prstGeom>
        </p:spPr>
      </p:pic>
    </p:spTree>
    <p:extLst>
      <p:ext uri="{BB962C8B-B14F-4D97-AF65-F5344CB8AC3E}">
        <p14:creationId xmlns:p14="http://schemas.microsoft.com/office/powerpoint/2010/main" val="38099545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20661"/>
            <a:ext cx="7886700" cy="1325563"/>
          </a:xfrm>
        </p:spPr>
        <p:txBody>
          <a:bodyPr/>
          <a:lstStyle/>
          <a:p>
            <a:r>
              <a:rPr lang="en-GB" b="1" dirty="0"/>
              <a:t>Pearson Square method</a:t>
            </a:r>
          </a:p>
        </p:txBody>
      </p:sp>
      <p:sp>
        <p:nvSpPr>
          <p:cNvPr id="4" name="Rectangle 3"/>
          <p:cNvSpPr/>
          <p:nvPr/>
        </p:nvSpPr>
        <p:spPr>
          <a:xfrm>
            <a:off x="2324100" y="1104903"/>
            <a:ext cx="7715250" cy="120967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400" dirty="0">
                <a:solidFill>
                  <a:schemeClr val="tx1"/>
                </a:solidFill>
                <a:latin typeface="Century Gothic" panose="020B0502020202020204" pitchFamily="34" charset="0"/>
              </a:rPr>
              <a:t>Draw a square with lines connecting the opposite corners. Write the percent of crude protein needed (16) in the centre of the square where the lines cross.</a:t>
            </a:r>
          </a:p>
        </p:txBody>
      </p:sp>
      <p:sp>
        <p:nvSpPr>
          <p:cNvPr id="5" name="Rectangle 4"/>
          <p:cNvSpPr/>
          <p:nvPr/>
        </p:nvSpPr>
        <p:spPr>
          <a:xfrm>
            <a:off x="4110038" y="2728913"/>
            <a:ext cx="2743200" cy="244316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Connector 6"/>
          <p:cNvCxnSpPr/>
          <p:nvPr/>
        </p:nvCxnSpPr>
        <p:spPr>
          <a:xfrm>
            <a:off x="4152901" y="2786063"/>
            <a:ext cx="1171575" cy="9572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4152900" y="4250532"/>
            <a:ext cx="1014416" cy="900115"/>
          </a:xfrm>
          <a:prstGeom prst="line">
            <a:avLst/>
          </a:prstGeom>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5167316" y="3650457"/>
            <a:ext cx="671512" cy="6000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16</a:t>
            </a:r>
          </a:p>
        </p:txBody>
      </p:sp>
      <p:sp>
        <p:nvSpPr>
          <p:cNvPr id="23" name="Rectangle 22"/>
          <p:cNvSpPr/>
          <p:nvPr/>
        </p:nvSpPr>
        <p:spPr>
          <a:xfrm>
            <a:off x="2152651" y="2491384"/>
            <a:ext cx="1735932" cy="58935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200" dirty="0">
                <a:solidFill>
                  <a:schemeClr val="tx1"/>
                </a:solidFill>
                <a:latin typeface="Century Gothic" panose="020B0502020202020204" pitchFamily="34" charset="0"/>
              </a:rPr>
              <a:t>Energy 8.5</a:t>
            </a:r>
          </a:p>
        </p:txBody>
      </p:sp>
      <p:sp>
        <p:nvSpPr>
          <p:cNvPr id="24" name="Rectangle 23"/>
          <p:cNvSpPr/>
          <p:nvPr/>
        </p:nvSpPr>
        <p:spPr>
          <a:xfrm>
            <a:off x="2038350" y="4580933"/>
            <a:ext cx="1850232" cy="58935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200" dirty="0">
                <a:solidFill>
                  <a:schemeClr val="tx1"/>
                </a:solidFill>
                <a:latin typeface="Century Gothic" panose="020B0502020202020204" pitchFamily="34" charset="0"/>
              </a:rPr>
              <a:t>Soybean 37</a:t>
            </a:r>
          </a:p>
        </p:txBody>
      </p:sp>
      <p:sp>
        <p:nvSpPr>
          <p:cNvPr id="25" name="Rectangle 24"/>
          <p:cNvSpPr/>
          <p:nvPr/>
        </p:nvSpPr>
        <p:spPr>
          <a:xfrm>
            <a:off x="7074693" y="2491383"/>
            <a:ext cx="2450306" cy="58935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dirty="0">
                <a:solidFill>
                  <a:schemeClr val="tx1"/>
                </a:solidFill>
                <a:latin typeface="Century Gothic" panose="020B0502020202020204" pitchFamily="34" charset="0"/>
              </a:rPr>
              <a:t>21 parts Energy</a:t>
            </a:r>
          </a:p>
        </p:txBody>
      </p:sp>
      <p:sp>
        <p:nvSpPr>
          <p:cNvPr id="26" name="Rectangle 25"/>
          <p:cNvSpPr/>
          <p:nvPr/>
        </p:nvSpPr>
        <p:spPr>
          <a:xfrm>
            <a:off x="7074692" y="4580934"/>
            <a:ext cx="2964658" cy="58935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dirty="0">
                <a:solidFill>
                  <a:schemeClr val="tx1"/>
                </a:solidFill>
                <a:latin typeface="Century Gothic" panose="020B0502020202020204" pitchFamily="34" charset="0"/>
              </a:rPr>
              <a:t>7.5 parts Soybean</a:t>
            </a:r>
          </a:p>
        </p:txBody>
      </p:sp>
      <p:sp>
        <p:nvSpPr>
          <p:cNvPr id="27" name="Rectangle 26"/>
          <p:cNvSpPr/>
          <p:nvPr/>
        </p:nvSpPr>
        <p:spPr>
          <a:xfrm>
            <a:off x="7074693" y="5491758"/>
            <a:ext cx="2450307" cy="58935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dirty="0">
                <a:solidFill>
                  <a:schemeClr val="tx1"/>
                </a:solidFill>
                <a:latin typeface="Century Gothic" panose="020B0502020202020204" pitchFamily="34" charset="0"/>
              </a:rPr>
              <a:t>28.5 Total parts</a:t>
            </a:r>
          </a:p>
        </p:txBody>
      </p:sp>
      <p:cxnSp>
        <p:nvCxnSpPr>
          <p:cNvPr id="29" name="Straight Connector 28"/>
          <p:cNvCxnSpPr/>
          <p:nvPr/>
        </p:nvCxnSpPr>
        <p:spPr>
          <a:xfrm>
            <a:off x="7321151" y="5309592"/>
            <a:ext cx="2203848" cy="1428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5838829" y="2786062"/>
            <a:ext cx="971549" cy="8643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5838829" y="4250532"/>
            <a:ext cx="971549" cy="8643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21880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365127"/>
            <a:ext cx="7886700" cy="1460499"/>
          </a:xfrm>
        </p:spPr>
        <p:txBody>
          <a:bodyPr>
            <a:normAutofit/>
          </a:bodyPr>
          <a:lstStyle/>
          <a:p>
            <a:r>
              <a:rPr lang="en-GB" sz="2400" dirty="0">
                <a:latin typeface="Century Gothic" panose="020B0502020202020204" pitchFamily="34" charset="0"/>
              </a:rPr>
              <a:t>Divide the parts of each feed by the total parts to find the percent of each feed in the ration.</a:t>
            </a:r>
          </a:p>
        </p:txBody>
      </p:sp>
      <p:sp>
        <p:nvSpPr>
          <p:cNvPr id="3" name="Content Placeholder 2"/>
          <p:cNvSpPr>
            <a:spLocks noGrp="1"/>
          </p:cNvSpPr>
          <p:nvPr>
            <p:ph idx="1"/>
          </p:nvPr>
        </p:nvSpPr>
        <p:spPr>
          <a:xfrm>
            <a:off x="2152650" y="3904654"/>
            <a:ext cx="7886700" cy="2224684"/>
          </a:xfrm>
        </p:spPr>
        <p:txBody>
          <a:bodyPr>
            <a:normAutofit lnSpcReduction="10000"/>
          </a:bodyPr>
          <a:lstStyle/>
          <a:p>
            <a:r>
              <a:rPr lang="en-GB" sz="2400" dirty="0">
                <a:latin typeface="Century Gothic" panose="020B0502020202020204" pitchFamily="34" charset="0"/>
              </a:rPr>
              <a:t>Thus maize and maize bran in the energy mix:</a:t>
            </a:r>
          </a:p>
          <a:p>
            <a:pPr lvl="1"/>
            <a:r>
              <a:rPr lang="en-GB" sz="2200" dirty="0">
                <a:latin typeface="Century Gothic" panose="020B0502020202020204" pitchFamily="34" charset="0"/>
              </a:rPr>
              <a:t>Maize :	        	5   x 73.68 = 61.4%</a:t>
            </a:r>
          </a:p>
          <a:p>
            <a:pPr marL="0" indent="0">
              <a:buNone/>
            </a:pPr>
            <a:r>
              <a:rPr lang="en-GB" sz="2200" dirty="0">
                <a:latin typeface="Century Gothic" panose="020B0502020202020204" pitchFamily="34" charset="0"/>
              </a:rPr>
              <a:t>			6</a:t>
            </a:r>
          </a:p>
          <a:p>
            <a:pPr lvl="1"/>
            <a:r>
              <a:rPr lang="en-GB" sz="2200" dirty="0">
                <a:latin typeface="Century Gothic" panose="020B0502020202020204" pitchFamily="34" charset="0"/>
              </a:rPr>
              <a:t>Maize bran :     1    x 73.68 = 12.28%</a:t>
            </a:r>
          </a:p>
          <a:p>
            <a:pPr marL="0" indent="0">
              <a:buNone/>
            </a:pPr>
            <a:r>
              <a:rPr lang="en-GB" sz="2200" dirty="0">
                <a:latin typeface="Century Gothic" panose="020B0502020202020204" pitchFamily="34" charset="0"/>
              </a:rPr>
              <a:t>			6</a:t>
            </a:r>
          </a:p>
          <a:p>
            <a:endParaRPr lang="en-GB" sz="2400" dirty="0">
              <a:latin typeface="Century Gothic" panose="020B0502020202020204" pitchFamily="34" charset="0"/>
            </a:endParaRPr>
          </a:p>
        </p:txBody>
      </p:sp>
      <p:cxnSp>
        <p:nvCxnSpPr>
          <p:cNvPr id="5" name="Straight Connector 4"/>
          <p:cNvCxnSpPr/>
          <p:nvPr/>
        </p:nvCxnSpPr>
        <p:spPr>
          <a:xfrm>
            <a:off x="4524375" y="2214563"/>
            <a:ext cx="51435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4424360" y="2228852"/>
            <a:ext cx="742950" cy="39449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dirty="0">
                <a:solidFill>
                  <a:schemeClr val="tx1"/>
                </a:solidFill>
                <a:latin typeface="Century Gothic" panose="020B0502020202020204" pitchFamily="34" charset="0"/>
              </a:rPr>
              <a:t>28.5</a:t>
            </a:r>
          </a:p>
        </p:txBody>
      </p:sp>
      <p:sp>
        <p:nvSpPr>
          <p:cNvPr id="7" name="Rectangle 6"/>
          <p:cNvSpPr/>
          <p:nvPr/>
        </p:nvSpPr>
        <p:spPr>
          <a:xfrm>
            <a:off x="4495800" y="1705769"/>
            <a:ext cx="571500" cy="4000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dirty="0">
                <a:solidFill>
                  <a:schemeClr val="tx1"/>
                </a:solidFill>
                <a:latin typeface="Century Gothic" panose="020B0502020202020204" pitchFamily="34" charset="0"/>
              </a:rPr>
              <a:t>21</a:t>
            </a:r>
          </a:p>
        </p:txBody>
      </p:sp>
      <p:sp>
        <p:nvSpPr>
          <p:cNvPr id="8" name="Rectangle 7"/>
          <p:cNvSpPr/>
          <p:nvPr/>
        </p:nvSpPr>
        <p:spPr>
          <a:xfrm>
            <a:off x="4936926" y="1708549"/>
            <a:ext cx="571500" cy="4000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x</a:t>
            </a:r>
          </a:p>
        </p:txBody>
      </p:sp>
      <p:sp>
        <p:nvSpPr>
          <p:cNvPr id="9" name="Rectangle 8"/>
          <p:cNvSpPr/>
          <p:nvPr/>
        </p:nvSpPr>
        <p:spPr>
          <a:xfrm>
            <a:off x="5366144" y="1705769"/>
            <a:ext cx="729856" cy="4000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dirty="0">
                <a:solidFill>
                  <a:schemeClr val="tx1"/>
                </a:solidFill>
                <a:latin typeface="Century Gothic" panose="020B0502020202020204" pitchFamily="34" charset="0"/>
              </a:rPr>
              <a:t>100</a:t>
            </a:r>
          </a:p>
        </p:txBody>
      </p:sp>
      <p:sp>
        <p:nvSpPr>
          <p:cNvPr id="10" name="Rectangle 9"/>
          <p:cNvSpPr/>
          <p:nvPr/>
        </p:nvSpPr>
        <p:spPr>
          <a:xfrm>
            <a:off x="5960862" y="1705769"/>
            <a:ext cx="571500" cy="4000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a:t>
            </a:r>
          </a:p>
        </p:txBody>
      </p:sp>
      <p:sp>
        <p:nvSpPr>
          <p:cNvPr id="11" name="Rectangle 10"/>
          <p:cNvSpPr/>
          <p:nvPr/>
        </p:nvSpPr>
        <p:spPr>
          <a:xfrm>
            <a:off x="6377874" y="1705769"/>
            <a:ext cx="1175451" cy="4000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dirty="0">
                <a:solidFill>
                  <a:schemeClr val="tx1"/>
                </a:solidFill>
                <a:latin typeface="Century Gothic" panose="020B0502020202020204" pitchFamily="34" charset="0"/>
              </a:rPr>
              <a:t>73.68%</a:t>
            </a:r>
          </a:p>
        </p:txBody>
      </p:sp>
      <p:sp>
        <p:nvSpPr>
          <p:cNvPr id="12" name="Rectangle 11"/>
          <p:cNvSpPr/>
          <p:nvPr/>
        </p:nvSpPr>
        <p:spPr>
          <a:xfrm>
            <a:off x="2176462" y="1705769"/>
            <a:ext cx="1859756" cy="4000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dirty="0">
                <a:solidFill>
                  <a:schemeClr val="tx1"/>
                </a:solidFill>
                <a:latin typeface="Century Gothic" panose="020B0502020202020204" pitchFamily="34" charset="0"/>
              </a:rPr>
              <a:t>Energy mix</a:t>
            </a:r>
          </a:p>
        </p:txBody>
      </p:sp>
      <p:sp>
        <p:nvSpPr>
          <p:cNvPr id="13" name="Rectangle 12"/>
          <p:cNvSpPr/>
          <p:nvPr/>
        </p:nvSpPr>
        <p:spPr>
          <a:xfrm>
            <a:off x="4171952" y="1705769"/>
            <a:ext cx="312539" cy="4000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a:t>
            </a:r>
          </a:p>
        </p:txBody>
      </p:sp>
      <p:sp>
        <p:nvSpPr>
          <p:cNvPr id="14" name="Rectangle 13"/>
          <p:cNvSpPr/>
          <p:nvPr/>
        </p:nvSpPr>
        <p:spPr>
          <a:xfrm>
            <a:off x="2024064" y="2824559"/>
            <a:ext cx="2252660" cy="4000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dirty="0">
                <a:solidFill>
                  <a:schemeClr val="tx1"/>
                </a:solidFill>
                <a:latin typeface="Century Gothic" panose="020B0502020202020204" pitchFamily="34" charset="0"/>
              </a:rPr>
              <a:t>Soybean meal</a:t>
            </a:r>
          </a:p>
        </p:txBody>
      </p:sp>
      <p:sp>
        <p:nvSpPr>
          <p:cNvPr id="15" name="Rectangle 14"/>
          <p:cNvSpPr/>
          <p:nvPr/>
        </p:nvSpPr>
        <p:spPr>
          <a:xfrm>
            <a:off x="4171951" y="2824559"/>
            <a:ext cx="312539" cy="4000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a:t>
            </a:r>
          </a:p>
        </p:txBody>
      </p:sp>
      <p:sp>
        <p:nvSpPr>
          <p:cNvPr id="16" name="Rectangle 15"/>
          <p:cNvSpPr/>
          <p:nvPr/>
        </p:nvSpPr>
        <p:spPr>
          <a:xfrm>
            <a:off x="5366144" y="2823169"/>
            <a:ext cx="729856" cy="4000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dirty="0">
                <a:solidFill>
                  <a:schemeClr val="tx1"/>
                </a:solidFill>
                <a:latin typeface="Century Gothic" panose="020B0502020202020204" pitchFamily="34" charset="0"/>
              </a:rPr>
              <a:t>100</a:t>
            </a:r>
          </a:p>
        </p:txBody>
      </p:sp>
      <p:sp>
        <p:nvSpPr>
          <p:cNvPr id="17" name="Rectangle 16"/>
          <p:cNvSpPr/>
          <p:nvPr/>
        </p:nvSpPr>
        <p:spPr>
          <a:xfrm>
            <a:off x="4495800" y="2823169"/>
            <a:ext cx="651268" cy="4000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dirty="0">
                <a:solidFill>
                  <a:schemeClr val="tx1"/>
                </a:solidFill>
                <a:latin typeface="Century Gothic" panose="020B0502020202020204" pitchFamily="34" charset="0"/>
              </a:rPr>
              <a:t>7.5</a:t>
            </a:r>
          </a:p>
        </p:txBody>
      </p:sp>
      <p:sp>
        <p:nvSpPr>
          <p:cNvPr id="18" name="Rectangle 17"/>
          <p:cNvSpPr/>
          <p:nvPr/>
        </p:nvSpPr>
        <p:spPr>
          <a:xfrm>
            <a:off x="4410072" y="3304779"/>
            <a:ext cx="841769" cy="4000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dirty="0">
                <a:solidFill>
                  <a:schemeClr val="tx1"/>
                </a:solidFill>
                <a:latin typeface="Century Gothic" panose="020B0502020202020204" pitchFamily="34" charset="0"/>
              </a:rPr>
              <a:t>28.5</a:t>
            </a:r>
          </a:p>
        </p:txBody>
      </p:sp>
      <p:sp>
        <p:nvSpPr>
          <p:cNvPr id="19" name="Rectangle 18"/>
          <p:cNvSpPr/>
          <p:nvPr/>
        </p:nvSpPr>
        <p:spPr>
          <a:xfrm>
            <a:off x="5120883" y="2823169"/>
            <a:ext cx="312539" cy="4000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x</a:t>
            </a:r>
          </a:p>
        </p:txBody>
      </p:sp>
      <p:sp>
        <p:nvSpPr>
          <p:cNvPr id="20" name="Rectangle 19"/>
          <p:cNvSpPr/>
          <p:nvPr/>
        </p:nvSpPr>
        <p:spPr>
          <a:xfrm>
            <a:off x="6096001" y="2824559"/>
            <a:ext cx="312539" cy="4000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a:t>
            </a:r>
          </a:p>
        </p:txBody>
      </p:sp>
      <p:sp>
        <p:nvSpPr>
          <p:cNvPr id="21" name="Rectangle 20"/>
          <p:cNvSpPr/>
          <p:nvPr/>
        </p:nvSpPr>
        <p:spPr>
          <a:xfrm>
            <a:off x="6377874" y="2824559"/>
            <a:ext cx="1247482" cy="4000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dirty="0">
                <a:solidFill>
                  <a:schemeClr val="tx1"/>
                </a:solidFill>
                <a:latin typeface="Century Gothic" panose="020B0502020202020204" pitchFamily="34" charset="0"/>
              </a:rPr>
              <a:t>26.32%</a:t>
            </a:r>
          </a:p>
        </p:txBody>
      </p:sp>
      <p:cxnSp>
        <p:nvCxnSpPr>
          <p:cNvPr id="22" name="Straight Connector 21"/>
          <p:cNvCxnSpPr/>
          <p:nvPr/>
        </p:nvCxnSpPr>
        <p:spPr>
          <a:xfrm>
            <a:off x="4524375" y="3223219"/>
            <a:ext cx="51435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4860726" y="4667251"/>
            <a:ext cx="391115" cy="476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4936927" y="5495926"/>
            <a:ext cx="354215" cy="476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74867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52650" y="814388"/>
            <a:ext cx="7886700" cy="5362575"/>
          </a:xfrm>
        </p:spPr>
        <p:txBody>
          <a:bodyPr>
            <a:normAutofit lnSpcReduction="10000"/>
          </a:bodyPr>
          <a:lstStyle/>
          <a:p>
            <a:pPr marL="0" lvl="1" indent="0">
              <a:buNone/>
            </a:pPr>
            <a:r>
              <a:rPr lang="en-GB" sz="2200" b="1" dirty="0">
                <a:latin typeface="Times New Roman" panose="02020603050405020304" pitchFamily="18" charset="0"/>
                <a:cs typeface="Times New Roman" panose="02020603050405020304" pitchFamily="18" charset="0"/>
              </a:rPr>
              <a:t>ALGEBRAIC EQUATIONS</a:t>
            </a:r>
          </a:p>
          <a:p>
            <a:pPr marL="342900" lvl="1" indent="-342900"/>
            <a:r>
              <a:rPr lang="en-GB" sz="2200" dirty="0">
                <a:latin typeface="Times New Roman" panose="02020603050405020304" pitchFamily="18" charset="0"/>
                <a:cs typeface="Times New Roman" panose="02020603050405020304" pitchFamily="18" charset="0"/>
              </a:rPr>
              <a:t>Let x be the amount of maize in 100kg mix</a:t>
            </a:r>
          </a:p>
          <a:p>
            <a:pPr marL="342900" lvl="1" indent="-342900"/>
            <a:r>
              <a:rPr lang="en-GB" sz="2200" dirty="0">
                <a:latin typeface="Times New Roman" panose="02020603050405020304" pitchFamily="18" charset="0"/>
                <a:cs typeface="Times New Roman" panose="02020603050405020304" pitchFamily="18" charset="0"/>
              </a:rPr>
              <a:t>Let y be the amount of soybeans in 100kg mix</a:t>
            </a:r>
          </a:p>
          <a:p>
            <a:pPr marL="1828800" lvl="5" indent="0">
              <a:buNone/>
            </a:pPr>
            <a:r>
              <a:rPr lang="en-GB" sz="2200" dirty="0">
                <a:latin typeface="Times New Roman" panose="02020603050405020304" pitchFamily="18" charset="0"/>
                <a:cs typeface="Times New Roman" panose="02020603050405020304" pitchFamily="18" charset="0"/>
              </a:rPr>
              <a:t>x + y = 100</a:t>
            </a:r>
          </a:p>
          <a:p>
            <a:pPr marL="342900" lvl="1" indent="-342900"/>
            <a:r>
              <a:rPr lang="en-GB" sz="2200" dirty="0">
                <a:latin typeface="Times New Roman" panose="02020603050405020304" pitchFamily="18" charset="0"/>
                <a:cs typeface="Times New Roman" panose="02020603050405020304" pitchFamily="18" charset="0"/>
              </a:rPr>
              <a:t>Amount of protein in 100kg: 16% x 100kg = 16kg</a:t>
            </a:r>
          </a:p>
          <a:p>
            <a:pPr marL="342900" lvl="1" indent="-342900"/>
            <a:r>
              <a:rPr lang="en-GB" sz="2200" dirty="0">
                <a:latin typeface="Times New Roman" panose="02020603050405020304" pitchFamily="18" charset="0"/>
                <a:cs typeface="Times New Roman" panose="02020603050405020304" pitchFamily="18" charset="0"/>
              </a:rPr>
              <a:t>Therefore:</a:t>
            </a:r>
          </a:p>
          <a:p>
            <a:pPr marL="1828800" lvl="5" indent="0">
              <a:buNone/>
            </a:pPr>
            <a:r>
              <a:rPr lang="en-GB" sz="2200" dirty="0">
                <a:latin typeface="Times New Roman" panose="02020603050405020304" pitchFamily="18" charset="0"/>
                <a:cs typeface="Times New Roman" panose="02020603050405020304" pitchFamily="18" charset="0"/>
              </a:rPr>
              <a:t>0.08x + 0.37y = 16</a:t>
            </a:r>
          </a:p>
          <a:p>
            <a:pPr marL="457200" lvl="2" indent="0">
              <a:buNone/>
            </a:pPr>
            <a:r>
              <a:rPr lang="en-GB" sz="2200" dirty="0">
                <a:latin typeface="Times New Roman" panose="02020603050405020304" pitchFamily="18" charset="0"/>
                <a:cs typeface="Times New Roman" panose="02020603050405020304" pitchFamily="18" charset="0"/>
              </a:rPr>
              <a:t>Subtract 	(0.08x +0.08y = 8)</a:t>
            </a:r>
          </a:p>
          <a:p>
            <a:pPr marL="0" indent="0">
              <a:buNone/>
            </a:pPr>
            <a:r>
              <a:rPr lang="en-GB" sz="2200" dirty="0">
                <a:latin typeface="Times New Roman" panose="02020603050405020304" pitchFamily="18" charset="0"/>
                <a:cs typeface="Times New Roman" panose="02020603050405020304" pitchFamily="18" charset="0"/>
              </a:rPr>
              <a:t>		       0 + 0.29y = 8</a:t>
            </a:r>
          </a:p>
          <a:p>
            <a:pPr marL="0" indent="0">
              <a:buNone/>
            </a:pPr>
            <a:r>
              <a:rPr lang="en-GB" sz="2200" dirty="0">
                <a:latin typeface="Times New Roman" panose="02020603050405020304" pitchFamily="18" charset="0"/>
                <a:cs typeface="Times New Roman" panose="02020603050405020304" pitchFamily="18" charset="0"/>
              </a:rPr>
              <a:t>		   y =	8	= 27.59 (soybean)</a:t>
            </a:r>
          </a:p>
          <a:p>
            <a:pPr marL="0" indent="0">
              <a:buNone/>
            </a:pPr>
            <a:r>
              <a:rPr lang="en-GB" sz="2200" dirty="0">
                <a:latin typeface="Times New Roman" panose="02020603050405020304" pitchFamily="18" charset="0"/>
                <a:cs typeface="Times New Roman" panose="02020603050405020304" pitchFamily="18" charset="0"/>
              </a:rPr>
              <a:t>		  	0.29</a:t>
            </a:r>
          </a:p>
          <a:p>
            <a:pPr marL="0" indent="0">
              <a:buNone/>
            </a:pPr>
            <a:r>
              <a:rPr lang="en-GB" sz="2200" dirty="0">
                <a:latin typeface="Times New Roman" panose="02020603050405020304" pitchFamily="18" charset="0"/>
                <a:cs typeface="Times New Roman" panose="02020603050405020304" pitchFamily="18" charset="0"/>
              </a:rPr>
              <a:t>		    x = 100 – 27.59 = 72.41 (Maize meal)</a:t>
            </a:r>
          </a:p>
        </p:txBody>
      </p:sp>
      <p:cxnSp>
        <p:nvCxnSpPr>
          <p:cNvPr id="4" name="Straight Connector 4"/>
          <p:cNvCxnSpPr/>
          <p:nvPr/>
        </p:nvCxnSpPr>
        <p:spPr>
          <a:xfrm>
            <a:off x="4928303" y="4579001"/>
            <a:ext cx="6429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72839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2083377" y="1"/>
            <a:ext cx="7886700" cy="1325563"/>
          </a:xfrm>
        </p:spPr>
        <p:txBody>
          <a:bodyPr>
            <a:normAutofit/>
          </a:bodyPr>
          <a:lstStyle/>
          <a:p>
            <a:r>
              <a:rPr lang="en-US" sz="2400" b="1" dirty="0">
                <a:solidFill>
                  <a:srgbClr val="00B0F0"/>
                </a:solidFill>
                <a:latin typeface="Century Gothic" panose="020B0502020202020204" pitchFamily="34" charset="0"/>
              </a:rPr>
              <a:t>BALANCED RATION</a:t>
            </a:r>
            <a:endParaRPr lang="nl-BE" sz="2400" b="1" dirty="0">
              <a:solidFill>
                <a:srgbClr val="00B0F0"/>
              </a:solidFill>
              <a:latin typeface="Century Gothic" panose="020B0502020202020204" pitchFamily="34" charset="0"/>
            </a:endParaRPr>
          </a:p>
        </p:txBody>
      </p:sp>
      <p:sp>
        <p:nvSpPr>
          <p:cNvPr id="3" name="Tijdelijke aanduiding voor inhoud 2"/>
          <p:cNvSpPr>
            <a:spLocks noGrp="1"/>
          </p:cNvSpPr>
          <p:nvPr>
            <p:ph idx="1"/>
          </p:nvPr>
        </p:nvSpPr>
        <p:spPr>
          <a:xfrm>
            <a:off x="2152650" y="1410789"/>
            <a:ext cx="7886700" cy="4766174"/>
          </a:xfrm>
        </p:spPr>
        <p:txBody>
          <a:bodyPr>
            <a:normAutofit/>
          </a:bodyPr>
          <a:lstStyle/>
          <a:p>
            <a:r>
              <a:rPr lang="en-US" sz="2200" dirty="0">
                <a:latin typeface="Century Gothic" panose="020B0502020202020204" pitchFamily="34" charset="0"/>
              </a:rPr>
              <a:t>Assume you want to formulate Grower’s mash using maize meal and soybean meal</a:t>
            </a:r>
          </a:p>
          <a:p>
            <a:endParaRPr lang="en-US" sz="2200" dirty="0">
              <a:latin typeface="Century Gothic" panose="020B0502020202020204" pitchFamily="34" charset="0"/>
            </a:endParaRPr>
          </a:p>
          <a:p>
            <a:pPr marL="0" indent="0">
              <a:buNone/>
            </a:pPr>
            <a:r>
              <a:rPr lang="en-US" sz="2200" u="sng" dirty="0">
                <a:latin typeface="Century Gothic" panose="020B0502020202020204" pitchFamily="34" charset="0"/>
              </a:rPr>
              <a:t>Step 1: </a:t>
            </a:r>
          </a:p>
          <a:p>
            <a:r>
              <a:rPr lang="en-US" sz="2200" dirty="0">
                <a:latin typeface="Century Gothic" panose="020B0502020202020204" pitchFamily="34" charset="0"/>
              </a:rPr>
              <a:t>Requirements: 3200kcal/kg, 20% CP, 1% Lys, 0.38% Met, 0.9% Ca and 0.7% P</a:t>
            </a:r>
          </a:p>
          <a:p>
            <a:endParaRPr lang="en-US" sz="2200" dirty="0">
              <a:latin typeface="Century Gothic" panose="020B0502020202020204" pitchFamily="34" charset="0"/>
            </a:endParaRPr>
          </a:p>
          <a:p>
            <a:pPr marL="0" indent="0">
              <a:buNone/>
            </a:pPr>
            <a:r>
              <a:rPr lang="en-US" sz="2200" u="sng" dirty="0">
                <a:latin typeface="Century Gothic" panose="020B0502020202020204" pitchFamily="34" charset="0"/>
              </a:rPr>
              <a:t>Step 2:</a:t>
            </a:r>
          </a:p>
          <a:p>
            <a:r>
              <a:rPr lang="en-US" sz="2200" dirty="0">
                <a:latin typeface="Century Gothic" panose="020B0502020202020204" pitchFamily="34" charset="0"/>
              </a:rPr>
              <a:t>Composition of ingredients</a:t>
            </a:r>
          </a:p>
          <a:p>
            <a:endParaRPr lang="nl-BE" sz="2200" dirty="0">
              <a:latin typeface="Century Gothic" panose="020B0502020202020204" pitchFamily="34" charset="0"/>
            </a:endParaRPr>
          </a:p>
        </p:txBody>
      </p:sp>
    </p:spTree>
    <p:extLst>
      <p:ext uri="{BB962C8B-B14F-4D97-AF65-F5344CB8AC3E}">
        <p14:creationId xmlns:p14="http://schemas.microsoft.com/office/powerpoint/2010/main" val="11548791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el 4"/>
          <p:cNvGraphicFramePr>
            <a:graphicFrameLocks noGrp="1"/>
          </p:cNvGraphicFramePr>
          <p:nvPr/>
        </p:nvGraphicFramePr>
        <p:xfrm>
          <a:off x="2036619" y="995218"/>
          <a:ext cx="7994072" cy="5151764"/>
        </p:xfrm>
        <a:graphic>
          <a:graphicData uri="http://schemas.openxmlformats.org/drawingml/2006/table">
            <a:tbl>
              <a:tblPr firstRow="1" bandRow="1">
                <a:tableStyleId>{5C22544A-7EE6-4342-B048-85BDC9FD1C3A}</a:tableStyleId>
              </a:tblPr>
              <a:tblGrid>
                <a:gridCol w="2393335">
                  <a:extLst>
                    <a:ext uri="{9D8B030D-6E8A-4147-A177-3AD203B41FA5}">
                      <a16:colId xmlns:a16="http://schemas.microsoft.com/office/drawing/2014/main" val="20000"/>
                    </a:ext>
                  </a:extLst>
                </a:gridCol>
                <a:gridCol w="1383903">
                  <a:extLst>
                    <a:ext uri="{9D8B030D-6E8A-4147-A177-3AD203B41FA5}">
                      <a16:colId xmlns:a16="http://schemas.microsoft.com/office/drawing/2014/main" val="20001"/>
                    </a:ext>
                  </a:extLst>
                </a:gridCol>
                <a:gridCol w="846622">
                  <a:extLst>
                    <a:ext uri="{9D8B030D-6E8A-4147-A177-3AD203B41FA5}">
                      <a16:colId xmlns:a16="http://schemas.microsoft.com/office/drawing/2014/main" val="20002"/>
                    </a:ext>
                  </a:extLst>
                </a:gridCol>
                <a:gridCol w="846622">
                  <a:extLst>
                    <a:ext uri="{9D8B030D-6E8A-4147-A177-3AD203B41FA5}">
                      <a16:colId xmlns:a16="http://schemas.microsoft.com/office/drawing/2014/main" val="20003"/>
                    </a:ext>
                  </a:extLst>
                </a:gridCol>
                <a:gridCol w="846623">
                  <a:extLst>
                    <a:ext uri="{9D8B030D-6E8A-4147-A177-3AD203B41FA5}">
                      <a16:colId xmlns:a16="http://schemas.microsoft.com/office/drawing/2014/main" val="20004"/>
                    </a:ext>
                  </a:extLst>
                </a:gridCol>
                <a:gridCol w="862904">
                  <a:extLst>
                    <a:ext uri="{9D8B030D-6E8A-4147-A177-3AD203B41FA5}">
                      <a16:colId xmlns:a16="http://schemas.microsoft.com/office/drawing/2014/main" val="20005"/>
                    </a:ext>
                  </a:extLst>
                </a:gridCol>
                <a:gridCol w="814063">
                  <a:extLst>
                    <a:ext uri="{9D8B030D-6E8A-4147-A177-3AD203B41FA5}">
                      <a16:colId xmlns:a16="http://schemas.microsoft.com/office/drawing/2014/main" val="20006"/>
                    </a:ext>
                  </a:extLst>
                </a:gridCol>
              </a:tblGrid>
              <a:tr h="732003">
                <a:tc>
                  <a:txBody>
                    <a:bodyPr/>
                    <a:lstStyle/>
                    <a:p>
                      <a:r>
                        <a:rPr lang="en-US" sz="2200" dirty="0">
                          <a:latin typeface="Century Gothic" panose="020B0502020202020204" pitchFamily="34" charset="0"/>
                        </a:rPr>
                        <a:t>Ingredient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ME kcal/kg</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CP%</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Lys %</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Met %</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Ca %</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P %</a:t>
                      </a:r>
                      <a:endParaRPr lang="nl-BE" sz="2200" dirty="0">
                        <a:latin typeface="Century Gothic" panose="020B0502020202020204" pitchFamily="34" charset="0"/>
                      </a:endParaRPr>
                    </a:p>
                  </a:txBody>
                  <a:tcPr/>
                </a:tc>
                <a:extLst>
                  <a:ext uri="{0D108BD9-81ED-4DB2-BD59-A6C34878D82A}">
                    <a16:rowId xmlns:a16="http://schemas.microsoft.com/office/drawing/2014/main" val="10000"/>
                  </a:ext>
                </a:extLst>
              </a:tr>
              <a:tr h="488002">
                <a:tc>
                  <a:txBody>
                    <a:bodyPr/>
                    <a:lstStyle/>
                    <a:p>
                      <a:r>
                        <a:rPr lang="en-US" sz="2200" dirty="0">
                          <a:latin typeface="Century Gothic" panose="020B0502020202020204" pitchFamily="34" charset="0"/>
                        </a:rPr>
                        <a:t>Maize meal</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3350</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8</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0.26</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0.18</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0.02</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0.28</a:t>
                      </a:r>
                      <a:endParaRPr lang="nl-BE" sz="2200" dirty="0">
                        <a:latin typeface="Century Gothic" panose="020B0502020202020204" pitchFamily="34" charset="0"/>
                      </a:endParaRPr>
                    </a:p>
                  </a:txBody>
                  <a:tcPr/>
                </a:tc>
                <a:extLst>
                  <a:ext uri="{0D108BD9-81ED-4DB2-BD59-A6C34878D82A}">
                    <a16:rowId xmlns:a16="http://schemas.microsoft.com/office/drawing/2014/main" val="10001"/>
                  </a:ext>
                </a:extLst>
              </a:tr>
              <a:tr h="488002">
                <a:tc>
                  <a:txBody>
                    <a:bodyPr/>
                    <a:lstStyle/>
                    <a:p>
                      <a:r>
                        <a:rPr lang="en-US" sz="2200" dirty="0">
                          <a:latin typeface="Century Gothic" panose="020B0502020202020204" pitchFamily="34" charset="0"/>
                        </a:rPr>
                        <a:t>Soybean meal</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2230</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44</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2.69</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0.62</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0.29</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0.65</a:t>
                      </a:r>
                      <a:endParaRPr lang="nl-BE" sz="2200" dirty="0">
                        <a:latin typeface="Century Gothic" panose="020B0502020202020204" pitchFamily="34" charset="0"/>
                      </a:endParaRPr>
                    </a:p>
                  </a:txBody>
                  <a:tcPr/>
                </a:tc>
                <a:extLst>
                  <a:ext uri="{0D108BD9-81ED-4DB2-BD59-A6C34878D82A}">
                    <a16:rowId xmlns:a16="http://schemas.microsoft.com/office/drawing/2014/main" val="10002"/>
                  </a:ext>
                </a:extLst>
              </a:tr>
              <a:tr h="424097">
                <a:tc>
                  <a:txBody>
                    <a:bodyPr/>
                    <a:lstStyle/>
                    <a:p>
                      <a:r>
                        <a:rPr lang="en-US" sz="2200" dirty="0">
                          <a:latin typeface="Century Gothic" panose="020B0502020202020204" pitchFamily="34" charset="0"/>
                        </a:rPr>
                        <a:t>Oil</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8000</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extLst>
                  <a:ext uri="{0D108BD9-81ED-4DB2-BD59-A6C34878D82A}">
                    <a16:rowId xmlns:a16="http://schemas.microsoft.com/office/drawing/2014/main" val="10003"/>
                  </a:ext>
                </a:extLst>
              </a:tr>
              <a:tr h="424097">
                <a:tc>
                  <a:txBody>
                    <a:bodyPr/>
                    <a:lstStyle/>
                    <a:p>
                      <a:r>
                        <a:rPr lang="en-US" sz="2200" dirty="0">
                          <a:latin typeface="Century Gothic" panose="020B0502020202020204" pitchFamily="34" charset="0"/>
                        </a:rPr>
                        <a:t>DCP</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26</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18</a:t>
                      </a:r>
                      <a:endParaRPr lang="nl-BE" sz="2200" dirty="0">
                        <a:latin typeface="Century Gothic" panose="020B0502020202020204" pitchFamily="34" charset="0"/>
                      </a:endParaRPr>
                    </a:p>
                  </a:txBody>
                  <a:tcPr/>
                </a:tc>
                <a:extLst>
                  <a:ext uri="{0D108BD9-81ED-4DB2-BD59-A6C34878D82A}">
                    <a16:rowId xmlns:a16="http://schemas.microsoft.com/office/drawing/2014/main" val="10004"/>
                  </a:ext>
                </a:extLst>
              </a:tr>
              <a:tr h="424097">
                <a:tc>
                  <a:txBody>
                    <a:bodyPr/>
                    <a:lstStyle/>
                    <a:p>
                      <a:r>
                        <a:rPr lang="en-US" sz="2200" dirty="0">
                          <a:latin typeface="Century Gothic" panose="020B0502020202020204" pitchFamily="34" charset="0"/>
                        </a:rPr>
                        <a:t>DL-Methionine</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98</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extLst>
                  <a:ext uri="{0D108BD9-81ED-4DB2-BD59-A6C34878D82A}">
                    <a16:rowId xmlns:a16="http://schemas.microsoft.com/office/drawing/2014/main" val="10005"/>
                  </a:ext>
                </a:extLst>
              </a:tr>
              <a:tr h="424097">
                <a:tc>
                  <a:txBody>
                    <a:bodyPr/>
                    <a:lstStyle/>
                    <a:p>
                      <a:r>
                        <a:rPr lang="en-US" sz="2200" dirty="0">
                          <a:latin typeface="Century Gothic" panose="020B0502020202020204" pitchFamily="34" charset="0"/>
                        </a:rPr>
                        <a:t>Limestone</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38</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extLst>
                  <a:ext uri="{0D108BD9-81ED-4DB2-BD59-A6C34878D82A}">
                    <a16:rowId xmlns:a16="http://schemas.microsoft.com/office/drawing/2014/main" val="10006"/>
                  </a:ext>
                </a:extLst>
              </a:tr>
              <a:tr h="424097">
                <a:tc>
                  <a:txBody>
                    <a:bodyPr/>
                    <a:lstStyle/>
                    <a:p>
                      <a:r>
                        <a:rPr lang="en-US" sz="2200" dirty="0">
                          <a:latin typeface="Century Gothic" panose="020B0502020202020204" pitchFamily="34" charset="0"/>
                        </a:rPr>
                        <a:t>Lysine</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80</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extLst>
                  <a:ext uri="{0D108BD9-81ED-4DB2-BD59-A6C34878D82A}">
                    <a16:rowId xmlns:a16="http://schemas.microsoft.com/office/drawing/2014/main" val="10007"/>
                  </a:ext>
                </a:extLst>
              </a:tr>
              <a:tr h="424097">
                <a:tc>
                  <a:txBody>
                    <a:bodyPr/>
                    <a:lstStyle/>
                    <a:p>
                      <a:r>
                        <a:rPr lang="en-US" sz="2200" dirty="0">
                          <a:latin typeface="Century Gothic" panose="020B0502020202020204" pitchFamily="34" charset="0"/>
                        </a:rPr>
                        <a:t>Salt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extLst>
                  <a:ext uri="{0D108BD9-81ED-4DB2-BD59-A6C34878D82A}">
                    <a16:rowId xmlns:a16="http://schemas.microsoft.com/office/drawing/2014/main" val="10008"/>
                  </a:ext>
                </a:extLst>
              </a:tr>
              <a:tr h="424097">
                <a:tc>
                  <a:txBody>
                    <a:bodyPr/>
                    <a:lstStyle/>
                    <a:p>
                      <a:r>
                        <a:rPr lang="en-US" sz="2200" dirty="0">
                          <a:latin typeface="Century Gothic" panose="020B0502020202020204" pitchFamily="34" charset="0"/>
                        </a:rPr>
                        <a:t>Vitamin premix</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extLst>
                  <a:ext uri="{0D108BD9-81ED-4DB2-BD59-A6C34878D82A}">
                    <a16:rowId xmlns:a16="http://schemas.microsoft.com/office/drawing/2014/main" val="10009"/>
                  </a:ext>
                </a:extLst>
              </a:tr>
              <a:tr h="424097">
                <a:tc>
                  <a:txBody>
                    <a:bodyPr/>
                    <a:lstStyle/>
                    <a:p>
                      <a:r>
                        <a:rPr lang="en-US" sz="2200" dirty="0">
                          <a:latin typeface="Century Gothic" panose="020B0502020202020204" pitchFamily="34" charset="0"/>
                        </a:rPr>
                        <a:t>Mineral premix</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tc>
                  <a:txBody>
                    <a:bodyPr/>
                    <a:lstStyle/>
                    <a:p>
                      <a:r>
                        <a:rPr lang="en-US" sz="2200" dirty="0">
                          <a:latin typeface="Century Gothic" panose="020B0502020202020204" pitchFamily="34" charset="0"/>
                        </a:rPr>
                        <a:t>-</a:t>
                      </a:r>
                      <a:endParaRPr lang="nl-BE" sz="2200" dirty="0">
                        <a:latin typeface="Century Gothic" panose="020B0502020202020204" pitchFamily="34" charset="0"/>
                      </a:endParaRP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2451382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p:cNvSpPr>
            <a:spLocks noGrp="1"/>
          </p:cNvSpPr>
          <p:nvPr>
            <p:ph idx="1"/>
          </p:nvPr>
        </p:nvSpPr>
        <p:spPr>
          <a:xfrm>
            <a:off x="2152650" y="665019"/>
            <a:ext cx="7886700" cy="5511945"/>
          </a:xfrm>
        </p:spPr>
        <p:txBody>
          <a:bodyPr>
            <a:normAutofit/>
          </a:bodyPr>
          <a:lstStyle/>
          <a:p>
            <a:r>
              <a:rPr lang="en-US" sz="2200" u="sng" dirty="0">
                <a:latin typeface="Times New Roman" panose="02020603050405020304" pitchFamily="18" charset="0"/>
                <a:cs typeface="Times New Roman" panose="02020603050405020304" pitchFamily="18" charset="0"/>
              </a:rPr>
              <a:t>Step 3</a:t>
            </a:r>
            <a:r>
              <a:rPr lang="en-US" sz="2200" dirty="0">
                <a:latin typeface="Times New Roman" panose="02020603050405020304" pitchFamily="18" charset="0"/>
                <a:cs typeface="Times New Roman" panose="02020603050405020304" pitchFamily="18" charset="0"/>
              </a:rPr>
              <a:t>: Set aside 7% portion to accommodate other ingredients to make up for the short-falls and addition of salt and premixes. Assume premixes are recommended for inclusion at 0.05% of the feed for each of the two, vitamins and minerals.</a:t>
            </a:r>
          </a:p>
          <a:p>
            <a:pPr marL="0" indent="0">
              <a:buNone/>
            </a:pPr>
            <a:r>
              <a:rPr lang="en-US" sz="2200" dirty="0">
                <a:latin typeface="Times New Roman" panose="02020603050405020304" pitchFamily="18" charset="0"/>
                <a:cs typeface="Times New Roman" panose="02020603050405020304" pitchFamily="18" charset="0"/>
              </a:rPr>
              <a:t>	100% – 7% = 93% (will be component for maize meal and soybean meal)</a:t>
            </a:r>
          </a:p>
          <a:p>
            <a:pPr marL="0" indent="0">
              <a:buNone/>
            </a:pPr>
            <a:r>
              <a:rPr lang="en-US" sz="2200" dirty="0">
                <a:latin typeface="Times New Roman" panose="02020603050405020304" pitchFamily="18" charset="0"/>
                <a:cs typeface="Times New Roman" panose="02020603050405020304" pitchFamily="18" charset="0"/>
              </a:rPr>
              <a:t>	Let X = MM and Y = SBM</a:t>
            </a:r>
          </a:p>
          <a:p>
            <a:pPr marL="0" indent="0">
              <a:buNone/>
            </a:pPr>
            <a:r>
              <a:rPr lang="en-US" sz="2200" dirty="0">
                <a:latin typeface="Times New Roman" panose="02020603050405020304" pitchFamily="18" charset="0"/>
                <a:cs typeface="Times New Roman" panose="02020603050405020304" pitchFamily="18" charset="0"/>
              </a:rPr>
              <a:t>			  X + Y = 93</a:t>
            </a:r>
          </a:p>
          <a:p>
            <a:pPr marL="0" indent="0">
              <a:buNone/>
            </a:pPr>
            <a:r>
              <a:rPr lang="en-US" sz="2200" dirty="0">
                <a:latin typeface="Times New Roman" panose="02020603050405020304" pitchFamily="18" charset="0"/>
                <a:cs typeface="Times New Roman" panose="02020603050405020304" pitchFamily="18" charset="0"/>
              </a:rPr>
              <a:t>		0.08X + 0.37Y =20</a:t>
            </a:r>
          </a:p>
          <a:p>
            <a:pPr marL="0" indent="0">
              <a:buNone/>
            </a:pPr>
            <a:r>
              <a:rPr lang="en-US" sz="2200" dirty="0">
                <a:latin typeface="Times New Roman" panose="02020603050405020304" pitchFamily="18" charset="0"/>
                <a:cs typeface="Times New Roman" panose="02020603050405020304" pitchFamily="18" charset="0"/>
              </a:rPr>
              <a:t>		0.08X + 0.08Y = 7.44</a:t>
            </a:r>
          </a:p>
          <a:p>
            <a:pPr marL="0" indent="0">
              <a:buNone/>
            </a:pPr>
            <a:r>
              <a:rPr lang="en-US" sz="2200" dirty="0">
                <a:latin typeface="Times New Roman" panose="02020603050405020304" pitchFamily="18" charset="0"/>
                <a:cs typeface="Times New Roman" panose="02020603050405020304" pitchFamily="18" charset="0"/>
              </a:rPr>
              <a:t>			  0.29Y = 12.56</a:t>
            </a:r>
          </a:p>
          <a:p>
            <a:pPr marL="0" indent="0">
              <a:buNone/>
            </a:pPr>
            <a:r>
              <a:rPr lang="en-US" sz="2200" dirty="0">
                <a:latin typeface="Times New Roman" panose="02020603050405020304" pitchFamily="18" charset="0"/>
                <a:cs typeface="Times New Roman" panose="02020603050405020304" pitchFamily="18" charset="0"/>
              </a:rPr>
              <a:t>			         Y = 43.31%</a:t>
            </a:r>
          </a:p>
          <a:p>
            <a:pPr marL="0" indent="0">
              <a:buNone/>
            </a:pPr>
            <a:r>
              <a:rPr lang="en-US" sz="2200" dirty="0">
                <a:latin typeface="Times New Roman" panose="02020603050405020304" pitchFamily="18" charset="0"/>
                <a:cs typeface="Times New Roman" panose="02020603050405020304" pitchFamily="18" charset="0"/>
              </a:rPr>
              <a:t>			         X = 49.69%</a:t>
            </a:r>
            <a:endParaRPr lang="nl-BE"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66133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p:cNvSpPr>
            <a:spLocks noGrp="1"/>
          </p:cNvSpPr>
          <p:nvPr>
            <p:ph idx="1"/>
          </p:nvPr>
        </p:nvSpPr>
        <p:spPr>
          <a:xfrm>
            <a:off x="2152650" y="665019"/>
            <a:ext cx="7886700" cy="5511945"/>
          </a:xfrm>
        </p:spPr>
        <p:txBody>
          <a:bodyPr>
            <a:normAutofit/>
          </a:bodyPr>
          <a:lstStyle/>
          <a:p>
            <a:r>
              <a:rPr lang="en-US" sz="2200" dirty="0">
                <a:latin typeface="Times New Roman" panose="02020603050405020304" pitchFamily="18" charset="0"/>
                <a:cs typeface="Times New Roman" panose="02020603050405020304" pitchFamily="18" charset="0"/>
              </a:rPr>
              <a:t>Step 4: Check the composition of the mixture in all nutrients and determine the difference from requirements</a:t>
            </a: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Tentative mixture</a:t>
            </a:r>
          </a:p>
          <a:p>
            <a:pPr marL="0" indent="0">
              <a:buNone/>
            </a:pPr>
            <a:endParaRPr lang="nl-BE" sz="2200" dirty="0">
              <a:latin typeface="Times New Roman" panose="02020603050405020304" pitchFamily="18" charset="0"/>
              <a:cs typeface="Times New Roman" panose="02020603050405020304" pitchFamily="18" charset="0"/>
            </a:endParaRPr>
          </a:p>
        </p:txBody>
      </p:sp>
      <p:graphicFrame>
        <p:nvGraphicFramePr>
          <p:cNvPr id="2" name="Tabel 1"/>
          <p:cNvGraphicFramePr>
            <a:graphicFrameLocks noGrp="1"/>
          </p:cNvGraphicFramePr>
          <p:nvPr/>
        </p:nvGraphicFramePr>
        <p:xfrm>
          <a:off x="2161310" y="1798781"/>
          <a:ext cx="7703127" cy="1112520"/>
        </p:xfrm>
        <a:graphic>
          <a:graphicData uri="http://schemas.openxmlformats.org/drawingml/2006/table">
            <a:tbl>
              <a:tblPr firstRow="1" bandRow="1">
                <a:tableStyleId>{5C22544A-7EE6-4342-B048-85BDC9FD1C3A}</a:tableStyleId>
              </a:tblPr>
              <a:tblGrid>
                <a:gridCol w="1831936">
                  <a:extLst>
                    <a:ext uri="{9D8B030D-6E8A-4147-A177-3AD203B41FA5}">
                      <a16:colId xmlns:a16="http://schemas.microsoft.com/office/drawing/2014/main" val="20000"/>
                    </a:ext>
                  </a:extLst>
                </a:gridCol>
                <a:gridCol w="3078246">
                  <a:extLst>
                    <a:ext uri="{9D8B030D-6E8A-4147-A177-3AD203B41FA5}">
                      <a16:colId xmlns:a16="http://schemas.microsoft.com/office/drawing/2014/main" val="20001"/>
                    </a:ext>
                  </a:extLst>
                </a:gridCol>
                <a:gridCol w="2792945">
                  <a:extLst>
                    <a:ext uri="{9D8B030D-6E8A-4147-A177-3AD203B41FA5}">
                      <a16:colId xmlns:a16="http://schemas.microsoft.com/office/drawing/2014/main" val="20002"/>
                    </a:ext>
                  </a:extLst>
                </a:gridCol>
              </a:tblGrid>
              <a:tr h="370840">
                <a:tc>
                  <a:txBody>
                    <a:bodyPr/>
                    <a:lstStyle/>
                    <a:p>
                      <a:r>
                        <a:rPr lang="en-US" sz="1800" dirty="0">
                          <a:latin typeface="Century Gothic" panose="020B0502020202020204" pitchFamily="34" charset="0"/>
                        </a:rPr>
                        <a:t>Ingredient</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Energy Contribution</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Protein Contribution</a:t>
                      </a:r>
                      <a:endParaRPr lang="nl-BE" sz="1800" dirty="0">
                        <a:latin typeface="Century Gothic" panose="020B0502020202020204" pitchFamily="34" charset="0"/>
                      </a:endParaRPr>
                    </a:p>
                  </a:txBody>
                  <a:tcPr/>
                </a:tc>
                <a:extLst>
                  <a:ext uri="{0D108BD9-81ED-4DB2-BD59-A6C34878D82A}">
                    <a16:rowId xmlns:a16="http://schemas.microsoft.com/office/drawing/2014/main" val="10000"/>
                  </a:ext>
                </a:extLst>
              </a:tr>
              <a:tr h="370840">
                <a:tc>
                  <a:txBody>
                    <a:bodyPr/>
                    <a:lstStyle/>
                    <a:p>
                      <a:r>
                        <a:rPr lang="en-US" sz="1800" dirty="0">
                          <a:latin typeface="Century Gothic" panose="020B0502020202020204" pitchFamily="34" charset="0"/>
                        </a:rPr>
                        <a:t>Maize meal</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3350</a:t>
                      </a:r>
                      <a:r>
                        <a:rPr lang="en-US" sz="1800" baseline="0" dirty="0">
                          <a:latin typeface="Century Gothic" panose="020B0502020202020204" pitchFamily="34" charset="0"/>
                        </a:rPr>
                        <a:t> x 49.69/100= 1665</a:t>
                      </a:r>
                      <a:endParaRPr lang="nl-BE" sz="1800" dirty="0">
                        <a:latin typeface="Century Gothic" panose="020B0502020202020204"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aseline="0" dirty="0">
                          <a:latin typeface="Century Gothic" panose="020B0502020202020204" pitchFamily="34" charset="0"/>
                        </a:rPr>
                        <a:t>49.69 x 8/100= 3.98</a:t>
                      </a:r>
                      <a:endParaRPr lang="nl-BE" sz="1800" dirty="0">
                        <a:latin typeface="Century Gothic" panose="020B0502020202020204" pitchFamily="34" charset="0"/>
                      </a:endParaRPr>
                    </a:p>
                  </a:txBody>
                  <a:tcPr/>
                </a:tc>
                <a:extLst>
                  <a:ext uri="{0D108BD9-81ED-4DB2-BD59-A6C34878D82A}">
                    <a16:rowId xmlns:a16="http://schemas.microsoft.com/office/drawing/2014/main" val="10001"/>
                  </a:ext>
                </a:extLst>
              </a:tr>
              <a:tr h="370840">
                <a:tc>
                  <a:txBody>
                    <a:bodyPr/>
                    <a:lstStyle/>
                    <a:p>
                      <a:r>
                        <a:rPr lang="en-US" sz="1800" dirty="0">
                          <a:latin typeface="Century Gothic" panose="020B0502020202020204" pitchFamily="34" charset="0"/>
                        </a:rPr>
                        <a:t>SBM</a:t>
                      </a:r>
                      <a:endParaRPr lang="nl-BE" sz="1800" dirty="0">
                        <a:latin typeface="Century Gothic" panose="020B0502020202020204"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latin typeface="Century Gothic" panose="020B0502020202020204" pitchFamily="34" charset="0"/>
                        </a:rPr>
                        <a:t>2230</a:t>
                      </a:r>
                      <a:r>
                        <a:rPr lang="en-US" sz="1800" baseline="0" dirty="0">
                          <a:latin typeface="Century Gothic" panose="020B0502020202020204" pitchFamily="34" charset="0"/>
                        </a:rPr>
                        <a:t> x 43.31/100= 966</a:t>
                      </a:r>
                      <a:endParaRPr lang="nl-BE" sz="1800" dirty="0">
                        <a:latin typeface="Century Gothic" panose="020B0502020202020204"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aseline="0" dirty="0">
                          <a:latin typeface="Century Gothic" panose="020B0502020202020204" pitchFamily="34" charset="0"/>
                        </a:rPr>
                        <a:t>43.31 x 37/100= 16.02</a:t>
                      </a:r>
                      <a:endParaRPr lang="nl-BE" sz="1800" dirty="0">
                        <a:latin typeface="Century Gothic" panose="020B0502020202020204" pitchFamily="34" charset="0"/>
                      </a:endParaRPr>
                    </a:p>
                  </a:txBody>
                  <a:tcPr/>
                </a:tc>
                <a:extLst>
                  <a:ext uri="{0D108BD9-81ED-4DB2-BD59-A6C34878D82A}">
                    <a16:rowId xmlns:a16="http://schemas.microsoft.com/office/drawing/2014/main" val="10002"/>
                  </a:ext>
                </a:extLst>
              </a:tr>
            </a:tbl>
          </a:graphicData>
        </a:graphic>
      </p:graphicFrame>
      <p:graphicFrame>
        <p:nvGraphicFramePr>
          <p:cNvPr id="4" name="Tabel 3"/>
          <p:cNvGraphicFramePr>
            <a:graphicFrameLocks noGrp="1"/>
          </p:cNvGraphicFramePr>
          <p:nvPr/>
        </p:nvGraphicFramePr>
        <p:xfrm>
          <a:off x="2161309" y="3516745"/>
          <a:ext cx="7703127" cy="2494280"/>
        </p:xfrm>
        <a:graphic>
          <a:graphicData uri="http://schemas.openxmlformats.org/drawingml/2006/table">
            <a:tbl>
              <a:tblPr firstRow="1" bandRow="1">
                <a:tableStyleId>{5C22544A-7EE6-4342-B048-85BDC9FD1C3A}</a:tableStyleId>
              </a:tblPr>
              <a:tblGrid>
                <a:gridCol w="1535092">
                  <a:extLst>
                    <a:ext uri="{9D8B030D-6E8A-4147-A177-3AD203B41FA5}">
                      <a16:colId xmlns:a16="http://schemas.microsoft.com/office/drawing/2014/main" val="20000"/>
                    </a:ext>
                  </a:extLst>
                </a:gridCol>
                <a:gridCol w="843610">
                  <a:extLst>
                    <a:ext uri="{9D8B030D-6E8A-4147-A177-3AD203B41FA5}">
                      <a16:colId xmlns:a16="http://schemas.microsoft.com/office/drawing/2014/main" val="20001"/>
                    </a:ext>
                  </a:extLst>
                </a:gridCol>
                <a:gridCol w="1299988">
                  <a:extLst>
                    <a:ext uri="{9D8B030D-6E8A-4147-A177-3AD203B41FA5}">
                      <a16:colId xmlns:a16="http://schemas.microsoft.com/office/drawing/2014/main" val="20002"/>
                    </a:ext>
                  </a:extLst>
                </a:gridCol>
                <a:gridCol w="857441">
                  <a:extLst>
                    <a:ext uri="{9D8B030D-6E8A-4147-A177-3AD203B41FA5}">
                      <a16:colId xmlns:a16="http://schemas.microsoft.com/office/drawing/2014/main" val="20003"/>
                    </a:ext>
                  </a:extLst>
                </a:gridCol>
                <a:gridCol w="770161">
                  <a:extLst>
                    <a:ext uri="{9D8B030D-6E8A-4147-A177-3AD203B41FA5}">
                      <a16:colId xmlns:a16="http://schemas.microsoft.com/office/drawing/2014/main" val="20004"/>
                    </a:ext>
                  </a:extLst>
                </a:gridCol>
                <a:gridCol w="789709">
                  <a:extLst>
                    <a:ext uri="{9D8B030D-6E8A-4147-A177-3AD203B41FA5}">
                      <a16:colId xmlns:a16="http://schemas.microsoft.com/office/drawing/2014/main" val="20005"/>
                    </a:ext>
                  </a:extLst>
                </a:gridCol>
                <a:gridCol w="832661">
                  <a:extLst>
                    <a:ext uri="{9D8B030D-6E8A-4147-A177-3AD203B41FA5}">
                      <a16:colId xmlns:a16="http://schemas.microsoft.com/office/drawing/2014/main" val="20006"/>
                    </a:ext>
                  </a:extLst>
                </a:gridCol>
                <a:gridCol w="774465">
                  <a:extLst>
                    <a:ext uri="{9D8B030D-6E8A-4147-A177-3AD203B41FA5}">
                      <a16:colId xmlns:a16="http://schemas.microsoft.com/office/drawing/2014/main" val="20007"/>
                    </a:ext>
                  </a:extLst>
                </a:gridCol>
              </a:tblGrid>
              <a:tr h="370840">
                <a:tc>
                  <a:txBody>
                    <a:bodyPr/>
                    <a:lstStyle/>
                    <a:p>
                      <a:r>
                        <a:rPr lang="en-US" sz="1800" dirty="0">
                          <a:latin typeface="Century Gothic" panose="020B0502020202020204" pitchFamily="34" charset="0"/>
                        </a:rPr>
                        <a:t>Ingredient</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ME kcal/kg</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CP%</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Lys %</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Met %</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Ca %</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P %</a:t>
                      </a:r>
                      <a:endParaRPr lang="nl-BE" sz="1800" dirty="0">
                        <a:latin typeface="Century Gothic" panose="020B0502020202020204" pitchFamily="34" charset="0"/>
                      </a:endParaRPr>
                    </a:p>
                  </a:txBody>
                  <a:tcPr/>
                </a:tc>
                <a:extLst>
                  <a:ext uri="{0D108BD9-81ED-4DB2-BD59-A6C34878D82A}">
                    <a16:rowId xmlns:a16="http://schemas.microsoft.com/office/drawing/2014/main" val="10000"/>
                  </a:ext>
                </a:extLst>
              </a:tr>
              <a:tr h="370840">
                <a:tc>
                  <a:txBody>
                    <a:bodyPr/>
                    <a:lstStyle/>
                    <a:p>
                      <a:r>
                        <a:rPr lang="en-US" sz="1800" dirty="0">
                          <a:latin typeface="Century Gothic" panose="020B0502020202020204" pitchFamily="34" charset="0"/>
                        </a:rPr>
                        <a:t>Maize meal</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49.69</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1665</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3.98</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0.13</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0.09</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0.01</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0.14</a:t>
                      </a:r>
                      <a:endParaRPr lang="nl-BE" sz="1800" dirty="0">
                        <a:latin typeface="Century Gothic" panose="020B0502020202020204" pitchFamily="34" charset="0"/>
                      </a:endParaRPr>
                    </a:p>
                  </a:txBody>
                  <a:tcPr/>
                </a:tc>
                <a:extLst>
                  <a:ext uri="{0D108BD9-81ED-4DB2-BD59-A6C34878D82A}">
                    <a16:rowId xmlns:a16="http://schemas.microsoft.com/office/drawing/2014/main" val="10001"/>
                  </a:ext>
                </a:extLst>
              </a:tr>
              <a:tr h="370840">
                <a:tc>
                  <a:txBody>
                    <a:bodyPr/>
                    <a:lstStyle/>
                    <a:p>
                      <a:r>
                        <a:rPr lang="en-US" sz="1800" dirty="0">
                          <a:latin typeface="Century Gothic" panose="020B0502020202020204" pitchFamily="34" charset="0"/>
                        </a:rPr>
                        <a:t>SBM</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43.31</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966</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16.02</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1.17</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0.27</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0.13</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0.28</a:t>
                      </a:r>
                      <a:endParaRPr lang="nl-BE" sz="1800" dirty="0">
                        <a:latin typeface="Century Gothic" panose="020B0502020202020204" pitchFamily="34" charset="0"/>
                      </a:endParaRPr>
                    </a:p>
                  </a:txBody>
                  <a:tcPr/>
                </a:tc>
                <a:extLst>
                  <a:ext uri="{0D108BD9-81ED-4DB2-BD59-A6C34878D82A}">
                    <a16:rowId xmlns:a16="http://schemas.microsoft.com/office/drawing/2014/main" val="10002"/>
                  </a:ext>
                </a:extLst>
              </a:tr>
              <a:tr h="370840">
                <a:tc>
                  <a:txBody>
                    <a:bodyPr/>
                    <a:lstStyle/>
                    <a:p>
                      <a:r>
                        <a:rPr lang="en-US" sz="1800" dirty="0">
                          <a:latin typeface="Century Gothic" panose="020B0502020202020204" pitchFamily="34" charset="0"/>
                        </a:rPr>
                        <a:t>Totals</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93</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2631</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20</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1.3</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0.36</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0.14</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0.42</a:t>
                      </a:r>
                      <a:endParaRPr lang="nl-BE" sz="1800" dirty="0">
                        <a:latin typeface="Century Gothic" panose="020B0502020202020204" pitchFamily="34" charset="0"/>
                      </a:endParaRPr>
                    </a:p>
                  </a:txBody>
                  <a:tcPr/>
                </a:tc>
                <a:extLst>
                  <a:ext uri="{0D108BD9-81ED-4DB2-BD59-A6C34878D82A}">
                    <a16:rowId xmlns:a16="http://schemas.microsoft.com/office/drawing/2014/main" val="10003"/>
                  </a:ext>
                </a:extLst>
              </a:tr>
              <a:tr h="370840">
                <a:tc>
                  <a:txBody>
                    <a:bodyPr/>
                    <a:lstStyle/>
                    <a:p>
                      <a:r>
                        <a:rPr lang="en-US" sz="1800" b="1" dirty="0">
                          <a:latin typeface="Century Gothic" panose="020B0502020202020204" pitchFamily="34" charset="0"/>
                        </a:rPr>
                        <a:t>Required</a:t>
                      </a:r>
                      <a:endParaRPr lang="nl-BE" sz="1800" b="1" dirty="0">
                        <a:latin typeface="Century Gothic" panose="020B0502020202020204" pitchFamily="34" charset="0"/>
                      </a:endParaRPr>
                    </a:p>
                  </a:txBody>
                  <a:tcPr/>
                </a:tc>
                <a:tc>
                  <a:txBody>
                    <a:bodyPr/>
                    <a:lstStyle/>
                    <a:p>
                      <a:r>
                        <a:rPr lang="en-US" sz="1800" b="1" dirty="0">
                          <a:latin typeface="Century Gothic" panose="020B0502020202020204" pitchFamily="34" charset="0"/>
                        </a:rPr>
                        <a:t>100</a:t>
                      </a:r>
                      <a:endParaRPr lang="nl-BE" sz="1800" b="1" dirty="0">
                        <a:latin typeface="Century Gothic" panose="020B0502020202020204" pitchFamily="34" charset="0"/>
                      </a:endParaRPr>
                    </a:p>
                  </a:txBody>
                  <a:tcPr/>
                </a:tc>
                <a:tc>
                  <a:txBody>
                    <a:bodyPr/>
                    <a:lstStyle/>
                    <a:p>
                      <a:r>
                        <a:rPr lang="en-US" sz="1800" b="1" dirty="0">
                          <a:latin typeface="Century Gothic" panose="020B0502020202020204" pitchFamily="34" charset="0"/>
                        </a:rPr>
                        <a:t>3200</a:t>
                      </a:r>
                      <a:endParaRPr lang="nl-BE" sz="1800" b="1" dirty="0">
                        <a:latin typeface="Century Gothic" panose="020B0502020202020204" pitchFamily="34" charset="0"/>
                      </a:endParaRPr>
                    </a:p>
                  </a:txBody>
                  <a:tcPr/>
                </a:tc>
                <a:tc>
                  <a:txBody>
                    <a:bodyPr/>
                    <a:lstStyle/>
                    <a:p>
                      <a:r>
                        <a:rPr lang="en-US" sz="1800" b="1" dirty="0">
                          <a:latin typeface="Century Gothic" panose="020B0502020202020204" pitchFamily="34" charset="0"/>
                        </a:rPr>
                        <a:t>20</a:t>
                      </a:r>
                      <a:endParaRPr lang="nl-BE" sz="1800" b="1" dirty="0">
                        <a:latin typeface="Century Gothic" panose="020B0502020202020204" pitchFamily="34" charset="0"/>
                      </a:endParaRPr>
                    </a:p>
                  </a:txBody>
                  <a:tcPr/>
                </a:tc>
                <a:tc>
                  <a:txBody>
                    <a:bodyPr/>
                    <a:lstStyle/>
                    <a:p>
                      <a:r>
                        <a:rPr lang="en-US" sz="1800" b="1" dirty="0">
                          <a:latin typeface="Century Gothic" panose="020B0502020202020204" pitchFamily="34" charset="0"/>
                        </a:rPr>
                        <a:t>1</a:t>
                      </a:r>
                      <a:endParaRPr lang="nl-BE" sz="1800" b="1" dirty="0">
                        <a:latin typeface="Century Gothic" panose="020B0502020202020204" pitchFamily="34" charset="0"/>
                      </a:endParaRPr>
                    </a:p>
                  </a:txBody>
                  <a:tcPr/>
                </a:tc>
                <a:tc>
                  <a:txBody>
                    <a:bodyPr/>
                    <a:lstStyle/>
                    <a:p>
                      <a:r>
                        <a:rPr lang="en-US" sz="1800" b="1" dirty="0">
                          <a:latin typeface="Century Gothic" panose="020B0502020202020204" pitchFamily="34" charset="0"/>
                        </a:rPr>
                        <a:t>0.38</a:t>
                      </a:r>
                      <a:endParaRPr lang="nl-BE" sz="1800" b="1" dirty="0">
                        <a:latin typeface="Century Gothic" panose="020B0502020202020204" pitchFamily="34" charset="0"/>
                      </a:endParaRPr>
                    </a:p>
                  </a:txBody>
                  <a:tcPr/>
                </a:tc>
                <a:tc>
                  <a:txBody>
                    <a:bodyPr/>
                    <a:lstStyle/>
                    <a:p>
                      <a:r>
                        <a:rPr lang="en-US" sz="1800" b="1" dirty="0">
                          <a:latin typeface="Century Gothic" panose="020B0502020202020204" pitchFamily="34" charset="0"/>
                        </a:rPr>
                        <a:t>0.9</a:t>
                      </a:r>
                      <a:endParaRPr lang="nl-BE" sz="1800" b="1" dirty="0">
                        <a:latin typeface="Century Gothic" panose="020B0502020202020204" pitchFamily="34" charset="0"/>
                      </a:endParaRPr>
                    </a:p>
                  </a:txBody>
                  <a:tcPr/>
                </a:tc>
                <a:tc>
                  <a:txBody>
                    <a:bodyPr/>
                    <a:lstStyle/>
                    <a:p>
                      <a:r>
                        <a:rPr lang="en-US" sz="1800" b="1" dirty="0">
                          <a:latin typeface="Century Gothic" panose="020B0502020202020204" pitchFamily="34" charset="0"/>
                        </a:rPr>
                        <a:t>0.7</a:t>
                      </a:r>
                      <a:endParaRPr lang="nl-BE" sz="1800" b="1" dirty="0">
                        <a:latin typeface="Century Gothic" panose="020B0502020202020204" pitchFamily="34" charset="0"/>
                      </a:endParaRPr>
                    </a:p>
                  </a:txBody>
                  <a:tcPr/>
                </a:tc>
                <a:extLst>
                  <a:ext uri="{0D108BD9-81ED-4DB2-BD59-A6C34878D82A}">
                    <a16:rowId xmlns:a16="http://schemas.microsoft.com/office/drawing/2014/main" val="10004"/>
                  </a:ext>
                </a:extLst>
              </a:tr>
              <a:tr h="370840">
                <a:tc>
                  <a:txBody>
                    <a:bodyPr/>
                    <a:lstStyle/>
                    <a:p>
                      <a:r>
                        <a:rPr lang="en-US" sz="1800" dirty="0">
                          <a:latin typeface="Century Gothic" panose="020B0502020202020204" pitchFamily="34" charset="0"/>
                        </a:rPr>
                        <a:t>Deficit</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-7</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-569</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0</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a:t>
                      </a:r>
                      <a:r>
                        <a:rPr lang="en-US" sz="1800" baseline="0" dirty="0">
                          <a:latin typeface="Century Gothic" panose="020B0502020202020204" pitchFamily="34" charset="0"/>
                        </a:rPr>
                        <a:t> 0.3</a:t>
                      </a:r>
                      <a:endParaRPr lang="nl-BE" sz="1800" dirty="0">
                        <a:latin typeface="Century Gothic" panose="020B0502020202020204" pitchFamily="34" charset="0"/>
                      </a:endParaRPr>
                    </a:p>
                  </a:txBody>
                  <a:tcPr/>
                </a:tc>
                <a:tc>
                  <a:txBody>
                    <a:bodyPr/>
                    <a:lstStyle/>
                    <a:p>
                      <a:pPr marL="0" indent="0"/>
                      <a:r>
                        <a:rPr lang="en-US" sz="1800" dirty="0">
                          <a:latin typeface="Century Gothic" panose="020B0502020202020204" pitchFamily="34" charset="0"/>
                        </a:rPr>
                        <a:t>-0.02</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-0.76</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-0.28</a:t>
                      </a:r>
                      <a:endParaRPr lang="nl-BE" sz="1800" dirty="0">
                        <a:latin typeface="Century Gothic" panose="020B0502020202020204" pitchFamily="34" charset="0"/>
                      </a:endParaRP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3796935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p:cNvSpPr>
            <a:spLocks noGrp="1"/>
          </p:cNvSpPr>
          <p:nvPr>
            <p:ph idx="1"/>
          </p:nvPr>
        </p:nvSpPr>
        <p:spPr>
          <a:xfrm>
            <a:off x="88136" y="264405"/>
            <a:ext cx="11964318" cy="6400800"/>
          </a:xfrm>
        </p:spPr>
        <p:txBody>
          <a:bodyPr>
            <a:normAutofit lnSpcReduction="10000"/>
          </a:bodyPr>
          <a:lstStyle/>
          <a:p>
            <a:r>
              <a:rPr lang="en-US" sz="2200" u="sng" dirty="0">
                <a:latin typeface="Times New Roman" panose="02020603050405020304" pitchFamily="18" charset="0"/>
                <a:cs typeface="Times New Roman" panose="02020603050405020304" pitchFamily="18" charset="0"/>
              </a:rPr>
              <a:t>Step 5:</a:t>
            </a:r>
            <a:r>
              <a:rPr lang="en-US" sz="2200" dirty="0">
                <a:latin typeface="Times New Roman" panose="02020603050405020304" pitchFamily="18" charset="0"/>
                <a:cs typeface="Times New Roman" panose="02020603050405020304" pitchFamily="18" charset="0"/>
              </a:rPr>
              <a:t> Take care of the noted deficiencies:</a:t>
            </a:r>
          </a:p>
          <a:p>
            <a:r>
              <a:rPr lang="en-US" sz="2200" dirty="0">
                <a:latin typeface="Times New Roman" panose="02020603050405020304" pitchFamily="18" charset="0"/>
                <a:cs typeface="Times New Roman" panose="02020603050405020304" pitchFamily="18" charset="0"/>
              </a:rPr>
              <a:t>Energy is low by 569kcal/kg, representing (569/3200) x 100 = 18%. </a:t>
            </a:r>
          </a:p>
          <a:p>
            <a:pPr marL="400056" lvl="1" indent="0">
              <a:buNone/>
            </a:pPr>
            <a:r>
              <a:rPr lang="en-US" sz="2000" dirty="0">
                <a:latin typeface="Times New Roman" panose="02020603050405020304" pitchFamily="18" charset="0"/>
                <a:cs typeface="Times New Roman" panose="02020603050405020304" pitchFamily="18" charset="0"/>
              </a:rPr>
              <a:t>It can be raised by adding 4% oil; (4/100 x 8000) = 320kcal/kg</a:t>
            </a:r>
          </a:p>
          <a:p>
            <a:pPr marL="400056" lvl="1" indent="0">
              <a:buNone/>
            </a:pPr>
            <a:r>
              <a:rPr lang="en-US" sz="2000" dirty="0">
                <a:latin typeface="Times New Roman" panose="02020603050405020304" pitchFamily="18" charset="0"/>
                <a:cs typeface="Times New Roman" panose="02020603050405020304" pitchFamily="18" charset="0"/>
              </a:rPr>
              <a:t>Total Energy: 2631+ 320 = 2951kcal/kg, </a:t>
            </a:r>
          </a:p>
          <a:p>
            <a:pPr marL="400056" lvl="1" indent="0">
              <a:buNone/>
            </a:pPr>
            <a:r>
              <a:rPr lang="en-US" sz="2000" dirty="0">
                <a:latin typeface="Times New Roman" panose="02020603050405020304" pitchFamily="18" charset="0"/>
                <a:cs typeface="Times New Roman" panose="02020603050405020304" pitchFamily="18" charset="0"/>
              </a:rPr>
              <a:t>thus 249kcal/kg or (249/3200 x 100) = 8% below requirement. </a:t>
            </a:r>
          </a:p>
          <a:p>
            <a:pPr marL="400056" lvl="1" indent="0">
              <a:buNone/>
            </a:pPr>
            <a:r>
              <a:rPr lang="en-US" sz="2000" dirty="0">
                <a:latin typeface="Times New Roman" panose="02020603050405020304" pitchFamily="18" charset="0"/>
                <a:cs typeface="Times New Roman" panose="02020603050405020304" pitchFamily="18" charset="0"/>
              </a:rPr>
              <a:t>This is an acceptable value</a:t>
            </a:r>
          </a:p>
          <a:p>
            <a:r>
              <a:rPr lang="en-US" sz="2200" dirty="0">
                <a:latin typeface="Times New Roman" panose="02020603050405020304" pitchFamily="18" charset="0"/>
                <a:cs typeface="Times New Roman" panose="02020603050405020304" pitchFamily="18" charset="0"/>
              </a:rPr>
              <a:t>Protein is balanced</a:t>
            </a:r>
          </a:p>
          <a:p>
            <a:r>
              <a:rPr lang="en-US" sz="2200" dirty="0">
                <a:latin typeface="Times New Roman" panose="02020603050405020304" pitchFamily="18" charset="0"/>
                <a:cs typeface="Times New Roman" panose="02020603050405020304" pitchFamily="18" charset="0"/>
              </a:rPr>
              <a:t>Lysine is excess by 0.3%. It is acceptable</a:t>
            </a:r>
          </a:p>
          <a:p>
            <a:r>
              <a:rPr lang="en-US" sz="2200" dirty="0">
                <a:latin typeface="Times New Roman" panose="02020603050405020304" pitchFamily="18" charset="0"/>
                <a:cs typeface="Times New Roman" panose="02020603050405020304" pitchFamily="18" charset="0"/>
              </a:rPr>
              <a:t>Methionine is deficient by 0.02%. Therefore, add DL-Methionine (0.02/100 x 0.98) = 0.02% DL-Methionine.</a:t>
            </a:r>
          </a:p>
          <a:p>
            <a:r>
              <a:rPr lang="en-US" sz="2200" b="1" dirty="0">
                <a:solidFill>
                  <a:srgbClr val="FFFF00"/>
                </a:solidFill>
                <a:latin typeface="Times New Roman" panose="02020603050405020304" pitchFamily="18" charset="0"/>
                <a:cs typeface="Times New Roman" panose="02020603050405020304" pitchFamily="18" charset="0"/>
              </a:rPr>
              <a:t>It is important to balance p before balancing ca because sources of P also contribute Ca.</a:t>
            </a:r>
          </a:p>
          <a:p>
            <a:r>
              <a:rPr lang="en-US" sz="2200" dirty="0">
                <a:latin typeface="Times New Roman" panose="02020603050405020304" pitchFamily="18" charset="0"/>
                <a:cs typeface="Times New Roman" panose="02020603050405020304" pitchFamily="18" charset="0"/>
              </a:rPr>
              <a:t>Phosphorus is low by  0.28. use DCP to make up for the deficit. DCP required: (0.28/18 x 100) = 1.56%</a:t>
            </a:r>
          </a:p>
          <a:p>
            <a:r>
              <a:rPr lang="en-US" sz="2200" dirty="0">
                <a:latin typeface="Times New Roman" panose="02020603050405020304" pitchFamily="18" charset="0"/>
                <a:cs typeface="Times New Roman" panose="02020603050405020304" pitchFamily="18" charset="0"/>
              </a:rPr>
              <a:t>Calcium contributed by DCP</a:t>
            </a:r>
          </a:p>
          <a:p>
            <a:r>
              <a:rPr lang="en-US" sz="2200" dirty="0">
                <a:latin typeface="Times New Roman" panose="02020603050405020304" pitchFamily="18" charset="0"/>
                <a:cs typeface="Times New Roman" panose="02020603050405020304" pitchFamily="18" charset="0"/>
              </a:rPr>
              <a:t>1.56 X 26/100 = 0.41% Ca, thus deficit will be 0.76 – 0.41 = 0.35%</a:t>
            </a:r>
          </a:p>
          <a:p>
            <a:endParaRPr lang="nl-BE"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69388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p:cNvSpPr>
            <a:spLocks noGrp="1"/>
          </p:cNvSpPr>
          <p:nvPr>
            <p:ph idx="1"/>
          </p:nvPr>
        </p:nvSpPr>
        <p:spPr>
          <a:xfrm>
            <a:off x="2152650" y="775855"/>
            <a:ext cx="8127423" cy="5401108"/>
          </a:xfrm>
        </p:spPr>
        <p:txBody>
          <a:bodyPr>
            <a:normAutofit/>
          </a:bodyPr>
          <a:lstStyle/>
          <a:p>
            <a:r>
              <a:rPr lang="en-US" sz="2200" dirty="0">
                <a:latin typeface="Times New Roman" panose="02020603050405020304" pitchFamily="18" charset="0"/>
                <a:cs typeface="Times New Roman" panose="02020603050405020304" pitchFamily="18" charset="0"/>
              </a:rPr>
              <a:t>Amount of limestone to be added to make up for the short-fall will be: 0.35/38 x 100 = 0.9%</a:t>
            </a:r>
          </a:p>
          <a:p>
            <a:r>
              <a:rPr lang="en-US" sz="2200" u="sng" dirty="0">
                <a:latin typeface="Times New Roman" panose="02020603050405020304" pitchFamily="18" charset="0"/>
                <a:cs typeface="Times New Roman" panose="02020603050405020304" pitchFamily="18" charset="0"/>
              </a:rPr>
              <a:t>Step 6</a:t>
            </a:r>
            <a:r>
              <a:rPr lang="en-US" sz="2200" dirty="0">
                <a:latin typeface="Times New Roman" panose="02020603050405020304" pitchFamily="18" charset="0"/>
                <a:cs typeface="Times New Roman" panose="02020603050405020304" pitchFamily="18" charset="0"/>
              </a:rPr>
              <a:t>: Premixes can be added at recommended level of 0.05% each</a:t>
            </a:r>
          </a:p>
          <a:p>
            <a:r>
              <a:rPr lang="en-US" sz="2200" u="sng" dirty="0">
                <a:latin typeface="Times New Roman" panose="02020603050405020304" pitchFamily="18" charset="0"/>
                <a:cs typeface="Times New Roman" panose="02020603050405020304" pitchFamily="18" charset="0"/>
              </a:rPr>
              <a:t>Step 7</a:t>
            </a:r>
            <a:r>
              <a:rPr lang="en-US" sz="2200" dirty="0">
                <a:latin typeface="Times New Roman" panose="02020603050405020304" pitchFamily="18" charset="0"/>
                <a:cs typeface="Times New Roman" panose="02020603050405020304" pitchFamily="18" charset="0"/>
              </a:rPr>
              <a:t>: Salt will occupy the remaining portion</a:t>
            </a:r>
          </a:p>
          <a:p>
            <a:r>
              <a:rPr lang="en-US" sz="2200" dirty="0">
                <a:latin typeface="Times New Roman" panose="02020603050405020304" pitchFamily="18" charset="0"/>
                <a:cs typeface="Times New Roman" panose="02020603050405020304" pitchFamily="18" charset="0"/>
              </a:rPr>
              <a:t>4% Oil+ 0.02% DL-Methionine + 1.56% DCP + 0.9% Limestone + 0.1% Premixes = 6.58%</a:t>
            </a:r>
          </a:p>
          <a:p>
            <a:r>
              <a:rPr lang="en-US" sz="2200" dirty="0">
                <a:latin typeface="Times New Roman" panose="02020603050405020304" pitchFamily="18" charset="0"/>
                <a:cs typeface="Times New Roman" panose="02020603050405020304" pitchFamily="18" charset="0"/>
              </a:rPr>
              <a:t>Space for salt: 7 – 6.58 = 0.42%. This is acceptable since it is within 0.25% and 0.5% range</a:t>
            </a:r>
          </a:p>
          <a:p>
            <a:endParaRPr lang="nl-BE" sz="2200" dirty="0">
              <a:latin typeface="Century Gothic" panose="020B0502020202020204" pitchFamily="34" charset="0"/>
            </a:endParaRPr>
          </a:p>
        </p:txBody>
      </p:sp>
    </p:spTree>
    <p:extLst>
      <p:ext uri="{BB962C8B-B14F-4D97-AF65-F5344CB8AC3E}">
        <p14:creationId xmlns:p14="http://schemas.microsoft.com/office/powerpoint/2010/main" val="4495767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el 3"/>
          <p:cNvGraphicFramePr>
            <a:graphicFrameLocks noGrp="1"/>
          </p:cNvGraphicFramePr>
          <p:nvPr/>
        </p:nvGraphicFramePr>
        <p:xfrm>
          <a:off x="2133601" y="1244600"/>
          <a:ext cx="7716984" cy="4719320"/>
        </p:xfrm>
        <a:graphic>
          <a:graphicData uri="http://schemas.openxmlformats.org/drawingml/2006/table">
            <a:tbl>
              <a:tblPr firstRow="1" bandRow="1">
                <a:tableStyleId>{5C22544A-7EE6-4342-B048-85BDC9FD1C3A}</a:tableStyleId>
              </a:tblPr>
              <a:tblGrid>
                <a:gridCol w="2036617">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136073">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720436">
                  <a:extLst>
                    <a:ext uri="{9D8B030D-6E8A-4147-A177-3AD203B41FA5}">
                      <a16:colId xmlns:a16="http://schemas.microsoft.com/office/drawing/2014/main" val="20004"/>
                    </a:ext>
                  </a:extLst>
                </a:gridCol>
                <a:gridCol w="720437">
                  <a:extLst>
                    <a:ext uri="{9D8B030D-6E8A-4147-A177-3AD203B41FA5}">
                      <a16:colId xmlns:a16="http://schemas.microsoft.com/office/drawing/2014/main" val="20005"/>
                    </a:ext>
                  </a:extLst>
                </a:gridCol>
                <a:gridCol w="734291">
                  <a:extLst>
                    <a:ext uri="{9D8B030D-6E8A-4147-A177-3AD203B41FA5}">
                      <a16:colId xmlns:a16="http://schemas.microsoft.com/office/drawing/2014/main" val="20006"/>
                    </a:ext>
                  </a:extLst>
                </a:gridCol>
                <a:gridCol w="692730">
                  <a:extLst>
                    <a:ext uri="{9D8B030D-6E8A-4147-A177-3AD203B41FA5}">
                      <a16:colId xmlns:a16="http://schemas.microsoft.com/office/drawing/2014/main" val="20007"/>
                    </a:ext>
                  </a:extLst>
                </a:gridCol>
              </a:tblGrid>
              <a:tr h="370840">
                <a:tc>
                  <a:txBody>
                    <a:bodyPr/>
                    <a:lstStyle/>
                    <a:p>
                      <a:r>
                        <a:rPr lang="en-US" sz="1800" dirty="0">
                          <a:latin typeface="Century Gothic" panose="020B0502020202020204" pitchFamily="34" charset="0"/>
                        </a:rPr>
                        <a:t>Ingredient</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ME kcal/kg</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CP%</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Lys %</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Met %</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Ca %</a:t>
                      </a:r>
                      <a:endParaRPr lang="nl-BE" sz="1800" dirty="0">
                        <a:latin typeface="Century Gothic" panose="020B0502020202020204" pitchFamily="34" charset="0"/>
                      </a:endParaRPr>
                    </a:p>
                  </a:txBody>
                  <a:tcPr/>
                </a:tc>
                <a:tc>
                  <a:txBody>
                    <a:bodyPr/>
                    <a:lstStyle/>
                    <a:p>
                      <a:r>
                        <a:rPr lang="en-US" sz="1800" dirty="0">
                          <a:latin typeface="Century Gothic" panose="020B0502020202020204" pitchFamily="34" charset="0"/>
                        </a:rPr>
                        <a:t>P %</a:t>
                      </a:r>
                      <a:endParaRPr lang="nl-BE" sz="1800" dirty="0">
                        <a:latin typeface="Century Gothic" panose="020B0502020202020204" pitchFamily="34" charset="0"/>
                      </a:endParaRPr>
                    </a:p>
                  </a:txBody>
                  <a:tcPr/>
                </a:tc>
                <a:extLst>
                  <a:ext uri="{0D108BD9-81ED-4DB2-BD59-A6C34878D82A}">
                    <a16:rowId xmlns:a16="http://schemas.microsoft.com/office/drawing/2014/main" val="10000"/>
                  </a:ext>
                </a:extLst>
              </a:tr>
              <a:tr h="370840">
                <a:tc>
                  <a:txBody>
                    <a:bodyPr/>
                    <a:lstStyle/>
                    <a:p>
                      <a:r>
                        <a:rPr lang="en-US" dirty="0">
                          <a:latin typeface="Century Gothic" panose="020B0502020202020204" pitchFamily="34" charset="0"/>
                        </a:rPr>
                        <a:t>Maize meal</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49.69</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1665</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3.98</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0.13</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0.09</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0.01</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0.14</a:t>
                      </a:r>
                      <a:endParaRPr lang="nl-BE" dirty="0">
                        <a:latin typeface="Century Gothic" panose="020B0502020202020204" pitchFamily="34" charset="0"/>
                      </a:endParaRPr>
                    </a:p>
                  </a:txBody>
                  <a:tcPr/>
                </a:tc>
                <a:extLst>
                  <a:ext uri="{0D108BD9-81ED-4DB2-BD59-A6C34878D82A}">
                    <a16:rowId xmlns:a16="http://schemas.microsoft.com/office/drawing/2014/main" val="10001"/>
                  </a:ext>
                </a:extLst>
              </a:tr>
              <a:tr h="370840">
                <a:tc>
                  <a:txBody>
                    <a:bodyPr/>
                    <a:lstStyle/>
                    <a:p>
                      <a:r>
                        <a:rPr lang="en-US" dirty="0">
                          <a:latin typeface="Century Gothic" panose="020B0502020202020204" pitchFamily="34" charset="0"/>
                        </a:rPr>
                        <a:t>Soybean meal</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43.31</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966</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16.02</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1.17</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0.27</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0.13</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0.28</a:t>
                      </a:r>
                      <a:endParaRPr lang="nl-BE" dirty="0">
                        <a:latin typeface="Century Gothic" panose="020B0502020202020204" pitchFamily="34" charset="0"/>
                      </a:endParaRPr>
                    </a:p>
                  </a:txBody>
                  <a:tcPr/>
                </a:tc>
                <a:extLst>
                  <a:ext uri="{0D108BD9-81ED-4DB2-BD59-A6C34878D82A}">
                    <a16:rowId xmlns:a16="http://schemas.microsoft.com/office/drawing/2014/main" val="10002"/>
                  </a:ext>
                </a:extLst>
              </a:tr>
              <a:tr h="370840">
                <a:tc>
                  <a:txBody>
                    <a:bodyPr/>
                    <a:lstStyle/>
                    <a:p>
                      <a:r>
                        <a:rPr lang="en-US" dirty="0">
                          <a:latin typeface="Century Gothic" panose="020B0502020202020204" pitchFamily="34" charset="0"/>
                        </a:rPr>
                        <a:t>Oil</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4</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320</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extLst>
                  <a:ext uri="{0D108BD9-81ED-4DB2-BD59-A6C34878D82A}">
                    <a16:rowId xmlns:a16="http://schemas.microsoft.com/office/drawing/2014/main" val="10003"/>
                  </a:ext>
                </a:extLst>
              </a:tr>
              <a:tr h="370840">
                <a:tc>
                  <a:txBody>
                    <a:bodyPr/>
                    <a:lstStyle/>
                    <a:p>
                      <a:r>
                        <a:rPr lang="en-US" dirty="0">
                          <a:latin typeface="Century Gothic" panose="020B0502020202020204" pitchFamily="34" charset="0"/>
                        </a:rPr>
                        <a:t>DCP</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1.56</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0.41</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0.28</a:t>
                      </a:r>
                      <a:endParaRPr lang="nl-BE" dirty="0">
                        <a:latin typeface="Century Gothic" panose="020B0502020202020204" pitchFamily="34" charset="0"/>
                      </a:endParaRPr>
                    </a:p>
                  </a:txBody>
                  <a:tcPr/>
                </a:tc>
                <a:extLst>
                  <a:ext uri="{0D108BD9-81ED-4DB2-BD59-A6C34878D82A}">
                    <a16:rowId xmlns:a16="http://schemas.microsoft.com/office/drawing/2014/main" val="10004"/>
                  </a:ext>
                </a:extLst>
              </a:tr>
              <a:tr h="370840">
                <a:tc>
                  <a:txBody>
                    <a:bodyPr/>
                    <a:lstStyle/>
                    <a:p>
                      <a:r>
                        <a:rPr lang="en-US" dirty="0">
                          <a:latin typeface="Century Gothic" panose="020B0502020202020204" pitchFamily="34" charset="0"/>
                        </a:rPr>
                        <a:t>DL-Methionine</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0.02</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0.02</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extLst>
                  <a:ext uri="{0D108BD9-81ED-4DB2-BD59-A6C34878D82A}">
                    <a16:rowId xmlns:a16="http://schemas.microsoft.com/office/drawing/2014/main" val="10005"/>
                  </a:ext>
                </a:extLst>
              </a:tr>
              <a:tr h="370840">
                <a:tc>
                  <a:txBody>
                    <a:bodyPr/>
                    <a:lstStyle/>
                    <a:p>
                      <a:r>
                        <a:rPr lang="en-US" dirty="0">
                          <a:latin typeface="Century Gothic" panose="020B0502020202020204" pitchFamily="34" charset="0"/>
                        </a:rPr>
                        <a:t>Limestone</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0.9</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0.35</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extLst>
                  <a:ext uri="{0D108BD9-81ED-4DB2-BD59-A6C34878D82A}">
                    <a16:rowId xmlns:a16="http://schemas.microsoft.com/office/drawing/2014/main" val="10006"/>
                  </a:ext>
                </a:extLst>
              </a:tr>
              <a:tr h="370840">
                <a:tc>
                  <a:txBody>
                    <a:bodyPr/>
                    <a:lstStyle/>
                    <a:p>
                      <a:r>
                        <a:rPr lang="en-US" dirty="0">
                          <a:latin typeface="Century Gothic" panose="020B0502020202020204" pitchFamily="34" charset="0"/>
                        </a:rPr>
                        <a:t>Salt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0.42</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extLst>
                  <a:ext uri="{0D108BD9-81ED-4DB2-BD59-A6C34878D82A}">
                    <a16:rowId xmlns:a16="http://schemas.microsoft.com/office/drawing/2014/main" val="10007"/>
                  </a:ext>
                </a:extLst>
              </a:tr>
              <a:tr h="370840">
                <a:tc>
                  <a:txBody>
                    <a:bodyPr/>
                    <a:lstStyle/>
                    <a:p>
                      <a:r>
                        <a:rPr lang="en-US" dirty="0">
                          <a:latin typeface="Century Gothic" panose="020B0502020202020204" pitchFamily="34" charset="0"/>
                        </a:rPr>
                        <a:t>Vitamin premix</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0.05</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extLst>
                  <a:ext uri="{0D108BD9-81ED-4DB2-BD59-A6C34878D82A}">
                    <a16:rowId xmlns:a16="http://schemas.microsoft.com/office/drawing/2014/main" val="10008"/>
                  </a:ext>
                </a:extLst>
              </a:tr>
              <a:tr h="370840">
                <a:tc>
                  <a:txBody>
                    <a:bodyPr/>
                    <a:lstStyle/>
                    <a:p>
                      <a:r>
                        <a:rPr lang="en-US" dirty="0">
                          <a:latin typeface="Century Gothic" panose="020B0502020202020204" pitchFamily="34" charset="0"/>
                        </a:rPr>
                        <a:t>Mineral premix</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0.05</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tc>
                  <a:txBody>
                    <a:bodyPr/>
                    <a:lstStyle/>
                    <a:p>
                      <a:r>
                        <a:rPr lang="en-US" dirty="0">
                          <a:latin typeface="Century Gothic" panose="020B0502020202020204" pitchFamily="34" charset="0"/>
                        </a:rPr>
                        <a:t>-</a:t>
                      </a:r>
                      <a:endParaRPr lang="nl-BE" dirty="0">
                        <a:latin typeface="Century Gothic" panose="020B0502020202020204" pitchFamily="34" charset="0"/>
                      </a:endParaRPr>
                    </a:p>
                  </a:txBody>
                  <a:tcPr/>
                </a:tc>
                <a:extLst>
                  <a:ext uri="{0D108BD9-81ED-4DB2-BD59-A6C34878D82A}">
                    <a16:rowId xmlns:a16="http://schemas.microsoft.com/office/drawing/2014/main" val="10009"/>
                  </a:ext>
                </a:extLst>
              </a:tr>
              <a:tr h="370840">
                <a:tc>
                  <a:txBody>
                    <a:bodyPr/>
                    <a:lstStyle/>
                    <a:p>
                      <a:r>
                        <a:rPr lang="en-US" b="1" dirty="0">
                          <a:latin typeface="Century Gothic" panose="020B0502020202020204" pitchFamily="34" charset="0"/>
                        </a:rPr>
                        <a:t>Total</a:t>
                      </a:r>
                      <a:endParaRPr lang="nl-BE" b="1" dirty="0">
                        <a:latin typeface="Century Gothic" panose="020B0502020202020204" pitchFamily="34" charset="0"/>
                      </a:endParaRPr>
                    </a:p>
                  </a:txBody>
                  <a:tcPr/>
                </a:tc>
                <a:tc>
                  <a:txBody>
                    <a:bodyPr/>
                    <a:lstStyle/>
                    <a:p>
                      <a:r>
                        <a:rPr lang="en-US" b="1" dirty="0">
                          <a:latin typeface="Century Gothic" panose="020B0502020202020204" pitchFamily="34" charset="0"/>
                        </a:rPr>
                        <a:t>100</a:t>
                      </a:r>
                      <a:endParaRPr lang="nl-BE" b="1" dirty="0">
                        <a:latin typeface="Century Gothic" panose="020B0502020202020204" pitchFamily="34" charset="0"/>
                      </a:endParaRPr>
                    </a:p>
                  </a:txBody>
                  <a:tcPr/>
                </a:tc>
                <a:tc>
                  <a:txBody>
                    <a:bodyPr/>
                    <a:lstStyle/>
                    <a:p>
                      <a:r>
                        <a:rPr lang="en-US" b="1" dirty="0">
                          <a:latin typeface="Century Gothic" panose="020B0502020202020204" pitchFamily="34" charset="0"/>
                        </a:rPr>
                        <a:t>2951</a:t>
                      </a:r>
                      <a:endParaRPr lang="nl-BE" b="1" dirty="0">
                        <a:latin typeface="Century Gothic" panose="020B0502020202020204" pitchFamily="34" charset="0"/>
                      </a:endParaRPr>
                    </a:p>
                  </a:txBody>
                  <a:tcPr/>
                </a:tc>
                <a:tc>
                  <a:txBody>
                    <a:bodyPr/>
                    <a:lstStyle/>
                    <a:p>
                      <a:r>
                        <a:rPr lang="en-US" b="1" dirty="0">
                          <a:latin typeface="Century Gothic" panose="020B0502020202020204" pitchFamily="34" charset="0"/>
                        </a:rPr>
                        <a:t>20</a:t>
                      </a:r>
                      <a:endParaRPr lang="nl-BE" b="1" dirty="0">
                        <a:latin typeface="Century Gothic" panose="020B0502020202020204" pitchFamily="34" charset="0"/>
                      </a:endParaRPr>
                    </a:p>
                  </a:txBody>
                  <a:tcPr/>
                </a:tc>
                <a:tc>
                  <a:txBody>
                    <a:bodyPr/>
                    <a:lstStyle/>
                    <a:p>
                      <a:r>
                        <a:rPr lang="en-US" b="1" dirty="0">
                          <a:latin typeface="Century Gothic" panose="020B0502020202020204" pitchFamily="34" charset="0"/>
                        </a:rPr>
                        <a:t>1.3</a:t>
                      </a:r>
                      <a:endParaRPr lang="nl-BE" b="1" dirty="0">
                        <a:latin typeface="Century Gothic" panose="020B0502020202020204" pitchFamily="34" charset="0"/>
                      </a:endParaRPr>
                    </a:p>
                  </a:txBody>
                  <a:tcPr/>
                </a:tc>
                <a:tc>
                  <a:txBody>
                    <a:bodyPr/>
                    <a:lstStyle/>
                    <a:p>
                      <a:r>
                        <a:rPr lang="en-US" b="1" dirty="0">
                          <a:latin typeface="Century Gothic" panose="020B0502020202020204" pitchFamily="34" charset="0"/>
                        </a:rPr>
                        <a:t>0.38</a:t>
                      </a:r>
                      <a:endParaRPr lang="nl-BE" b="1" dirty="0">
                        <a:latin typeface="Century Gothic" panose="020B0502020202020204" pitchFamily="34" charset="0"/>
                      </a:endParaRPr>
                    </a:p>
                  </a:txBody>
                  <a:tcPr/>
                </a:tc>
                <a:tc>
                  <a:txBody>
                    <a:bodyPr/>
                    <a:lstStyle/>
                    <a:p>
                      <a:r>
                        <a:rPr lang="en-US" b="1" dirty="0">
                          <a:latin typeface="Century Gothic" panose="020B0502020202020204" pitchFamily="34" charset="0"/>
                        </a:rPr>
                        <a:t>0.9</a:t>
                      </a:r>
                      <a:endParaRPr lang="nl-BE" b="1" dirty="0">
                        <a:latin typeface="Century Gothic" panose="020B0502020202020204" pitchFamily="34" charset="0"/>
                      </a:endParaRPr>
                    </a:p>
                  </a:txBody>
                  <a:tcPr/>
                </a:tc>
                <a:tc>
                  <a:txBody>
                    <a:bodyPr/>
                    <a:lstStyle/>
                    <a:p>
                      <a:r>
                        <a:rPr lang="en-US" b="1" dirty="0">
                          <a:latin typeface="Century Gothic" panose="020B0502020202020204" pitchFamily="34" charset="0"/>
                        </a:rPr>
                        <a:t>0.7</a:t>
                      </a:r>
                      <a:endParaRPr lang="nl-BE" b="1" dirty="0">
                        <a:latin typeface="Century Gothic" panose="020B0502020202020204" pitchFamily="34" charset="0"/>
                      </a:endParaRPr>
                    </a:p>
                  </a:txBody>
                  <a:tcPr/>
                </a:tc>
                <a:extLst>
                  <a:ext uri="{0D108BD9-81ED-4DB2-BD59-A6C34878D82A}">
                    <a16:rowId xmlns:a16="http://schemas.microsoft.com/office/drawing/2014/main" val="10010"/>
                  </a:ext>
                </a:extLst>
              </a:tr>
              <a:tr h="370840">
                <a:tc>
                  <a:txBody>
                    <a:bodyPr/>
                    <a:lstStyle/>
                    <a:p>
                      <a:r>
                        <a:rPr lang="en-US" b="1" dirty="0">
                          <a:latin typeface="Century Gothic" panose="020B0502020202020204" pitchFamily="34" charset="0"/>
                        </a:rPr>
                        <a:t>Required</a:t>
                      </a:r>
                      <a:endParaRPr lang="nl-BE" b="1" dirty="0">
                        <a:latin typeface="Century Gothic" panose="020B0502020202020204" pitchFamily="34" charset="0"/>
                      </a:endParaRPr>
                    </a:p>
                  </a:txBody>
                  <a:tcPr/>
                </a:tc>
                <a:tc>
                  <a:txBody>
                    <a:bodyPr/>
                    <a:lstStyle/>
                    <a:p>
                      <a:r>
                        <a:rPr lang="en-US" b="1" dirty="0">
                          <a:latin typeface="Century Gothic" panose="020B0502020202020204" pitchFamily="34" charset="0"/>
                        </a:rPr>
                        <a:t>100</a:t>
                      </a:r>
                      <a:endParaRPr lang="nl-BE" b="1" dirty="0">
                        <a:latin typeface="Century Gothic" panose="020B0502020202020204" pitchFamily="34" charset="0"/>
                      </a:endParaRPr>
                    </a:p>
                  </a:txBody>
                  <a:tcPr/>
                </a:tc>
                <a:tc>
                  <a:txBody>
                    <a:bodyPr/>
                    <a:lstStyle/>
                    <a:p>
                      <a:r>
                        <a:rPr lang="en-US" b="1" dirty="0">
                          <a:latin typeface="Century Gothic" panose="020B0502020202020204" pitchFamily="34" charset="0"/>
                        </a:rPr>
                        <a:t>3200</a:t>
                      </a:r>
                      <a:endParaRPr lang="nl-BE" b="1" dirty="0">
                        <a:latin typeface="Century Gothic" panose="020B0502020202020204" pitchFamily="34" charset="0"/>
                      </a:endParaRPr>
                    </a:p>
                  </a:txBody>
                  <a:tcPr/>
                </a:tc>
                <a:tc>
                  <a:txBody>
                    <a:bodyPr/>
                    <a:lstStyle/>
                    <a:p>
                      <a:r>
                        <a:rPr lang="en-US" b="1" dirty="0">
                          <a:latin typeface="Century Gothic" panose="020B0502020202020204" pitchFamily="34" charset="0"/>
                        </a:rPr>
                        <a:t>20</a:t>
                      </a:r>
                      <a:endParaRPr lang="nl-BE" b="1" dirty="0">
                        <a:latin typeface="Century Gothic" panose="020B0502020202020204" pitchFamily="34" charset="0"/>
                      </a:endParaRPr>
                    </a:p>
                  </a:txBody>
                  <a:tcPr/>
                </a:tc>
                <a:tc>
                  <a:txBody>
                    <a:bodyPr/>
                    <a:lstStyle/>
                    <a:p>
                      <a:r>
                        <a:rPr lang="en-US" b="1" dirty="0">
                          <a:latin typeface="Century Gothic" panose="020B0502020202020204" pitchFamily="34" charset="0"/>
                        </a:rPr>
                        <a:t>1</a:t>
                      </a:r>
                      <a:endParaRPr lang="nl-BE" b="1" dirty="0">
                        <a:latin typeface="Century Gothic" panose="020B0502020202020204" pitchFamily="34" charset="0"/>
                      </a:endParaRPr>
                    </a:p>
                  </a:txBody>
                  <a:tcPr/>
                </a:tc>
                <a:tc>
                  <a:txBody>
                    <a:bodyPr/>
                    <a:lstStyle/>
                    <a:p>
                      <a:r>
                        <a:rPr lang="en-US" b="1" dirty="0">
                          <a:latin typeface="Century Gothic" panose="020B0502020202020204" pitchFamily="34" charset="0"/>
                        </a:rPr>
                        <a:t>0.38</a:t>
                      </a:r>
                      <a:endParaRPr lang="nl-BE" b="1" dirty="0">
                        <a:latin typeface="Century Gothic" panose="020B0502020202020204" pitchFamily="34" charset="0"/>
                      </a:endParaRPr>
                    </a:p>
                  </a:txBody>
                  <a:tcPr/>
                </a:tc>
                <a:tc>
                  <a:txBody>
                    <a:bodyPr/>
                    <a:lstStyle/>
                    <a:p>
                      <a:r>
                        <a:rPr lang="en-US" b="1" dirty="0">
                          <a:latin typeface="Century Gothic" panose="020B0502020202020204" pitchFamily="34" charset="0"/>
                        </a:rPr>
                        <a:t>0.9</a:t>
                      </a:r>
                      <a:endParaRPr lang="nl-BE" b="1" dirty="0">
                        <a:latin typeface="Century Gothic" panose="020B0502020202020204" pitchFamily="34" charset="0"/>
                      </a:endParaRPr>
                    </a:p>
                  </a:txBody>
                  <a:tcPr/>
                </a:tc>
                <a:tc>
                  <a:txBody>
                    <a:bodyPr/>
                    <a:lstStyle/>
                    <a:p>
                      <a:r>
                        <a:rPr lang="en-US" b="1" dirty="0">
                          <a:latin typeface="Century Gothic" panose="020B0502020202020204" pitchFamily="34" charset="0"/>
                        </a:rPr>
                        <a:t>0.7</a:t>
                      </a:r>
                      <a:endParaRPr lang="nl-BE" b="1" dirty="0">
                        <a:latin typeface="Century Gothic" panose="020B0502020202020204" pitchFamily="34" charset="0"/>
                      </a:endParaRPr>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4124656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
            <a:ext cx="7886700" cy="1325563"/>
          </a:xfrm>
        </p:spPr>
        <p:txBody>
          <a:bodyPr>
            <a:normAutofit/>
          </a:bodyPr>
          <a:lstStyle/>
          <a:p>
            <a:r>
              <a:rPr lang="en-GB" sz="2800" b="1" dirty="0">
                <a:solidFill>
                  <a:srgbClr val="00B0F0"/>
                </a:solidFill>
                <a:latin typeface="Century Gothic" panose="020B0502020202020204" pitchFamily="34" charset="0"/>
              </a:rPr>
              <a:t>Rations for Ruminants</a:t>
            </a:r>
          </a:p>
        </p:txBody>
      </p:sp>
      <p:sp>
        <p:nvSpPr>
          <p:cNvPr id="3" name="Content Placeholder 2"/>
          <p:cNvSpPr>
            <a:spLocks noGrp="1"/>
          </p:cNvSpPr>
          <p:nvPr>
            <p:ph idx="1"/>
          </p:nvPr>
        </p:nvSpPr>
        <p:spPr>
          <a:xfrm>
            <a:off x="2053717" y="662781"/>
            <a:ext cx="7886700" cy="5763777"/>
          </a:xfrm>
        </p:spPr>
        <p:txBody>
          <a:bodyPr>
            <a:noAutofit/>
          </a:bodyPr>
          <a:lstStyle/>
          <a:p>
            <a:r>
              <a:rPr lang="en-GB" sz="2200" b="1" dirty="0">
                <a:latin typeface="Century Gothic" panose="020B0502020202020204" pitchFamily="34" charset="0"/>
              </a:rPr>
              <a:t>Important points to note:</a:t>
            </a:r>
          </a:p>
          <a:p>
            <a:r>
              <a:rPr lang="en-GB" sz="2200" dirty="0">
                <a:latin typeface="Century Gothic" panose="020B0502020202020204" pitchFamily="34" charset="0"/>
              </a:rPr>
              <a:t>Ration is not complete but its formulated to supplement roughages</a:t>
            </a:r>
          </a:p>
          <a:p>
            <a:r>
              <a:rPr lang="en-GB" sz="2200" dirty="0">
                <a:latin typeface="Century Gothic" panose="020B0502020202020204" pitchFamily="34" charset="0"/>
              </a:rPr>
              <a:t>Nutrients from roughages may or may not be considered in formulating a supplement/concentrate.</a:t>
            </a:r>
          </a:p>
          <a:p>
            <a:r>
              <a:rPr lang="en-GB" sz="2200" dirty="0">
                <a:latin typeface="Century Gothic" panose="020B0502020202020204" pitchFamily="34" charset="0"/>
              </a:rPr>
              <a:t>Often there is no premix involved, minerals other than calcium and phosphorus are supplied as mineral licks.</a:t>
            </a:r>
          </a:p>
          <a:p>
            <a:r>
              <a:rPr lang="en-GB" sz="2200" dirty="0">
                <a:latin typeface="Century Gothic" panose="020B0502020202020204" pitchFamily="34" charset="0"/>
              </a:rPr>
              <a:t>Nutrients considered include energy, protein, calcium, phosphorus, carotene and dry matter</a:t>
            </a:r>
          </a:p>
          <a:p>
            <a:r>
              <a:rPr lang="en-GB" sz="2200" dirty="0">
                <a:latin typeface="Century Gothic" panose="020B0502020202020204" pitchFamily="34" charset="0"/>
              </a:rPr>
              <a:t>In lactating dairy animals, requirements are calculated for body weight maintenance and a given level of milk yield and its butter fat content.</a:t>
            </a:r>
          </a:p>
          <a:p>
            <a:r>
              <a:rPr lang="en-GB" sz="2200" dirty="0">
                <a:latin typeface="Century Gothic" panose="020B0502020202020204" pitchFamily="34" charset="0"/>
              </a:rPr>
              <a:t>In growing animals, requirements relate to body weight and rate of gain.</a:t>
            </a:r>
          </a:p>
          <a:p>
            <a:endParaRPr lang="en-GB" sz="2200" dirty="0">
              <a:latin typeface="Century Gothic" panose="020B0502020202020204" pitchFamily="34" charset="0"/>
            </a:endParaRPr>
          </a:p>
        </p:txBody>
      </p:sp>
    </p:spTree>
    <p:extLst>
      <p:ext uri="{BB962C8B-B14F-4D97-AF65-F5344CB8AC3E}">
        <p14:creationId xmlns:p14="http://schemas.microsoft.com/office/powerpoint/2010/main" val="19357722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DAIRY RATION</a:t>
            </a:r>
            <a:endParaRPr lang="nl-BE" dirty="0"/>
          </a:p>
        </p:txBody>
      </p:sp>
      <p:sp>
        <p:nvSpPr>
          <p:cNvPr id="3" name="Tijdelijke aanduiding voor inhoud 2"/>
          <p:cNvSpPr>
            <a:spLocks noGrp="1"/>
          </p:cNvSpPr>
          <p:nvPr>
            <p:ph idx="1"/>
          </p:nvPr>
        </p:nvSpPr>
        <p:spPr/>
        <p:txBody>
          <a:bodyPr>
            <a:normAutofit/>
          </a:bodyPr>
          <a:lstStyle/>
          <a:p>
            <a:r>
              <a:rPr lang="en-US" sz="2200" dirty="0">
                <a:latin typeface="Century Gothic" panose="020B0502020202020204" pitchFamily="34" charset="0"/>
              </a:rPr>
              <a:t>Consider the stage of lactation</a:t>
            </a:r>
          </a:p>
          <a:p>
            <a:r>
              <a:rPr lang="en-US" sz="2200" dirty="0">
                <a:latin typeface="Century Gothic" panose="020B0502020202020204" pitchFamily="34" charset="0"/>
              </a:rPr>
              <a:t>Use 3% body weight as maximum capacity it can consume</a:t>
            </a:r>
          </a:p>
          <a:p>
            <a:endParaRPr lang="en-US" sz="2200" dirty="0">
              <a:latin typeface="Century Gothic" panose="020B0502020202020204" pitchFamily="34" charset="0"/>
            </a:endParaRPr>
          </a:p>
          <a:p>
            <a:pPr marL="0" indent="0">
              <a:buNone/>
            </a:pPr>
            <a:r>
              <a:rPr lang="en-US" sz="2200" b="1" dirty="0">
                <a:latin typeface="Century Gothic" panose="020B0502020202020204" pitchFamily="34" charset="0"/>
              </a:rPr>
              <a:t>Example</a:t>
            </a:r>
          </a:p>
          <a:p>
            <a:r>
              <a:rPr lang="en-US" sz="2200" dirty="0">
                <a:latin typeface="Century Gothic" panose="020B0502020202020204" pitchFamily="34" charset="0"/>
              </a:rPr>
              <a:t>A 2 months pregnant growing cow weighs 450kg and produces 15kg milk per day with 3.5% fat.</a:t>
            </a:r>
            <a:endParaRPr lang="nl-BE" sz="2200" dirty="0">
              <a:latin typeface="Century Gothic" panose="020B0502020202020204" pitchFamily="34" charset="0"/>
            </a:endParaRPr>
          </a:p>
        </p:txBody>
      </p:sp>
    </p:spTree>
    <p:extLst>
      <p:ext uri="{BB962C8B-B14F-4D97-AF65-F5344CB8AC3E}">
        <p14:creationId xmlns:p14="http://schemas.microsoft.com/office/powerpoint/2010/main" val="16282378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2152650" y="1"/>
            <a:ext cx="7886700" cy="1325563"/>
          </a:xfrm>
        </p:spPr>
        <p:txBody>
          <a:bodyPr/>
          <a:lstStyle/>
          <a:p>
            <a:r>
              <a:rPr lang="en-US" dirty="0"/>
              <a:t>DAIRY RATION</a:t>
            </a:r>
            <a:endParaRPr lang="nl-BE" dirty="0"/>
          </a:p>
        </p:txBody>
      </p:sp>
      <p:sp>
        <p:nvSpPr>
          <p:cNvPr id="3" name="Tijdelijke aanduiding voor inhoud 2"/>
          <p:cNvSpPr>
            <a:spLocks noGrp="1"/>
          </p:cNvSpPr>
          <p:nvPr>
            <p:ph idx="1"/>
          </p:nvPr>
        </p:nvSpPr>
        <p:spPr/>
        <p:txBody>
          <a:bodyPr>
            <a:normAutofit/>
          </a:bodyPr>
          <a:lstStyle/>
          <a:p>
            <a:pPr marL="0" indent="0">
              <a:buNone/>
            </a:pPr>
            <a:endParaRPr lang="en-US" sz="2200" dirty="0">
              <a:latin typeface="Century Gothic" panose="020B0502020202020204" pitchFamily="34" charset="0"/>
            </a:endParaRPr>
          </a:p>
          <a:p>
            <a:pPr marL="0" indent="0">
              <a:buNone/>
            </a:pPr>
            <a:endParaRPr lang="en-US" sz="2200" dirty="0">
              <a:latin typeface="Century Gothic" panose="020B0502020202020204" pitchFamily="34" charset="0"/>
            </a:endParaRPr>
          </a:p>
          <a:p>
            <a:pPr marL="0" indent="0">
              <a:buNone/>
            </a:pPr>
            <a:endParaRPr lang="en-US" sz="2200" dirty="0">
              <a:latin typeface="Century Gothic" panose="020B0502020202020204" pitchFamily="34" charset="0"/>
            </a:endParaRPr>
          </a:p>
          <a:p>
            <a:pPr marL="0" indent="0">
              <a:buNone/>
            </a:pPr>
            <a:endParaRPr lang="en-US" sz="2200" dirty="0">
              <a:latin typeface="Century Gothic" panose="020B0502020202020204" pitchFamily="34" charset="0"/>
            </a:endParaRPr>
          </a:p>
          <a:p>
            <a:pPr marL="0" indent="0">
              <a:buNone/>
            </a:pPr>
            <a:endParaRPr lang="en-US" sz="2200" dirty="0">
              <a:latin typeface="Century Gothic" panose="020B0502020202020204" pitchFamily="34" charset="0"/>
            </a:endParaRPr>
          </a:p>
          <a:p>
            <a:pPr marL="0" indent="0">
              <a:buNone/>
            </a:pPr>
            <a:endParaRPr lang="en-US" sz="2200" dirty="0">
              <a:latin typeface="Century Gothic" panose="020B0502020202020204" pitchFamily="34" charset="0"/>
            </a:endParaRPr>
          </a:p>
          <a:p>
            <a:pPr marL="0" indent="0">
              <a:buNone/>
            </a:pPr>
            <a:endParaRPr lang="en-US" sz="2200" dirty="0">
              <a:latin typeface="Century Gothic" panose="020B0502020202020204" pitchFamily="34" charset="0"/>
            </a:endParaRPr>
          </a:p>
          <a:p>
            <a:pPr marL="0" indent="0">
              <a:buNone/>
            </a:pPr>
            <a:endParaRPr lang="en-US" sz="2200" dirty="0">
              <a:latin typeface="Century Gothic" panose="020B0502020202020204" pitchFamily="34" charset="0"/>
            </a:endParaRPr>
          </a:p>
        </p:txBody>
      </p:sp>
      <p:sp>
        <p:nvSpPr>
          <p:cNvPr id="5" name="Rechthoek 4"/>
          <p:cNvSpPr/>
          <p:nvPr/>
        </p:nvSpPr>
        <p:spPr>
          <a:xfrm>
            <a:off x="980502" y="683046"/>
            <a:ext cx="10041726" cy="5496081"/>
          </a:xfrm>
          <a:prstGeom prst="rect">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tx1"/>
                </a:solidFill>
                <a:latin typeface="Century Gothic" panose="020B0502020202020204" pitchFamily="34" charset="0"/>
              </a:rPr>
              <a:t>1. Establish its nutrient requirement</a:t>
            </a:r>
          </a:p>
          <a:p>
            <a:endParaRPr lang="en-US" sz="2200" dirty="0">
              <a:solidFill>
                <a:schemeClr val="tx1"/>
              </a:solidFill>
              <a:latin typeface="Century Gothic" panose="020B0502020202020204" pitchFamily="34" charset="0"/>
            </a:endParaRPr>
          </a:p>
          <a:p>
            <a:endParaRPr lang="en-US" sz="2200" dirty="0">
              <a:solidFill>
                <a:schemeClr val="tx1"/>
              </a:solidFill>
              <a:latin typeface="Century Gothic" panose="020B0502020202020204" pitchFamily="34" charset="0"/>
            </a:endParaRPr>
          </a:p>
          <a:p>
            <a:endParaRPr lang="en-US" sz="2200" dirty="0">
              <a:solidFill>
                <a:schemeClr val="tx1"/>
              </a:solidFill>
              <a:latin typeface="Century Gothic" panose="020B0502020202020204" pitchFamily="34" charset="0"/>
            </a:endParaRPr>
          </a:p>
          <a:p>
            <a:endParaRPr lang="en-US" sz="2200" dirty="0">
              <a:solidFill>
                <a:schemeClr val="tx1"/>
              </a:solidFill>
              <a:latin typeface="Century Gothic" panose="020B0502020202020204" pitchFamily="34" charset="0"/>
            </a:endParaRPr>
          </a:p>
          <a:p>
            <a:endParaRPr lang="en-US" sz="2200" dirty="0">
              <a:solidFill>
                <a:schemeClr val="tx1"/>
              </a:solidFill>
              <a:latin typeface="Century Gothic" panose="020B0502020202020204" pitchFamily="34" charset="0"/>
            </a:endParaRPr>
          </a:p>
          <a:p>
            <a:endParaRPr lang="en-US" sz="2200" dirty="0">
              <a:solidFill>
                <a:schemeClr val="tx1"/>
              </a:solidFill>
              <a:latin typeface="Century Gothic" panose="020B0502020202020204" pitchFamily="34" charset="0"/>
            </a:endParaRPr>
          </a:p>
          <a:p>
            <a:endParaRPr lang="en-US" sz="2200" dirty="0">
              <a:solidFill>
                <a:schemeClr val="tx1"/>
              </a:solidFill>
              <a:latin typeface="Century Gothic" panose="020B0502020202020204" pitchFamily="34" charset="0"/>
            </a:endParaRPr>
          </a:p>
          <a:p>
            <a:endParaRPr lang="en-US" sz="2200" dirty="0">
              <a:solidFill>
                <a:schemeClr val="tx1"/>
              </a:solidFill>
              <a:latin typeface="Century Gothic" panose="020B0502020202020204" pitchFamily="34" charset="0"/>
            </a:endParaRPr>
          </a:p>
          <a:p>
            <a:endParaRPr lang="en-US" sz="2200" dirty="0">
              <a:solidFill>
                <a:schemeClr val="tx1"/>
              </a:solidFill>
              <a:latin typeface="Century Gothic" panose="020B0502020202020204" pitchFamily="34" charset="0"/>
            </a:endParaRPr>
          </a:p>
          <a:p>
            <a:endParaRPr lang="en-US" sz="2200" dirty="0">
              <a:solidFill>
                <a:schemeClr val="tx1"/>
              </a:solidFill>
              <a:latin typeface="Century Gothic" panose="020B0502020202020204" pitchFamily="34" charset="0"/>
            </a:endParaRPr>
          </a:p>
          <a:p>
            <a:r>
              <a:rPr lang="en-US" sz="2200" dirty="0">
                <a:solidFill>
                  <a:schemeClr val="tx1"/>
                </a:solidFill>
                <a:latin typeface="Century Gothic" panose="020B0502020202020204" pitchFamily="34" charset="0"/>
              </a:rPr>
              <a:t>2. DM intake: 3% of 450kg = 13.5kg</a:t>
            </a:r>
          </a:p>
          <a:p>
            <a:r>
              <a:rPr lang="en-US" sz="2200" dirty="0">
                <a:solidFill>
                  <a:schemeClr val="tx1"/>
                </a:solidFill>
                <a:latin typeface="Century Gothic" panose="020B0502020202020204" pitchFamily="34" charset="0"/>
              </a:rPr>
              <a:t>Assume there is Napier grass and sorghum fodder and in the ratio of 7 to 3 respectively</a:t>
            </a:r>
            <a:endParaRPr lang="nl-BE" sz="2200" dirty="0">
              <a:solidFill>
                <a:schemeClr val="tx1"/>
              </a:solidFill>
              <a:latin typeface="Century Gothic" panose="020B0502020202020204" pitchFamily="34" charset="0"/>
            </a:endParaRPr>
          </a:p>
        </p:txBody>
      </p:sp>
      <p:graphicFrame>
        <p:nvGraphicFramePr>
          <p:cNvPr id="4" name="Tabel 3"/>
          <p:cNvGraphicFramePr>
            <a:graphicFrameLocks noGrp="1"/>
          </p:cNvGraphicFramePr>
          <p:nvPr/>
        </p:nvGraphicFramePr>
        <p:xfrm>
          <a:off x="2258289" y="1826491"/>
          <a:ext cx="7703131" cy="2377440"/>
        </p:xfrm>
        <a:graphic>
          <a:graphicData uri="http://schemas.openxmlformats.org/drawingml/2006/table">
            <a:tbl>
              <a:tblPr firstRow="1" bandRow="1">
                <a:tableStyleId>{5C22544A-7EE6-4342-B048-85BDC9FD1C3A}</a:tableStyleId>
              </a:tblPr>
              <a:tblGrid>
                <a:gridCol w="3651114">
                  <a:extLst>
                    <a:ext uri="{9D8B030D-6E8A-4147-A177-3AD203B41FA5}">
                      <a16:colId xmlns:a16="http://schemas.microsoft.com/office/drawing/2014/main" val="20000"/>
                    </a:ext>
                  </a:extLst>
                </a:gridCol>
                <a:gridCol w="1045580">
                  <a:extLst>
                    <a:ext uri="{9D8B030D-6E8A-4147-A177-3AD203B41FA5}">
                      <a16:colId xmlns:a16="http://schemas.microsoft.com/office/drawing/2014/main" val="20001"/>
                    </a:ext>
                  </a:extLst>
                </a:gridCol>
                <a:gridCol w="1136073">
                  <a:extLst>
                    <a:ext uri="{9D8B030D-6E8A-4147-A177-3AD203B41FA5}">
                      <a16:colId xmlns:a16="http://schemas.microsoft.com/office/drawing/2014/main" val="20002"/>
                    </a:ext>
                  </a:extLst>
                </a:gridCol>
                <a:gridCol w="969818">
                  <a:extLst>
                    <a:ext uri="{9D8B030D-6E8A-4147-A177-3AD203B41FA5}">
                      <a16:colId xmlns:a16="http://schemas.microsoft.com/office/drawing/2014/main" val="20003"/>
                    </a:ext>
                  </a:extLst>
                </a:gridCol>
                <a:gridCol w="900546">
                  <a:extLst>
                    <a:ext uri="{9D8B030D-6E8A-4147-A177-3AD203B41FA5}">
                      <a16:colId xmlns:a16="http://schemas.microsoft.com/office/drawing/2014/main" val="20004"/>
                    </a:ext>
                  </a:extLst>
                </a:gridCol>
              </a:tblGrid>
              <a:tr h="370840">
                <a:tc>
                  <a:txBody>
                    <a:bodyPr/>
                    <a:lstStyle/>
                    <a:p>
                      <a:r>
                        <a:rPr lang="en-US" sz="2000" b="1" dirty="0">
                          <a:latin typeface="Century Gothic" panose="020B0502020202020204" pitchFamily="34" charset="0"/>
                        </a:rPr>
                        <a:t>Nutrient Requirement</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CP, %</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TDN, Kg</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Ca, g</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P, g</a:t>
                      </a:r>
                      <a:endParaRPr lang="nl-BE" sz="2000" b="1" dirty="0">
                        <a:latin typeface="Century Gothic" panose="020B0502020202020204" pitchFamily="34" charset="0"/>
                      </a:endParaRPr>
                    </a:p>
                  </a:txBody>
                  <a:tcPr/>
                </a:tc>
                <a:extLst>
                  <a:ext uri="{0D108BD9-81ED-4DB2-BD59-A6C34878D82A}">
                    <a16:rowId xmlns:a16="http://schemas.microsoft.com/office/drawing/2014/main" val="10000"/>
                  </a:ext>
                </a:extLst>
              </a:tr>
              <a:tr h="370840">
                <a:tc>
                  <a:txBody>
                    <a:bodyPr/>
                    <a:lstStyle/>
                    <a:p>
                      <a:r>
                        <a:rPr lang="en-US" sz="2000" dirty="0">
                          <a:latin typeface="Century Gothic" panose="020B0502020202020204" pitchFamily="34" charset="0"/>
                        </a:rPr>
                        <a:t>Maintenance</a:t>
                      </a:r>
                      <a:endParaRPr lang="nl-BE" sz="2000" dirty="0">
                        <a:latin typeface="Century Gothic" panose="020B0502020202020204" pitchFamily="34" charset="0"/>
                      </a:endParaRPr>
                    </a:p>
                  </a:txBody>
                  <a:tcPr/>
                </a:tc>
                <a:tc>
                  <a:txBody>
                    <a:bodyPr/>
                    <a:lstStyle/>
                    <a:p>
                      <a:pPr algn="r"/>
                      <a:r>
                        <a:rPr lang="en-US" sz="2000" dirty="0">
                          <a:latin typeface="Century Gothic" panose="020B0502020202020204" pitchFamily="34" charset="0"/>
                        </a:rPr>
                        <a:t>341</a:t>
                      </a:r>
                      <a:endParaRPr lang="nl-BE" sz="2000" dirty="0">
                        <a:latin typeface="Century Gothic" panose="020B0502020202020204" pitchFamily="34" charset="0"/>
                      </a:endParaRPr>
                    </a:p>
                  </a:txBody>
                  <a:tcPr/>
                </a:tc>
                <a:tc>
                  <a:txBody>
                    <a:bodyPr/>
                    <a:lstStyle/>
                    <a:p>
                      <a:pPr algn="r"/>
                      <a:r>
                        <a:rPr lang="en-US" sz="2000" dirty="0">
                          <a:latin typeface="Century Gothic" panose="020B0502020202020204" pitchFamily="34" charset="0"/>
                        </a:rPr>
                        <a:t>3.42</a:t>
                      </a:r>
                      <a:endParaRPr lang="nl-BE" sz="2000" dirty="0">
                        <a:latin typeface="Century Gothic" panose="020B0502020202020204" pitchFamily="34" charset="0"/>
                      </a:endParaRPr>
                    </a:p>
                  </a:txBody>
                  <a:tcPr/>
                </a:tc>
                <a:tc>
                  <a:txBody>
                    <a:bodyPr/>
                    <a:lstStyle/>
                    <a:p>
                      <a:pPr algn="r"/>
                      <a:r>
                        <a:rPr lang="en-US" sz="2000" dirty="0">
                          <a:latin typeface="Century Gothic" panose="020B0502020202020204" pitchFamily="34" charset="0"/>
                        </a:rPr>
                        <a:t>18</a:t>
                      </a:r>
                      <a:endParaRPr lang="nl-BE" sz="2000" dirty="0">
                        <a:latin typeface="Century Gothic" panose="020B0502020202020204" pitchFamily="34" charset="0"/>
                      </a:endParaRPr>
                    </a:p>
                  </a:txBody>
                  <a:tcPr/>
                </a:tc>
                <a:tc>
                  <a:txBody>
                    <a:bodyPr/>
                    <a:lstStyle/>
                    <a:p>
                      <a:pPr algn="r"/>
                      <a:r>
                        <a:rPr lang="en-US" sz="2000" dirty="0">
                          <a:latin typeface="Century Gothic" panose="020B0502020202020204" pitchFamily="34" charset="0"/>
                        </a:rPr>
                        <a:t>13</a:t>
                      </a:r>
                      <a:endParaRPr lang="nl-BE" sz="2000" dirty="0">
                        <a:latin typeface="Century Gothic" panose="020B0502020202020204" pitchFamily="34" charset="0"/>
                      </a:endParaRPr>
                    </a:p>
                  </a:txBody>
                  <a:tcPr/>
                </a:tc>
                <a:extLst>
                  <a:ext uri="{0D108BD9-81ED-4DB2-BD59-A6C34878D82A}">
                    <a16:rowId xmlns:a16="http://schemas.microsoft.com/office/drawing/2014/main" val="10001"/>
                  </a:ext>
                </a:extLst>
              </a:tr>
              <a:tr h="370840">
                <a:tc>
                  <a:txBody>
                    <a:bodyPr/>
                    <a:lstStyle/>
                    <a:p>
                      <a:r>
                        <a:rPr lang="en-US" sz="2000" dirty="0">
                          <a:latin typeface="Century Gothic" panose="020B0502020202020204" pitchFamily="34" charset="0"/>
                        </a:rPr>
                        <a:t>Allowable</a:t>
                      </a:r>
                      <a:r>
                        <a:rPr lang="en-US" sz="2000" baseline="0" dirty="0">
                          <a:latin typeface="Century Gothic" panose="020B0502020202020204" pitchFamily="34" charset="0"/>
                        </a:rPr>
                        <a:t> for growth (20%)</a:t>
                      </a:r>
                      <a:endParaRPr lang="nl-BE" sz="2000" dirty="0">
                        <a:latin typeface="Century Gothic" panose="020B0502020202020204" pitchFamily="34" charset="0"/>
                      </a:endParaRPr>
                    </a:p>
                  </a:txBody>
                  <a:tcPr/>
                </a:tc>
                <a:tc>
                  <a:txBody>
                    <a:bodyPr/>
                    <a:lstStyle/>
                    <a:p>
                      <a:pPr algn="r"/>
                      <a:r>
                        <a:rPr lang="en-US" sz="2000" dirty="0">
                          <a:latin typeface="Century Gothic" panose="020B0502020202020204" pitchFamily="34" charset="0"/>
                        </a:rPr>
                        <a:t>68.2</a:t>
                      </a:r>
                      <a:endParaRPr lang="nl-BE" sz="2000" dirty="0">
                        <a:latin typeface="Century Gothic" panose="020B0502020202020204" pitchFamily="34" charset="0"/>
                      </a:endParaRPr>
                    </a:p>
                  </a:txBody>
                  <a:tcPr/>
                </a:tc>
                <a:tc>
                  <a:txBody>
                    <a:bodyPr/>
                    <a:lstStyle/>
                    <a:p>
                      <a:pPr algn="r"/>
                      <a:r>
                        <a:rPr lang="en-US" sz="2000" dirty="0">
                          <a:latin typeface="Century Gothic" panose="020B0502020202020204" pitchFamily="34" charset="0"/>
                        </a:rPr>
                        <a:t>0.684</a:t>
                      </a:r>
                      <a:endParaRPr lang="nl-BE" sz="2000" dirty="0">
                        <a:latin typeface="Century Gothic" panose="020B0502020202020204" pitchFamily="34" charset="0"/>
                      </a:endParaRPr>
                    </a:p>
                  </a:txBody>
                  <a:tcPr/>
                </a:tc>
                <a:tc>
                  <a:txBody>
                    <a:bodyPr/>
                    <a:lstStyle/>
                    <a:p>
                      <a:pPr algn="r"/>
                      <a:r>
                        <a:rPr lang="en-US" sz="2000" dirty="0">
                          <a:latin typeface="Century Gothic" panose="020B0502020202020204" pitchFamily="34" charset="0"/>
                        </a:rPr>
                        <a:t>3.6</a:t>
                      </a:r>
                      <a:endParaRPr lang="nl-BE" sz="2000" dirty="0">
                        <a:latin typeface="Century Gothic" panose="020B0502020202020204" pitchFamily="34" charset="0"/>
                      </a:endParaRPr>
                    </a:p>
                  </a:txBody>
                  <a:tcPr/>
                </a:tc>
                <a:tc>
                  <a:txBody>
                    <a:bodyPr/>
                    <a:lstStyle/>
                    <a:p>
                      <a:pPr algn="r"/>
                      <a:r>
                        <a:rPr lang="en-US" sz="2000" dirty="0">
                          <a:latin typeface="Century Gothic" panose="020B0502020202020204" pitchFamily="34" charset="0"/>
                        </a:rPr>
                        <a:t>2.6</a:t>
                      </a:r>
                      <a:endParaRPr lang="nl-BE" sz="2000" dirty="0">
                        <a:latin typeface="Century Gothic" panose="020B0502020202020204" pitchFamily="34" charset="0"/>
                      </a:endParaRPr>
                    </a:p>
                  </a:txBody>
                  <a:tcPr/>
                </a:tc>
                <a:extLst>
                  <a:ext uri="{0D108BD9-81ED-4DB2-BD59-A6C34878D82A}">
                    <a16:rowId xmlns:a16="http://schemas.microsoft.com/office/drawing/2014/main" val="10002"/>
                  </a:ext>
                </a:extLst>
              </a:tr>
              <a:tr h="370840">
                <a:tc>
                  <a:txBody>
                    <a:bodyPr/>
                    <a:lstStyle/>
                    <a:p>
                      <a:r>
                        <a:rPr lang="en-US" sz="2000" dirty="0">
                          <a:latin typeface="Century Gothic" panose="020B0502020202020204" pitchFamily="34" charset="0"/>
                        </a:rPr>
                        <a:t>Pregnancy</a:t>
                      </a:r>
                      <a:endParaRPr lang="nl-BE" sz="2000" dirty="0">
                        <a:latin typeface="Century Gothic" panose="020B0502020202020204" pitchFamily="34" charset="0"/>
                      </a:endParaRPr>
                    </a:p>
                  </a:txBody>
                  <a:tcPr/>
                </a:tc>
                <a:tc>
                  <a:txBody>
                    <a:bodyPr/>
                    <a:lstStyle/>
                    <a:p>
                      <a:pPr algn="r"/>
                      <a:r>
                        <a:rPr lang="en-US" sz="2000" dirty="0">
                          <a:latin typeface="Century Gothic" panose="020B0502020202020204" pitchFamily="34" charset="0"/>
                        </a:rPr>
                        <a:t>-</a:t>
                      </a:r>
                      <a:endParaRPr lang="nl-BE" sz="2000" dirty="0">
                        <a:latin typeface="Century Gothic" panose="020B0502020202020204" pitchFamily="34" charset="0"/>
                      </a:endParaRPr>
                    </a:p>
                  </a:txBody>
                  <a:tcPr/>
                </a:tc>
                <a:tc>
                  <a:txBody>
                    <a:bodyPr/>
                    <a:lstStyle/>
                    <a:p>
                      <a:pPr algn="r"/>
                      <a:r>
                        <a:rPr lang="en-US" sz="2000" dirty="0">
                          <a:latin typeface="Century Gothic" panose="020B0502020202020204" pitchFamily="34" charset="0"/>
                        </a:rPr>
                        <a:t>-</a:t>
                      </a:r>
                      <a:endParaRPr lang="nl-BE" sz="2000" dirty="0">
                        <a:latin typeface="Century Gothic" panose="020B0502020202020204" pitchFamily="34" charset="0"/>
                      </a:endParaRPr>
                    </a:p>
                  </a:txBody>
                  <a:tcPr/>
                </a:tc>
                <a:tc>
                  <a:txBody>
                    <a:bodyPr/>
                    <a:lstStyle/>
                    <a:p>
                      <a:pPr algn="r"/>
                      <a:r>
                        <a:rPr lang="en-US" sz="2000" dirty="0">
                          <a:latin typeface="Century Gothic" panose="020B0502020202020204" pitchFamily="34" charset="0"/>
                        </a:rPr>
                        <a:t>-</a:t>
                      </a:r>
                      <a:endParaRPr lang="nl-BE" sz="2000" dirty="0">
                        <a:latin typeface="Century Gothic" panose="020B0502020202020204" pitchFamily="34" charset="0"/>
                      </a:endParaRPr>
                    </a:p>
                  </a:txBody>
                  <a:tcPr/>
                </a:tc>
                <a:tc>
                  <a:txBody>
                    <a:bodyPr/>
                    <a:lstStyle/>
                    <a:p>
                      <a:pPr algn="r"/>
                      <a:r>
                        <a:rPr lang="en-US" sz="2000" dirty="0">
                          <a:latin typeface="Century Gothic" panose="020B0502020202020204" pitchFamily="34" charset="0"/>
                        </a:rPr>
                        <a:t>-</a:t>
                      </a:r>
                      <a:endParaRPr lang="nl-BE" sz="2000" dirty="0">
                        <a:latin typeface="Century Gothic" panose="020B0502020202020204" pitchFamily="34" charset="0"/>
                      </a:endParaRPr>
                    </a:p>
                  </a:txBody>
                  <a:tcPr/>
                </a:tc>
                <a:extLst>
                  <a:ext uri="{0D108BD9-81ED-4DB2-BD59-A6C34878D82A}">
                    <a16:rowId xmlns:a16="http://schemas.microsoft.com/office/drawing/2014/main" val="10003"/>
                  </a:ext>
                </a:extLst>
              </a:tr>
              <a:tr h="370840">
                <a:tc>
                  <a:txBody>
                    <a:bodyPr/>
                    <a:lstStyle/>
                    <a:p>
                      <a:r>
                        <a:rPr lang="en-US" sz="2000" dirty="0">
                          <a:latin typeface="Century Gothic" panose="020B0502020202020204" pitchFamily="34" charset="0"/>
                        </a:rPr>
                        <a:t>Milk production</a:t>
                      </a:r>
                      <a:endParaRPr lang="nl-BE" sz="2000" dirty="0">
                        <a:latin typeface="Century Gothic" panose="020B0502020202020204" pitchFamily="34" charset="0"/>
                      </a:endParaRPr>
                    </a:p>
                  </a:txBody>
                  <a:tcPr/>
                </a:tc>
                <a:tc>
                  <a:txBody>
                    <a:bodyPr/>
                    <a:lstStyle/>
                    <a:p>
                      <a:pPr algn="r"/>
                      <a:r>
                        <a:rPr lang="en-US" sz="2000" dirty="0">
                          <a:latin typeface="Century Gothic" panose="020B0502020202020204" pitchFamily="34" charset="0"/>
                        </a:rPr>
                        <a:t>1260</a:t>
                      </a:r>
                      <a:endParaRPr lang="nl-BE" sz="2000" dirty="0">
                        <a:latin typeface="Century Gothic" panose="020B0502020202020204" pitchFamily="34" charset="0"/>
                      </a:endParaRPr>
                    </a:p>
                  </a:txBody>
                  <a:tcPr/>
                </a:tc>
                <a:tc>
                  <a:txBody>
                    <a:bodyPr/>
                    <a:lstStyle/>
                    <a:p>
                      <a:pPr algn="r"/>
                      <a:r>
                        <a:rPr lang="en-US" sz="2000" dirty="0">
                          <a:latin typeface="Century Gothic" panose="020B0502020202020204" pitchFamily="34" charset="0"/>
                        </a:rPr>
                        <a:t>4.515</a:t>
                      </a:r>
                      <a:endParaRPr lang="nl-BE" sz="2000" dirty="0">
                        <a:latin typeface="Century Gothic" panose="020B0502020202020204" pitchFamily="34" charset="0"/>
                      </a:endParaRPr>
                    </a:p>
                  </a:txBody>
                  <a:tcPr/>
                </a:tc>
                <a:tc>
                  <a:txBody>
                    <a:bodyPr/>
                    <a:lstStyle/>
                    <a:p>
                      <a:pPr algn="r"/>
                      <a:r>
                        <a:rPr lang="en-US" sz="2000" dirty="0">
                          <a:latin typeface="Century Gothic" panose="020B0502020202020204" pitchFamily="34" charset="0"/>
                        </a:rPr>
                        <a:t>44.55</a:t>
                      </a:r>
                      <a:endParaRPr lang="nl-BE" sz="2000" dirty="0">
                        <a:latin typeface="Century Gothic" panose="020B0502020202020204" pitchFamily="34" charset="0"/>
                      </a:endParaRPr>
                    </a:p>
                  </a:txBody>
                  <a:tcPr/>
                </a:tc>
                <a:tc>
                  <a:txBody>
                    <a:bodyPr/>
                    <a:lstStyle/>
                    <a:p>
                      <a:pPr algn="r"/>
                      <a:r>
                        <a:rPr lang="en-US" sz="2000" dirty="0">
                          <a:latin typeface="Century Gothic" panose="020B0502020202020204" pitchFamily="34" charset="0"/>
                        </a:rPr>
                        <a:t>27.45</a:t>
                      </a:r>
                      <a:endParaRPr lang="nl-BE" sz="2000" dirty="0">
                        <a:latin typeface="Century Gothic" panose="020B0502020202020204" pitchFamily="34" charset="0"/>
                      </a:endParaRPr>
                    </a:p>
                  </a:txBody>
                  <a:tcPr/>
                </a:tc>
                <a:extLst>
                  <a:ext uri="{0D108BD9-81ED-4DB2-BD59-A6C34878D82A}">
                    <a16:rowId xmlns:a16="http://schemas.microsoft.com/office/drawing/2014/main" val="10004"/>
                  </a:ext>
                </a:extLst>
              </a:tr>
              <a:tr h="370840">
                <a:tc>
                  <a:txBody>
                    <a:bodyPr/>
                    <a:lstStyle/>
                    <a:p>
                      <a:r>
                        <a:rPr lang="en-US" sz="2000" dirty="0">
                          <a:latin typeface="Century Gothic" panose="020B0502020202020204" pitchFamily="34" charset="0"/>
                        </a:rPr>
                        <a:t>Total</a:t>
                      </a:r>
                      <a:endParaRPr lang="nl-BE" sz="2000" dirty="0">
                        <a:latin typeface="Century Gothic" panose="020B0502020202020204" pitchFamily="34" charset="0"/>
                      </a:endParaRPr>
                    </a:p>
                  </a:txBody>
                  <a:tcPr/>
                </a:tc>
                <a:tc>
                  <a:txBody>
                    <a:bodyPr/>
                    <a:lstStyle/>
                    <a:p>
                      <a:pPr algn="r"/>
                      <a:r>
                        <a:rPr lang="en-US" sz="2000" dirty="0">
                          <a:latin typeface="Century Gothic" panose="020B0502020202020204" pitchFamily="34" charset="0"/>
                        </a:rPr>
                        <a:t>1669.2</a:t>
                      </a:r>
                      <a:endParaRPr lang="nl-BE" sz="2000" dirty="0">
                        <a:latin typeface="Century Gothic" panose="020B0502020202020204" pitchFamily="34" charset="0"/>
                      </a:endParaRPr>
                    </a:p>
                  </a:txBody>
                  <a:tcPr/>
                </a:tc>
                <a:tc>
                  <a:txBody>
                    <a:bodyPr/>
                    <a:lstStyle/>
                    <a:p>
                      <a:pPr algn="r"/>
                      <a:r>
                        <a:rPr lang="en-US" sz="2000" dirty="0">
                          <a:latin typeface="Century Gothic" panose="020B0502020202020204" pitchFamily="34" charset="0"/>
                        </a:rPr>
                        <a:t>8.619</a:t>
                      </a:r>
                      <a:endParaRPr lang="nl-BE" sz="2000" dirty="0">
                        <a:latin typeface="Century Gothic" panose="020B0502020202020204" pitchFamily="34" charset="0"/>
                      </a:endParaRPr>
                    </a:p>
                  </a:txBody>
                  <a:tcPr/>
                </a:tc>
                <a:tc>
                  <a:txBody>
                    <a:bodyPr/>
                    <a:lstStyle/>
                    <a:p>
                      <a:pPr algn="r"/>
                      <a:r>
                        <a:rPr lang="en-US" sz="2000" dirty="0">
                          <a:latin typeface="Century Gothic" panose="020B0502020202020204" pitchFamily="34" charset="0"/>
                        </a:rPr>
                        <a:t>66.15</a:t>
                      </a:r>
                      <a:endParaRPr lang="nl-BE" sz="2000" dirty="0">
                        <a:latin typeface="Century Gothic" panose="020B0502020202020204" pitchFamily="34" charset="0"/>
                      </a:endParaRPr>
                    </a:p>
                  </a:txBody>
                  <a:tcPr/>
                </a:tc>
                <a:tc>
                  <a:txBody>
                    <a:bodyPr/>
                    <a:lstStyle/>
                    <a:p>
                      <a:pPr algn="r"/>
                      <a:r>
                        <a:rPr lang="en-US" sz="2000" dirty="0">
                          <a:latin typeface="Century Gothic" panose="020B0502020202020204" pitchFamily="34" charset="0"/>
                        </a:rPr>
                        <a:t>43.05</a:t>
                      </a:r>
                      <a:endParaRPr lang="nl-BE" sz="2000" dirty="0">
                        <a:latin typeface="Century Gothic" panose="020B0502020202020204" pitchFamily="34" charset="0"/>
                      </a:endParaRP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7514642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p:cNvSpPr>
            <a:spLocks noGrp="1"/>
          </p:cNvSpPr>
          <p:nvPr>
            <p:ph idx="1"/>
          </p:nvPr>
        </p:nvSpPr>
        <p:spPr>
          <a:xfrm>
            <a:off x="2152650" y="2092037"/>
            <a:ext cx="7886700" cy="4084927"/>
          </a:xfrm>
        </p:spPr>
        <p:txBody>
          <a:bodyPr>
            <a:normAutofit/>
          </a:bodyPr>
          <a:lstStyle/>
          <a:p>
            <a:endParaRPr lang="en-US" sz="2200" dirty="0">
              <a:latin typeface="Century Gothic" panose="020B0502020202020204" pitchFamily="34" charset="0"/>
            </a:endParaRPr>
          </a:p>
          <a:p>
            <a:r>
              <a:rPr lang="en-US" sz="2200" dirty="0">
                <a:latin typeface="Century Gothic" panose="020B0502020202020204" pitchFamily="34" charset="0"/>
              </a:rPr>
              <a:t>The feed is on DM basis but should be converted to ‘as fed’.</a:t>
            </a:r>
          </a:p>
          <a:p>
            <a:pPr marL="0" indent="0">
              <a:buNone/>
            </a:pPr>
            <a:r>
              <a:rPr lang="en-US" sz="2200" dirty="0">
                <a:latin typeface="Century Gothic" panose="020B0502020202020204" pitchFamily="34" charset="0"/>
              </a:rPr>
              <a:t>3. Nutrient Supply:</a:t>
            </a:r>
          </a:p>
          <a:p>
            <a:endParaRPr lang="en-US" sz="2200" dirty="0">
              <a:latin typeface="Century Gothic" panose="020B0502020202020204" pitchFamily="34" charset="0"/>
            </a:endParaRPr>
          </a:p>
          <a:p>
            <a:endParaRPr lang="en-US" sz="2200" dirty="0">
              <a:latin typeface="Century Gothic" panose="020B0502020202020204" pitchFamily="34" charset="0"/>
            </a:endParaRPr>
          </a:p>
          <a:p>
            <a:endParaRPr lang="en-US" sz="2200" dirty="0">
              <a:latin typeface="Century Gothic" panose="020B0502020202020204" pitchFamily="34" charset="0"/>
            </a:endParaRPr>
          </a:p>
          <a:p>
            <a:endParaRPr lang="en-US" sz="2200" dirty="0">
              <a:latin typeface="Century Gothic" panose="020B0502020202020204" pitchFamily="34" charset="0"/>
            </a:endParaRPr>
          </a:p>
          <a:p>
            <a:endParaRPr lang="nl-BE" sz="2200" dirty="0">
              <a:latin typeface="Century Gothic" panose="020B0502020202020204" pitchFamily="34" charset="0"/>
            </a:endParaRPr>
          </a:p>
        </p:txBody>
      </p:sp>
      <p:graphicFrame>
        <p:nvGraphicFramePr>
          <p:cNvPr id="4" name="Tabel 3"/>
          <p:cNvGraphicFramePr>
            <a:graphicFrameLocks noGrp="1"/>
          </p:cNvGraphicFramePr>
          <p:nvPr/>
        </p:nvGraphicFramePr>
        <p:xfrm>
          <a:off x="2175162" y="967510"/>
          <a:ext cx="7453748" cy="1493520"/>
        </p:xfrm>
        <a:graphic>
          <a:graphicData uri="http://schemas.openxmlformats.org/drawingml/2006/table">
            <a:tbl>
              <a:tblPr firstRow="1" bandRow="1">
                <a:tableStyleId>{5C22544A-7EE6-4342-B048-85BDC9FD1C3A}</a:tableStyleId>
              </a:tblPr>
              <a:tblGrid>
                <a:gridCol w="2521529">
                  <a:extLst>
                    <a:ext uri="{9D8B030D-6E8A-4147-A177-3AD203B41FA5}">
                      <a16:colId xmlns:a16="http://schemas.microsoft.com/office/drawing/2014/main" val="20000"/>
                    </a:ext>
                  </a:extLst>
                </a:gridCol>
                <a:gridCol w="955964">
                  <a:extLst>
                    <a:ext uri="{9D8B030D-6E8A-4147-A177-3AD203B41FA5}">
                      <a16:colId xmlns:a16="http://schemas.microsoft.com/office/drawing/2014/main" val="20001"/>
                    </a:ext>
                  </a:extLst>
                </a:gridCol>
                <a:gridCol w="1052945">
                  <a:extLst>
                    <a:ext uri="{9D8B030D-6E8A-4147-A177-3AD203B41FA5}">
                      <a16:colId xmlns:a16="http://schemas.microsoft.com/office/drawing/2014/main" val="20002"/>
                    </a:ext>
                  </a:extLst>
                </a:gridCol>
                <a:gridCol w="1078084">
                  <a:extLst>
                    <a:ext uri="{9D8B030D-6E8A-4147-A177-3AD203B41FA5}">
                      <a16:colId xmlns:a16="http://schemas.microsoft.com/office/drawing/2014/main" val="20003"/>
                    </a:ext>
                  </a:extLst>
                </a:gridCol>
                <a:gridCol w="922613">
                  <a:extLst>
                    <a:ext uri="{9D8B030D-6E8A-4147-A177-3AD203B41FA5}">
                      <a16:colId xmlns:a16="http://schemas.microsoft.com/office/drawing/2014/main" val="20004"/>
                    </a:ext>
                  </a:extLst>
                </a:gridCol>
                <a:gridCol w="922613">
                  <a:extLst>
                    <a:ext uri="{9D8B030D-6E8A-4147-A177-3AD203B41FA5}">
                      <a16:colId xmlns:a16="http://schemas.microsoft.com/office/drawing/2014/main" val="20005"/>
                    </a:ext>
                  </a:extLst>
                </a:gridCol>
              </a:tblGrid>
              <a:tr h="370840">
                <a:tc>
                  <a:txBody>
                    <a:bodyPr/>
                    <a:lstStyle/>
                    <a:p>
                      <a:r>
                        <a:rPr lang="en-US" sz="2000" b="1" dirty="0">
                          <a:latin typeface="Century Gothic" panose="020B0502020202020204" pitchFamily="34" charset="0"/>
                        </a:rPr>
                        <a:t>Feedstuff</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CP, %</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TDN, %</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Ca, %</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P, %</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DM, %</a:t>
                      </a:r>
                      <a:endParaRPr lang="nl-BE" sz="2000" b="1" dirty="0">
                        <a:latin typeface="Century Gothic" panose="020B0502020202020204" pitchFamily="34" charset="0"/>
                      </a:endParaRPr>
                    </a:p>
                  </a:txBody>
                  <a:tcPr/>
                </a:tc>
                <a:extLst>
                  <a:ext uri="{0D108BD9-81ED-4DB2-BD59-A6C34878D82A}">
                    <a16:rowId xmlns:a16="http://schemas.microsoft.com/office/drawing/2014/main" val="10000"/>
                  </a:ext>
                </a:extLst>
              </a:tr>
              <a:tr h="370840">
                <a:tc>
                  <a:txBody>
                    <a:bodyPr/>
                    <a:lstStyle/>
                    <a:p>
                      <a:r>
                        <a:rPr lang="en-US" sz="2000" dirty="0">
                          <a:latin typeface="Century Gothic" panose="020B0502020202020204" pitchFamily="34" charset="0"/>
                        </a:rPr>
                        <a:t>Napier</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11</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63</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0.6</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0.41</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15</a:t>
                      </a:r>
                      <a:endParaRPr lang="nl-BE" sz="2000" dirty="0">
                        <a:latin typeface="Century Gothic" panose="020B0502020202020204" pitchFamily="34" charset="0"/>
                      </a:endParaRPr>
                    </a:p>
                  </a:txBody>
                  <a:tcPr/>
                </a:tc>
                <a:extLst>
                  <a:ext uri="{0D108BD9-81ED-4DB2-BD59-A6C34878D82A}">
                    <a16:rowId xmlns:a16="http://schemas.microsoft.com/office/drawing/2014/main" val="10001"/>
                  </a:ext>
                </a:extLst>
              </a:tr>
              <a:tr h="370840">
                <a:tc>
                  <a:txBody>
                    <a:bodyPr/>
                    <a:lstStyle/>
                    <a:p>
                      <a:r>
                        <a:rPr lang="en-US" sz="2000" dirty="0">
                          <a:latin typeface="Century Gothic" panose="020B0502020202020204" pitchFamily="34" charset="0"/>
                        </a:rPr>
                        <a:t>Sorghum</a:t>
                      </a:r>
                      <a:r>
                        <a:rPr lang="en-US" sz="2000" baseline="0" dirty="0">
                          <a:latin typeface="Century Gothic" panose="020B0502020202020204" pitchFamily="34" charset="0"/>
                        </a:rPr>
                        <a:t> fodder</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7.1</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55</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0.75</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0.35</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25</a:t>
                      </a:r>
                      <a:endParaRPr lang="nl-BE" sz="2000" dirty="0">
                        <a:latin typeface="Century Gothic" panose="020B0502020202020204" pitchFamily="34" charset="0"/>
                      </a:endParaRPr>
                    </a:p>
                  </a:txBody>
                  <a:tcPr/>
                </a:tc>
                <a:extLst>
                  <a:ext uri="{0D108BD9-81ED-4DB2-BD59-A6C34878D82A}">
                    <a16:rowId xmlns:a16="http://schemas.microsoft.com/office/drawing/2014/main" val="10002"/>
                  </a:ext>
                </a:extLst>
              </a:tr>
            </a:tbl>
          </a:graphicData>
        </a:graphic>
      </p:graphicFrame>
      <p:graphicFrame>
        <p:nvGraphicFramePr>
          <p:cNvPr id="5" name="Tabel 4"/>
          <p:cNvGraphicFramePr>
            <a:graphicFrameLocks noGrp="1"/>
          </p:cNvGraphicFramePr>
          <p:nvPr/>
        </p:nvGraphicFramePr>
        <p:xfrm>
          <a:off x="2216724" y="3724569"/>
          <a:ext cx="7453748" cy="2682240"/>
        </p:xfrm>
        <a:graphic>
          <a:graphicData uri="http://schemas.openxmlformats.org/drawingml/2006/table">
            <a:tbl>
              <a:tblPr firstRow="1" bandRow="1">
                <a:tableStyleId>{5C22544A-7EE6-4342-B048-85BDC9FD1C3A}</a:tableStyleId>
              </a:tblPr>
              <a:tblGrid>
                <a:gridCol w="2216731">
                  <a:extLst>
                    <a:ext uri="{9D8B030D-6E8A-4147-A177-3AD203B41FA5}">
                      <a16:colId xmlns:a16="http://schemas.microsoft.com/office/drawing/2014/main" val="20000"/>
                    </a:ext>
                  </a:extLst>
                </a:gridCol>
                <a:gridCol w="1039090">
                  <a:extLst>
                    <a:ext uri="{9D8B030D-6E8A-4147-A177-3AD203B41FA5}">
                      <a16:colId xmlns:a16="http://schemas.microsoft.com/office/drawing/2014/main" val="20001"/>
                    </a:ext>
                  </a:extLst>
                </a:gridCol>
                <a:gridCol w="1025237">
                  <a:extLst>
                    <a:ext uri="{9D8B030D-6E8A-4147-A177-3AD203B41FA5}">
                      <a16:colId xmlns:a16="http://schemas.microsoft.com/office/drawing/2014/main" val="20002"/>
                    </a:ext>
                  </a:extLst>
                </a:gridCol>
                <a:gridCol w="1094509">
                  <a:extLst>
                    <a:ext uri="{9D8B030D-6E8A-4147-A177-3AD203B41FA5}">
                      <a16:colId xmlns:a16="http://schemas.microsoft.com/office/drawing/2014/main" val="20003"/>
                    </a:ext>
                  </a:extLst>
                </a:gridCol>
                <a:gridCol w="900545">
                  <a:extLst>
                    <a:ext uri="{9D8B030D-6E8A-4147-A177-3AD203B41FA5}">
                      <a16:colId xmlns:a16="http://schemas.microsoft.com/office/drawing/2014/main" val="20004"/>
                    </a:ext>
                  </a:extLst>
                </a:gridCol>
                <a:gridCol w="1177636">
                  <a:extLst>
                    <a:ext uri="{9D8B030D-6E8A-4147-A177-3AD203B41FA5}">
                      <a16:colId xmlns:a16="http://schemas.microsoft.com/office/drawing/2014/main" val="20005"/>
                    </a:ext>
                  </a:extLst>
                </a:gridCol>
              </a:tblGrid>
              <a:tr h="370840">
                <a:tc>
                  <a:txBody>
                    <a:bodyPr/>
                    <a:lstStyle/>
                    <a:p>
                      <a:r>
                        <a:rPr lang="en-US" sz="2000" b="1" dirty="0">
                          <a:latin typeface="Century Gothic" panose="020B0502020202020204" pitchFamily="34" charset="0"/>
                        </a:rPr>
                        <a:t>Nutrient Supply</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DM,</a:t>
                      </a:r>
                      <a:r>
                        <a:rPr lang="en-US" sz="2000" b="1" baseline="0" dirty="0">
                          <a:latin typeface="Century Gothic" panose="020B0502020202020204" pitchFamily="34" charset="0"/>
                        </a:rPr>
                        <a:t> Kg</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CP, g</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TDN, Kg</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Ca, g</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P, g</a:t>
                      </a:r>
                      <a:endParaRPr lang="nl-BE" sz="2000" b="1" dirty="0">
                        <a:latin typeface="Century Gothic" panose="020B0502020202020204" pitchFamily="34" charset="0"/>
                      </a:endParaRPr>
                    </a:p>
                  </a:txBody>
                  <a:tcPr/>
                </a:tc>
                <a:extLst>
                  <a:ext uri="{0D108BD9-81ED-4DB2-BD59-A6C34878D82A}">
                    <a16:rowId xmlns:a16="http://schemas.microsoft.com/office/drawing/2014/main" val="10000"/>
                  </a:ext>
                </a:extLst>
              </a:tr>
              <a:tr h="370840">
                <a:tc>
                  <a:txBody>
                    <a:bodyPr/>
                    <a:lstStyle/>
                    <a:p>
                      <a:r>
                        <a:rPr lang="en-US" sz="2000" dirty="0">
                          <a:latin typeface="Century Gothic" panose="020B0502020202020204" pitchFamily="34" charset="0"/>
                        </a:rPr>
                        <a:t>Napier</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7</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770</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4.41</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42</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28.7</a:t>
                      </a:r>
                      <a:endParaRPr lang="nl-BE" sz="2000" dirty="0">
                        <a:latin typeface="Century Gothic" panose="020B0502020202020204" pitchFamily="34" charset="0"/>
                      </a:endParaRPr>
                    </a:p>
                  </a:txBody>
                  <a:tcPr/>
                </a:tc>
                <a:extLst>
                  <a:ext uri="{0D108BD9-81ED-4DB2-BD59-A6C34878D82A}">
                    <a16:rowId xmlns:a16="http://schemas.microsoft.com/office/drawing/2014/main" val="10001"/>
                  </a:ext>
                </a:extLst>
              </a:tr>
              <a:tr h="370840">
                <a:tc>
                  <a:txBody>
                    <a:bodyPr/>
                    <a:lstStyle/>
                    <a:p>
                      <a:r>
                        <a:rPr lang="en-US" sz="2000" dirty="0">
                          <a:latin typeface="Century Gothic" panose="020B0502020202020204" pitchFamily="34" charset="0"/>
                        </a:rPr>
                        <a:t>Sorghum</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3</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213</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1.65</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22.5</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10.5</a:t>
                      </a:r>
                      <a:endParaRPr lang="nl-BE" sz="2000" dirty="0">
                        <a:latin typeface="Century Gothic" panose="020B0502020202020204" pitchFamily="34" charset="0"/>
                      </a:endParaRPr>
                    </a:p>
                  </a:txBody>
                  <a:tcPr/>
                </a:tc>
                <a:extLst>
                  <a:ext uri="{0D108BD9-81ED-4DB2-BD59-A6C34878D82A}">
                    <a16:rowId xmlns:a16="http://schemas.microsoft.com/office/drawing/2014/main" val="10002"/>
                  </a:ext>
                </a:extLst>
              </a:tr>
              <a:tr h="370840">
                <a:tc>
                  <a:txBody>
                    <a:bodyPr/>
                    <a:lstStyle/>
                    <a:p>
                      <a:r>
                        <a:rPr lang="en-US" sz="2000" b="1" dirty="0">
                          <a:latin typeface="Century Gothic" panose="020B0502020202020204" pitchFamily="34" charset="0"/>
                        </a:rPr>
                        <a:t>Total</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10</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983</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6.06</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64.5</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39.2</a:t>
                      </a:r>
                      <a:endParaRPr lang="nl-BE" sz="2000" b="1" dirty="0">
                        <a:latin typeface="Century Gothic" panose="020B0502020202020204" pitchFamily="34" charset="0"/>
                      </a:endParaRPr>
                    </a:p>
                  </a:txBody>
                  <a:tcPr/>
                </a:tc>
                <a:extLst>
                  <a:ext uri="{0D108BD9-81ED-4DB2-BD59-A6C34878D82A}">
                    <a16:rowId xmlns:a16="http://schemas.microsoft.com/office/drawing/2014/main" val="10003"/>
                  </a:ext>
                </a:extLst>
              </a:tr>
              <a:tr h="370840">
                <a:tc>
                  <a:txBody>
                    <a:bodyPr/>
                    <a:lstStyle/>
                    <a:p>
                      <a:r>
                        <a:rPr lang="en-US" sz="2000" b="1" dirty="0">
                          <a:latin typeface="Century Gothic" panose="020B0502020202020204" pitchFamily="34" charset="0"/>
                        </a:rPr>
                        <a:t>Total Required</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13.5</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1669.2</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8.619</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66.15</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43.05</a:t>
                      </a:r>
                      <a:endParaRPr lang="nl-BE" sz="2000" b="1" dirty="0">
                        <a:latin typeface="Century Gothic" panose="020B0502020202020204" pitchFamily="34" charset="0"/>
                      </a:endParaRPr>
                    </a:p>
                  </a:txBody>
                  <a:tcPr/>
                </a:tc>
                <a:extLst>
                  <a:ext uri="{0D108BD9-81ED-4DB2-BD59-A6C34878D82A}">
                    <a16:rowId xmlns:a16="http://schemas.microsoft.com/office/drawing/2014/main" val="10004"/>
                  </a:ext>
                </a:extLst>
              </a:tr>
              <a:tr h="370840">
                <a:tc>
                  <a:txBody>
                    <a:bodyPr/>
                    <a:lstStyle/>
                    <a:p>
                      <a:r>
                        <a:rPr lang="en-US" sz="2000" dirty="0">
                          <a:latin typeface="Century Gothic" panose="020B0502020202020204" pitchFamily="34" charset="0"/>
                        </a:rPr>
                        <a:t>Deficit </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3.5</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686.2</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2.559</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1.65</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3.85</a:t>
                      </a:r>
                      <a:endParaRPr lang="nl-BE" sz="2000" dirty="0">
                        <a:latin typeface="Century Gothic" panose="020B0502020202020204" pitchFamily="34" charset="0"/>
                      </a:endParaRP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5989459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p:cNvSpPr>
            <a:spLocks noGrp="1"/>
          </p:cNvSpPr>
          <p:nvPr>
            <p:ph idx="1"/>
          </p:nvPr>
        </p:nvSpPr>
        <p:spPr>
          <a:xfrm>
            <a:off x="2152650" y="789709"/>
            <a:ext cx="7886700" cy="5387254"/>
          </a:xfrm>
        </p:spPr>
        <p:txBody>
          <a:bodyPr>
            <a:normAutofit fontScale="92500"/>
          </a:bodyPr>
          <a:lstStyle/>
          <a:p>
            <a:r>
              <a:rPr lang="en-US" sz="2200" dirty="0">
                <a:latin typeface="Century Gothic" panose="020B0502020202020204" pitchFamily="34" charset="0"/>
              </a:rPr>
              <a:t>Decide on what ingredients to use to meet the CP and TDN deficits</a:t>
            </a:r>
          </a:p>
          <a:p>
            <a:r>
              <a:rPr lang="en-US" sz="2200" dirty="0">
                <a:latin typeface="Century Gothic" panose="020B0502020202020204" pitchFamily="34" charset="0"/>
              </a:rPr>
              <a:t>Assume the farmer chooses maize grain containing 89% DM, 88% TDN, 10%CP, 0.03% Ca and 0.31% P</a:t>
            </a:r>
          </a:p>
          <a:p>
            <a:r>
              <a:rPr lang="en-US" sz="2200" dirty="0">
                <a:latin typeface="Century Gothic" panose="020B0502020202020204" pitchFamily="34" charset="0"/>
              </a:rPr>
              <a:t>Let x be the amount of maize to supply 2.559kg TDN</a:t>
            </a:r>
          </a:p>
          <a:p>
            <a:r>
              <a:rPr lang="en-US" sz="2200" dirty="0">
                <a:latin typeface="Century Gothic" panose="020B0502020202020204" pitchFamily="34" charset="0"/>
              </a:rPr>
              <a:t>Therefore:  0.88x = 2.559</a:t>
            </a:r>
          </a:p>
          <a:p>
            <a:pPr lvl="5"/>
            <a:r>
              <a:rPr lang="en-US" sz="2200" dirty="0">
                <a:latin typeface="Century Gothic" panose="020B0502020202020204" pitchFamily="34" charset="0"/>
              </a:rPr>
              <a:t>x = 2.908kg</a:t>
            </a:r>
          </a:p>
          <a:p>
            <a:r>
              <a:rPr lang="en-US" sz="2200" dirty="0">
                <a:latin typeface="Century Gothic" panose="020B0502020202020204" pitchFamily="34" charset="0"/>
              </a:rPr>
              <a:t>Calculate the amount of CP supply by 2.908kg DM maize</a:t>
            </a:r>
          </a:p>
          <a:p>
            <a:pPr marL="1371600" lvl="3" indent="0">
              <a:buNone/>
            </a:pPr>
            <a:r>
              <a:rPr lang="en-US" sz="2200" dirty="0">
                <a:latin typeface="Century Gothic" panose="020B0502020202020204" pitchFamily="34" charset="0"/>
              </a:rPr>
              <a:t>CP = 10% x 2.908kg</a:t>
            </a:r>
          </a:p>
          <a:p>
            <a:pPr marL="914400" lvl="2" indent="0">
              <a:buNone/>
            </a:pPr>
            <a:r>
              <a:rPr lang="en-US" sz="2200" dirty="0">
                <a:latin typeface="Century Gothic" panose="020B0502020202020204" pitchFamily="34" charset="0"/>
              </a:rPr>
              <a:t>	= 0.2908kg or 290.8g</a:t>
            </a:r>
          </a:p>
          <a:p>
            <a:r>
              <a:rPr lang="en-US" sz="2200" dirty="0">
                <a:latin typeface="Century Gothic" panose="020B0502020202020204" pitchFamily="34" charset="0"/>
              </a:rPr>
              <a:t>Check if there is still a deficit</a:t>
            </a:r>
          </a:p>
          <a:p>
            <a:pPr marL="1371600" lvl="3" indent="0">
              <a:buNone/>
            </a:pPr>
            <a:r>
              <a:rPr lang="en-US" sz="2200" dirty="0">
                <a:latin typeface="Century Gothic" panose="020B0502020202020204" pitchFamily="34" charset="0"/>
              </a:rPr>
              <a:t>CP = 686.2 – 290.8 = 395.4g </a:t>
            </a:r>
          </a:p>
          <a:p>
            <a:r>
              <a:rPr lang="en-US" sz="2200" dirty="0">
                <a:latin typeface="Century Gothic" panose="020B0502020202020204" pitchFamily="34" charset="0"/>
              </a:rPr>
              <a:t>Decide on what other supplement to use</a:t>
            </a:r>
            <a:endParaRPr lang="nl-BE" sz="2200" dirty="0">
              <a:latin typeface="Century Gothic" panose="020B0502020202020204" pitchFamily="34" charset="0"/>
            </a:endParaRPr>
          </a:p>
        </p:txBody>
      </p:sp>
    </p:spTree>
    <p:extLst>
      <p:ext uri="{BB962C8B-B14F-4D97-AF65-F5344CB8AC3E}">
        <p14:creationId xmlns:p14="http://schemas.microsoft.com/office/powerpoint/2010/main" val="8016189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p:cNvSpPr>
            <a:spLocks noGrp="1"/>
          </p:cNvSpPr>
          <p:nvPr>
            <p:ph idx="1"/>
          </p:nvPr>
        </p:nvSpPr>
        <p:spPr>
          <a:xfrm>
            <a:off x="1727647" y="145765"/>
            <a:ext cx="8541108" cy="6486855"/>
          </a:xfrm>
        </p:spPr>
        <p:txBody>
          <a:bodyPr>
            <a:noAutofit/>
          </a:bodyPr>
          <a:lstStyle/>
          <a:p>
            <a:r>
              <a:rPr lang="en-US" dirty="0">
                <a:latin typeface="Times New Roman" panose="02020603050405020304" pitchFamily="18" charset="0"/>
                <a:cs typeface="Times New Roman" panose="02020603050405020304" pitchFamily="18" charset="0"/>
              </a:rPr>
              <a:t>Assume the farmer has groundnut meal containing 92% DM, 82% TDN, 49.8%CP, 0.18% Ca and 0.62% P</a:t>
            </a:r>
          </a:p>
          <a:p>
            <a:r>
              <a:rPr lang="en-US" dirty="0">
                <a:latin typeface="Times New Roman" panose="02020603050405020304" pitchFamily="18" charset="0"/>
                <a:cs typeface="Times New Roman" panose="02020603050405020304" pitchFamily="18" charset="0"/>
              </a:rPr>
              <a:t>To maintain the DM%, we need to establish how much DM has been accumulated so far</a:t>
            </a:r>
          </a:p>
          <a:p>
            <a:pPr marL="0" indent="0">
              <a:buNone/>
            </a:pPr>
            <a:r>
              <a:rPr lang="en-US" dirty="0">
                <a:latin typeface="Times New Roman" panose="02020603050405020304" pitchFamily="18" charset="0"/>
                <a:cs typeface="Times New Roman" panose="02020603050405020304" pitchFamily="18" charset="0"/>
              </a:rPr>
              <a:t>		7 + 3 + 2.908 = 12.908kg</a:t>
            </a:r>
          </a:p>
          <a:p>
            <a:pPr marL="0" indent="0">
              <a:buNone/>
            </a:pPr>
            <a:r>
              <a:rPr lang="en-US" dirty="0">
                <a:latin typeface="Times New Roman" panose="02020603050405020304" pitchFamily="18" charset="0"/>
                <a:cs typeface="Times New Roman" panose="02020603050405020304" pitchFamily="18" charset="0"/>
              </a:rPr>
              <a:t>		Balance DM: 13.5 - 12.908 = 0.592kg</a:t>
            </a:r>
          </a:p>
          <a:p>
            <a:r>
              <a:rPr lang="en-US" dirty="0">
                <a:latin typeface="Times New Roman" panose="02020603050405020304" pitchFamily="18" charset="0"/>
                <a:cs typeface="Times New Roman" panose="02020603050405020304" pitchFamily="18" charset="0"/>
              </a:rPr>
              <a:t>Adding 0.592kg groundnut will supply</a:t>
            </a:r>
          </a:p>
          <a:p>
            <a:pPr marL="1371600" lvl="3" indent="0">
              <a:buNone/>
            </a:pPr>
            <a:r>
              <a:rPr lang="en-US" sz="2000" dirty="0">
                <a:latin typeface="Times New Roman" panose="02020603050405020304" pitchFamily="18" charset="0"/>
                <a:cs typeface="Times New Roman" panose="02020603050405020304" pitchFamily="18" charset="0"/>
              </a:rPr>
              <a:t>CP = 0.592 x 49.8% = 0.592 x 0.498 </a:t>
            </a:r>
          </a:p>
          <a:p>
            <a:pPr marL="1371600" lvl="3" indent="0">
              <a:buNone/>
            </a:pPr>
            <a:r>
              <a:rPr lang="en-US" sz="2000" dirty="0">
                <a:latin typeface="Times New Roman" panose="02020603050405020304" pitchFamily="18" charset="0"/>
                <a:cs typeface="Times New Roman" panose="02020603050405020304" pitchFamily="18" charset="0"/>
              </a:rPr>
              <a:t>	= 0.29481kg or 294.81g</a:t>
            </a:r>
          </a:p>
          <a:p>
            <a:r>
              <a:rPr lang="en-US" dirty="0">
                <a:latin typeface="Times New Roman" panose="02020603050405020304" pitchFamily="18" charset="0"/>
                <a:cs typeface="Times New Roman" panose="02020603050405020304" pitchFamily="18" charset="0"/>
              </a:rPr>
              <a:t>But our deficit is 395.4g, so we need more G/nut meal</a:t>
            </a:r>
          </a:p>
          <a:p>
            <a:r>
              <a:rPr lang="en-US" dirty="0">
                <a:latin typeface="Times New Roman" panose="02020603050405020304" pitchFamily="18" charset="0"/>
                <a:cs typeface="Times New Roman" panose="02020603050405020304" pitchFamily="18" charset="0"/>
              </a:rPr>
              <a:t>Consider replacing part of maize with G/nut meal</a:t>
            </a:r>
          </a:p>
          <a:p>
            <a:r>
              <a:rPr lang="en-US" dirty="0">
                <a:latin typeface="Times New Roman" panose="02020603050405020304" pitchFamily="18" charset="0"/>
                <a:cs typeface="Times New Roman" panose="02020603050405020304" pitchFamily="18" charset="0"/>
              </a:rPr>
              <a:t>Let’s start replacing 1kg with 1kg G/nut meal</a:t>
            </a:r>
          </a:p>
          <a:p>
            <a:pPr marL="457200" lvl="1" indent="0">
              <a:buNone/>
            </a:pPr>
            <a:r>
              <a:rPr lang="en-US" sz="2000" dirty="0">
                <a:latin typeface="Times New Roman" panose="02020603050405020304" pitchFamily="18" charset="0"/>
                <a:cs typeface="Times New Roman" panose="02020603050405020304" pitchFamily="18" charset="0"/>
              </a:rPr>
              <a:t>1kg G/nut meal contains: 0.498 x 1 = 0.498kg CP</a:t>
            </a:r>
          </a:p>
          <a:p>
            <a:pPr marL="457200" lvl="1" indent="0">
              <a:buNone/>
            </a:pPr>
            <a:r>
              <a:rPr lang="en-US" sz="2000" dirty="0">
                <a:latin typeface="Times New Roman" panose="02020603050405020304" pitchFamily="18" charset="0"/>
                <a:cs typeface="Times New Roman" panose="02020603050405020304" pitchFamily="18" charset="0"/>
              </a:rPr>
              <a:t>1kg maize contains: 0.1 x 1 = 0.1kg CP</a:t>
            </a:r>
          </a:p>
          <a:p>
            <a:pPr marL="457200" lvl="1" indent="0">
              <a:buNone/>
            </a:pPr>
            <a:r>
              <a:rPr lang="en-US" sz="2000" dirty="0">
                <a:latin typeface="Times New Roman" panose="02020603050405020304" pitchFamily="18" charset="0"/>
                <a:cs typeface="Times New Roman" panose="02020603050405020304" pitchFamily="18" charset="0"/>
              </a:rPr>
              <a:t>Net amount of CP added = 0.498 – 0.1 = 0.398kg</a:t>
            </a:r>
          </a:p>
        </p:txBody>
      </p:sp>
    </p:spTree>
    <p:extLst>
      <p:ext uri="{BB962C8B-B14F-4D97-AF65-F5344CB8AC3E}">
        <p14:creationId xmlns:p14="http://schemas.microsoft.com/office/powerpoint/2010/main" val="7037105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p:cNvSpPr>
            <a:spLocks noGrp="1"/>
          </p:cNvSpPr>
          <p:nvPr>
            <p:ph idx="1"/>
          </p:nvPr>
        </p:nvSpPr>
        <p:spPr>
          <a:xfrm>
            <a:off x="2152650" y="720437"/>
            <a:ext cx="7886700" cy="5456527"/>
          </a:xfrm>
        </p:spPr>
        <p:txBody>
          <a:bodyPr>
            <a:normAutofit/>
          </a:bodyPr>
          <a:lstStyle/>
          <a:p>
            <a:r>
              <a:rPr lang="en-US" sz="2200" dirty="0">
                <a:latin typeface="Century Gothic" panose="020B0502020202020204" pitchFamily="34" charset="0"/>
              </a:rPr>
              <a:t>0.398 is higher than the deficit, therefore the ingredients can be mixed in those proportions</a:t>
            </a:r>
          </a:p>
          <a:p>
            <a:r>
              <a:rPr lang="en-US" sz="2200" dirty="0">
                <a:latin typeface="Century Gothic" panose="020B0502020202020204" pitchFamily="34" charset="0"/>
              </a:rPr>
              <a:t>Calculate the nutrients supplied by </a:t>
            </a:r>
            <a:r>
              <a:rPr lang="en-US" sz="2200" dirty="0" err="1">
                <a:latin typeface="Century Gothic" panose="020B0502020202020204" pitchFamily="34" charset="0"/>
              </a:rPr>
              <a:t>napier</a:t>
            </a:r>
            <a:r>
              <a:rPr lang="en-US" sz="2200" dirty="0">
                <a:latin typeface="Century Gothic" panose="020B0502020202020204" pitchFamily="34" charset="0"/>
              </a:rPr>
              <a:t>, sorghum, maize and g/nut meal</a:t>
            </a:r>
          </a:p>
        </p:txBody>
      </p:sp>
      <p:graphicFrame>
        <p:nvGraphicFramePr>
          <p:cNvPr id="4" name="Tabel 3"/>
          <p:cNvGraphicFramePr>
            <a:graphicFrameLocks noGrp="1"/>
          </p:cNvGraphicFramePr>
          <p:nvPr/>
        </p:nvGraphicFramePr>
        <p:xfrm>
          <a:off x="2313706" y="2394532"/>
          <a:ext cx="7453748" cy="3474720"/>
        </p:xfrm>
        <a:graphic>
          <a:graphicData uri="http://schemas.openxmlformats.org/drawingml/2006/table">
            <a:tbl>
              <a:tblPr firstRow="1" bandRow="1">
                <a:tableStyleId>{5C22544A-7EE6-4342-B048-85BDC9FD1C3A}</a:tableStyleId>
              </a:tblPr>
              <a:tblGrid>
                <a:gridCol w="2216731">
                  <a:extLst>
                    <a:ext uri="{9D8B030D-6E8A-4147-A177-3AD203B41FA5}">
                      <a16:colId xmlns:a16="http://schemas.microsoft.com/office/drawing/2014/main" val="20000"/>
                    </a:ext>
                  </a:extLst>
                </a:gridCol>
                <a:gridCol w="1039090">
                  <a:extLst>
                    <a:ext uri="{9D8B030D-6E8A-4147-A177-3AD203B41FA5}">
                      <a16:colId xmlns:a16="http://schemas.microsoft.com/office/drawing/2014/main" val="20001"/>
                    </a:ext>
                  </a:extLst>
                </a:gridCol>
                <a:gridCol w="1025237">
                  <a:extLst>
                    <a:ext uri="{9D8B030D-6E8A-4147-A177-3AD203B41FA5}">
                      <a16:colId xmlns:a16="http://schemas.microsoft.com/office/drawing/2014/main" val="20002"/>
                    </a:ext>
                  </a:extLst>
                </a:gridCol>
                <a:gridCol w="1094509">
                  <a:extLst>
                    <a:ext uri="{9D8B030D-6E8A-4147-A177-3AD203B41FA5}">
                      <a16:colId xmlns:a16="http://schemas.microsoft.com/office/drawing/2014/main" val="20003"/>
                    </a:ext>
                  </a:extLst>
                </a:gridCol>
                <a:gridCol w="900545">
                  <a:extLst>
                    <a:ext uri="{9D8B030D-6E8A-4147-A177-3AD203B41FA5}">
                      <a16:colId xmlns:a16="http://schemas.microsoft.com/office/drawing/2014/main" val="20004"/>
                    </a:ext>
                  </a:extLst>
                </a:gridCol>
                <a:gridCol w="1177636">
                  <a:extLst>
                    <a:ext uri="{9D8B030D-6E8A-4147-A177-3AD203B41FA5}">
                      <a16:colId xmlns:a16="http://schemas.microsoft.com/office/drawing/2014/main" val="20005"/>
                    </a:ext>
                  </a:extLst>
                </a:gridCol>
              </a:tblGrid>
              <a:tr h="370840">
                <a:tc>
                  <a:txBody>
                    <a:bodyPr/>
                    <a:lstStyle/>
                    <a:p>
                      <a:r>
                        <a:rPr lang="en-US" sz="2000" b="1" dirty="0">
                          <a:latin typeface="Century Gothic" panose="020B0502020202020204" pitchFamily="34" charset="0"/>
                        </a:rPr>
                        <a:t>Nutrient Supply</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DM,</a:t>
                      </a:r>
                      <a:r>
                        <a:rPr lang="en-US" sz="2000" b="1" baseline="0" dirty="0">
                          <a:latin typeface="Century Gothic" panose="020B0502020202020204" pitchFamily="34" charset="0"/>
                        </a:rPr>
                        <a:t> Kg</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CP, g</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TDN, Kg</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Ca, g</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P, g</a:t>
                      </a:r>
                      <a:endParaRPr lang="nl-BE" sz="2000" b="1" dirty="0">
                        <a:latin typeface="Century Gothic" panose="020B0502020202020204" pitchFamily="34" charset="0"/>
                      </a:endParaRPr>
                    </a:p>
                  </a:txBody>
                  <a:tcPr/>
                </a:tc>
                <a:extLst>
                  <a:ext uri="{0D108BD9-81ED-4DB2-BD59-A6C34878D82A}">
                    <a16:rowId xmlns:a16="http://schemas.microsoft.com/office/drawing/2014/main" val="10000"/>
                  </a:ext>
                </a:extLst>
              </a:tr>
              <a:tr h="370840">
                <a:tc>
                  <a:txBody>
                    <a:bodyPr/>
                    <a:lstStyle/>
                    <a:p>
                      <a:r>
                        <a:rPr lang="en-US" sz="2000" dirty="0">
                          <a:latin typeface="Century Gothic" panose="020B0502020202020204" pitchFamily="34" charset="0"/>
                        </a:rPr>
                        <a:t>Napier</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7</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770</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4.41</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42</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28.7</a:t>
                      </a:r>
                      <a:endParaRPr lang="nl-BE" sz="2000" dirty="0">
                        <a:latin typeface="Century Gothic" panose="020B0502020202020204" pitchFamily="34" charset="0"/>
                      </a:endParaRPr>
                    </a:p>
                  </a:txBody>
                  <a:tcPr/>
                </a:tc>
                <a:extLst>
                  <a:ext uri="{0D108BD9-81ED-4DB2-BD59-A6C34878D82A}">
                    <a16:rowId xmlns:a16="http://schemas.microsoft.com/office/drawing/2014/main" val="10001"/>
                  </a:ext>
                </a:extLst>
              </a:tr>
              <a:tr h="370840">
                <a:tc>
                  <a:txBody>
                    <a:bodyPr/>
                    <a:lstStyle/>
                    <a:p>
                      <a:r>
                        <a:rPr lang="en-US" sz="2000" dirty="0">
                          <a:latin typeface="Century Gothic" panose="020B0502020202020204" pitchFamily="34" charset="0"/>
                        </a:rPr>
                        <a:t>Sorghum</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3</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213</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1.65</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22.5</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10.5</a:t>
                      </a:r>
                      <a:endParaRPr lang="nl-BE" sz="2000" dirty="0">
                        <a:latin typeface="Century Gothic" panose="020B0502020202020204" pitchFamily="34" charset="0"/>
                      </a:endParaRPr>
                    </a:p>
                  </a:txBody>
                  <a:tcPr/>
                </a:tc>
                <a:extLst>
                  <a:ext uri="{0D108BD9-81ED-4DB2-BD59-A6C34878D82A}">
                    <a16:rowId xmlns:a16="http://schemas.microsoft.com/office/drawing/2014/main" val="10002"/>
                  </a:ext>
                </a:extLst>
              </a:tr>
              <a:tr h="370840">
                <a:tc>
                  <a:txBody>
                    <a:bodyPr/>
                    <a:lstStyle/>
                    <a:p>
                      <a:r>
                        <a:rPr lang="en-US" sz="2000" b="0" noProof="0" dirty="0">
                          <a:latin typeface="Century Gothic" panose="020B0502020202020204" pitchFamily="34" charset="0"/>
                        </a:rPr>
                        <a:t>Maize</a:t>
                      </a:r>
                    </a:p>
                  </a:txBody>
                  <a:tcPr/>
                </a:tc>
                <a:tc>
                  <a:txBody>
                    <a:bodyPr/>
                    <a:lstStyle/>
                    <a:p>
                      <a:r>
                        <a:rPr lang="en-US" sz="2000" b="0" noProof="0" dirty="0">
                          <a:latin typeface="Century Gothic" panose="020B0502020202020204" pitchFamily="34" charset="0"/>
                        </a:rPr>
                        <a:t>1.908</a:t>
                      </a:r>
                    </a:p>
                  </a:txBody>
                  <a:tcPr/>
                </a:tc>
                <a:tc>
                  <a:txBody>
                    <a:bodyPr/>
                    <a:lstStyle/>
                    <a:p>
                      <a:r>
                        <a:rPr lang="en-US" sz="2000" b="0" noProof="0" dirty="0">
                          <a:latin typeface="Century Gothic" panose="020B0502020202020204" pitchFamily="34" charset="0"/>
                        </a:rPr>
                        <a:t>191</a:t>
                      </a:r>
                    </a:p>
                  </a:txBody>
                  <a:tcPr/>
                </a:tc>
                <a:tc>
                  <a:txBody>
                    <a:bodyPr/>
                    <a:lstStyle/>
                    <a:p>
                      <a:r>
                        <a:rPr lang="en-US" sz="2000" b="0" noProof="0" dirty="0">
                          <a:latin typeface="Century Gothic" panose="020B0502020202020204" pitchFamily="34" charset="0"/>
                        </a:rPr>
                        <a:t>1.68</a:t>
                      </a:r>
                    </a:p>
                  </a:txBody>
                  <a:tcPr/>
                </a:tc>
                <a:tc>
                  <a:txBody>
                    <a:bodyPr/>
                    <a:lstStyle/>
                    <a:p>
                      <a:r>
                        <a:rPr lang="en-US" sz="2000" b="0" noProof="0" dirty="0">
                          <a:latin typeface="Century Gothic" panose="020B0502020202020204" pitchFamily="34" charset="0"/>
                        </a:rPr>
                        <a:t>0.57</a:t>
                      </a:r>
                    </a:p>
                  </a:txBody>
                  <a:tcPr/>
                </a:tc>
                <a:tc>
                  <a:txBody>
                    <a:bodyPr/>
                    <a:lstStyle/>
                    <a:p>
                      <a:r>
                        <a:rPr lang="en-US" sz="2000" b="0" noProof="0" dirty="0">
                          <a:latin typeface="Century Gothic" panose="020B0502020202020204" pitchFamily="34" charset="0"/>
                        </a:rPr>
                        <a:t>5.915</a:t>
                      </a:r>
                    </a:p>
                  </a:txBody>
                  <a:tcPr/>
                </a:tc>
                <a:extLst>
                  <a:ext uri="{0D108BD9-81ED-4DB2-BD59-A6C34878D82A}">
                    <a16:rowId xmlns:a16="http://schemas.microsoft.com/office/drawing/2014/main" val="10003"/>
                  </a:ext>
                </a:extLst>
              </a:tr>
              <a:tr h="370840">
                <a:tc>
                  <a:txBody>
                    <a:bodyPr/>
                    <a:lstStyle/>
                    <a:p>
                      <a:r>
                        <a:rPr lang="en-US" sz="2000" b="0" noProof="0" dirty="0">
                          <a:latin typeface="Century Gothic" panose="020B0502020202020204" pitchFamily="34" charset="0"/>
                        </a:rPr>
                        <a:t>G/nut</a:t>
                      </a:r>
                    </a:p>
                  </a:txBody>
                  <a:tcPr/>
                </a:tc>
                <a:tc>
                  <a:txBody>
                    <a:bodyPr/>
                    <a:lstStyle/>
                    <a:p>
                      <a:r>
                        <a:rPr lang="en-US" sz="2000" b="0" noProof="0" dirty="0">
                          <a:latin typeface="Century Gothic" panose="020B0502020202020204" pitchFamily="34" charset="0"/>
                        </a:rPr>
                        <a:t>1</a:t>
                      </a:r>
                    </a:p>
                  </a:txBody>
                  <a:tcPr/>
                </a:tc>
                <a:tc>
                  <a:txBody>
                    <a:bodyPr/>
                    <a:lstStyle/>
                    <a:p>
                      <a:r>
                        <a:rPr lang="en-US" sz="2000" b="0" noProof="0" dirty="0">
                          <a:latin typeface="Century Gothic" panose="020B0502020202020204" pitchFamily="34" charset="0"/>
                        </a:rPr>
                        <a:t>498</a:t>
                      </a:r>
                    </a:p>
                  </a:txBody>
                  <a:tcPr/>
                </a:tc>
                <a:tc>
                  <a:txBody>
                    <a:bodyPr/>
                    <a:lstStyle/>
                    <a:p>
                      <a:r>
                        <a:rPr lang="en-US" sz="2000" b="0" noProof="0" dirty="0">
                          <a:latin typeface="Century Gothic" panose="020B0502020202020204" pitchFamily="34" charset="0"/>
                        </a:rPr>
                        <a:t>0.83</a:t>
                      </a:r>
                    </a:p>
                  </a:txBody>
                  <a:tcPr/>
                </a:tc>
                <a:tc>
                  <a:txBody>
                    <a:bodyPr/>
                    <a:lstStyle/>
                    <a:p>
                      <a:r>
                        <a:rPr lang="en-US" sz="2000" b="0" noProof="0" dirty="0">
                          <a:latin typeface="Century Gothic" panose="020B0502020202020204" pitchFamily="34" charset="0"/>
                        </a:rPr>
                        <a:t>1.18</a:t>
                      </a:r>
                    </a:p>
                  </a:txBody>
                  <a:tcPr/>
                </a:tc>
                <a:tc>
                  <a:txBody>
                    <a:bodyPr/>
                    <a:lstStyle/>
                    <a:p>
                      <a:r>
                        <a:rPr lang="en-US" sz="2000" b="0" noProof="0" dirty="0">
                          <a:latin typeface="Century Gothic" panose="020B0502020202020204" pitchFamily="34" charset="0"/>
                        </a:rPr>
                        <a:t>6.2</a:t>
                      </a:r>
                    </a:p>
                  </a:txBody>
                  <a:tcPr/>
                </a:tc>
                <a:extLst>
                  <a:ext uri="{0D108BD9-81ED-4DB2-BD59-A6C34878D82A}">
                    <a16:rowId xmlns:a16="http://schemas.microsoft.com/office/drawing/2014/main" val="10004"/>
                  </a:ext>
                </a:extLst>
              </a:tr>
              <a:tr h="370840">
                <a:tc>
                  <a:txBody>
                    <a:bodyPr/>
                    <a:lstStyle/>
                    <a:p>
                      <a:r>
                        <a:rPr lang="en-US" sz="2000" b="1" dirty="0">
                          <a:latin typeface="Century Gothic" panose="020B0502020202020204" pitchFamily="34" charset="0"/>
                        </a:rPr>
                        <a:t>Total</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12.908</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1672</a:t>
                      </a:r>
                      <a:endParaRPr lang="nl-BE" sz="2000" b="1" dirty="0">
                        <a:latin typeface="Century Gothic" panose="020B0502020202020204" pitchFamily="34" charset="0"/>
                      </a:endParaRPr>
                    </a:p>
                  </a:txBody>
                  <a:tcPr/>
                </a:tc>
                <a:tc>
                  <a:txBody>
                    <a:bodyPr/>
                    <a:lstStyle/>
                    <a:p>
                      <a:r>
                        <a:rPr lang="nl-BE" sz="2000" b="1" dirty="0">
                          <a:latin typeface="Century Gothic" panose="020B0502020202020204" pitchFamily="34" charset="0"/>
                        </a:rPr>
                        <a:t>8.57</a:t>
                      </a:r>
                    </a:p>
                  </a:txBody>
                  <a:tcPr/>
                </a:tc>
                <a:tc>
                  <a:txBody>
                    <a:bodyPr/>
                    <a:lstStyle/>
                    <a:p>
                      <a:r>
                        <a:rPr lang="nl-BE" sz="2000" b="1" dirty="0">
                          <a:latin typeface="Century Gothic" panose="020B0502020202020204" pitchFamily="34" charset="0"/>
                        </a:rPr>
                        <a:t>66.87</a:t>
                      </a:r>
                    </a:p>
                  </a:txBody>
                  <a:tcPr/>
                </a:tc>
                <a:tc>
                  <a:txBody>
                    <a:bodyPr/>
                    <a:lstStyle/>
                    <a:p>
                      <a:r>
                        <a:rPr lang="nl-BE" sz="2000" b="1" dirty="0">
                          <a:latin typeface="Century Gothic" panose="020B0502020202020204" pitchFamily="34" charset="0"/>
                        </a:rPr>
                        <a:t>51.32</a:t>
                      </a:r>
                    </a:p>
                  </a:txBody>
                  <a:tcPr/>
                </a:tc>
                <a:extLst>
                  <a:ext uri="{0D108BD9-81ED-4DB2-BD59-A6C34878D82A}">
                    <a16:rowId xmlns:a16="http://schemas.microsoft.com/office/drawing/2014/main" val="10005"/>
                  </a:ext>
                </a:extLst>
              </a:tr>
              <a:tr h="370840">
                <a:tc>
                  <a:txBody>
                    <a:bodyPr/>
                    <a:lstStyle/>
                    <a:p>
                      <a:r>
                        <a:rPr lang="en-US" sz="2000" b="1" dirty="0">
                          <a:latin typeface="Century Gothic" panose="020B0502020202020204" pitchFamily="34" charset="0"/>
                        </a:rPr>
                        <a:t>Total Required</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13.5</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1669</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8.619</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66.15</a:t>
                      </a:r>
                      <a:endParaRPr lang="nl-BE" sz="2000" b="1" dirty="0">
                        <a:latin typeface="Century Gothic" panose="020B0502020202020204" pitchFamily="34" charset="0"/>
                      </a:endParaRPr>
                    </a:p>
                  </a:txBody>
                  <a:tcPr/>
                </a:tc>
                <a:tc>
                  <a:txBody>
                    <a:bodyPr/>
                    <a:lstStyle/>
                    <a:p>
                      <a:r>
                        <a:rPr lang="en-US" sz="2000" b="1" dirty="0">
                          <a:latin typeface="Century Gothic" panose="020B0502020202020204" pitchFamily="34" charset="0"/>
                        </a:rPr>
                        <a:t>43.05</a:t>
                      </a:r>
                      <a:endParaRPr lang="nl-BE" sz="2000" b="1" dirty="0">
                        <a:latin typeface="Century Gothic" panose="020B0502020202020204" pitchFamily="34" charset="0"/>
                      </a:endParaRPr>
                    </a:p>
                  </a:txBody>
                  <a:tcPr/>
                </a:tc>
                <a:extLst>
                  <a:ext uri="{0D108BD9-81ED-4DB2-BD59-A6C34878D82A}">
                    <a16:rowId xmlns:a16="http://schemas.microsoft.com/office/drawing/2014/main" val="10006"/>
                  </a:ext>
                </a:extLst>
              </a:tr>
              <a:tr h="370840">
                <a:tc>
                  <a:txBody>
                    <a:bodyPr/>
                    <a:lstStyle/>
                    <a:p>
                      <a:r>
                        <a:rPr lang="en-US" sz="2000" dirty="0">
                          <a:latin typeface="Century Gothic" panose="020B0502020202020204" pitchFamily="34" charset="0"/>
                        </a:rPr>
                        <a:t>Deficit /Surplus</a:t>
                      </a:r>
                      <a:endParaRPr lang="nl-BE" sz="2000" dirty="0">
                        <a:latin typeface="Century Gothic" panose="020B0502020202020204" pitchFamily="34" charset="0"/>
                      </a:endParaRPr>
                    </a:p>
                  </a:txBody>
                  <a:tcPr/>
                </a:tc>
                <a:tc>
                  <a:txBody>
                    <a:bodyPr/>
                    <a:lstStyle/>
                    <a:p>
                      <a:r>
                        <a:rPr lang="en-US" sz="2000" dirty="0">
                          <a:latin typeface="Century Gothic" panose="020B0502020202020204" pitchFamily="34" charset="0"/>
                        </a:rPr>
                        <a:t>-0.592</a:t>
                      </a:r>
                      <a:endParaRPr lang="nl-BE" sz="2000" dirty="0">
                        <a:latin typeface="Century Gothic" panose="020B0502020202020204" pitchFamily="34" charset="0"/>
                      </a:endParaRPr>
                    </a:p>
                  </a:txBody>
                  <a:tcPr/>
                </a:tc>
                <a:tc>
                  <a:txBody>
                    <a:bodyPr/>
                    <a:lstStyle/>
                    <a:p>
                      <a:r>
                        <a:rPr lang="nl-BE" sz="2000" dirty="0">
                          <a:latin typeface="Century Gothic" panose="020B0502020202020204" pitchFamily="34" charset="0"/>
                        </a:rPr>
                        <a:t>+3</a:t>
                      </a:r>
                    </a:p>
                  </a:txBody>
                  <a:tcPr/>
                </a:tc>
                <a:tc>
                  <a:txBody>
                    <a:bodyPr/>
                    <a:lstStyle/>
                    <a:p>
                      <a:r>
                        <a:rPr lang="en-US" sz="2000" dirty="0">
                          <a:latin typeface="Century Gothic" panose="020B0502020202020204" pitchFamily="34" charset="0"/>
                        </a:rPr>
                        <a:t>-0.049</a:t>
                      </a:r>
                      <a:endParaRPr lang="nl-BE" sz="2000" dirty="0">
                        <a:latin typeface="Century Gothic" panose="020B0502020202020204" pitchFamily="34" charset="0"/>
                      </a:endParaRPr>
                    </a:p>
                  </a:txBody>
                  <a:tcPr/>
                </a:tc>
                <a:tc>
                  <a:txBody>
                    <a:bodyPr/>
                    <a:lstStyle/>
                    <a:p>
                      <a:r>
                        <a:rPr lang="nl-BE" sz="2000" dirty="0">
                          <a:latin typeface="Century Gothic" panose="020B0502020202020204" pitchFamily="34" charset="0"/>
                        </a:rPr>
                        <a:t>+0.72</a:t>
                      </a:r>
                    </a:p>
                  </a:txBody>
                  <a:tcPr/>
                </a:tc>
                <a:tc>
                  <a:txBody>
                    <a:bodyPr/>
                    <a:lstStyle/>
                    <a:p>
                      <a:r>
                        <a:rPr lang="en-US" sz="2000" dirty="0">
                          <a:latin typeface="Century Gothic" panose="020B0502020202020204" pitchFamily="34" charset="0"/>
                        </a:rPr>
                        <a:t>+8.27</a:t>
                      </a:r>
                      <a:endParaRPr lang="nl-BE" sz="2000" dirty="0">
                        <a:latin typeface="Century Gothic" panose="020B0502020202020204" pitchFamily="34" charset="0"/>
                      </a:endParaRP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72352780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33</TotalTime>
  <Words>2830</Words>
  <Application>Microsoft Office PowerPoint</Application>
  <PresentationFormat>Widescreen</PresentationFormat>
  <Paragraphs>652</Paragraphs>
  <Slides>33</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Century Gothic</vt:lpstr>
      <vt:lpstr>Times New Roman</vt:lpstr>
      <vt:lpstr>Wingdings 3</vt:lpstr>
      <vt:lpstr>Ion</vt:lpstr>
      <vt:lpstr>Feed Ration Formulation </vt:lpstr>
      <vt:lpstr>RATION FORMULATION</vt:lpstr>
      <vt:lpstr>FEED PROCESSING, MIXING AND STORAGE</vt:lpstr>
      <vt:lpstr>FEED PROCESSING, MIXING AND STORAGE</vt:lpstr>
      <vt:lpstr>FEED PROCESSING, MIXING AND STORAGE</vt:lpstr>
      <vt:lpstr>FEED MIXING AND STORAGE</vt:lpstr>
      <vt:lpstr>PowerPoint Presentation</vt:lpstr>
      <vt:lpstr>BASIC GUIDELINES</vt:lpstr>
      <vt:lpstr>CONSIDERATIONS DURING FEED FORMULATION</vt:lpstr>
      <vt:lpstr>POULTRY RATION FORMULATION</vt:lpstr>
      <vt:lpstr>Pearson Square method involving two feeds</vt:lpstr>
      <vt:lpstr>Pearson Square method</vt:lpstr>
      <vt:lpstr>Divide the parts of each feed by the total parts to find the percent of each feed in the ration.</vt:lpstr>
      <vt:lpstr>Summary of Pearson Square method</vt:lpstr>
      <vt:lpstr>Pearson Square method involving more than two feeds</vt:lpstr>
      <vt:lpstr>PowerPoint Presentation</vt:lpstr>
      <vt:lpstr>Pearson Square method</vt:lpstr>
      <vt:lpstr>Divide the parts of each feed by the total parts to find the percent of each feed in the ration.</vt:lpstr>
      <vt:lpstr>PowerPoint Presentation</vt:lpstr>
      <vt:lpstr>BALANCED RATION</vt:lpstr>
      <vt:lpstr>PowerPoint Presentation</vt:lpstr>
      <vt:lpstr>PowerPoint Presentation</vt:lpstr>
      <vt:lpstr>PowerPoint Presentation</vt:lpstr>
      <vt:lpstr>PowerPoint Presentation</vt:lpstr>
      <vt:lpstr>PowerPoint Presentation</vt:lpstr>
      <vt:lpstr>PowerPoint Presentation</vt:lpstr>
      <vt:lpstr>Rations for Ruminants</vt:lpstr>
      <vt:lpstr>DAIRY RATION</vt:lpstr>
      <vt:lpstr>DAIRY RATION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Feed Ration Formulation </dc:title>
  <dc:creator>hp</dc:creator>
  <cp:lastModifiedBy>JOSEPH D. LIWONDE</cp:lastModifiedBy>
  <cp:revision>15</cp:revision>
  <dcterms:created xsi:type="dcterms:W3CDTF">2025-12-09T06:53:43Z</dcterms:created>
  <dcterms:modified xsi:type="dcterms:W3CDTF">2026-02-11T05:20:00Z</dcterms:modified>
</cp:coreProperties>
</file>