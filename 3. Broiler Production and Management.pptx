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tmp" ContentType="image/p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6"/>
  </p:notesMasterIdLst>
  <p:sldIdLst>
    <p:sldId id="257" r:id="rId2"/>
    <p:sldId id="258" r:id="rId3"/>
    <p:sldId id="380" r:id="rId4"/>
    <p:sldId id="414" r:id="rId5"/>
    <p:sldId id="379" r:id="rId6"/>
    <p:sldId id="260" r:id="rId7"/>
    <p:sldId id="280" r:id="rId8"/>
    <p:sldId id="376" r:id="rId9"/>
    <p:sldId id="275" r:id="rId10"/>
    <p:sldId id="383" r:id="rId11"/>
    <p:sldId id="377" r:id="rId12"/>
    <p:sldId id="382" r:id="rId13"/>
    <p:sldId id="273" r:id="rId14"/>
    <p:sldId id="381" r:id="rId15"/>
    <p:sldId id="384" r:id="rId16"/>
    <p:sldId id="386" r:id="rId17"/>
    <p:sldId id="385" r:id="rId18"/>
    <p:sldId id="388" r:id="rId19"/>
    <p:sldId id="387" r:id="rId20"/>
    <p:sldId id="390" r:id="rId21"/>
    <p:sldId id="394" r:id="rId22"/>
    <p:sldId id="389" r:id="rId23"/>
    <p:sldId id="413" r:id="rId24"/>
    <p:sldId id="396" r:id="rId2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87" d="100"/>
          <a:sy n="87" d="100"/>
        </p:scale>
        <p:origin x="96" y="1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43DA838-B7EF-4CAE-A0A8-2402110C2366}" type="datetimeFigureOut">
              <a:rPr lang="en-US" smtClean="0"/>
              <a:t>10-Feb-26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5095110-52A7-4E3F-8766-2ABECAEBDD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53565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D71D7C1-5A09-4F0A-AD83-58B77AAF2BC1}" type="slidenum">
              <a:rPr lang="en-GB" smtClean="0"/>
              <a:t>2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07980366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D71D7C1-5A09-4F0A-AD83-58B77AAF2BC1}" type="slidenum">
              <a:rPr lang="en-GB" smtClean="0"/>
              <a:t>5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07980366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D71D7C1-5A09-4F0A-AD83-58B77AAF2BC1}" type="slidenum">
              <a:rPr lang="en-GB" smtClean="0"/>
              <a:t>6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07892229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D71D7C1-5A09-4F0A-AD83-58B77AAF2BC1}" type="slidenum">
              <a:rPr lang="en-GB" smtClean="0"/>
              <a:t>7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04604075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D71D7C1-5A09-4F0A-AD83-58B77AAF2BC1}" type="slidenum">
              <a:rPr lang="en-GB" smtClean="0"/>
              <a:t>8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04604075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Energy is conserved during resting, leading to an improvement in feed conversion.</a:t>
            </a:r>
          </a:p>
          <a:p>
            <a: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Growth rate can be equal to or better than that of birds reared on continuous light when </a:t>
            </a:r>
            <a:r>
              <a:rPr lang="en-GB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compensatory gain is attained.</a:t>
            </a:r>
          </a:p>
          <a:p>
            <a:r>
              <a:rPr lang="en-GB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Lighting programs designed </a:t>
            </a:r>
            <a: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to prevent excessive growth between 7 and 21 days have been shown to reduce mortality due to ascites, sudden death, leg problems and spiking mortality.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D71D7C1-5A09-4F0A-AD83-58B77AAF2BC1}" type="slidenum">
              <a:rPr lang="en-GB" smtClean="0"/>
              <a:t>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785973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 whole-house brooding, there is no temperature gradient within the house, although supplementary brooders might also be provided. The main whole-house heat source can be direct or indirect (using hot air).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D71D7C1-5A09-4F0A-AD83-58B77AAF2BC1}" type="slidenum">
              <a:rPr lang="en-GB" smtClean="0"/>
              <a:t>10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785973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Chicks cannot regulate their own body temperature until they are around 12-14 days of age. Optimal body temperature must be attained through provision of optimal environmental temperature.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D71D7C1-5A09-4F0A-AD83-58B77AAF2BC1}" type="slidenum">
              <a:rPr lang="en-GB" smtClean="0"/>
              <a:t>11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785973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Chick </a:t>
            </a:r>
            <a:r>
              <a:rPr lang="en-US" sz="1200" b="0" i="0" u="none" strike="noStrike" kern="1200" baseline="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behaviour</a:t>
            </a:r>
            <a: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is the best indicator of correct brooder temperature. With spot brooding, correct temperature is indicated by chicks being evenly spread throughout the brooding area</a:t>
            </a:r>
            <a:endParaRPr lang="en-US" dirty="0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D71D7C1-5A09-4F0A-AD83-58B77AAF2BC1}" type="slidenum">
              <a:rPr lang="en-GB" smtClean="0"/>
              <a:t>12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0861151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D71D7C1-5A09-4F0A-AD83-58B77AAF2BC1}" type="slidenum">
              <a:rPr lang="en-GB" smtClean="0"/>
              <a:t>13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0102874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D71D7C1-5A09-4F0A-AD83-58B77AAF2BC1}" type="slidenum">
              <a:rPr lang="en-GB" smtClean="0"/>
              <a:t>14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785973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D71D7C1-5A09-4F0A-AD83-58B77AAF2BC1}" type="slidenum">
              <a:rPr lang="en-GB" smtClean="0"/>
              <a:t>15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785973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D71D7C1-5A09-4F0A-AD83-58B77AAF2BC1}" type="slidenum">
              <a:rPr lang="en-GB" smtClean="0"/>
              <a:t>16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785973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D71D7C1-5A09-4F0A-AD83-58B77AAF2BC1}" type="slidenum">
              <a:rPr lang="en-GB" smtClean="0"/>
              <a:t>17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785973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D71D7C1-5A09-4F0A-AD83-58B77AAF2BC1}" type="slidenum">
              <a:rPr lang="en-GB" smtClean="0"/>
              <a:t>18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785973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D71D7C1-5A09-4F0A-AD83-58B77AAF2BC1}" type="slidenum">
              <a:rPr lang="en-GB" smtClean="0"/>
              <a:t>19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785973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D71D7C1-5A09-4F0A-AD83-58B77AAF2BC1}" type="slidenum">
              <a:rPr lang="en-GB" smtClean="0"/>
              <a:t>20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785973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D71D7C1-5A09-4F0A-AD83-58B77AAF2BC1}" type="slidenum">
              <a:rPr lang="en-GB" smtClean="0"/>
              <a:t>21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785973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D71D7C1-5A09-4F0A-AD83-58B77AAF2BC1}" type="slidenum">
              <a:rPr lang="en-GB" smtClean="0"/>
              <a:t>22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785973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D71D7C1-5A09-4F0A-AD83-58B77AAF2BC1}" type="slidenum">
              <a:rPr lang="en-GB" smtClean="0"/>
              <a:t>23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7859738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D71D7C1-5A09-4F0A-AD83-58B77AAF2BC1}" type="slidenum">
              <a:rPr lang="en-GB" smtClean="0"/>
              <a:t>24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785973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A07934-B1C3-4FA1-8C9A-33A07C3482AB}" type="datetimeFigureOut">
              <a:rPr lang="en-US" smtClean="0"/>
              <a:t>10-Feb-26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74C207-7DFE-445D-A20C-832897B1CA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9210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A07934-B1C3-4FA1-8C9A-33A07C3482AB}" type="datetimeFigureOut">
              <a:rPr lang="en-US" smtClean="0"/>
              <a:t>10-Feb-26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74C207-7DFE-445D-A20C-832897B1CA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22067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A07934-B1C3-4FA1-8C9A-33A07C3482AB}" type="datetimeFigureOut">
              <a:rPr lang="en-US" smtClean="0"/>
              <a:t>10-Feb-26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74C207-7DFE-445D-A20C-832897B1CA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32982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A07934-B1C3-4FA1-8C9A-33A07C3482AB}" type="datetimeFigureOut">
              <a:rPr lang="en-US" smtClean="0"/>
              <a:t>10-Feb-26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74C207-7DFE-445D-A20C-832897B1CA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47582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A07934-B1C3-4FA1-8C9A-33A07C3482AB}" type="datetimeFigureOut">
              <a:rPr lang="en-US" smtClean="0"/>
              <a:t>10-Feb-26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74C207-7DFE-445D-A20C-832897B1CA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71045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A07934-B1C3-4FA1-8C9A-33A07C3482AB}" type="datetimeFigureOut">
              <a:rPr lang="en-US" smtClean="0"/>
              <a:t>10-Feb-26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74C207-7DFE-445D-A20C-832897B1CA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61062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A07934-B1C3-4FA1-8C9A-33A07C3482AB}" type="datetimeFigureOut">
              <a:rPr lang="en-US" smtClean="0"/>
              <a:t>10-Feb-26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74C207-7DFE-445D-A20C-832897B1CA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62966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A07934-B1C3-4FA1-8C9A-33A07C3482AB}" type="datetimeFigureOut">
              <a:rPr lang="en-US" smtClean="0"/>
              <a:t>10-Feb-26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74C207-7DFE-445D-A20C-832897B1CA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20151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A07934-B1C3-4FA1-8C9A-33A07C3482AB}" type="datetimeFigureOut">
              <a:rPr lang="en-US" smtClean="0"/>
              <a:t>10-Feb-26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74C207-7DFE-445D-A20C-832897B1CA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96795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A07934-B1C3-4FA1-8C9A-33A07C3482AB}" type="datetimeFigureOut">
              <a:rPr lang="en-US" smtClean="0"/>
              <a:t>10-Feb-26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74C207-7DFE-445D-A20C-832897B1CA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88558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A07934-B1C3-4FA1-8C9A-33A07C3482AB}" type="datetimeFigureOut">
              <a:rPr lang="en-US" smtClean="0"/>
              <a:t>10-Feb-26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74C207-7DFE-445D-A20C-832897B1CA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813957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A07934-B1C3-4FA1-8C9A-33A07C3482AB}" type="datetimeFigureOut">
              <a:rPr lang="en-US" smtClean="0"/>
              <a:t>10-Feb-26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74C207-7DFE-445D-A20C-832897B1CA88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62708141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A07934-B1C3-4FA1-8C9A-33A07C3482AB}" type="datetimeFigureOut">
              <a:rPr lang="en-US" smtClean="0"/>
              <a:t>10-Feb-26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74C207-7DFE-445D-A20C-832897B1CA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125570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A07934-B1C3-4FA1-8C9A-33A07C3482AB}" type="datetimeFigureOut">
              <a:rPr lang="en-US" smtClean="0"/>
              <a:t>10-Feb-26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74C207-7DFE-445D-A20C-832897B1CA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420383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A07934-B1C3-4FA1-8C9A-33A07C3482AB}" type="datetimeFigureOut">
              <a:rPr lang="en-US" smtClean="0"/>
              <a:t>10-Feb-26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74C207-7DFE-445D-A20C-832897B1CA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107290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A07934-B1C3-4FA1-8C9A-33A07C3482AB}" type="datetimeFigureOut">
              <a:rPr lang="en-US" smtClean="0"/>
              <a:t>10-Feb-26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74C207-7DFE-445D-A20C-832897B1CA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240784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A07934-B1C3-4FA1-8C9A-33A07C3482AB}" type="datetimeFigureOut">
              <a:rPr lang="en-US" smtClean="0"/>
              <a:t>10-Feb-26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74C207-7DFE-445D-A20C-832897B1CA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92708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72A07934-B1C3-4FA1-8C9A-33A07C3482AB}" type="datetimeFigureOut">
              <a:rPr lang="en-US" smtClean="0"/>
              <a:t>10-Feb-26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074C207-7DFE-445D-A20C-832897B1CA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119087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tmp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emf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GB" b="1" dirty="0"/>
              <a:t>Broiler Production and Management</a:t>
            </a:r>
          </a:p>
        </p:txBody>
      </p:sp>
      <p:sp>
        <p:nvSpPr>
          <p:cNvPr id="6" name="Subtitle 2"/>
          <p:cNvSpPr>
            <a:spLocks noGrp="1"/>
          </p:cNvSpPr>
          <p:nvPr>
            <p:ph type="subTitle" idx="1"/>
          </p:nvPr>
        </p:nvSpPr>
        <p:spPr>
          <a:xfrm>
            <a:off x="2495550" y="4987925"/>
            <a:ext cx="6858000" cy="1655762"/>
          </a:xfrm>
        </p:spPr>
        <p:txBody>
          <a:bodyPr>
            <a:normAutofit/>
          </a:bodyPr>
          <a:lstStyle/>
          <a:p>
            <a:r>
              <a:rPr lang="en-GB" b="1" dirty="0">
                <a:solidFill>
                  <a:srgbClr val="0070C0"/>
                </a:solidFill>
              </a:rPr>
              <a:t>Michael Luwe</a:t>
            </a:r>
          </a:p>
          <a:p>
            <a:r>
              <a:rPr lang="en-GB" b="1" dirty="0">
                <a:solidFill>
                  <a:srgbClr val="0070C0"/>
                </a:solidFill>
              </a:rPr>
              <a:t>Veterinarian</a:t>
            </a:r>
          </a:p>
          <a:p>
            <a:r>
              <a:rPr lang="en-GB" b="1" dirty="0">
                <a:solidFill>
                  <a:srgbClr val="0070C0"/>
                </a:solidFill>
              </a:rPr>
              <a:t>Department of Animal Health and Livestock Development</a:t>
            </a:r>
          </a:p>
        </p:txBody>
      </p:sp>
      <p:pic>
        <p:nvPicPr>
          <p:cNvPr id="5" name="Picture 4" descr="1 Principles of Livestock Production 1 BTCD 2303.pptx [Autosaved] - Microsoft PowerPoint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5591" t="28367" r="21406" b="65887"/>
          <a:stretch/>
        </p:blipFill>
        <p:spPr>
          <a:xfrm>
            <a:off x="1913745" y="284814"/>
            <a:ext cx="8475649" cy="794479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9447710" y="4258717"/>
            <a:ext cx="2500313" cy="2302966"/>
          </a:xfrm>
          <a:prstGeom prst="roundRect">
            <a:avLst/>
          </a:prstGeom>
          <a:blipFill dpi="0"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957183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52650" y="350839"/>
            <a:ext cx="7886700" cy="1325563"/>
          </a:xfrm>
        </p:spPr>
        <p:txBody>
          <a:bodyPr>
            <a:normAutofit fontScale="90000"/>
          </a:bodyPr>
          <a:lstStyle/>
          <a:p>
            <a:r>
              <a:rPr lang="en-GB" b="1" dirty="0">
                <a:solidFill>
                  <a:srgbClr val="00B0F0"/>
                </a:solidFill>
              </a:rPr>
              <a:t>Broiler Production and Management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52650" y="1825625"/>
            <a:ext cx="8272463" cy="4351338"/>
          </a:xfrm>
        </p:spPr>
        <p:txBody>
          <a:bodyPr>
            <a:noAutofit/>
          </a:bodyPr>
          <a:lstStyle/>
          <a:p>
            <a:r>
              <a:rPr lang="en-GB" sz="2200" b="1" dirty="0">
                <a:latin typeface="Century Gothic" panose="020B0502020202020204" pitchFamily="34" charset="0"/>
              </a:rPr>
              <a:t>Common Strains of Broiler in Malawi</a:t>
            </a:r>
          </a:p>
          <a:p>
            <a:pPr marL="514350" indent="-514350">
              <a:buFont typeface="+mj-lt"/>
              <a:buAutoNum type="romanLcPeriod"/>
            </a:pPr>
            <a:r>
              <a:rPr lang="en-GB" sz="2200" dirty="0">
                <a:latin typeface="Century Gothic" panose="020B0502020202020204" pitchFamily="34" charset="0"/>
              </a:rPr>
              <a:t>Cobb 500</a:t>
            </a:r>
          </a:p>
          <a:p>
            <a:pPr marL="514350" indent="-514350">
              <a:buFont typeface="+mj-lt"/>
              <a:buAutoNum type="romanLcPeriod"/>
            </a:pPr>
            <a:r>
              <a:rPr lang="en-GB" sz="2200" dirty="0">
                <a:latin typeface="Century Gothic" panose="020B0502020202020204" pitchFamily="34" charset="0"/>
              </a:rPr>
              <a:t>Indian River</a:t>
            </a:r>
          </a:p>
          <a:p>
            <a:pPr marL="514350" indent="-514350">
              <a:buFont typeface="+mj-lt"/>
              <a:buAutoNum type="romanLcPeriod"/>
            </a:pPr>
            <a:r>
              <a:rPr lang="en-GB" sz="2200" dirty="0">
                <a:latin typeface="Century Gothic" panose="020B0502020202020204" pitchFamily="34" charset="0"/>
              </a:rPr>
              <a:t>Ross</a:t>
            </a:r>
          </a:p>
          <a:p>
            <a:pPr marL="514350" indent="-514350">
              <a:buFont typeface="+mj-lt"/>
              <a:buAutoNum type="romanLcPeriod"/>
            </a:pPr>
            <a:endParaRPr lang="en-GB" sz="2200" dirty="0">
              <a:latin typeface="Century Gothic" panose="020B0502020202020204" pitchFamily="34" charset="0"/>
            </a:endParaRPr>
          </a:p>
          <a:p>
            <a:r>
              <a:rPr lang="en-GB" sz="2200" dirty="0">
                <a:latin typeface="Century Gothic" panose="020B0502020202020204" pitchFamily="34" charset="0"/>
              </a:rPr>
              <a:t>Strains specifically developed for meat after several crossings of different breeds.</a:t>
            </a:r>
          </a:p>
          <a:p>
            <a:r>
              <a:rPr lang="en-GB" sz="2200" dirty="0">
                <a:latin typeface="Century Gothic" panose="020B0502020202020204" pitchFamily="34" charset="0"/>
              </a:rPr>
              <a:t>Normally reach average weight of 2kg between 6 – 8weeks.</a:t>
            </a:r>
          </a:p>
          <a:p>
            <a:r>
              <a:rPr lang="en-GB" sz="2200" dirty="0">
                <a:latin typeface="Century Gothic" panose="020B0502020202020204" pitchFamily="34" charset="0"/>
              </a:rPr>
              <a:t>Feed to weight gain ratio is 2:1</a:t>
            </a:r>
          </a:p>
        </p:txBody>
      </p:sp>
    </p:spTree>
    <p:extLst>
      <p:ext uri="{BB962C8B-B14F-4D97-AF65-F5344CB8AC3E}">
        <p14:creationId xmlns:p14="http://schemas.microsoft.com/office/powerpoint/2010/main" val="4147117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2800" b="1" dirty="0">
                <a:solidFill>
                  <a:srgbClr val="00B0F0"/>
                </a:solidFill>
                <a:latin typeface="Century Gothic" panose="020B0502020202020204" pitchFamily="34" charset="0"/>
              </a:rPr>
              <a:t>Limits to Broiler Growth and Quality</a:t>
            </a:r>
          </a:p>
        </p:txBody>
      </p:sp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52650" y="1440874"/>
            <a:ext cx="7886700" cy="46834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6109071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2">
            <a:extLst>
              <a:ext uri="{FF2B5EF4-FFF2-40B4-BE49-F238E27FC236}">
                <a16:creationId xmlns:a16="http://schemas.microsoft.com/office/drawing/2014/main" id="{D6C62162-55C3-4619-A19C-08DF4857C1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0506" y="198784"/>
            <a:ext cx="11743981" cy="64633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GB" sz="1800" b="1" dirty="0">
                <a:solidFill>
                  <a:srgbClr val="00B0F0"/>
                </a:solidFill>
                <a:latin typeface="Century Gothic" panose="020B0502020202020204" pitchFamily="34" charset="0"/>
              </a:rPr>
              <a:t>Housing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Type of housing: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deep litter system is commonly used because it is economical, comfortable for birds, and easy to manage.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Site: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poultry house should be positioned to benefit from prevailing winds and proper sun direction for good ventilation and temperature control.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Set-up: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Houses should be arranged to allow movement and waste flow from younger to older birds to reduce disease spread.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Distance from older birds: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Brooder houses should be at least 90 metres away from older birds to improve biosecurity.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Floor: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Floors can be concrete or mud, provided they are dry, strong, and easy to maintain.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Roof: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Roofing may be grass-thatched or iron sheets with a 0.8 m overhang to protect birds from rain and heat.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Stocking density: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Maintain 10 birds per square metre to avoid overcrowding and promote good growth.</a:t>
            </a:r>
          </a:p>
        </p:txBody>
      </p:sp>
    </p:spTree>
    <p:extLst>
      <p:ext uri="{BB962C8B-B14F-4D97-AF65-F5344CB8AC3E}">
        <p14:creationId xmlns:p14="http://schemas.microsoft.com/office/powerpoint/2010/main" val="11333488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24941" y="841952"/>
            <a:ext cx="8272463" cy="435133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GB" b="1" dirty="0">
                <a:solidFill>
                  <a:srgbClr val="00B0F0"/>
                </a:solidFill>
                <a:latin typeface="Century Gothic" panose="020B0502020202020204" pitchFamily="34" charset="0"/>
              </a:rPr>
              <a:t>Housing</a:t>
            </a:r>
          </a:p>
          <a:p>
            <a:pPr>
              <a:lnSpc>
                <a:spcPct val="100000"/>
              </a:lnSpc>
            </a:pPr>
            <a:r>
              <a:rPr lang="en-GB" sz="2200" dirty="0">
                <a:latin typeface="Century Gothic" panose="020B0502020202020204" pitchFamily="34" charset="0"/>
              </a:rPr>
              <a:t>The width for small-scale farmers’ houses must not exceed 9m with a height of up to 3m.</a:t>
            </a:r>
          </a:p>
          <a:p>
            <a:pPr>
              <a:lnSpc>
                <a:spcPct val="100000"/>
              </a:lnSpc>
            </a:pPr>
            <a:r>
              <a:rPr lang="en-GB" sz="2200" dirty="0">
                <a:latin typeface="Century Gothic" panose="020B0502020202020204" pitchFamily="34" charset="0"/>
              </a:rPr>
              <a:t>Provide a screen to cover the sides in case of rain or sun and wire netting for proper ventilation and to keep predators away.</a:t>
            </a:r>
          </a:p>
          <a:p>
            <a:pPr>
              <a:lnSpc>
                <a:spcPct val="100000"/>
              </a:lnSpc>
            </a:pPr>
            <a:r>
              <a:rPr lang="en-GB" sz="2200" dirty="0">
                <a:latin typeface="Century Gothic" panose="020B0502020202020204" pitchFamily="34" charset="0"/>
              </a:rPr>
              <a:t>Ensure that the house is adequately ventilated.</a:t>
            </a:r>
          </a:p>
          <a:p>
            <a:pPr>
              <a:lnSpc>
                <a:spcPct val="100000"/>
              </a:lnSpc>
            </a:pPr>
            <a:r>
              <a:rPr lang="en-GB" sz="2200" dirty="0">
                <a:latin typeface="Century Gothic" panose="020B0502020202020204" pitchFamily="34" charset="0"/>
              </a:rPr>
              <a:t>Fresh and dry litter must be provided and its depth should be 8 – 10cm. The litter can be from wood shavings, rice hulls, g/nuts hulls, saw dust, maize cobs, or chopped maize </a:t>
            </a:r>
            <a:r>
              <a:rPr lang="en-GB" sz="2200" dirty="0" err="1">
                <a:latin typeface="Century Gothic" panose="020B0502020202020204" pitchFamily="34" charset="0"/>
              </a:rPr>
              <a:t>stover</a:t>
            </a:r>
            <a:r>
              <a:rPr lang="en-GB" sz="2200" dirty="0">
                <a:latin typeface="Century Gothic" panose="020B0502020202020204" pitchFamily="34" charset="0"/>
              </a:rPr>
              <a:t>. </a:t>
            </a:r>
          </a:p>
          <a:p>
            <a:pPr>
              <a:lnSpc>
                <a:spcPct val="100000"/>
              </a:lnSpc>
            </a:pPr>
            <a:r>
              <a:rPr lang="en-GB" sz="2200" dirty="0">
                <a:latin typeface="Century Gothic" panose="020B0502020202020204" pitchFamily="34" charset="0"/>
              </a:rPr>
              <a:t>All old litter must be removed and discarded before bringing in a new batch.</a:t>
            </a:r>
          </a:p>
          <a:p>
            <a:pPr>
              <a:lnSpc>
                <a:spcPct val="100000"/>
              </a:lnSpc>
            </a:pPr>
            <a:endParaRPr lang="en-GB" sz="2200" dirty="0"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880563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52650" y="318666"/>
            <a:ext cx="7886700" cy="1325563"/>
          </a:xfrm>
        </p:spPr>
        <p:txBody>
          <a:bodyPr>
            <a:normAutofit/>
          </a:bodyPr>
          <a:lstStyle/>
          <a:p>
            <a:r>
              <a:rPr lang="en-GB" sz="2800" b="1" dirty="0">
                <a:solidFill>
                  <a:srgbClr val="00B0F0"/>
                </a:solidFill>
                <a:latin typeface="Century Gothic" panose="020B0502020202020204" pitchFamily="34" charset="0"/>
              </a:rPr>
              <a:t>Guiding Principle on Management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09775" y="1694444"/>
            <a:ext cx="7886700" cy="4351338"/>
          </a:xfrm>
        </p:spPr>
        <p:txBody>
          <a:bodyPr>
            <a:noAutofit/>
          </a:bodyPr>
          <a:lstStyle/>
          <a:p>
            <a:r>
              <a:rPr lang="en-GB" sz="2200" dirty="0">
                <a:latin typeface="Century Gothic" panose="020B0502020202020204" pitchFamily="34" charset="0"/>
              </a:rPr>
              <a:t>Practice ALL-IN, ALL-OUT system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GB" sz="2200" dirty="0">
                <a:latin typeface="Century Gothic" panose="020B0502020202020204" pitchFamily="34" charset="0"/>
              </a:rPr>
              <a:t>Keep birds of same age at one point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GB" sz="2200" dirty="0">
                <a:latin typeface="Century Gothic" panose="020B0502020202020204" pitchFamily="34" charset="0"/>
              </a:rPr>
              <a:t>Raise bird to slaughter weight in six weeks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GB" sz="2200" dirty="0">
                <a:latin typeface="Century Gothic" panose="020B0502020202020204" pitchFamily="34" charset="0"/>
              </a:rPr>
              <a:t>Have two weeks rest between batches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GB" sz="2200" dirty="0">
                <a:latin typeface="Century Gothic" panose="020B0502020202020204" pitchFamily="34" charset="0"/>
              </a:rPr>
              <a:t>Five batches can be kept in one year</a:t>
            </a:r>
          </a:p>
        </p:txBody>
      </p:sp>
    </p:spTree>
    <p:extLst>
      <p:ext uri="{BB962C8B-B14F-4D97-AF65-F5344CB8AC3E}">
        <p14:creationId xmlns:p14="http://schemas.microsoft.com/office/powerpoint/2010/main" val="16276645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52650" y="350839"/>
            <a:ext cx="7886700" cy="1325563"/>
          </a:xfrm>
        </p:spPr>
        <p:txBody>
          <a:bodyPr>
            <a:normAutofit/>
          </a:bodyPr>
          <a:lstStyle/>
          <a:p>
            <a:r>
              <a:rPr lang="en-GB" sz="2800" b="1" dirty="0">
                <a:solidFill>
                  <a:srgbClr val="00B0F0"/>
                </a:solidFill>
                <a:latin typeface="Century Gothic" panose="020B0502020202020204" pitchFamily="34" charset="0"/>
              </a:rPr>
              <a:t>Chick Qualities and Pre-placement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52650" y="1675497"/>
            <a:ext cx="8086725" cy="4351338"/>
          </a:xfrm>
        </p:spPr>
        <p:txBody>
          <a:bodyPr>
            <a:normAutofit lnSpcReduction="10000"/>
          </a:bodyPr>
          <a:lstStyle/>
          <a:p>
            <a:r>
              <a:rPr lang="en-GB" sz="2200" dirty="0">
                <a:latin typeface="Century Gothic" panose="020B0502020202020204" pitchFamily="34" charset="0"/>
              </a:rPr>
              <a:t>Collect chick which are of uniform size and colour.</a:t>
            </a:r>
          </a:p>
          <a:p>
            <a:r>
              <a:rPr lang="en-GB" sz="2200" dirty="0">
                <a:latin typeface="Century Gothic" panose="020B0502020202020204" pitchFamily="34" charset="0"/>
              </a:rPr>
              <a:t>Chicks should be alert and active with round and bright eyes.</a:t>
            </a:r>
          </a:p>
          <a:p>
            <a:r>
              <a:rPr lang="en-GB" sz="2200" dirty="0">
                <a:latin typeface="Century Gothic" panose="020B0502020202020204" pitchFamily="34" charset="0"/>
              </a:rPr>
              <a:t>The shanks should be bright and waxy.</a:t>
            </a:r>
          </a:p>
          <a:p>
            <a:r>
              <a:rPr lang="en-GB" sz="2200" dirty="0">
                <a:latin typeface="Century Gothic" panose="020B0502020202020204" pitchFamily="34" charset="0"/>
              </a:rPr>
              <a:t>Chicks should not have any deformities</a:t>
            </a:r>
          </a:p>
          <a:p>
            <a:r>
              <a:rPr lang="en-GB" sz="2200" dirty="0">
                <a:latin typeface="Century Gothic" panose="020B0502020202020204" pitchFamily="34" charset="0"/>
              </a:rPr>
              <a:t>They should be free from unhealed navels and navel infection.</a:t>
            </a:r>
          </a:p>
          <a:p>
            <a:r>
              <a:rPr lang="en-GB" sz="2200" dirty="0">
                <a:latin typeface="Century Gothic" panose="020B0502020202020204" pitchFamily="34" charset="0"/>
              </a:rPr>
              <a:t>They should not have a pasted up vent which is an indicator of diarrhoea.</a:t>
            </a:r>
          </a:p>
          <a:p>
            <a:r>
              <a:rPr lang="en-GB" sz="2200" dirty="0">
                <a:latin typeface="Century Gothic" panose="020B0502020202020204" pitchFamily="34" charset="0"/>
              </a:rPr>
              <a:t>Ensure that everything is ready before collecting the chicks and pre-heat the brooding house.</a:t>
            </a:r>
          </a:p>
        </p:txBody>
      </p:sp>
    </p:spTree>
    <p:extLst>
      <p:ext uri="{BB962C8B-B14F-4D97-AF65-F5344CB8AC3E}">
        <p14:creationId xmlns:p14="http://schemas.microsoft.com/office/powerpoint/2010/main" val="32405769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52650" y="350839"/>
            <a:ext cx="7886700" cy="1325563"/>
          </a:xfrm>
        </p:spPr>
        <p:txBody>
          <a:bodyPr>
            <a:normAutofit/>
          </a:bodyPr>
          <a:lstStyle/>
          <a:p>
            <a:r>
              <a:rPr lang="en-GB" sz="2800" b="1" dirty="0">
                <a:solidFill>
                  <a:srgbClr val="00B0F0"/>
                </a:solidFill>
                <a:latin typeface="Century Gothic" panose="020B0502020202020204" pitchFamily="34" charset="0"/>
              </a:rPr>
              <a:t>Chick Placement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52650" y="1825625"/>
            <a:ext cx="8086725" cy="4351338"/>
          </a:xfrm>
        </p:spPr>
        <p:txBody>
          <a:bodyPr>
            <a:normAutofit/>
          </a:bodyPr>
          <a:lstStyle/>
          <a:p>
            <a:r>
              <a:rPr lang="en-GB" sz="2200" dirty="0">
                <a:latin typeface="Century Gothic" panose="020B0502020202020204" pitchFamily="34" charset="0"/>
              </a:rPr>
              <a:t>Remove the dead ones and bury or burn them</a:t>
            </a:r>
          </a:p>
          <a:p>
            <a:r>
              <a:rPr lang="en-GB" sz="2200" dirty="0">
                <a:latin typeface="Century Gothic" panose="020B0502020202020204" pitchFamily="34" charset="0"/>
              </a:rPr>
              <a:t>Check the condition of the chicks and cull all deformed and sick ones</a:t>
            </a:r>
          </a:p>
          <a:p>
            <a:r>
              <a:rPr lang="en-GB" sz="2200" dirty="0">
                <a:latin typeface="Century Gothic" panose="020B0502020202020204" pitchFamily="34" charset="0"/>
              </a:rPr>
              <a:t>Check heating system </a:t>
            </a:r>
          </a:p>
          <a:p>
            <a:r>
              <a:rPr lang="en-GB" sz="2200" dirty="0">
                <a:latin typeface="Century Gothic" panose="020B0502020202020204" pitchFamily="34" charset="0"/>
              </a:rPr>
              <a:t>Introduce the chicks to water</a:t>
            </a:r>
          </a:p>
          <a:p>
            <a:r>
              <a:rPr lang="en-GB" sz="2200" dirty="0">
                <a:latin typeface="Century Gothic" panose="020B0502020202020204" pitchFamily="34" charset="0"/>
              </a:rPr>
              <a:t>Thereafter, introduce them to feed on trays or newspapers. </a:t>
            </a:r>
          </a:p>
          <a:p>
            <a:r>
              <a:rPr lang="en-GB" sz="2200" dirty="0">
                <a:latin typeface="Century Gothic" panose="020B0502020202020204" pitchFamily="34" charset="0"/>
              </a:rPr>
              <a:t>Provide vitamins in water the first 3 days.</a:t>
            </a:r>
          </a:p>
          <a:p>
            <a:pPr marL="0" indent="0">
              <a:buNone/>
            </a:pPr>
            <a:endParaRPr lang="en-GB" sz="2200" dirty="0"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649075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66298" y="573206"/>
            <a:ext cx="7886700" cy="573206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b="1" dirty="0">
                <a:solidFill>
                  <a:srgbClr val="00B0F0"/>
                </a:solidFill>
                <a:latin typeface="Century Gothic" panose="020B0502020202020204" pitchFamily="34" charset="0"/>
              </a:rPr>
              <a:t>Lighting Programme</a:t>
            </a:r>
          </a:p>
          <a:p>
            <a:pPr marL="0" indent="0">
              <a:buNone/>
            </a:pPr>
            <a:endParaRPr lang="en-GB" sz="2400" dirty="0">
              <a:latin typeface="Century Gothic" panose="020B0502020202020204" pitchFamily="34" charset="0"/>
            </a:endParaRPr>
          </a:p>
          <a:p>
            <a:pPr>
              <a:lnSpc>
                <a:spcPct val="110000"/>
              </a:lnSpc>
            </a:pPr>
            <a:r>
              <a:rPr lang="en-GB" sz="2200" dirty="0">
                <a:latin typeface="Century Gothic" panose="020B0502020202020204" pitchFamily="34" charset="0"/>
              </a:rPr>
              <a:t>Most small-scale farmers rely on day light only hence failing to raise them to 2kg.</a:t>
            </a:r>
          </a:p>
          <a:p>
            <a:pPr>
              <a:lnSpc>
                <a:spcPct val="110000"/>
              </a:lnSpc>
            </a:pPr>
            <a:r>
              <a:rPr lang="en-GB" sz="2200" dirty="0">
                <a:latin typeface="Century Gothic" panose="020B0502020202020204" pitchFamily="34" charset="0"/>
              </a:rPr>
              <a:t>Common practice to give the chicks 24hours of light in the first 2 to 3 days after arrival. </a:t>
            </a:r>
          </a:p>
          <a:p>
            <a:pPr marL="228600" lvl="2">
              <a:lnSpc>
                <a:spcPct val="110000"/>
              </a:lnSpc>
              <a:spcBef>
                <a:spcPts val="1000"/>
              </a:spcBef>
            </a:pPr>
            <a:r>
              <a:rPr lang="en-GB" sz="2200" dirty="0">
                <a:latin typeface="Century Gothic" panose="020B0502020202020204" pitchFamily="34" charset="0"/>
              </a:rPr>
              <a:t>Thereafter, follow hatchery’s recommended lighting programme. </a:t>
            </a:r>
            <a:endParaRPr lang="en-GB" altLang="nl-BE" sz="2200" dirty="0">
              <a:latin typeface="Century Gothic" pitchFamily="34" charset="0"/>
            </a:endParaRPr>
          </a:p>
          <a:p>
            <a:pPr>
              <a:lnSpc>
                <a:spcPct val="110000"/>
              </a:lnSpc>
            </a:pPr>
            <a:r>
              <a:rPr lang="en-GB" sz="2200" dirty="0">
                <a:latin typeface="Century Gothic" panose="020B0502020202020204" pitchFamily="34" charset="0"/>
              </a:rPr>
              <a:t>Lighting programmes vary but ensure that birds have at least 6 hours of darkness per day during their life and reduce the dark hours at least 5 days before slaughter.</a:t>
            </a:r>
          </a:p>
        </p:txBody>
      </p:sp>
    </p:spTree>
    <p:extLst>
      <p:ext uri="{BB962C8B-B14F-4D97-AF65-F5344CB8AC3E}">
        <p14:creationId xmlns:p14="http://schemas.microsoft.com/office/powerpoint/2010/main" val="149302295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51144" y="338202"/>
            <a:ext cx="11248373" cy="6037545"/>
          </a:xfrm>
        </p:spPr>
        <p:txBody>
          <a:bodyPr>
            <a:normAutofit lnSpcReduction="10000"/>
          </a:bodyPr>
          <a:lstStyle/>
          <a:p>
            <a:pPr marL="0" indent="0" algn="just">
              <a:buNone/>
            </a:pPr>
            <a:r>
              <a:rPr lang="en-GB" sz="3200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Brooding Management</a:t>
            </a:r>
          </a:p>
          <a:p>
            <a:pPr marL="0" indent="0" algn="just">
              <a:buNone/>
            </a:pPr>
            <a:r>
              <a:rPr lang="en-GB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Two basic systems are used for brooding broiler chicks:</a:t>
            </a:r>
          </a:p>
          <a:p>
            <a:pPr marL="457200" indent="-457200" algn="just">
              <a:buFont typeface="+mj-lt"/>
              <a:buAutoNum type="alphaLcPeriod"/>
            </a:pPr>
            <a:r>
              <a:rPr lang="en-GB" sz="3200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Spot brooding </a:t>
            </a:r>
            <a:r>
              <a:rPr lang="en-GB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the heat source is local and chicks can move away to cooler areas thus select for themselves a preferred temperature</a:t>
            </a:r>
          </a:p>
          <a:p>
            <a:pPr marL="457200" indent="-457200" algn="just">
              <a:buFont typeface="+mj-lt"/>
              <a:buAutoNum type="alphaLcPeriod"/>
            </a:pPr>
            <a:r>
              <a:rPr lang="en-GB" sz="3200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Whole-House brooding </a:t>
            </a:r>
            <a:r>
              <a:rPr lang="en-GB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the heat source is larger and more widely spread so chicks are less able to move to select  a preferred temperature.</a:t>
            </a:r>
          </a:p>
          <a:p>
            <a:pPr algn="just"/>
            <a:r>
              <a:rPr lang="en-GB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Spot brooding is commonly practised amongst small-scale producers.</a:t>
            </a:r>
          </a:p>
          <a:p>
            <a:pPr algn="just"/>
            <a:r>
              <a:rPr lang="en-GB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Practically, most small-scale farmers do not have brooders. Same house used for whole production process.</a:t>
            </a:r>
          </a:p>
        </p:txBody>
      </p:sp>
    </p:spTree>
    <p:extLst>
      <p:ext uri="{BB962C8B-B14F-4D97-AF65-F5344CB8AC3E}">
        <p14:creationId xmlns:p14="http://schemas.microsoft.com/office/powerpoint/2010/main" val="37280966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5928" y="627962"/>
            <a:ext cx="9433422" cy="556001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b="1" dirty="0">
                <a:solidFill>
                  <a:srgbClr val="00B0F0"/>
                </a:solidFill>
                <a:latin typeface="Century Gothic" panose="020B0502020202020204" pitchFamily="34" charset="0"/>
              </a:rPr>
              <a:t>Brooding Management</a:t>
            </a:r>
          </a:p>
          <a:p>
            <a:r>
              <a:rPr lang="en-GB" sz="2200" dirty="0">
                <a:latin typeface="Century Gothic" panose="020B0502020202020204" pitchFamily="34" charset="0"/>
              </a:rPr>
              <a:t>Sources of heat: charcoal burner, electric lamps, infra-red light, etc.</a:t>
            </a:r>
          </a:p>
          <a:p>
            <a:r>
              <a:rPr lang="en-GB" sz="2200" dirty="0">
                <a:latin typeface="Century Gothic" panose="020B0502020202020204" pitchFamily="34" charset="0"/>
              </a:rPr>
              <a:t>Young chicks are highly susceptible to coldness</a:t>
            </a:r>
          </a:p>
          <a:p>
            <a:r>
              <a:rPr lang="en-GB" sz="2200" dirty="0">
                <a:latin typeface="Century Gothic" panose="020B0502020202020204" pitchFamily="34" charset="0"/>
              </a:rPr>
              <a:t>Temperature to be 35</a:t>
            </a:r>
            <a:r>
              <a:rPr lang="en-GB" altLang="nl-BE" sz="2400" baseline="30000" dirty="0">
                <a:latin typeface="Century Gothic" pitchFamily="34" charset="0"/>
              </a:rPr>
              <a:t>o</a:t>
            </a:r>
            <a:r>
              <a:rPr lang="en-GB" sz="2200" dirty="0">
                <a:latin typeface="Century Gothic" panose="020B0502020202020204" pitchFamily="34" charset="0"/>
              </a:rPr>
              <a:t>C on the first day and reduce it by 2.8</a:t>
            </a:r>
            <a:r>
              <a:rPr lang="en-GB" altLang="nl-BE" sz="2400" baseline="30000" dirty="0">
                <a:latin typeface="Century Gothic" pitchFamily="34" charset="0"/>
              </a:rPr>
              <a:t>o</a:t>
            </a:r>
            <a:r>
              <a:rPr lang="en-GB" altLang="nl-BE" sz="2200" dirty="0">
                <a:latin typeface="Century Gothic" pitchFamily="34" charset="0"/>
              </a:rPr>
              <a:t>C every week until 26 - 28</a:t>
            </a:r>
            <a:r>
              <a:rPr lang="en-GB" altLang="nl-BE" sz="2400" baseline="30000" dirty="0">
                <a:latin typeface="Century Gothic" pitchFamily="34" charset="0"/>
              </a:rPr>
              <a:t>o</a:t>
            </a:r>
            <a:r>
              <a:rPr lang="en-GB" altLang="nl-BE" sz="2200" dirty="0">
                <a:latin typeface="Century Gothic" pitchFamily="34" charset="0"/>
              </a:rPr>
              <a:t>C by third week.</a:t>
            </a:r>
            <a:endParaRPr lang="en-GB" sz="2200" dirty="0">
              <a:latin typeface="Century Gothic" panose="020B0502020202020204" pitchFamily="34" charset="0"/>
            </a:endParaRPr>
          </a:p>
          <a:p>
            <a:r>
              <a:rPr lang="en-GB" sz="2200" dirty="0">
                <a:latin typeface="Century Gothic" panose="020B0502020202020204" pitchFamily="34" charset="0"/>
              </a:rPr>
              <a:t>Monitor temperature using thermometer or chick’s behaviour.</a:t>
            </a:r>
          </a:p>
          <a:p>
            <a:r>
              <a:rPr lang="en-GB" sz="2200" dirty="0">
                <a:latin typeface="Century Gothic" panose="020B0502020202020204" pitchFamily="34" charset="0"/>
              </a:rPr>
              <a:t>Feed should be introduced on a tray or newspaper and this can be discontinued 3 – 5days later when the chicks are able to locate the feeders.</a:t>
            </a:r>
          </a:p>
        </p:txBody>
      </p:sp>
    </p:spTree>
    <p:extLst>
      <p:ext uri="{BB962C8B-B14F-4D97-AF65-F5344CB8AC3E}">
        <p14:creationId xmlns:p14="http://schemas.microsoft.com/office/powerpoint/2010/main" val="194956224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dirty="0">
                <a:solidFill>
                  <a:srgbClr val="00B0F0"/>
                </a:solidFill>
                <a:latin typeface="Century Gothic" panose="020B0502020202020204" pitchFamily="34" charset="0"/>
              </a:rPr>
              <a:t>Brooding Systems</a:t>
            </a:r>
          </a:p>
        </p:txBody>
      </p:sp>
      <p:pic>
        <p:nvPicPr>
          <p:cNvPr id="3075" name="Picture 3"/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87069" y="1784639"/>
            <a:ext cx="3757476" cy="31614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Rechthoek 3"/>
          <p:cNvSpPr/>
          <p:nvPr/>
        </p:nvSpPr>
        <p:spPr>
          <a:xfrm>
            <a:off x="1967345" y="5223165"/>
            <a:ext cx="3713020" cy="49876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Spot brooding system</a:t>
            </a:r>
          </a:p>
        </p:txBody>
      </p:sp>
      <p:sp>
        <p:nvSpPr>
          <p:cNvPr id="7" name="Rechthoek 6"/>
          <p:cNvSpPr/>
          <p:nvPr/>
        </p:nvSpPr>
        <p:spPr>
          <a:xfrm>
            <a:off x="6165260" y="5223164"/>
            <a:ext cx="3713020" cy="49876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Whole-House brooding system</a:t>
            </a:r>
          </a:p>
        </p:txBody>
      </p:sp>
      <p:pic>
        <p:nvPicPr>
          <p:cNvPr id="8" name="Picture 5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09523" y="1759424"/>
            <a:ext cx="3718239" cy="31810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13732831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58291" y="1066799"/>
            <a:ext cx="7633854" cy="54219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Rechthoek 3"/>
          <p:cNvSpPr/>
          <p:nvPr/>
        </p:nvSpPr>
        <p:spPr>
          <a:xfrm>
            <a:off x="2258291" y="277092"/>
            <a:ext cx="7924800" cy="67887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rgbClr val="00B0F0"/>
                </a:solidFill>
                <a:latin typeface="Century Gothic" panose="020B0502020202020204" pitchFamily="34" charset="0"/>
              </a:rPr>
              <a:t>Response of Chicks to Brooder Temperatures</a:t>
            </a:r>
          </a:p>
        </p:txBody>
      </p:sp>
      <p:sp>
        <p:nvSpPr>
          <p:cNvPr id="5" name="Rechthoek 4"/>
          <p:cNvSpPr/>
          <p:nvPr/>
        </p:nvSpPr>
        <p:spPr>
          <a:xfrm>
            <a:off x="7426871" y="6510815"/>
            <a:ext cx="2438400" cy="23067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600" dirty="0">
                <a:solidFill>
                  <a:schemeClr val="tx1"/>
                </a:solidFill>
              </a:rPr>
              <a:t>© Ross Broiler Manual</a:t>
            </a:r>
            <a:endParaRPr lang="en-US" sz="16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1114877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52650" y="885825"/>
            <a:ext cx="7886700" cy="52911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b="1" dirty="0">
                <a:solidFill>
                  <a:srgbClr val="00B0F0"/>
                </a:solidFill>
                <a:latin typeface="Century Gothic" panose="020B0502020202020204" pitchFamily="34" charset="0"/>
              </a:rPr>
              <a:t>Brooding Management</a:t>
            </a:r>
          </a:p>
          <a:p>
            <a:pPr marL="0" indent="0">
              <a:buNone/>
            </a:pPr>
            <a:endParaRPr lang="en-GB" sz="2400" dirty="0">
              <a:latin typeface="Century Gothic" panose="020B0502020202020204" pitchFamily="34" charset="0"/>
            </a:endParaRPr>
          </a:p>
          <a:p>
            <a:r>
              <a:rPr lang="en-GB" sz="2200" dirty="0">
                <a:latin typeface="Century Gothic" panose="020B0502020202020204" pitchFamily="34" charset="0"/>
              </a:rPr>
              <a:t>Feeders and waterers should be strategically positioned to facilitate normal distribution of chicks thus avoiding overcrowding.</a:t>
            </a:r>
          </a:p>
          <a:p>
            <a:r>
              <a:rPr lang="en-GB" sz="2200" dirty="0">
                <a:latin typeface="Century Gothic" panose="020B0502020202020204" pitchFamily="34" charset="0"/>
              </a:rPr>
              <a:t>Check crop fill 6 and 24hours after placement. </a:t>
            </a:r>
          </a:p>
          <a:p>
            <a:r>
              <a:rPr lang="en-GB" sz="2200" dirty="0">
                <a:latin typeface="Century Gothic" panose="020B0502020202020204" pitchFamily="34" charset="0"/>
              </a:rPr>
              <a:t>Expand the brooder guard as the chicks grow.</a:t>
            </a:r>
          </a:p>
          <a:p>
            <a:r>
              <a:rPr lang="en-GB" sz="2200" dirty="0">
                <a:latin typeface="Century Gothic" panose="020B0502020202020204" pitchFamily="34" charset="0"/>
              </a:rPr>
              <a:t>Thereafter, remove the brooder guard and heat source depending on chick growth and season.</a:t>
            </a:r>
          </a:p>
          <a:p>
            <a:r>
              <a:rPr lang="en-GB" sz="2200" dirty="0">
                <a:latin typeface="Century Gothic" panose="020B0502020202020204" pitchFamily="34" charset="0"/>
              </a:rPr>
              <a:t>Brooding can take 10 – 14 days of age.</a:t>
            </a:r>
          </a:p>
        </p:txBody>
      </p:sp>
    </p:spTree>
    <p:extLst>
      <p:ext uri="{BB962C8B-B14F-4D97-AF65-F5344CB8AC3E}">
        <p14:creationId xmlns:p14="http://schemas.microsoft.com/office/powerpoint/2010/main" val="9856186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52650" y="885825"/>
            <a:ext cx="7886700" cy="52911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b="1" dirty="0">
                <a:solidFill>
                  <a:srgbClr val="00B0F0"/>
                </a:solidFill>
                <a:latin typeface="Century Gothic" panose="020B0502020202020204" pitchFamily="34" charset="0"/>
              </a:rPr>
              <a:t>Feeding and Water supply</a:t>
            </a:r>
          </a:p>
          <a:p>
            <a:pPr marL="0" indent="0">
              <a:buNone/>
            </a:pPr>
            <a:endParaRPr lang="en-GB" sz="2400" dirty="0">
              <a:latin typeface="Century Gothic" panose="020B0502020202020204" pitchFamily="34" charset="0"/>
            </a:endParaRPr>
          </a:p>
          <a:p>
            <a:r>
              <a:rPr lang="en-GB" sz="2200" dirty="0">
                <a:latin typeface="Century Gothic" panose="020B0502020202020204" pitchFamily="34" charset="0"/>
              </a:rPr>
              <a:t>Feed and water troughs should be cleaned regularly</a:t>
            </a:r>
          </a:p>
          <a:p>
            <a:r>
              <a:rPr lang="en-GB" sz="2200" dirty="0">
                <a:latin typeface="Century Gothic" panose="020B0502020202020204" pitchFamily="34" charset="0"/>
              </a:rPr>
              <a:t>There must be ad lib provision of feed and cool and clean water  in order to achieve rapid growth.</a:t>
            </a:r>
          </a:p>
          <a:p>
            <a:r>
              <a:rPr lang="en-GB" sz="2200" dirty="0">
                <a:latin typeface="Century Gothic" panose="020B0502020202020204" pitchFamily="34" charset="0"/>
              </a:rPr>
              <a:t>Feed should be fresh and no accumulation of feed should be allowed at the bottom of the trough.</a:t>
            </a:r>
            <a:endParaRPr lang="en-GB" sz="2200" dirty="0">
              <a:solidFill>
                <a:srgbClr val="C00000"/>
              </a:solidFill>
              <a:latin typeface="Century Gothic" panose="020B0502020202020204" pitchFamily="34" charset="0"/>
            </a:endParaRPr>
          </a:p>
          <a:p>
            <a:r>
              <a:rPr lang="en-US" sz="2200" dirty="0">
                <a:latin typeface="Century Gothic" panose="020B0502020202020204" pitchFamily="34" charset="0"/>
              </a:rPr>
              <a:t>Recommended trough space is as follows: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US" sz="2200" dirty="0">
                <a:latin typeface="Century Gothic" panose="020B0502020202020204" pitchFamily="34" charset="0"/>
              </a:rPr>
              <a:t>1 to 3 weeks: 2.5cm/bird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US" sz="2200" dirty="0">
                <a:latin typeface="Century Gothic" panose="020B0502020202020204" pitchFamily="34" charset="0"/>
              </a:rPr>
              <a:t>4 weeks above: 6cm/bird</a:t>
            </a:r>
          </a:p>
          <a:p>
            <a:pPr>
              <a:lnSpc>
                <a:spcPct val="100000"/>
              </a:lnSpc>
            </a:pPr>
            <a:r>
              <a:rPr lang="en-GB" sz="2200" dirty="0">
                <a:latin typeface="Century Gothic" panose="020B0502020202020204" pitchFamily="34" charset="0"/>
              </a:rPr>
              <a:t>No bird should walk more than 3 metres for food and water.</a:t>
            </a:r>
          </a:p>
          <a:p>
            <a:pPr>
              <a:lnSpc>
                <a:spcPct val="100000"/>
              </a:lnSpc>
            </a:pPr>
            <a:endParaRPr lang="en-US" sz="2200" dirty="0"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2696822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52650" y="885825"/>
            <a:ext cx="7886700" cy="52911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b="1" dirty="0">
                <a:solidFill>
                  <a:srgbClr val="00B0F0"/>
                </a:solidFill>
                <a:latin typeface="Century Gothic" panose="020B0502020202020204" pitchFamily="34" charset="0"/>
              </a:rPr>
              <a:t>Feeding and Water supply</a:t>
            </a:r>
          </a:p>
          <a:p>
            <a:pPr marL="0" indent="0">
              <a:buNone/>
            </a:pPr>
            <a:endParaRPr lang="en-GB" sz="2400" dirty="0">
              <a:latin typeface="Century Gothic" panose="020B0502020202020204" pitchFamily="34" charset="0"/>
            </a:endParaRPr>
          </a:p>
          <a:p>
            <a:pPr>
              <a:lnSpc>
                <a:spcPct val="100000"/>
              </a:lnSpc>
            </a:pPr>
            <a:r>
              <a:rPr lang="en-GB" sz="2200" dirty="0">
                <a:latin typeface="Century Gothic" panose="020B0502020202020204" pitchFamily="34" charset="0"/>
              </a:rPr>
              <a:t>Feeders should not be filled more than two-thirds full to avoid wastage.</a:t>
            </a:r>
          </a:p>
          <a:p>
            <a:pPr>
              <a:lnSpc>
                <a:spcPct val="100000"/>
              </a:lnSpc>
            </a:pPr>
            <a:r>
              <a:rPr lang="en-GB" sz="2200" dirty="0">
                <a:latin typeface="Century Gothic" panose="020B0502020202020204" pitchFamily="34" charset="0"/>
              </a:rPr>
              <a:t>Feeders and drinkers should be gradually raised to the level of the birds’ backs as they grow to reduce wastage.</a:t>
            </a:r>
          </a:p>
          <a:p>
            <a:pPr>
              <a:lnSpc>
                <a:spcPct val="100000"/>
              </a:lnSpc>
            </a:pPr>
            <a:r>
              <a:rPr lang="en-GB" sz="2200" dirty="0">
                <a:latin typeface="Century Gothic" panose="020B0502020202020204" pitchFamily="34" charset="0"/>
              </a:rPr>
              <a:t>Insufficient feeding space will reduce growth rates and cause poor uniformity.</a:t>
            </a:r>
          </a:p>
          <a:p>
            <a:pPr>
              <a:lnSpc>
                <a:spcPct val="100000"/>
              </a:lnSpc>
            </a:pPr>
            <a:r>
              <a:rPr lang="en-US" sz="2200" dirty="0">
                <a:latin typeface="Century Gothic" panose="020B0502020202020204" pitchFamily="34" charset="0"/>
              </a:rPr>
              <a:t>Without adequate water intake, feed consumption will decline and bird performance will be </a:t>
            </a:r>
            <a:r>
              <a:rPr lang="en-GB" sz="2200" dirty="0">
                <a:latin typeface="Century Gothic" panose="020B0502020202020204" pitchFamily="34" charset="0"/>
              </a:rPr>
              <a:t>compromised.</a:t>
            </a:r>
          </a:p>
        </p:txBody>
      </p:sp>
    </p:spTree>
    <p:extLst>
      <p:ext uri="{BB962C8B-B14F-4D97-AF65-F5344CB8AC3E}">
        <p14:creationId xmlns:p14="http://schemas.microsoft.com/office/powerpoint/2010/main" val="116549245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52650" y="885825"/>
            <a:ext cx="7886700" cy="52911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b="1" dirty="0">
                <a:solidFill>
                  <a:srgbClr val="00B0F0"/>
                </a:solidFill>
                <a:latin typeface="Century Gothic" panose="020B0502020202020204" pitchFamily="34" charset="0"/>
              </a:rPr>
              <a:t>Feeding Regimes</a:t>
            </a:r>
          </a:p>
          <a:p>
            <a:pPr marL="0" indent="0">
              <a:buNone/>
            </a:pPr>
            <a:endParaRPr lang="en-GB" sz="2400" dirty="0">
              <a:latin typeface="Century Gothic" panose="020B0502020202020204" pitchFamily="34" charset="0"/>
            </a:endParaRPr>
          </a:p>
          <a:p>
            <a:r>
              <a:rPr lang="en-GB" sz="2200" dirty="0">
                <a:latin typeface="Century Gothic" panose="020B0502020202020204" pitchFamily="34" charset="0"/>
              </a:rPr>
              <a:t>Two feeding regime:</a:t>
            </a:r>
          </a:p>
          <a:p>
            <a:pPr marL="971550" lvl="1" indent="-514350">
              <a:buFont typeface="+mj-lt"/>
              <a:buAutoNum type="romanLcPeriod"/>
            </a:pPr>
            <a:r>
              <a:rPr lang="en-GB" sz="2200" dirty="0">
                <a:latin typeface="Century Gothic" panose="020B0502020202020204" pitchFamily="34" charset="0"/>
              </a:rPr>
              <a:t>Broiler Starter </a:t>
            </a:r>
            <a:r>
              <a:rPr lang="en-US" altLang="nl-BE" sz="2200" dirty="0">
                <a:latin typeface="Century Gothic" pitchFamily="34" charset="0"/>
              </a:rPr>
              <a:t>~ 0 – 3 weeks (1.5kgs)</a:t>
            </a:r>
          </a:p>
          <a:p>
            <a:pPr marL="971550" lvl="1" indent="-514350">
              <a:buFont typeface="+mj-lt"/>
              <a:buAutoNum type="romanLcPeriod"/>
            </a:pPr>
            <a:r>
              <a:rPr lang="en-US" sz="2200" dirty="0">
                <a:latin typeface="Century Gothic" pitchFamily="34" charset="0"/>
              </a:rPr>
              <a:t>Broiler Finisher </a:t>
            </a:r>
            <a:r>
              <a:rPr lang="en-US" altLang="nl-BE" sz="2200" dirty="0">
                <a:latin typeface="Century Gothic" pitchFamily="34" charset="0"/>
              </a:rPr>
              <a:t>~  3 weeks  – point of sale (2.5kgs)</a:t>
            </a:r>
          </a:p>
          <a:p>
            <a:endParaRPr lang="en-GB" sz="2200" dirty="0">
              <a:latin typeface="Century Gothic" panose="020B0502020202020204" pitchFamily="34" charset="0"/>
            </a:endParaRPr>
          </a:p>
          <a:p>
            <a:r>
              <a:rPr lang="en-GB" sz="2200" dirty="0">
                <a:latin typeface="Century Gothic" panose="020B0502020202020204" pitchFamily="34" charset="0"/>
              </a:rPr>
              <a:t>Three feeding regime:</a:t>
            </a:r>
          </a:p>
          <a:p>
            <a:pPr marL="971550" lvl="1" indent="-514350">
              <a:buFont typeface="+mj-lt"/>
              <a:buAutoNum type="romanLcPeriod"/>
            </a:pPr>
            <a:r>
              <a:rPr lang="en-GB" sz="2200" dirty="0">
                <a:latin typeface="Century Gothic" panose="020B0502020202020204" pitchFamily="34" charset="0"/>
              </a:rPr>
              <a:t>Broiler Starter </a:t>
            </a:r>
            <a:r>
              <a:rPr lang="en-US" altLang="nl-BE" sz="2200" dirty="0">
                <a:latin typeface="Century Gothic" pitchFamily="34" charset="0"/>
              </a:rPr>
              <a:t>~ 0 – 2 weeks (1kg)</a:t>
            </a:r>
          </a:p>
          <a:p>
            <a:pPr marL="971550" lvl="1" indent="-514350">
              <a:buFont typeface="+mj-lt"/>
              <a:buAutoNum type="romanLcPeriod"/>
            </a:pPr>
            <a:r>
              <a:rPr lang="en-US" sz="2200" dirty="0">
                <a:latin typeface="Century Gothic" pitchFamily="34" charset="0"/>
              </a:rPr>
              <a:t>Broiler Grower </a:t>
            </a:r>
            <a:r>
              <a:rPr lang="en-US" altLang="nl-BE" sz="2200" dirty="0">
                <a:latin typeface="Century Gothic" pitchFamily="34" charset="0"/>
              </a:rPr>
              <a:t>~ 2 – 4 weeks (1.5kgs)</a:t>
            </a:r>
            <a:endParaRPr lang="en-GB" sz="2200" dirty="0">
              <a:latin typeface="Century Gothic" panose="020B0502020202020204" pitchFamily="34" charset="0"/>
            </a:endParaRPr>
          </a:p>
          <a:p>
            <a:pPr marL="971550" lvl="1" indent="-514350">
              <a:buFont typeface="+mj-lt"/>
              <a:buAutoNum type="romanLcPeriod"/>
            </a:pPr>
            <a:r>
              <a:rPr lang="en-US" sz="2200" dirty="0">
                <a:latin typeface="Century Gothic" pitchFamily="34" charset="0"/>
              </a:rPr>
              <a:t>Broiler Finisher </a:t>
            </a:r>
            <a:r>
              <a:rPr lang="en-US" altLang="nl-BE" sz="2200" dirty="0">
                <a:latin typeface="Century Gothic" pitchFamily="34" charset="0"/>
              </a:rPr>
              <a:t>~  4 weeks – point of sale (1.5kgs)</a:t>
            </a:r>
          </a:p>
          <a:p>
            <a:endParaRPr lang="en-GB" sz="2200" dirty="0"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7008388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04231" y="462708"/>
            <a:ext cx="9235119" cy="571425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b="1" dirty="0">
                <a:solidFill>
                  <a:srgbClr val="00B0F0"/>
                </a:solidFill>
                <a:latin typeface="Century Gothic" panose="020B0502020202020204" pitchFamily="34" charset="0"/>
              </a:rPr>
              <a:t>Forms of Feed and Feed Quality</a:t>
            </a:r>
          </a:p>
          <a:p>
            <a:r>
              <a:rPr lang="en-US" sz="2200" dirty="0">
                <a:latin typeface="Century Gothic" panose="020B0502020202020204" pitchFamily="34" charset="0"/>
              </a:rPr>
              <a:t>Broiler growth and efficiency of feed use will generally be better if the Starter feed is crumbs or mini-pellets, and the Grower and Finisher feeds are pellets. </a:t>
            </a:r>
          </a:p>
          <a:p>
            <a:r>
              <a:rPr lang="en-US" sz="2200" dirty="0">
                <a:latin typeface="Century Gothic" panose="020B0502020202020204" pitchFamily="34" charset="0"/>
              </a:rPr>
              <a:t>Depending on pellet size fed, it may be necessary to provide the first delivery of Grower feed as crumbs or mini-pellets.</a:t>
            </a:r>
          </a:p>
          <a:p>
            <a:pPr marL="0" indent="0">
              <a:buNone/>
            </a:pPr>
            <a:endParaRPr lang="en-US" sz="200" dirty="0">
              <a:latin typeface="Century Gothic" panose="020B0502020202020204" pitchFamily="34" charset="0"/>
            </a:endParaRPr>
          </a:p>
          <a:p>
            <a:pPr marL="177800" indent="0">
              <a:buNone/>
            </a:pPr>
            <a:r>
              <a:rPr lang="en-US" sz="2200" b="1" dirty="0">
                <a:latin typeface="Century Gothic" panose="020B0502020202020204" pitchFamily="34" charset="0"/>
              </a:rPr>
              <a:t>Form of Feed by Age in Broilers</a:t>
            </a:r>
            <a:endParaRPr lang="en-GB" sz="2200" b="1" dirty="0">
              <a:latin typeface="Century Gothic" panose="020B0502020202020204" pitchFamily="34" charset="0"/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3854" y="3429000"/>
            <a:ext cx="9975951" cy="18883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Rechthoek 1"/>
          <p:cNvSpPr/>
          <p:nvPr/>
        </p:nvSpPr>
        <p:spPr>
          <a:xfrm>
            <a:off x="4752864" y="5455560"/>
            <a:ext cx="3967446" cy="58324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i="1" dirty="0">
                <a:solidFill>
                  <a:schemeClr val="tx1"/>
                </a:solidFill>
              </a:rPr>
              <a:t>Source: Ross Broiler Manual, 2009</a:t>
            </a:r>
          </a:p>
        </p:txBody>
      </p:sp>
    </p:spTree>
    <p:extLst>
      <p:ext uri="{BB962C8B-B14F-4D97-AF65-F5344CB8AC3E}">
        <p14:creationId xmlns:p14="http://schemas.microsoft.com/office/powerpoint/2010/main" val="85198323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52650" y="885825"/>
            <a:ext cx="7886700" cy="5291138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GB" b="1" dirty="0">
                <a:solidFill>
                  <a:srgbClr val="00B0F0"/>
                </a:solidFill>
                <a:latin typeface="Century Gothic" panose="020B0502020202020204" pitchFamily="34" charset="0"/>
              </a:rPr>
              <a:t>Litter Quality</a:t>
            </a:r>
          </a:p>
          <a:p>
            <a:pPr marL="0" indent="0">
              <a:buNone/>
            </a:pPr>
            <a:endParaRPr lang="en-GB" sz="2200" dirty="0">
              <a:latin typeface="Century Gothic" panose="020B0502020202020204" pitchFamily="34" charset="0"/>
            </a:endParaRPr>
          </a:p>
          <a:p>
            <a:pPr>
              <a:lnSpc>
                <a:spcPct val="100000"/>
              </a:lnSpc>
            </a:pPr>
            <a:r>
              <a:rPr lang="en-US" sz="2400" dirty="0">
                <a:latin typeface="Century Gothic" panose="020B0502020202020204" pitchFamily="34" charset="0"/>
              </a:rPr>
              <a:t>Litter quality directly affects the health of the bird.</a:t>
            </a:r>
          </a:p>
          <a:p>
            <a:r>
              <a:rPr lang="en-US" sz="2400" dirty="0">
                <a:latin typeface="Century Gothic" panose="020B0502020202020204" pitchFamily="34" charset="0"/>
              </a:rPr>
              <a:t>Important functions of litter include the ability: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GB" dirty="0">
                <a:latin typeface="Century Gothic" panose="020B0502020202020204" pitchFamily="34" charset="0"/>
              </a:rPr>
              <a:t>To absorb moisture.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dirty="0">
                <a:latin typeface="Century Gothic" panose="020B0502020202020204" pitchFamily="34" charset="0"/>
              </a:rPr>
              <a:t>To dilute excreta, thus minimizing bird to manure contact.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dirty="0">
                <a:latin typeface="Century Gothic" panose="020B0502020202020204" pitchFamily="34" charset="0"/>
              </a:rPr>
              <a:t>To provide an insulation from cold floor temperatures</a:t>
            </a:r>
          </a:p>
          <a:p>
            <a:pPr>
              <a:lnSpc>
                <a:spcPct val="100000"/>
              </a:lnSpc>
            </a:pPr>
            <a:r>
              <a:rPr lang="en-US" sz="2400" dirty="0">
                <a:latin typeface="Century Gothic" panose="020B0502020202020204" pitchFamily="34" charset="0"/>
              </a:rPr>
              <a:t>Lower moisture levels in the litter reduce the amount of ammonia in the atmosphere, which helps reduce respiratory stress. Foot pad dermatitis incidence is reduced if litter quality is good.</a:t>
            </a:r>
          </a:p>
          <a:p>
            <a:pPr>
              <a:lnSpc>
                <a:spcPct val="100000"/>
              </a:lnSpc>
            </a:pPr>
            <a:r>
              <a:rPr lang="en-US" sz="2400" dirty="0">
                <a:latin typeface="Century Gothic" panose="020B0502020202020204" pitchFamily="34" charset="0"/>
              </a:rPr>
              <a:t>Replace or turn litter regularly to ensure that the litter is always dry</a:t>
            </a:r>
            <a:r>
              <a:rPr lang="en-US" sz="2200" dirty="0">
                <a:latin typeface="Century Gothic" panose="020B0502020202020204" pitchFamily="34" charset="0"/>
              </a:rPr>
              <a:t>.</a:t>
            </a:r>
            <a:r>
              <a:rPr lang="en-GB" sz="2200" dirty="0">
                <a:latin typeface="Century Gothic" panose="020B0502020202020204" pitchFamily="34" charset="0"/>
              </a:rPr>
              <a:t>	</a:t>
            </a:r>
          </a:p>
        </p:txBody>
      </p:sp>
    </p:spTree>
    <p:extLst>
      <p:ext uri="{BB962C8B-B14F-4D97-AF65-F5344CB8AC3E}">
        <p14:creationId xmlns:p14="http://schemas.microsoft.com/office/powerpoint/2010/main" val="404724496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6270" y="132202"/>
            <a:ext cx="12015730" cy="6044761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GB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Temperature and Ventilation</a:t>
            </a:r>
          </a:p>
          <a:p>
            <a:pPr algn="just">
              <a:lnSpc>
                <a:spcPct val="10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Ensure that temperatures are between 20 and 25 </a:t>
            </a:r>
            <a:r>
              <a:rPr lang="en-GB" altLang="nl-BE" baseline="30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GB" altLang="nl-B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C.</a:t>
            </a:r>
            <a:endParaRPr lang="en-GB" altLang="nl-B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0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 temperatures are associated with reduced feed intake.</a:t>
            </a:r>
          </a:p>
          <a:p>
            <a:pPr algn="just">
              <a:lnSpc>
                <a:spcPct val="10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main purpose of minimum ventilation is to provide good air quality - adequate oxygen, optimum relative humidity and minimum amounts of carbon dioxide, carbon monoxide, ammonia and dust.</a:t>
            </a:r>
          </a:p>
          <a:p>
            <a:pPr algn="just">
              <a:lnSpc>
                <a:spcPct val="10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Always evaluate ammonia (NH</a:t>
            </a:r>
            <a:r>
              <a:rPr lang="en-US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levels at bird height.</a:t>
            </a:r>
          </a:p>
          <a:p>
            <a:pPr marL="0" indent="0" algn="just">
              <a:lnSpc>
                <a:spcPct val="100000"/>
              </a:lnSpc>
              <a:buNone/>
            </a:pPr>
            <a:r>
              <a:rPr lang="en-US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negative effects of NH</a:t>
            </a:r>
            <a:r>
              <a:rPr lang="en-US" baseline="-25000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include: </a:t>
            </a:r>
          </a:p>
          <a:p>
            <a:pPr lvl="1" algn="just"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foot pad burns, </a:t>
            </a:r>
          </a:p>
          <a:p>
            <a:pPr lvl="1" algn="just"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eye burns, </a:t>
            </a:r>
          </a:p>
          <a:p>
            <a:pPr lvl="1" algn="just"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breast blisters/skin irritations, </a:t>
            </a:r>
          </a:p>
          <a:p>
            <a:pPr lvl="1" algn="just"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decreased weights, </a:t>
            </a:r>
          </a:p>
          <a:p>
            <a:pPr lvl="1" algn="just"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poor uniformity, </a:t>
            </a:r>
          </a:p>
          <a:p>
            <a:pPr lvl="1" algn="just"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disease 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susceptibility and </a:t>
            </a:r>
          </a:p>
          <a:p>
            <a:pPr lvl="1" algn="just">
              <a:buFont typeface="Wingdings" panose="05000000000000000000" pitchFamily="2" charset="2"/>
              <a:buChar char="Ø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blindness.</a:t>
            </a:r>
          </a:p>
        </p:txBody>
      </p:sp>
    </p:spTree>
    <p:extLst>
      <p:ext uri="{BB962C8B-B14F-4D97-AF65-F5344CB8AC3E}">
        <p14:creationId xmlns:p14="http://schemas.microsoft.com/office/powerpoint/2010/main" val="241143337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52650" y="885825"/>
            <a:ext cx="7886700" cy="52911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b="1" dirty="0">
                <a:solidFill>
                  <a:srgbClr val="00B0F0"/>
                </a:solidFill>
                <a:latin typeface="Century Gothic" panose="020B0502020202020204" pitchFamily="34" charset="0"/>
              </a:rPr>
              <a:t>Health</a:t>
            </a:r>
          </a:p>
          <a:p>
            <a:pPr marL="0" indent="0">
              <a:buNone/>
            </a:pPr>
            <a:endParaRPr lang="en-GB" sz="2200" dirty="0">
              <a:latin typeface="Century Gothic" panose="020B0502020202020204" pitchFamily="34" charset="0"/>
            </a:endParaRPr>
          </a:p>
          <a:p>
            <a:r>
              <a:rPr lang="en-US" sz="2200" dirty="0">
                <a:latin typeface="Century Gothic" panose="020B0502020202020204" pitchFamily="34" charset="0"/>
              </a:rPr>
              <a:t>On-farm disease control </a:t>
            </a:r>
            <a:r>
              <a:rPr lang="en-US" sz="2200" dirty="0" err="1">
                <a:latin typeface="Century Gothic" panose="020B0502020202020204" pitchFamily="34" charset="0"/>
              </a:rPr>
              <a:t>programmes</a:t>
            </a:r>
            <a:r>
              <a:rPr lang="en-US" sz="2200" dirty="0">
                <a:latin typeface="Century Gothic" panose="020B0502020202020204" pitchFamily="34" charset="0"/>
              </a:rPr>
              <a:t> involve: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200" dirty="0">
                <a:latin typeface="Century Gothic" panose="020B0502020202020204" pitchFamily="34" charset="0"/>
              </a:rPr>
              <a:t>Disease prevention.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200" dirty="0">
                <a:latin typeface="Century Gothic" panose="020B0502020202020204" pitchFamily="34" charset="0"/>
              </a:rPr>
              <a:t>Early detection of ill health.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200" dirty="0">
                <a:latin typeface="Century Gothic" panose="020B0502020202020204" pitchFamily="34" charset="0"/>
              </a:rPr>
              <a:t>Treatment of identified disease conditions.</a:t>
            </a:r>
          </a:p>
          <a:p>
            <a:r>
              <a:rPr lang="en-US" sz="2200" dirty="0">
                <a:latin typeface="Century Gothic" panose="020B0502020202020204" pitchFamily="34" charset="0"/>
              </a:rPr>
              <a:t>Biosecurity and vaccination are both integral to successful health management.</a:t>
            </a:r>
          </a:p>
          <a:p>
            <a:r>
              <a:rPr lang="en-US" sz="2200" dirty="0">
                <a:latin typeface="Century Gothic" panose="020B0502020202020204" pitchFamily="34" charset="0"/>
              </a:rPr>
              <a:t>Vaccination alone cannot protect flocks against overwhelming disease challenges and poor management practices.</a:t>
            </a:r>
          </a:p>
        </p:txBody>
      </p:sp>
    </p:spTree>
    <p:extLst>
      <p:ext uri="{BB962C8B-B14F-4D97-AF65-F5344CB8AC3E}">
        <p14:creationId xmlns:p14="http://schemas.microsoft.com/office/powerpoint/2010/main" val="230138618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52650" y="885825"/>
            <a:ext cx="7886700" cy="52911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b="1" dirty="0">
                <a:solidFill>
                  <a:srgbClr val="00B0F0"/>
                </a:solidFill>
                <a:latin typeface="Century Gothic" panose="020B0502020202020204" pitchFamily="34" charset="0"/>
              </a:rPr>
              <a:t>Vaccination and Medications</a:t>
            </a:r>
          </a:p>
          <a:p>
            <a:pPr marL="0" indent="0">
              <a:buNone/>
            </a:pPr>
            <a:endParaRPr lang="en-GB" sz="2200" dirty="0">
              <a:latin typeface="Century Gothic" panose="020B0502020202020204" pitchFamily="34" charset="0"/>
            </a:endParaRPr>
          </a:p>
          <a:p>
            <a:pPr marL="0" indent="0">
              <a:buNone/>
            </a:pPr>
            <a:endParaRPr lang="en-GB" sz="2200" dirty="0">
              <a:latin typeface="Century Gothic" panose="020B0502020202020204" pitchFamily="34" charset="0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78345" y="1506215"/>
            <a:ext cx="8204996" cy="346534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Rechthoek 1"/>
          <p:cNvSpPr/>
          <p:nvPr/>
        </p:nvSpPr>
        <p:spPr>
          <a:xfrm>
            <a:off x="2251300" y="5076968"/>
            <a:ext cx="7459087" cy="73697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200" dirty="0">
                <a:solidFill>
                  <a:schemeClr val="tx1"/>
                </a:solidFill>
                <a:latin typeface="Century Gothic" panose="020B0502020202020204" pitchFamily="34" charset="0"/>
              </a:rPr>
              <a:t>Use unchlorinated water when administering vaccines.</a:t>
            </a:r>
          </a:p>
        </p:txBody>
      </p:sp>
    </p:spTree>
    <p:extLst>
      <p:ext uri="{BB962C8B-B14F-4D97-AF65-F5344CB8AC3E}">
        <p14:creationId xmlns:p14="http://schemas.microsoft.com/office/powerpoint/2010/main" val="234551850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52650" y="885825"/>
            <a:ext cx="7886700" cy="52911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b="1" dirty="0">
                <a:solidFill>
                  <a:srgbClr val="00B0F0"/>
                </a:solidFill>
                <a:latin typeface="Century Gothic" panose="020B0502020202020204" pitchFamily="34" charset="0"/>
              </a:rPr>
              <a:t>Cleaning and Disinfection</a:t>
            </a:r>
          </a:p>
          <a:p>
            <a:pPr marL="0" indent="0">
              <a:buNone/>
            </a:pPr>
            <a:endParaRPr lang="en-GB" sz="2200" dirty="0">
              <a:latin typeface="Century Gothic" panose="020B0502020202020204" pitchFamily="34" charset="0"/>
            </a:endParaRPr>
          </a:p>
          <a:p>
            <a:r>
              <a:rPr lang="en-US" sz="2200" dirty="0">
                <a:latin typeface="Century Gothic" panose="020B0502020202020204" pitchFamily="34" charset="0"/>
              </a:rPr>
              <a:t>Bacteria and viruses can persist in an environment for months or even years if its in organic matter.</a:t>
            </a:r>
          </a:p>
          <a:p>
            <a:r>
              <a:rPr lang="en-US" sz="2200" dirty="0">
                <a:latin typeface="Century Gothic" panose="020B0502020202020204" pitchFamily="34" charset="0"/>
              </a:rPr>
              <a:t>Clean the house 2 – 3 weeks before the first or next batch arrives.</a:t>
            </a:r>
          </a:p>
          <a:p>
            <a:r>
              <a:rPr lang="en-US" sz="2200" dirty="0">
                <a:latin typeface="Century Gothic" panose="020B0502020202020204" pitchFamily="34" charset="0"/>
              </a:rPr>
              <a:t>Remove all dirt and cobwebs</a:t>
            </a:r>
          </a:p>
          <a:p>
            <a:r>
              <a:rPr lang="en-US" sz="2200" dirty="0">
                <a:latin typeface="Century Gothic" panose="020B0502020202020204" pitchFamily="34" charset="0"/>
              </a:rPr>
              <a:t>Some of the disinfectants used: Sodium hypochlorite, formalin, potassium permanganate.</a:t>
            </a:r>
          </a:p>
          <a:p>
            <a:endParaRPr lang="en-US" sz="2200" dirty="0"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0094094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52650" y="885825"/>
            <a:ext cx="7886700" cy="52911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b="1" dirty="0">
                <a:solidFill>
                  <a:srgbClr val="00B0F0"/>
                </a:solidFill>
                <a:latin typeface="Century Gothic" panose="020B0502020202020204" pitchFamily="34" charset="0"/>
              </a:rPr>
              <a:t>Record Keeping</a:t>
            </a:r>
          </a:p>
          <a:p>
            <a:pPr marL="0" indent="0">
              <a:buNone/>
            </a:pPr>
            <a:endParaRPr lang="en-GB" sz="2200" dirty="0">
              <a:latin typeface="Century Gothic" panose="020B0502020202020204" pitchFamily="34" charset="0"/>
            </a:endParaRPr>
          </a:p>
          <a:p>
            <a:r>
              <a:rPr lang="en-US" sz="2200" dirty="0">
                <a:latin typeface="Century Gothic" panose="020B0502020202020204" pitchFamily="34" charset="0"/>
              </a:rPr>
              <a:t>It is vital that a farmer should keep accurate records.</a:t>
            </a: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ü"/>
            </a:pPr>
            <a:r>
              <a:rPr lang="en-GB" sz="2200" dirty="0">
                <a:latin typeface="Century Gothic" panose="020B0502020202020204" pitchFamily="34" charset="0"/>
              </a:rPr>
              <a:t>Chick placement: number of day old chicks, date and time of arrival, chick quality, source.</a:t>
            </a: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ü"/>
            </a:pPr>
            <a:r>
              <a:rPr lang="en-GB" sz="2200" dirty="0">
                <a:latin typeface="Century Gothic" panose="020B0502020202020204" pitchFamily="34" charset="0"/>
              </a:rPr>
              <a:t>Mortality: daily, weekly, cumulative</a:t>
            </a: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ü"/>
            </a:pPr>
            <a:r>
              <a:rPr lang="en-GB" sz="2200" dirty="0">
                <a:latin typeface="Century Gothic" panose="020B0502020202020204" pitchFamily="34" charset="0"/>
              </a:rPr>
              <a:t>Medication: date, amount and batch number</a:t>
            </a: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ü"/>
            </a:pPr>
            <a:r>
              <a:rPr lang="en-GB" sz="2200" dirty="0">
                <a:latin typeface="Century Gothic" panose="020B0502020202020204" pitchFamily="34" charset="0"/>
              </a:rPr>
              <a:t>Vaccinations: date, vaccine type, batch number, expiry date</a:t>
            </a: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ü"/>
            </a:pPr>
            <a:r>
              <a:rPr lang="en-GB" sz="2200" dirty="0">
                <a:latin typeface="Century Gothic" panose="020B0502020202020204" pitchFamily="34" charset="0"/>
              </a:rPr>
              <a:t>Feed: date of delivery, quantity, feed type, date of starting feed withdrawal</a:t>
            </a: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ü"/>
            </a:pPr>
            <a:r>
              <a:rPr lang="en-GB" sz="2200" dirty="0">
                <a:latin typeface="Century Gothic" panose="020B0502020202020204" pitchFamily="34" charset="0"/>
              </a:rPr>
              <a:t>Live weight: weekly live weight </a:t>
            </a:r>
          </a:p>
        </p:txBody>
      </p:sp>
    </p:spTree>
    <p:extLst>
      <p:ext uri="{BB962C8B-B14F-4D97-AF65-F5344CB8AC3E}">
        <p14:creationId xmlns:p14="http://schemas.microsoft.com/office/powerpoint/2010/main" val="387868887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112</TotalTime>
  <Words>1689</Words>
  <Application>Microsoft Office PowerPoint</Application>
  <PresentationFormat>Widescreen</PresentationFormat>
  <Paragraphs>190</Paragraphs>
  <Slides>24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31" baseType="lpstr">
      <vt:lpstr>Arial</vt:lpstr>
      <vt:lpstr>Calibri</vt:lpstr>
      <vt:lpstr>Century Gothic</vt:lpstr>
      <vt:lpstr>Times New Roman</vt:lpstr>
      <vt:lpstr>Wingdings</vt:lpstr>
      <vt:lpstr>Wingdings 3</vt:lpstr>
      <vt:lpstr>Ion</vt:lpstr>
      <vt:lpstr>Broiler Production and Management</vt:lpstr>
      <vt:lpstr>Broiler Production and Management</vt:lpstr>
      <vt:lpstr>Limits to Broiler Growth and Quality</vt:lpstr>
      <vt:lpstr>PowerPoint Presentation</vt:lpstr>
      <vt:lpstr>PowerPoint Presentation</vt:lpstr>
      <vt:lpstr>Guiding Principle on Management System</vt:lpstr>
      <vt:lpstr>Chick Qualities and Pre-placement</vt:lpstr>
      <vt:lpstr>Chick Placement</vt:lpstr>
      <vt:lpstr>PowerPoint Presentation</vt:lpstr>
      <vt:lpstr>PowerPoint Presentation</vt:lpstr>
      <vt:lpstr>PowerPoint Presentation</vt:lpstr>
      <vt:lpstr>Brooding Systems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Broiler Production and Management</dc:title>
  <dc:creator>JOSEPH D. LIWONDE</dc:creator>
  <cp:lastModifiedBy>JOSEPH D. LIWONDE</cp:lastModifiedBy>
  <cp:revision>23</cp:revision>
  <dcterms:created xsi:type="dcterms:W3CDTF">2025-12-30T06:59:57Z</dcterms:created>
  <dcterms:modified xsi:type="dcterms:W3CDTF">2026-02-10T17:35:25Z</dcterms:modified>
</cp:coreProperties>
</file>