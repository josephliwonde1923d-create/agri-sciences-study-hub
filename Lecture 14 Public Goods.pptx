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3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9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1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6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5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0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1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6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4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4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903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0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4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51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33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5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A08A3C2-930F-4780-9C3C-F77BC08179E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8E8E0-47D3-4086-8A8B-71241184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38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81A0-AC6F-1813-0B4E-FBE91CE3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1559941"/>
            <a:ext cx="10515600" cy="3463163"/>
          </a:xfrm>
        </p:spPr>
        <p:txBody>
          <a:bodyPr/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14</a:t>
            </a:r>
            <a: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Goods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07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AE82-41B5-9B03-49B6-EB9CD98C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46111" y="395111"/>
            <a:ext cx="9404723" cy="57607"/>
          </a:xfrm>
        </p:spPr>
        <p:txBody>
          <a:bodyPr/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774E-4EC4-A84A-1D74-ADD0828B3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115940"/>
            <a:ext cx="8946541" cy="4195481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goods are goods that are non-excludable and non-rivalrous.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Non-excludability means that individuals cannot be excluded from consuming the good, regardless of whether they have paid for it or not.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Non-rivalry means that one person's consumption of the good does not diminish the quantity available for others.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public goods in value chain agriculture include certain types of agricultural research, knowledge sharing, and information dissemination.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19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1216-1E94-2591-D027-111CF00A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TAXONOMY OF GOODS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F33770F-AFEE-C7FD-80CB-5995F327F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153093"/>
              </p:ext>
            </p:extLst>
          </p:nvPr>
        </p:nvGraphicFramePr>
        <p:xfrm>
          <a:off x="1389412" y="2018805"/>
          <a:ext cx="9132126" cy="3265713"/>
        </p:xfrm>
        <a:graphic>
          <a:graphicData uri="http://schemas.openxmlformats.org/drawingml/2006/table">
            <a:tbl>
              <a:tblPr firstRow="1" firstCol="1" bandRow="1"/>
              <a:tblGrid>
                <a:gridCol w="3044042">
                  <a:extLst>
                    <a:ext uri="{9D8B030D-6E8A-4147-A177-3AD203B41FA5}">
                      <a16:colId xmlns:a16="http://schemas.microsoft.com/office/drawing/2014/main" val="350716445"/>
                    </a:ext>
                  </a:extLst>
                </a:gridCol>
                <a:gridCol w="3044042">
                  <a:extLst>
                    <a:ext uri="{9D8B030D-6E8A-4147-A177-3AD203B41FA5}">
                      <a16:colId xmlns:a16="http://schemas.microsoft.com/office/drawing/2014/main" val="2768489473"/>
                    </a:ext>
                  </a:extLst>
                </a:gridCol>
                <a:gridCol w="3044042">
                  <a:extLst>
                    <a:ext uri="{9D8B030D-6E8A-4147-A177-3AD203B41FA5}">
                      <a16:colId xmlns:a16="http://schemas.microsoft.com/office/drawing/2014/main" val="774038662"/>
                    </a:ext>
                  </a:extLst>
                </a:gridCol>
              </a:tblGrid>
              <a:tr h="10885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RIVALROUS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NON-RIVALROUS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737759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EXCLUDABLE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Pure Private Good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400" kern="10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Toll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096087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NON-EXCLUDABLE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Common good</a:t>
                      </a:r>
                      <a:endParaRPr 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Pure</a:t>
                      </a:r>
                      <a:r>
                        <a:rPr lang="en-US" sz="2400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public good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380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84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55B0-315F-C4CE-C5E1-14EBF6FA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of Public Goods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F8BF-65FA-5BDC-A89B-AD9AB2969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Non-Excludability: </a:t>
            </a: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the good is provided, it is available to all, and individuals cannot be prevented from using it.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Non-Rivalry: </a:t>
            </a: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by one individual does not reduce the amount available for others.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Non-Competitiveness: </a:t>
            </a: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consumption of one individual does not reduce the benefits available to others.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002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CEE6-68CB-962A-9827-6C8008AC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in Providing Public Goods in Value Chain Agriculture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8D53-5048-A92C-09BC-69BD228EC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Free-Rider </a:t>
            </a:r>
            <a:r>
              <a:rPr lang="en-US" sz="16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Problem:</a:t>
            </a:r>
            <a:r>
              <a:rPr lang="en-US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1600" b="1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free rider is a person who receives </a:t>
            </a:r>
            <a:r>
              <a:rPr lang="en-US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6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benefit of a good but fails to pay for it.</a:t>
            </a:r>
            <a:endParaRPr lang="en-US" sz="1600" b="1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Since public goods are non-excludable, individuals may be tempted to "free-ride," benefiting from the public good without contributing to its provision.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behavior can lead to underinvestment in public goods.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Difficulty </a:t>
            </a:r>
            <a:r>
              <a:rPr lang="en-US" sz="16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Pricing: </a:t>
            </a:r>
            <a:endParaRPr lang="en-US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goods lack a clear market price because they are not traded in the traditional sense.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makes it challenging to determine the value and allocate resources for their provision.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Financial </a:t>
            </a:r>
            <a:r>
              <a:rPr lang="en-US" sz="16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Constraints: </a:t>
            </a:r>
            <a:endParaRPr lang="en-US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Funding public goods projects can be a challenge due to limited financial resources and competing priorities in the agricultural sector.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6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27AE-BF28-4168-4E4B-960F332F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312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Solutions to Free-Rider Problems through Government Intervention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3476-7F6B-9759-146A-9427D0A3A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 intervention is often necessary to address the free-rider problem and ensure the provision of public goods in value chain agriculture.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Taxation: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Governments can finance public goods through taxation. By collecting taxes from individuals and businesses, the government can pool resources to provide public goods for the entire community.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Subsidies and Grants: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Governments can offer subsidies or grants to encourage private organizations or research institutions to invest in public goods projects related to agriculture.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Public-Private Partnerships (PPPs):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Collaborations between the government and private sector entities can help mobilize resources and expertise for the provision of public goods.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7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B531-773F-E9FB-B63C-CFE51F52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89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Relevance of Public Goods to Sustainability and Community Development in Agriculture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8E95-EE14-E809-19CB-EB7AC857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Knowledge Sharing: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goods such as agricultural research and knowledge sharing contribute to sustainable farming practices, leading to improved crop yields and reduced environmental impact.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Dissemination: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goods that provide valuable information about market trends, weather forecasts, and best practices empower farmers to make informed decisions, leading to better resource management and higher profitability.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Long-Term Benefits: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Investing in public goods may not yield immediate returns, but they can have significant long-term benefits for the agriculture sector, leading to improved food security, economic development, and community well-being.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477C-D3B7-B160-5C74-1380FA96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Exercises and Case Studies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B89C-A04A-7336-96CF-23BD3533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three examples of public goods in value chain agriculture and explain why they meet the criteria of non-excludability and non-rivalry.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31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538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Lecture 14:   Public Goods</vt:lpstr>
      <vt:lpstr> </vt:lpstr>
      <vt:lpstr>TAXONOMY OF GOODS </vt:lpstr>
      <vt:lpstr>Characteristics of Public Goods</vt:lpstr>
      <vt:lpstr>Challenges in Providing Public Goods in Value Chain Agriculture  </vt:lpstr>
      <vt:lpstr>Solutions to Free-Rider Problems through Government Intervention  </vt:lpstr>
      <vt:lpstr>Relevance of Public Goods to Sustainability and Community Development in Agriculture  </vt:lpstr>
      <vt:lpstr>Exercises and Case Studies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  Public Goods</dc:title>
  <dc:creator>hp</dc:creator>
  <cp:lastModifiedBy>hp</cp:lastModifiedBy>
  <cp:revision>15</cp:revision>
  <dcterms:created xsi:type="dcterms:W3CDTF">2025-01-24T02:24:48Z</dcterms:created>
  <dcterms:modified xsi:type="dcterms:W3CDTF">2025-02-05T06:11:56Z</dcterms:modified>
</cp:coreProperties>
</file>