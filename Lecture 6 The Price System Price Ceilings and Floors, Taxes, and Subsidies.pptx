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1" d="100"/>
          <a:sy n="41" d="100"/>
        </p:scale>
        <p:origin x="6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2006279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3972982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3459916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D492DF6-401B-4115-ACB7-DAED10843A8A}"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2166925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D492DF6-401B-4115-ACB7-DAED10843A8A}"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1956191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1892100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1392340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2578964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D492DF6-401B-4115-ACB7-DAED10843A8A}"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3160886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D492DF6-401B-4115-ACB7-DAED10843A8A}"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738772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39721112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38598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1476501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3917020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314561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2056315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D492DF6-401B-4115-ACB7-DAED10843A8A}"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F4241D-A9B0-49C4-9CCF-864B122B3360}" type="slidenum">
              <a:rPr lang="en-US" smtClean="0"/>
              <a:t>‹#›</a:t>
            </a:fld>
            <a:endParaRPr lang="en-US"/>
          </a:p>
        </p:txBody>
      </p:sp>
    </p:spTree>
    <p:extLst>
      <p:ext uri="{BB962C8B-B14F-4D97-AF65-F5344CB8AC3E}">
        <p14:creationId xmlns:p14="http://schemas.microsoft.com/office/powerpoint/2010/main" val="1989610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D492DF6-401B-4115-ACB7-DAED10843A8A}" type="datetimeFigureOut">
              <a:rPr lang="en-US" smtClean="0"/>
              <a:t>3/11/2025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0F4241D-A9B0-49C4-9CCF-864B122B3360}" type="slidenum">
              <a:rPr lang="en-US" smtClean="0"/>
              <a:t>‹#›</a:t>
            </a:fld>
            <a:endParaRPr lang="en-US"/>
          </a:p>
        </p:txBody>
      </p:sp>
    </p:spTree>
    <p:extLst>
      <p:ext uri="{BB962C8B-B14F-4D97-AF65-F5344CB8AC3E}">
        <p14:creationId xmlns:p14="http://schemas.microsoft.com/office/powerpoint/2010/main" val="16841317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74FEE-9FD2-7FB7-BEF1-B2A8EA0CDB46}"/>
              </a:ext>
            </a:extLst>
          </p:cNvPr>
          <p:cNvSpPr>
            <a:spLocks noGrp="1"/>
          </p:cNvSpPr>
          <p:nvPr>
            <p:ph type="title"/>
          </p:nvPr>
        </p:nvSpPr>
        <p:spPr>
          <a:xfrm>
            <a:off x="838200" y="365125"/>
            <a:ext cx="10515600" cy="5692775"/>
          </a:xfrm>
        </p:spPr>
        <p:txBody>
          <a:bodyPr/>
          <a:lstStyle/>
          <a:p>
            <a:pPr algn="ctr"/>
            <a:r>
              <a:rPr lang="en-US" b="1" dirty="0">
                <a:latin typeface="Century Gothic" panose="020B0502020202020204" pitchFamily="34" charset="0"/>
                <a:ea typeface="Calibri" panose="020F0502020204030204" pitchFamily="34" charset="0"/>
                <a:cs typeface="Times New Roman" panose="02020603050405020304" pitchFamily="18" charset="0"/>
              </a:rPr>
              <a:t>Lecture </a:t>
            </a:r>
            <a:r>
              <a:rPr lang="en-US" b="1" dirty="0" smtClean="0">
                <a:latin typeface="Century Gothic" panose="020B0502020202020204" pitchFamily="34" charset="0"/>
                <a:ea typeface="Calibri" panose="020F0502020204030204" pitchFamily="34" charset="0"/>
                <a:cs typeface="Times New Roman" panose="02020603050405020304" pitchFamily="18" charset="0"/>
              </a:rPr>
              <a:t>6:</a:t>
            </a:r>
            <a:br>
              <a:rPr lang="en-US" b="1" dirty="0" smtClean="0">
                <a:latin typeface="Century Gothic" panose="020B0502020202020204" pitchFamily="34" charset="0"/>
                <a:ea typeface="Calibri" panose="020F0502020204030204" pitchFamily="34" charset="0"/>
                <a:cs typeface="Times New Roman" panose="02020603050405020304" pitchFamily="18" charset="0"/>
              </a:rPr>
            </a:br>
            <a:r>
              <a:rPr lang="en-US" b="1" dirty="0">
                <a:latin typeface="Century Gothic" panose="020B0502020202020204" pitchFamily="34" charset="0"/>
                <a:ea typeface="Calibri" panose="020F0502020204030204" pitchFamily="34" charset="0"/>
                <a:cs typeface="Times New Roman" panose="02020603050405020304" pitchFamily="18" charset="0"/>
              </a:rPr>
              <a:t/>
            </a:r>
            <a:br>
              <a:rPr lang="en-US" b="1" dirty="0">
                <a:latin typeface="Century Gothic" panose="020B0502020202020204" pitchFamily="34" charset="0"/>
                <a:ea typeface="Calibri" panose="020F0502020204030204" pitchFamily="34" charset="0"/>
                <a:cs typeface="Times New Roman" panose="02020603050405020304" pitchFamily="18" charset="0"/>
              </a:rPr>
            </a:br>
            <a:r>
              <a:rPr lang="en-US" b="1" dirty="0" smtClean="0">
                <a:latin typeface="Century Gothic" panose="020B0502020202020204" pitchFamily="34" charset="0"/>
                <a:ea typeface="Calibri" panose="020F0502020204030204" pitchFamily="34" charset="0"/>
                <a:cs typeface="Times New Roman" panose="02020603050405020304" pitchFamily="18" charset="0"/>
              </a:rPr>
              <a:t>The </a:t>
            </a:r>
            <a:r>
              <a:rPr lang="en-US" b="1" dirty="0">
                <a:latin typeface="Century Gothic" panose="020B0502020202020204" pitchFamily="34" charset="0"/>
                <a:ea typeface="Calibri" panose="020F0502020204030204" pitchFamily="34" charset="0"/>
                <a:cs typeface="Times New Roman" panose="02020603050405020304" pitchFamily="18" charset="0"/>
              </a:rPr>
              <a:t>Price System</a:t>
            </a:r>
            <a:r>
              <a:rPr lang="en-US" b="1" dirty="0" smtClean="0">
                <a:latin typeface="Century Gothic" panose="020B0502020202020204" pitchFamily="34" charset="0"/>
                <a:ea typeface="Calibri" panose="020F0502020204030204" pitchFamily="34" charset="0"/>
                <a:cs typeface="Times New Roman" panose="02020603050405020304" pitchFamily="18" charset="0"/>
              </a:rPr>
              <a:t>:</a:t>
            </a:r>
            <a:br>
              <a:rPr lang="en-US" b="1" dirty="0" smtClean="0">
                <a:latin typeface="Century Gothic" panose="020B0502020202020204" pitchFamily="34" charset="0"/>
                <a:ea typeface="Calibri" panose="020F0502020204030204" pitchFamily="34" charset="0"/>
                <a:cs typeface="Times New Roman" panose="02020603050405020304" pitchFamily="18" charset="0"/>
              </a:rPr>
            </a:br>
            <a:r>
              <a:rPr lang="en-US" b="1" dirty="0">
                <a:latin typeface="Century Gothic" panose="020B0502020202020204" pitchFamily="34" charset="0"/>
                <a:ea typeface="Calibri" panose="020F0502020204030204" pitchFamily="34" charset="0"/>
                <a:cs typeface="Times New Roman" panose="02020603050405020304" pitchFamily="18" charset="0"/>
              </a:rPr>
              <a:t/>
            </a:r>
            <a:br>
              <a:rPr lang="en-US" b="1" dirty="0">
                <a:latin typeface="Century Gothic" panose="020B0502020202020204" pitchFamily="34" charset="0"/>
                <a:ea typeface="Calibri" panose="020F0502020204030204" pitchFamily="34" charset="0"/>
                <a:cs typeface="Times New Roman" panose="02020603050405020304" pitchFamily="18" charset="0"/>
              </a:rPr>
            </a:br>
            <a:r>
              <a:rPr lang="en-US" b="1" dirty="0" smtClean="0">
                <a:latin typeface="Century Gothic" panose="020B0502020202020204" pitchFamily="34" charset="0"/>
                <a:ea typeface="Calibri" panose="020F0502020204030204" pitchFamily="34" charset="0"/>
                <a:cs typeface="Times New Roman" panose="02020603050405020304" pitchFamily="18" charset="0"/>
              </a:rPr>
              <a:t> </a:t>
            </a:r>
            <a:r>
              <a:rPr lang="en-US" b="1" dirty="0">
                <a:latin typeface="Century Gothic" panose="020B0502020202020204" pitchFamily="34" charset="0"/>
                <a:ea typeface="Calibri" panose="020F0502020204030204" pitchFamily="34" charset="0"/>
                <a:cs typeface="Times New Roman" panose="02020603050405020304" pitchFamily="18" charset="0"/>
              </a:rPr>
              <a:t>Price Ceilings and Floors, Taxes, and Subsidies </a:t>
            </a:r>
            <a:endParaRPr lang="en-US" dirty="0"/>
          </a:p>
        </p:txBody>
      </p:sp>
    </p:spTree>
    <p:extLst>
      <p:ext uri="{BB962C8B-B14F-4D97-AF65-F5344CB8AC3E}">
        <p14:creationId xmlns:p14="http://schemas.microsoft.com/office/powerpoint/2010/main" val="3162697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F6C158-E671-BF2C-B305-08C8FB37E3C6}"/>
              </a:ext>
            </a:extLst>
          </p:cNvPr>
          <p:cNvSpPr>
            <a:spLocks noGrp="1"/>
          </p:cNvSpPr>
          <p:nvPr>
            <p:ph idx="1"/>
          </p:nvPr>
        </p:nvSpPr>
        <p:spPr>
          <a:xfrm>
            <a:off x="838200" y="1485901"/>
            <a:ext cx="10515600" cy="4691062"/>
          </a:xfrm>
        </p:spPr>
        <p:txBody>
          <a:bodyPr/>
          <a:lstStyle/>
          <a:p>
            <a:pPr algn="just">
              <a:lnSpc>
                <a:spcPct val="107000"/>
              </a:lnSpc>
              <a:spcBef>
                <a:spcPts val="0"/>
              </a:spcBef>
              <a:spcAft>
                <a:spcPts val="800"/>
              </a:spcAft>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Understanding these price policies and government interventions is crucial for value-chain agriculture students as they can significantly influence market dynamics and welfare.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35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7136-5431-8083-C1E1-6E837689CC69}"/>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Definition of Price Ceilings and Floors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C3C441C0-E31F-83C9-EA0B-F3ACF9C69418}"/>
              </a:ext>
            </a:extLst>
          </p:cNvPr>
          <p:cNvSpPr>
            <a:spLocks noGrp="1"/>
          </p:cNvSpPr>
          <p:nvPr>
            <p:ph idx="1"/>
          </p:nvPr>
        </p:nvSpPr>
        <p:spPr/>
        <p:txBody>
          <a:bodyPr>
            <a:normAutofit lnSpcReduction="10000"/>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Ceiling: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price ceiling is a maximum price set by the government or regulatory authorities above which a good or service cannot be sold.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is designed to protect consumers by keeping prices affordable.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Floor: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A price floor is a minimum price set by the government or regulatory authorities below which a good or service cannot be sold.</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It is intended to support producers by ensuring they receive a certain income level.</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2308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684F-9750-D326-5452-9AF0208685D4}"/>
              </a:ext>
            </a:extLst>
          </p:cNvPr>
          <p:cNvSpPr>
            <a:spLocks noGrp="1"/>
          </p:cNvSpPr>
          <p:nvPr>
            <p:ph type="title"/>
          </p:nvPr>
        </p:nvSpPr>
        <p:spPr/>
        <p:txBody>
          <a:bodyPr>
            <a:normAutofit fontScale="90000"/>
          </a:bodyPr>
          <a:lstStyle/>
          <a:p>
            <a:pPr algn="ctr"/>
            <a:r>
              <a:rPr lang="en-US" sz="4900" b="1" kern="100" dirty="0">
                <a:latin typeface="Century Gothic" panose="020B0502020202020204" pitchFamily="34" charset="0"/>
                <a:ea typeface="Calibri" panose="020F0502020204030204" pitchFamily="34" charset="0"/>
                <a:cs typeface="Times New Roman" panose="02020603050405020304" pitchFamily="18" charset="0"/>
              </a:rPr>
              <a:t>Implications of Price Ceilings and Floors in Agricultural Markets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F8EE5C4-1C3C-16A0-D87F-517ED4D98571}"/>
              </a:ext>
            </a:extLst>
          </p:cNvPr>
          <p:cNvSpPr>
            <a:spLocks noGrp="1"/>
          </p:cNvSpPr>
          <p:nvPr>
            <p:ph idx="1"/>
          </p:nvPr>
        </p:nvSpPr>
        <p:spPr/>
        <p:txBody>
          <a:bodyPr>
            <a:normAutofit/>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Ceilings: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Consumers: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ceilings can benefit consumers by making goods more affordable. However, they may lead to shortages if the ceiling is set below the market equilibrium price.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Producers: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ceilings can negatively affect producers' profitability if the ceiling is set below the production cost, potentially leading to a decrease in supply.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Efficiency: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ceilings can result in inefficient allocation of resources, as the quantity demanded may exceed the quantity supplied.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81553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5EA9C-1CA2-BEF1-CBF6-2B26984CA239}"/>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Implications of Price Ceilings and Floors in Agricultural Markets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6E61D77-9FB8-610D-EBC8-F69DC6A8E1EF}"/>
              </a:ext>
            </a:extLst>
          </p:cNvPr>
          <p:cNvSpPr>
            <a:spLocks noGrp="1"/>
          </p:cNvSpPr>
          <p:nvPr>
            <p:ph idx="1"/>
          </p:nvPr>
        </p:nvSpPr>
        <p:spPr/>
        <p:txBody>
          <a:bodyPr>
            <a:normAutofit/>
          </a:bodyPr>
          <a:lstStyle/>
          <a:p>
            <a:pPr marL="0" indent="0" algn="just">
              <a:lnSpc>
                <a:spcPct val="107000"/>
              </a:lnSpc>
              <a:spcBef>
                <a:spcPts val="0"/>
              </a:spcBef>
              <a:spcAft>
                <a:spcPts val="800"/>
              </a:spcAft>
              <a:buNone/>
            </a:pPr>
            <a:r>
              <a:rPr lang="en-US" b="1" kern="100" dirty="0">
                <a:latin typeface="Century Gothic" panose="020B0502020202020204" pitchFamily="34" charset="0"/>
                <a:ea typeface="Calibri" panose="020F0502020204030204" pitchFamily="34" charset="0"/>
                <a:cs typeface="Times New Roman" panose="02020603050405020304" pitchFamily="18" charset="0"/>
              </a:rPr>
              <a:t>Price Floors: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Producers: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floors ensure that producers receive a minimum income, which can be beneficial in the agricultural sector. However, if the floor is set above the market equilibrium price, it may lead to surpluses.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Impact on Consumers: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floors can lead to higher prices for consumers, potentially reducing consumer welfare.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b="1" i="1" kern="100" dirty="0">
                <a:latin typeface="Century Gothic" panose="020B0502020202020204" pitchFamily="34" charset="0"/>
                <a:ea typeface="Calibri" panose="020F0502020204030204" pitchFamily="34" charset="0"/>
                <a:cs typeface="Times New Roman" panose="02020603050405020304" pitchFamily="18" charset="0"/>
              </a:rPr>
              <a:t>Market Efficiency: </a:t>
            </a:r>
            <a:r>
              <a:rPr lang="en-US" kern="100" dirty="0">
                <a:latin typeface="Century Gothic" panose="020B0502020202020204" pitchFamily="34" charset="0"/>
                <a:ea typeface="Calibri" panose="020F0502020204030204" pitchFamily="34" charset="0"/>
                <a:cs typeface="Times New Roman" panose="02020603050405020304" pitchFamily="18" charset="0"/>
              </a:rPr>
              <a:t>Price floors can also result in inefficient resource allocation, as the quantity supplied may exceed the quantity demanded.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61119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088F5-AE38-EE7B-6DD9-61AC78F84692}"/>
              </a:ext>
            </a:extLst>
          </p:cNvPr>
          <p:cNvSpPr>
            <a:spLocks noGrp="1"/>
          </p:cNvSpPr>
          <p:nvPr>
            <p:ph type="title"/>
          </p:nvPr>
        </p:nvSpPr>
        <p:spPr/>
        <p:txBody>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Understanding Taxes and Subsidies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90C2D9C-6ED6-9E77-65E9-E290018C3D5D}"/>
              </a:ext>
            </a:extLst>
          </p:cNvPr>
          <p:cNvSpPr>
            <a:spLocks noGrp="1"/>
          </p:cNvSpPr>
          <p:nvPr>
            <p:ph idx="1"/>
          </p:nvPr>
        </p:nvSpPr>
        <p:spPr/>
        <p:txBody>
          <a:bodyPr>
            <a:normAutofit/>
          </a:bodyPr>
          <a:lstStyle/>
          <a:p>
            <a:pPr marL="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Taxes are government-imposed charges on goods and services.</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agriculture, taxes can be levied on agricultural products or inputs.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Subsidies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Subsidies are financial assistance provided by the government to support producers or consumers. </a:t>
            </a: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In agriculture, subsidies can be given to farmers to promote production or to consumers to make goods more affordable.</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10777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107B8-60C4-EA87-7E28-4AF2C146881F}"/>
              </a:ext>
            </a:extLst>
          </p:cNvPr>
          <p:cNvSpPr>
            <a:spLocks noGrp="1"/>
          </p:cNvSpPr>
          <p:nvPr>
            <p:ph type="title"/>
          </p:nvPr>
        </p:nvSpPr>
        <p:spPr/>
        <p:txBody>
          <a:bodyPr>
            <a:normAutofit fontScale="90000"/>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Impact of Taxes and Subsidies on </a:t>
            </a:r>
            <a:r>
              <a:rPr lang="en-US" sz="4900" b="1" kern="100" dirty="0">
                <a:latin typeface="Century Gothic" panose="020B0502020202020204" pitchFamily="34" charset="0"/>
                <a:ea typeface="Calibri" panose="020F0502020204030204" pitchFamily="34" charset="0"/>
                <a:cs typeface="Times New Roman" panose="02020603050405020304" pitchFamily="18" charset="0"/>
              </a:rPr>
              <a:t>Agricultural</a:t>
            </a:r>
            <a:r>
              <a:rPr lang="en-US" b="1" kern="100" dirty="0">
                <a:latin typeface="Century Gothic" panose="020B0502020202020204" pitchFamily="34" charset="0"/>
                <a:ea typeface="Calibri" panose="020F0502020204030204" pitchFamily="34" charset="0"/>
                <a:cs typeface="Times New Roman" panose="02020603050405020304" pitchFamily="18" charset="0"/>
              </a:rPr>
              <a:t> Producers and Consumers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1CC24B4-5378-AFBA-42BD-91CF6A40A55D}"/>
              </a:ext>
            </a:extLst>
          </p:cNvPr>
          <p:cNvSpPr>
            <a:spLocks noGrp="1"/>
          </p:cNvSpPr>
          <p:nvPr>
            <p:ph idx="1"/>
          </p:nvPr>
        </p:nvSpPr>
        <p:spPr/>
        <p:txBody>
          <a:bodyPr>
            <a:normAutofit fontScale="92500" lnSpcReduction="10000"/>
          </a:bodyPr>
          <a:lstStyle/>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 on Producers </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Taxes on agricultural producers increase their production costs, leading to a decrease in supply and potentially higher prices for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Taxes on Consumers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Taxes on agricultural products increase the final price paid by consumers, leading to a decrease in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Subsidies to Producers </a:t>
            </a:r>
            <a:endParaRPr lang="en-US" b="1" i="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Subsidies to agricultural producers lower their production costs, leading to an increase in supply and potentially lower prices for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US" b="1" i="1" kern="100" dirty="0">
                <a:latin typeface="Century Gothic" panose="020B0502020202020204" pitchFamily="34" charset="0"/>
                <a:ea typeface="Calibri" panose="020F0502020204030204" pitchFamily="34" charset="0"/>
                <a:cs typeface="Times New Roman" panose="02020603050405020304" pitchFamily="18" charset="0"/>
              </a:rPr>
              <a:t>Subsidies to Consumers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Subsidies to consumers reduce the final price paid by consumers, leading to an increase in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5268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7A76A-6982-2815-3230-C74A82971BA4}"/>
              </a:ext>
            </a:extLst>
          </p:cNvPr>
          <p:cNvSpPr>
            <a:spLocks noGrp="1"/>
          </p:cNvSpPr>
          <p:nvPr>
            <p:ph type="title"/>
          </p:nvPr>
        </p:nvSpPr>
        <p:spPr>
          <a:xfrm>
            <a:off x="813816" y="1871530"/>
            <a:ext cx="10515600" cy="2773622"/>
          </a:xfrm>
        </p:spPr>
        <p:txBody>
          <a:bodyPr>
            <a:normAutofit/>
          </a:bodyPr>
          <a:lstStyle/>
          <a:p>
            <a:pPr algn="ct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Studies on Government Interventions in Value Chain Agriculture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437196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81C86-6F17-E84F-6CE3-4CF6485BB704}"/>
              </a:ext>
            </a:extLst>
          </p:cNvPr>
          <p:cNvSpPr>
            <a:spLocks noGrp="1"/>
          </p:cNvSpPr>
          <p:nvPr>
            <p:ph type="title"/>
          </p:nvPr>
        </p:nvSpPr>
        <p:spPr/>
        <p:txBody>
          <a:bodyPr/>
          <a:lstStyle/>
          <a:p>
            <a:pPr algn="ctr"/>
            <a:r>
              <a:rPr lang="en-US" b="1" i="1" kern="100" dirty="0">
                <a:latin typeface="Century Gothic" panose="020B0502020202020204" pitchFamily="34" charset="0"/>
                <a:ea typeface="Calibri" panose="020F0502020204030204" pitchFamily="34" charset="0"/>
                <a:cs typeface="Times New Roman" panose="02020603050405020304" pitchFamily="18" charset="0"/>
              </a:rPr>
              <a:t>Case Study 1: </a:t>
            </a:r>
            <a:endParaRPr lang="en-US" dirty="0"/>
          </a:p>
        </p:txBody>
      </p:sp>
      <p:sp>
        <p:nvSpPr>
          <p:cNvPr id="3" name="Content Placeholder 2">
            <a:extLst>
              <a:ext uri="{FF2B5EF4-FFF2-40B4-BE49-F238E27FC236}">
                <a16:creationId xmlns:a16="http://schemas.microsoft.com/office/drawing/2014/main" id="{A61741B4-D121-B264-D3BC-63AD40019FAC}"/>
              </a:ext>
            </a:extLst>
          </p:cNvPr>
          <p:cNvSpPr>
            <a:spLocks noGrp="1"/>
          </p:cNvSpPr>
          <p:nvPr>
            <p:ph idx="1"/>
          </p:nvPr>
        </p:nvSpPr>
        <p:spPr/>
        <p:txBody>
          <a:bodyPr/>
          <a:lstStyle/>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Price Ceiling on Essential Agricultural Commodities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government's intervention to control prices of essential agricultural products to protect consumers.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i="1" kern="100" dirty="0">
                <a:latin typeface="Century Gothic" panose="020B0502020202020204" pitchFamily="34" charset="0"/>
                <a:ea typeface="Calibri" panose="020F0502020204030204" pitchFamily="34" charset="0"/>
                <a:cs typeface="Times New Roman" panose="02020603050405020304" pitchFamily="18" charset="0"/>
              </a:rPr>
              <a:t>Analyze the impact on market equilibrium, supply, and demand.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9044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E1537-D04F-258F-2271-A40B4298C60C}"/>
              </a:ext>
            </a:extLst>
          </p:cNvPr>
          <p:cNvSpPr>
            <a:spLocks noGrp="1"/>
          </p:cNvSpPr>
          <p:nvPr>
            <p:ph type="title"/>
          </p:nvPr>
        </p:nvSpPr>
        <p:spPr/>
        <p:txBody>
          <a:bodyPr>
            <a:normAutofit fontScale="90000"/>
          </a:bodyPr>
          <a:lstStyle/>
          <a:p>
            <a:pPr marL="0" marR="0" algn="ctr">
              <a:lnSpc>
                <a:spcPct val="107000"/>
              </a:lnSpc>
              <a:spcBef>
                <a:spcPts val="0"/>
              </a:spcBef>
              <a:spcAft>
                <a:spcPts val="800"/>
              </a:spcAft>
            </a:pPr>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2: Price Floor on Agricultural Products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6DBEABD-4D34-B8D5-2D7B-3D2269435509}"/>
              </a:ext>
            </a:extLst>
          </p:cNvPr>
          <p:cNvSpPr>
            <a:spLocks noGrp="1"/>
          </p:cNvSpPr>
          <p:nvPr>
            <p:ph idx="1"/>
          </p:nvPr>
        </p:nvSpPr>
        <p:spPr/>
        <p:txBody>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-Discuss the government's intervention to support agricultural producers by setting a price floor on specific crops.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-Examine the implications on producer income, consumer welfare, and market efficiency.</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9505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7B52-68CA-EF15-0903-37344467A155}"/>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Case study 3: Agricultural Subsidies for Sustainable Farming Practices</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D113C90-8388-B4E6-27F3-E4E2425B2D98}"/>
              </a:ext>
            </a:extLst>
          </p:cNvPr>
          <p:cNvSpPr>
            <a:spLocks noGrp="1"/>
          </p:cNvSpPr>
          <p:nvPr>
            <p:ph idx="1"/>
          </p:nvPr>
        </p:nvSpPr>
        <p:spPr/>
        <p:txBody>
          <a:bodyPr/>
          <a:lstStyle/>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-Highlight government initiatives to provide subsidies to farmers adopting sustainable and environmentally friendly farming practices.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0"/>
              </a:spcBef>
              <a:spcAft>
                <a:spcPts val="800"/>
              </a:spcAft>
              <a:buNone/>
            </a:pPr>
            <a:r>
              <a:rPr lang="en-US" i="1" kern="100" dirty="0">
                <a:latin typeface="Century Gothic" panose="020B0502020202020204" pitchFamily="34" charset="0"/>
                <a:ea typeface="Calibri" panose="020F0502020204030204" pitchFamily="34" charset="0"/>
                <a:cs typeface="Times New Roman" panose="02020603050405020304" pitchFamily="18" charset="0"/>
              </a:rPr>
              <a:t>-Assess the effects on agricultural production, environmental conservation, and consumer choices.</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74037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14AC1-89E9-3882-3D47-42E00B70A301}"/>
              </a:ext>
            </a:extLst>
          </p:cNvPr>
          <p:cNvSpPr>
            <a:spLocks noGrp="1"/>
          </p:cNvSpPr>
          <p:nvPr>
            <p:ph type="title"/>
          </p:nvPr>
        </p:nvSpPr>
        <p:spPr/>
        <p:txBody>
          <a:bodyPr>
            <a:normAutofit fontScale="90000"/>
          </a:bodyPr>
          <a:lstStyle/>
          <a:p>
            <a:r>
              <a:rPr lang="en-US" b="1" kern="100" dirty="0">
                <a:latin typeface="Century Gothic" panose="020B0502020202020204" pitchFamily="34" charset="0"/>
                <a:ea typeface="Calibri" panose="020F0502020204030204" pitchFamily="34" charset="0"/>
                <a:cs typeface="Times New Roman" panose="02020603050405020304" pitchFamily="18" charset="0"/>
              </a:rPr>
              <a:t>Exercises: The Price System: Price Ceilings and Floors, Taxes, and Subsidies</a:t>
            </a:r>
            <a:r>
              <a:rPr lang="en-US" kern="100" dirty="0">
                <a:latin typeface="Century Gothic" panose="020B0502020202020204" pitchFamily="34" charset="0"/>
                <a:ea typeface="Calibri" panose="020F0502020204030204" pitchFamily="34" charset="0"/>
                <a:cs typeface="Times New Roman" panose="02020603050405020304" pitchFamily="18" charset="0"/>
              </a:rPr>
              <a:t>: </a:t>
            </a:r>
            <a:r>
              <a:rPr lang="en-US" kern="100" dirty="0">
                <a:latin typeface="Calibri" panose="020F0502020204030204" pitchFamily="34" charset="0"/>
                <a:ea typeface="Calibri" panose="020F0502020204030204" pitchFamily="34" charset="0"/>
                <a:cs typeface="Times New Roman" panose="02020603050405020304" pitchFamily="18" charset="0"/>
              </a:rPr>
              <a:t/>
            </a:r>
            <a:br>
              <a:rPr lang="en-US" kern="1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1E77B65-800C-FBC5-3926-BF68719A04DC}"/>
              </a:ext>
            </a:extLst>
          </p:cNvPr>
          <p:cNvSpPr>
            <a:spLocks noGrp="1"/>
          </p:cNvSpPr>
          <p:nvPr>
            <p:ph idx="1"/>
          </p:nvPr>
        </p:nvSpPr>
        <p:spPr/>
        <p:txBody>
          <a:bodyPr>
            <a:normAutofit fontScale="62500" lnSpcReduction="20000"/>
          </a:bodyPr>
          <a:lstStyle/>
          <a:p>
            <a:pPr algn="just">
              <a:lnSpc>
                <a:spcPct val="107000"/>
              </a:lnSpc>
              <a:spcBef>
                <a:spcPts val="0"/>
              </a:spcBef>
              <a:spcAft>
                <a:spcPts val="800"/>
              </a:spcAft>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Price Ceiling Analysis: </a:t>
            </a:r>
            <a:r>
              <a:rPr lang="en-US" sz="3600" i="1" kern="100" dirty="0">
                <a:latin typeface="Century Gothic" panose="020B0502020202020204" pitchFamily="34" charset="0"/>
                <a:ea typeface="Calibri" panose="020F0502020204030204" pitchFamily="34" charset="0"/>
                <a:cs typeface="Times New Roman" panose="02020603050405020304" pitchFamily="18" charset="0"/>
              </a:rPr>
              <a:t>The government imposes a price ceiling of MWK5 per kilogram on tomatoes to ensure affordability. The market equilibrium price is MWK6 per kilogram. Calculate the quantity demanded and supplied at the price ceiling, and determine if there will be a shortage or surplus of tomatoes.</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3600" b="1" i="1" kern="100" dirty="0">
                <a:latin typeface="Century Gothic" panose="020B0502020202020204" pitchFamily="34" charset="0"/>
                <a:ea typeface="Calibri" panose="020F0502020204030204" pitchFamily="34" charset="0"/>
                <a:cs typeface="Times New Roman" panose="02020603050405020304" pitchFamily="18" charset="0"/>
              </a:rPr>
              <a:t>Price Floor Calculation: </a:t>
            </a:r>
            <a:r>
              <a:rPr lang="en-US" sz="3600" i="1" kern="100" dirty="0">
                <a:latin typeface="Century Gothic" panose="020B0502020202020204" pitchFamily="34" charset="0"/>
                <a:ea typeface="Calibri" panose="020F0502020204030204" pitchFamily="34" charset="0"/>
                <a:cs typeface="Times New Roman" panose="02020603050405020304" pitchFamily="18" charset="0"/>
              </a:rPr>
              <a:t>The government sets a price floor of MWK20 per bushel for wheat to support farmers. The market equilibrium price is MWK18 per bushel. Calculate the quantity demanded and supplied at the price floor, and determine if there will be a surplus or shortage of wheat.</a:t>
            </a:r>
            <a:endParaRPr lang="en-US" sz="36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19208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6ED3C8-C24D-FDFD-B89D-0DCB850583EC}"/>
              </a:ext>
            </a:extLst>
          </p:cNvPr>
          <p:cNvSpPr>
            <a:spLocks noGrp="1"/>
          </p:cNvSpPr>
          <p:nvPr>
            <p:ph idx="1"/>
          </p:nvPr>
        </p:nvSpPr>
        <p:spPr>
          <a:xfrm>
            <a:off x="838200" y="1309255"/>
            <a:ext cx="10515600" cy="4867708"/>
          </a:xfrm>
        </p:spPr>
        <p:txBody>
          <a:bodyPr>
            <a:normAutofit fontScale="85000" lnSpcReduction="20000"/>
          </a:bodyPr>
          <a:lstStyle/>
          <a:p>
            <a:pPr algn="just">
              <a:lnSpc>
                <a:spcPct val="107000"/>
              </a:lnSpc>
              <a:spcBef>
                <a:spcPts val="0"/>
              </a:spcBef>
              <a:spcAft>
                <a:spcPts val="800"/>
              </a:spcAft>
            </a:pPr>
            <a:r>
              <a:rPr lang="en-US" sz="2800" b="1" i="1" kern="100" dirty="0">
                <a:latin typeface="Century Gothic" panose="020B0502020202020204" pitchFamily="34" charset="0"/>
                <a:ea typeface="Calibri" panose="020F0502020204030204" pitchFamily="34" charset="0"/>
                <a:cs typeface="Times New Roman" panose="02020603050405020304" pitchFamily="18" charset="0"/>
              </a:rPr>
              <a:t>Taxes on Producers: </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Assume the government levies a MWK2 per unit tax on each sack of potatoes produced by farmers. The market equilibrium price without the tax is MWK12 per sack. Calculate the new equilibrium price with the tax and the effective price received by producers after the tax.</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b="1" i="1" kern="100" dirty="0">
                <a:latin typeface="Century Gothic" panose="020B0502020202020204" pitchFamily="34" charset="0"/>
                <a:ea typeface="Calibri" panose="020F0502020204030204" pitchFamily="34" charset="0"/>
                <a:cs typeface="Times New Roman" panose="02020603050405020304" pitchFamily="18" charset="0"/>
              </a:rPr>
              <a:t>Taxes on Consumers: </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The government imposes a 10% sales tax on dairy products, which originally cost MWK100. Calculate the final price paid by consumers after the tax is applied.</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0"/>
              </a:spcBef>
              <a:spcAft>
                <a:spcPts val="800"/>
              </a:spcAft>
            </a:pPr>
            <a:r>
              <a:rPr lang="en-US" sz="2800" b="1" i="1" kern="100" dirty="0">
                <a:latin typeface="Century Gothic" panose="020B0502020202020204" pitchFamily="34" charset="0"/>
                <a:ea typeface="Calibri" panose="020F0502020204030204" pitchFamily="34" charset="0"/>
                <a:cs typeface="Times New Roman" panose="02020603050405020304" pitchFamily="18" charset="0"/>
              </a:rPr>
              <a:t>Agricultural Subsidies: </a:t>
            </a:r>
            <a:r>
              <a:rPr lang="en-US" sz="2800" i="1" kern="100" dirty="0">
                <a:latin typeface="Century Gothic" panose="020B0502020202020204" pitchFamily="34" charset="0"/>
                <a:ea typeface="Calibri" panose="020F0502020204030204" pitchFamily="34" charset="0"/>
                <a:cs typeface="Times New Roman" panose="02020603050405020304" pitchFamily="18" charset="0"/>
              </a:rPr>
              <a:t>The government provides a subsidy of MWK3 per unit for each box of strawberries sold by farmers. The market equilibrium price without the subsidy is MWK8 per box. Calculate the new equilibrium price with the subsidy and the effective price received by farmers after the subsidy</a:t>
            </a:r>
            <a:r>
              <a:rPr lang="en-US" sz="2800" kern="100" dirty="0">
                <a:latin typeface="Century Gothic" panose="020B0502020202020204" pitchFamily="34" charset="0"/>
                <a:ea typeface="Calibri" panose="020F0502020204030204" pitchFamily="34" charset="0"/>
                <a:cs typeface="Times New Roman" panose="02020603050405020304" pitchFamily="18" charset="0"/>
              </a:rPr>
              <a:t>.</a:t>
            </a:r>
            <a:endParaRPr lang="en-US" sz="2800" kern="1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455568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TotalTime>
  <Words>853</Words>
  <Application>Microsoft Office PowerPoint</Application>
  <PresentationFormat>Widescreen</PresentationFormat>
  <Paragraphs>53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Century Gothic</vt:lpstr>
      <vt:lpstr>Times New Roman</vt:lpstr>
      <vt:lpstr>Wingdings 3</vt:lpstr>
      <vt:lpstr>Ion</vt:lpstr>
      <vt:lpstr>Lecture 6:  The Price System:   Price Ceilings and Floors, Taxes, and Subsidies </vt:lpstr>
      <vt:lpstr>PowerPoint Presentation</vt:lpstr>
      <vt:lpstr>Definition of Price Ceilings and Floors  </vt:lpstr>
      <vt:lpstr>Implications of Price Ceilings and Floors in Agricultural Markets  </vt:lpstr>
      <vt:lpstr>Implications of Price Ceilings and Floors in Agricultural Markets  </vt:lpstr>
      <vt:lpstr>Understanding Taxes and Subsidies  </vt:lpstr>
      <vt:lpstr>Impact of Taxes and Subsidies on Agricultural Producers and Consumers  </vt:lpstr>
      <vt:lpstr>Case Studies on Government Interventions in Value Chain Agriculture  </vt:lpstr>
      <vt:lpstr>Case Study 1: </vt:lpstr>
      <vt:lpstr>  Case study 2: Price Floor on Agricultural Products </vt:lpstr>
      <vt:lpstr>Case study 3: Agricultural Subsidies for Sustainable Farming Practices </vt:lpstr>
      <vt:lpstr>Exercises: The Price System: Price Ceilings and Floors, Taxes, and Subsidies: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2</cp:revision>
  <dcterms:created xsi:type="dcterms:W3CDTF">2025-01-24T02:12:42Z</dcterms:created>
  <dcterms:modified xsi:type="dcterms:W3CDTF">2025-03-11T05:25:33Z</dcterms:modified>
</cp:coreProperties>
</file>