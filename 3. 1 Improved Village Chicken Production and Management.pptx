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418" r:id="rId2"/>
    <p:sldId id="417" r:id="rId3"/>
    <p:sldId id="430" r:id="rId4"/>
    <p:sldId id="429" r:id="rId5"/>
    <p:sldId id="421" r:id="rId6"/>
    <p:sldId id="428" r:id="rId7"/>
    <p:sldId id="42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9687B-8F79-4DEC-9A6D-52FE0EB2A964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DC661D-2298-4EF0-BDE2-A20D43F71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46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52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406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99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10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22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64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33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40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74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84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88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7152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85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22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56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76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0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825AC04-B6F7-48FB-A4B3-21296E40EA4A}" type="datetimeFigureOut">
              <a:rPr lang="en-US" smtClean="0"/>
              <a:t>30-Dec-25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3AA93-4D1D-4A5B-9DF8-AA12E5349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103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1913744" y="1900285"/>
            <a:ext cx="8475649" cy="2387600"/>
          </a:xfrm>
        </p:spPr>
        <p:txBody>
          <a:bodyPr>
            <a:noAutofit/>
          </a:bodyPr>
          <a:lstStyle/>
          <a:p>
            <a:r>
              <a:rPr lang="en-GB" sz="5400" b="1" dirty="0"/>
              <a:t>Improved Village Chicken Production and Management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2495550" y="4987925"/>
            <a:ext cx="6858000" cy="165576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Michael Luwe</a:t>
            </a:r>
          </a:p>
          <a:p>
            <a:r>
              <a:rPr lang="en-GB" b="1" dirty="0">
                <a:solidFill>
                  <a:srgbClr val="0070C0"/>
                </a:solidFill>
              </a:rPr>
              <a:t>Veterinarian</a:t>
            </a:r>
          </a:p>
          <a:p>
            <a:r>
              <a:rPr lang="en-GB" b="1" dirty="0">
                <a:solidFill>
                  <a:srgbClr val="0070C0"/>
                </a:solidFill>
              </a:rPr>
              <a:t>Department of Animal Health and Livestock Development</a:t>
            </a:r>
          </a:p>
        </p:txBody>
      </p:sp>
      <p:pic>
        <p:nvPicPr>
          <p:cNvPr id="5" name="Picture 4" descr="1 Principles of Livestock Production 1 BTCD 2303.pptx [Autosaved] - Microsoft PowerPoint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1" t="28367" r="21406" b="65887"/>
          <a:stretch/>
        </p:blipFill>
        <p:spPr>
          <a:xfrm>
            <a:off x="1913745" y="284814"/>
            <a:ext cx="8475649" cy="79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189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885825"/>
            <a:ext cx="7886700" cy="5291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Types of Village Chicken</a:t>
            </a:r>
          </a:p>
          <a:p>
            <a:pPr marL="0" indent="0">
              <a:buNone/>
            </a:pPr>
            <a:endParaRPr lang="en-GB" sz="2200" dirty="0">
              <a:latin typeface="Century Gothic" panose="020B0502020202020204" pitchFamily="34" charset="0"/>
            </a:endParaRPr>
          </a:p>
          <a:p>
            <a:endParaRPr lang="en-GB" sz="2200" dirty="0">
              <a:latin typeface="Century Gothic" panose="020B0502020202020204" pitchFamily="34" charset="0"/>
            </a:endParaRPr>
          </a:p>
          <a:p>
            <a:endParaRPr lang="en-GB" sz="2200" dirty="0">
              <a:latin typeface="Century Gothic" panose="020B0502020202020204" pitchFamily="34" charset="0"/>
            </a:endParaRPr>
          </a:p>
          <a:p>
            <a:endParaRPr lang="en-GB" sz="2200" dirty="0">
              <a:latin typeface="Century Gothic" panose="020B0502020202020204" pitchFamily="34" charset="0"/>
            </a:endParaRPr>
          </a:p>
          <a:p>
            <a:endParaRPr lang="en-GB" sz="2200" dirty="0">
              <a:latin typeface="Century Gothic" panose="020B0502020202020204" pitchFamily="34" charset="0"/>
            </a:endParaRPr>
          </a:p>
          <a:p>
            <a:endParaRPr lang="en-GB" sz="2200" dirty="0">
              <a:latin typeface="Century Gothic" panose="020B0502020202020204" pitchFamily="34" charset="0"/>
            </a:endParaRPr>
          </a:p>
          <a:p>
            <a:endParaRPr lang="en-GB" sz="2200" dirty="0">
              <a:latin typeface="Century Gothic" panose="020B0502020202020204" pitchFamily="34" charset="0"/>
            </a:endParaRPr>
          </a:p>
          <a:p>
            <a:endParaRPr lang="en-GB" sz="2200" dirty="0">
              <a:latin typeface="Century Gothic" panose="020B0502020202020204" pitchFamily="34" charset="0"/>
            </a:endParaRPr>
          </a:p>
          <a:p>
            <a:pPr lvl="1"/>
            <a:r>
              <a:rPr lang="en-GB" sz="2200" dirty="0">
                <a:latin typeface="Century Gothic" panose="020B0502020202020204" pitchFamily="34" charset="0"/>
              </a:rPr>
              <a:t>Black </a:t>
            </a:r>
            <a:r>
              <a:rPr lang="en-GB" sz="2200" dirty="0" err="1">
                <a:latin typeface="Century Gothic" panose="020B0502020202020204" pitchFamily="34" charset="0"/>
              </a:rPr>
              <a:t>Australorp</a:t>
            </a:r>
            <a:r>
              <a:rPr lang="en-GB" sz="2200" dirty="0">
                <a:latin typeface="Century Gothic" panose="020B0502020202020204" pitchFamily="34" charset="0"/>
              </a:rPr>
              <a:t> are not indigenous to Malawi and were introduced to improve the performance of our indigenous chickens.</a:t>
            </a:r>
          </a:p>
        </p:txBody>
      </p:sp>
      <p:graphicFrame>
        <p:nvGraphicFramePr>
          <p:cNvPr id="2" name="Tabel 1"/>
          <p:cNvGraphicFramePr>
            <a:graphicFrameLocks noGrp="1"/>
          </p:cNvGraphicFramePr>
          <p:nvPr/>
        </p:nvGraphicFramePr>
        <p:xfrm>
          <a:off x="2952466" y="1629012"/>
          <a:ext cx="6096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2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entury Gothic" panose="020B0502020202020204" pitchFamily="34" charset="0"/>
                        </a:rPr>
                        <a:t>Phenotype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entury Gothic" panose="020B0502020202020204" pitchFamily="34" charset="0"/>
                        </a:rPr>
                        <a:t>Local</a:t>
                      </a:r>
                      <a:r>
                        <a:rPr lang="en-GB" sz="2200" baseline="0" dirty="0">
                          <a:latin typeface="Century Gothic" panose="020B0502020202020204" pitchFamily="34" charset="0"/>
                        </a:rPr>
                        <a:t> Name</a:t>
                      </a:r>
                      <a:endParaRPr lang="en-GB" sz="22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entury Gothic" panose="020B0502020202020204" pitchFamily="34" charset="0"/>
                        </a:rPr>
                        <a:t>Without</a:t>
                      </a:r>
                      <a:r>
                        <a:rPr lang="en-GB" sz="2200" baseline="0" dirty="0">
                          <a:latin typeface="Century Gothic" panose="020B0502020202020204" pitchFamily="34" charset="0"/>
                        </a:rPr>
                        <a:t> tail feathers</a:t>
                      </a:r>
                      <a:endParaRPr lang="en-GB" sz="22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 err="1">
                          <a:latin typeface="Century Gothic" panose="020B0502020202020204" pitchFamily="34" charset="0"/>
                        </a:rPr>
                        <a:t>Kachibudu</a:t>
                      </a:r>
                      <a:endParaRPr lang="en-GB" sz="22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entury Gothic" panose="020B0502020202020204" pitchFamily="34" charset="0"/>
                        </a:rPr>
                        <a:t>Naked neck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 err="1">
                          <a:latin typeface="Century Gothic" panose="020B0502020202020204" pitchFamily="34" charset="0"/>
                        </a:rPr>
                        <a:t>Kameta</a:t>
                      </a:r>
                      <a:endParaRPr lang="en-GB" sz="22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entury Gothic" panose="020B0502020202020204" pitchFamily="34" charset="0"/>
                        </a:rPr>
                        <a:t>Dwarf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 err="1">
                          <a:latin typeface="Century Gothic" panose="020B0502020202020204" pitchFamily="34" charset="0"/>
                        </a:rPr>
                        <a:t>Simbota</a:t>
                      </a:r>
                      <a:endParaRPr lang="en-GB" sz="22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 err="1">
                          <a:latin typeface="Century Gothic" panose="020B0502020202020204" pitchFamily="34" charset="0"/>
                        </a:rPr>
                        <a:t>Freezled</a:t>
                      </a:r>
                      <a:endParaRPr lang="en-GB" sz="22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 err="1">
                          <a:latin typeface="Century Gothic" panose="020B0502020202020204" pitchFamily="34" charset="0"/>
                        </a:rPr>
                        <a:t>Kansilanga</a:t>
                      </a:r>
                      <a:endParaRPr lang="en-GB" sz="22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Century Gothic" panose="020B0502020202020204" pitchFamily="34" charset="0"/>
                        </a:rPr>
                        <a:t>Black with white spots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 err="1">
                          <a:latin typeface="Century Gothic" panose="020B0502020202020204" pitchFamily="34" charset="0"/>
                        </a:rPr>
                        <a:t>Kawangi</a:t>
                      </a:r>
                      <a:endParaRPr lang="en-GB" sz="22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553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885825"/>
            <a:ext cx="7886700" cy="5291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Challenges to Village Chicken Production</a:t>
            </a:r>
          </a:p>
          <a:p>
            <a:pPr marL="0" indent="0">
              <a:buNone/>
            </a:pPr>
            <a:endParaRPr lang="en-GB" sz="2200" dirty="0">
              <a:latin typeface="Century Gothic" panose="020B0502020202020204" pitchFamily="34" charset="0"/>
            </a:endParaRPr>
          </a:p>
          <a:p>
            <a:r>
              <a:rPr lang="en-GB" sz="2200" dirty="0">
                <a:latin typeface="Century Gothic" panose="020B0502020202020204" pitchFamily="34" charset="0"/>
              </a:rPr>
              <a:t>Poor housing – absence of shelter; overcrowding; mixed ages.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Inadequate feeding and water supply – expend a lot of energy searching for feed; contaminated water sources.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Improper breeding – indiscriminate breeding; breeding ratio not observed.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Pest and Diseases – external and internal parasites, NCD</a:t>
            </a:r>
          </a:p>
        </p:txBody>
      </p:sp>
    </p:spTree>
    <p:extLst>
      <p:ext uri="{BB962C8B-B14F-4D97-AF65-F5344CB8AC3E}">
        <p14:creationId xmlns:p14="http://schemas.microsoft.com/office/powerpoint/2010/main" val="1002749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885825"/>
            <a:ext cx="7886700" cy="5291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Housing</a:t>
            </a:r>
          </a:p>
          <a:p>
            <a:pPr marL="0" indent="0">
              <a:buNone/>
            </a:pPr>
            <a:endParaRPr lang="en-GB" sz="2200" dirty="0">
              <a:latin typeface="Century Gothic" panose="020B0502020202020204" pitchFamily="34" charset="0"/>
            </a:endParaRPr>
          </a:p>
          <a:p>
            <a:r>
              <a:rPr lang="en-GB" sz="2200" dirty="0">
                <a:latin typeface="Century Gothic" panose="020B0502020202020204" pitchFamily="34" charset="0"/>
              </a:rPr>
              <a:t>Provide water-proof and well ventilated shelters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There should be adequate space to avoid overcrowding.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House birds of different ages separately.</a:t>
            </a:r>
          </a:p>
          <a:p>
            <a:endParaRPr lang="en-GB" sz="2200" dirty="0">
              <a:latin typeface="Century Gothic" panose="020B0502020202020204" pitchFamily="34" charset="0"/>
            </a:endParaRPr>
          </a:p>
          <a:p>
            <a:endParaRPr lang="en-GB" sz="2200" dirty="0">
              <a:latin typeface="Century Gothic" panose="020B0502020202020204" pitchFamily="34" charset="0"/>
            </a:endParaRPr>
          </a:p>
          <a:p>
            <a:endParaRPr lang="en-GB" sz="2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727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885825"/>
            <a:ext cx="7886700" cy="5291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Breeding</a:t>
            </a:r>
          </a:p>
          <a:p>
            <a:pPr marL="0" indent="0">
              <a:buNone/>
            </a:pPr>
            <a:endParaRPr lang="en-GB" b="1" dirty="0">
              <a:solidFill>
                <a:srgbClr val="00B0F0"/>
              </a:solidFill>
              <a:latin typeface="Century Gothic" panose="020B0502020202020204" pitchFamily="34" charset="0"/>
            </a:endParaRPr>
          </a:p>
          <a:p>
            <a:r>
              <a:rPr lang="en-GB" sz="2200" dirty="0">
                <a:latin typeface="Century Gothic" panose="020B0502020202020204" pitchFamily="34" charset="0"/>
              </a:rPr>
              <a:t>Cocks should be changed every 4 months to avoid inbreeding.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Breeding male to female ratio should be 10 – 12 females for every male.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Breeding hens and cocks are expected to be productive until they are about 2 years old.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Poorly producing hens or cocks should be removed from the flock of breeding chickens and replaced with younger and productive birds.</a:t>
            </a:r>
          </a:p>
          <a:p>
            <a:endParaRPr lang="en-GB" sz="2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317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885825"/>
            <a:ext cx="7886700" cy="52911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Selection of Breeding Males and Females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The birds for breeding should have better characteristics (higher live-weights, fast growing, early feathering, </a:t>
            </a:r>
            <a:r>
              <a:rPr lang="en-GB" sz="2200" dirty="0" err="1">
                <a:latin typeface="Century Gothic" panose="020B0502020202020204" pitchFamily="34" charset="0"/>
              </a:rPr>
              <a:t>etc</a:t>
            </a:r>
            <a:r>
              <a:rPr lang="en-GB" sz="2200" dirty="0">
                <a:latin typeface="Century Gothic" panose="020B0502020202020204" pitchFamily="34" charset="0"/>
              </a:rPr>
              <a:t>) compared to an average bird.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The birds should not exhibit any signs of illness or pest infestation.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Select males which are known for aggressiveness at chasing and mating females.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Females selected for mating should be known to lay large clutches of at least 12 or more eggs or should have come from parent hens which laid large clutches.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Brooding hens should be known for hatching high number of chicks.</a:t>
            </a:r>
          </a:p>
        </p:txBody>
      </p:sp>
    </p:spTree>
    <p:extLst>
      <p:ext uri="{BB962C8B-B14F-4D97-AF65-F5344CB8AC3E}">
        <p14:creationId xmlns:p14="http://schemas.microsoft.com/office/powerpoint/2010/main" val="437877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885825"/>
            <a:ext cx="7886700" cy="5291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  <a:latin typeface="Century Gothic" panose="020B0502020202020204" pitchFamily="34" charset="0"/>
              </a:rPr>
              <a:t>Feeding, Water Supply and Health</a:t>
            </a:r>
          </a:p>
          <a:p>
            <a:endParaRPr lang="en-GB" sz="2200" dirty="0">
              <a:latin typeface="Century Gothic" panose="020B0502020202020204" pitchFamily="34" charset="0"/>
            </a:endParaRPr>
          </a:p>
          <a:p>
            <a:r>
              <a:rPr lang="en-GB" sz="2200" dirty="0">
                <a:latin typeface="Century Gothic" panose="020B0502020202020204" pitchFamily="34" charset="0"/>
              </a:rPr>
              <a:t>Birds normally raised under free range system.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Provision of fresh, clean water and supplemental feed is needed.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Deworming should be done routinely.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Vaccination against Newcastle disease is also essential. Vaccinate against Newcastle disease every three months.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Those infested with external parasites must be treated with recommended insecticide.</a:t>
            </a:r>
          </a:p>
        </p:txBody>
      </p:sp>
    </p:spTree>
    <p:extLst>
      <p:ext uri="{BB962C8B-B14F-4D97-AF65-F5344CB8AC3E}">
        <p14:creationId xmlns:p14="http://schemas.microsoft.com/office/powerpoint/2010/main" val="1822370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370</Words>
  <Application>Microsoft Office PowerPoint</Application>
  <PresentationFormat>Widescreen</PresentationFormat>
  <Paragraphs>63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Wingdings 3</vt:lpstr>
      <vt:lpstr>Ion</vt:lpstr>
      <vt:lpstr>Improved Village Chicken Production and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Improved Village Chicken Production and Management</dc:title>
  <dc:creator>JOSEPH D. LIWONDE</dc:creator>
  <cp:lastModifiedBy>JOSEPH D. LIWONDE</cp:lastModifiedBy>
  <cp:revision>2</cp:revision>
  <dcterms:created xsi:type="dcterms:W3CDTF">2025-12-30T07:01:14Z</dcterms:created>
  <dcterms:modified xsi:type="dcterms:W3CDTF">2025-12-30T07:02:20Z</dcterms:modified>
</cp:coreProperties>
</file>