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42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3AC83-4218-4688-BD53-4AA5CE2957EF}" type="datetimeFigureOut">
              <a:rPr lang="en-US" smtClean="0"/>
              <a:t>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7F663A-95AF-45FC-89B7-ABE6F9C241FA}" type="slidenum">
              <a:rPr lang="en-US" smtClean="0"/>
              <a:t>‹#›</a:t>
            </a:fld>
            <a:endParaRPr lang="en-US"/>
          </a:p>
        </p:txBody>
      </p:sp>
    </p:spTree>
    <p:extLst>
      <p:ext uri="{BB962C8B-B14F-4D97-AF65-F5344CB8AC3E}">
        <p14:creationId xmlns:p14="http://schemas.microsoft.com/office/powerpoint/2010/main" val="1716994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906698F-81A7-4EDE-921E-C1D67C19E241}" type="slidenum">
              <a:rPr lang="en-GB" altLang="en-US" smtClean="0"/>
              <a:pPr>
                <a:spcBef>
                  <a:spcPct val="0"/>
                </a:spcBef>
              </a:pPr>
              <a:t>1</a:t>
            </a:fld>
            <a:endParaRPr lang="en-GB" altLang="en-US" smtClean="0"/>
          </a:p>
        </p:txBody>
      </p:sp>
      <p:sp>
        <p:nvSpPr>
          <p:cNvPr id="1812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057738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540F978-64B9-4AD3-9D1F-57E83EC3CE58}" type="slidenum">
              <a:rPr lang="en-GB" altLang="en-US" smtClean="0"/>
              <a:pPr>
                <a:spcBef>
                  <a:spcPct val="0"/>
                </a:spcBef>
              </a:pPr>
              <a:t>2</a:t>
            </a:fld>
            <a:endParaRPr lang="en-GB" altLang="en-US" smtClean="0"/>
          </a:p>
        </p:txBody>
      </p:sp>
      <p:sp>
        <p:nvSpPr>
          <p:cNvPr id="1832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025807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6305954-9DED-40FB-BA68-97BABA0FBDD8}" type="slidenum">
              <a:rPr lang="en-GB" altLang="en-US" smtClean="0"/>
              <a:pPr>
                <a:spcBef>
                  <a:spcPct val="0"/>
                </a:spcBef>
              </a:pPr>
              <a:t>3</a:t>
            </a:fld>
            <a:endParaRPr lang="en-GB" altLang="en-US" smtClean="0"/>
          </a:p>
        </p:txBody>
      </p:sp>
      <p:sp>
        <p:nvSpPr>
          <p:cNvPr id="1853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693293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B6E7E4C-986D-45BA-B359-CE39197A867A}" type="slidenum">
              <a:rPr lang="en-GB" altLang="en-US" smtClean="0"/>
              <a:pPr>
                <a:spcBef>
                  <a:spcPct val="0"/>
                </a:spcBef>
              </a:pPr>
              <a:t>5</a:t>
            </a:fld>
            <a:endParaRPr lang="en-GB" altLang="en-US" smtClean="0"/>
          </a:p>
        </p:txBody>
      </p:sp>
      <p:sp>
        <p:nvSpPr>
          <p:cNvPr id="188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800239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6B6A342-0341-4209-9771-A0409650E929}" type="slidenum">
              <a:rPr lang="en-GB" altLang="en-US" smtClean="0"/>
              <a:pPr>
                <a:spcBef>
                  <a:spcPct val="0"/>
                </a:spcBef>
              </a:pPr>
              <a:t>6</a:t>
            </a:fld>
            <a:endParaRPr lang="en-GB" altLang="en-US" smtClean="0"/>
          </a:p>
        </p:txBody>
      </p:sp>
      <p:sp>
        <p:nvSpPr>
          <p:cNvPr id="1904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2857501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4F1BEFF-F2E1-4F08-8749-0D7050F8A1E6}" type="slidenum">
              <a:rPr lang="en-GB" altLang="en-US" smtClean="0"/>
              <a:pPr>
                <a:spcBef>
                  <a:spcPct val="0"/>
                </a:spcBef>
              </a:pPr>
              <a:t>7</a:t>
            </a:fld>
            <a:endParaRPr lang="en-GB" altLang="en-US" smtClean="0"/>
          </a:p>
        </p:txBody>
      </p:sp>
      <p:sp>
        <p:nvSpPr>
          <p:cNvPr id="1925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25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759483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ABBD4B9-3CAB-43C4-847C-183F4CB7A475}" type="slidenum">
              <a:rPr lang="en-GB" altLang="en-US" smtClean="0"/>
              <a:pPr>
                <a:spcBef>
                  <a:spcPct val="0"/>
                </a:spcBef>
              </a:pPr>
              <a:t>8</a:t>
            </a:fld>
            <a:endParaRPr lang="en-GB" altLang="en-US" smtClean="0"/>
          </a:p>
        </p:txBody>
      </p:sp>
      <p:sp>
        <p:nvSpPr>
          <p:cNvPr id="1945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68183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DD2B8C-94DA-4B60-A1E6-B843511D60A6}" type="slidenum">
              <a:rPr lang="en-GB" altLang="en-US" smtClean="0"/>
              <a:pPr>
                <a:spcBef>
                  <a:spcPct val="0"/>
                </a:spcBef>
              </a:pPr>
              <a:t>9</a:t>
            </a:fld>
            <a:endParaRPr lang="en-GB" altLang="en-US" smtClean="0"/>
          </a:p>
        </p:txBody>
      </p:sp>
      <p:sp>
        <p:nvSpPr>
          <p:cNvPr id="1966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66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201235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B257179-63FD-4161-91F0-704D33759C68}" type="slidenum">
              <a:rPr lang="en-GB" altLang="en-US" smtClean="0"/>
              <a:pPr>
                <a:spcBef>
                  <a:spcPct val="0"/>
                </a:spcBef>
              </a:pPr>
              <a:t>10</a:t>
            </a:fld>
            <a:endParaRPr lang="en-GB" altLang="en-US" smtClean="0"/>
          </a:p>
        </p:txBody>
      </p:sp>
      <p:sp>
        <p:nvSpPr>
          <p:cNvPr id="1986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8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449435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DBCAF70-7D8F-417F-8E1D-B1603A7E894D}" type="slidenum">
              <a:rPr lang="en-GB" altLang="en-US" smtClean="0"/>
              <a:pPr>
                <a:spcBef>
                  <a:spcPct val="0"/>
                </a:spcBef>
              </a:pPr>
              <a:t>11</a:t>
            </a:fld>
            <a:endParaRPr lang="en-GB" altLang="en-US" smtClean="0"/>
          </a:p>
        </p:txBody>
      </p:sp>
      <p:sp>
        <p:nvSpPr>
          <p:cNvPr id="2007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07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002054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ECF12C0-52B5-4377-A66D-13F079F70C5A}" type="slidenum">
              <a:rPr lang="en-GB" altLang="en-US" smtClean="0"/>
              <a:pPr>
                <a:spcBef>
                  <a:spcPct val="0"/>
                </a:spcBef>
              </a:pPr>
              <a:t>12</a:t>
            </a:fld>
            <a:endParaRPr lang="en-GB" altLang="en-US" smtClean="0"/>
          </a:p>
        </p:txBody>
      </p:sp>
      <p:sp>
        <p:nvSpPr>
          <p:cNvPr id="2027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595840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EBBB232-2746-4EEB-852B-8269EBD0AB8D}" type="slidenum">
              <a:rPr lang="en-GB" altLang="en-US" smtClean="0"/>
              <a:pPr>
                <a:spcBef>
                  <a:spcPct val="0"/>
                </a:spcBef>
              </a:pPr>
              <a:t>14</a:t>
            </a:fld>
            <a:endParaRPr lang="en-GB" altLang="en-US" smtClean="0"/>
          </a:p>
        </p:txBody>
      </p:sp>
      <p:sp>
        <p:nvSpPr>
          <p:cNvPr id="2058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8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smtClean="0"/>
              <a:t>This slide has a ten second gap in between each example to allow the teacher to explain how the figures have been calculated. This gap can be increased or reduced as appropriate using the custom animation tool. </a:t>
            </a:r>
          </a:p>
        </p:txBody>
      </p:sp>
    </p:spTree>
    <p:extLst>
      <p:ext uri="{BB962C8B-B14F-4D97-AF65-F5344CB8AC3E}">
        <p14:creationId xmlns:p14="http://schemas.microsoft.com/office/powerpoint/2010/main" val="2150416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936F6CA-A28A-4DD3-AC97-E57B112CF490}" type="slidenum">
              <a:rPr lang="en-GB" altLang="en-US" smtClean="0"/>
              <a:pPr>
                <a:spcBef>
                  <a:spcPct val="0"/>
                </a:spcBef>
              </a:pPr>
              <a:t>15</a:t>
            </a:fld>
            <a:endParaRPr lang="en-GB" altLang="en-US" smtClean="0"/>
          </a:p>
        </p:txBody>
      </p:sp>
      <p:sp>
        <p:nvSpPr>
          <p:cNvPr id="2078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698868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52C3D49-0F40-42C3-851B-63E1A69B1B4D}" type="slidenum">
              <a:rPr lang="en-GB" altLang="en-US" smtClean="0"/>
              <a:pPr>
                <a:spcBef>
                  <a:spcPct val="0"/>
                </a:spcBef>
              </a:pPr>
              <a:t>16</a:t>
            </a:fld>
            <a:endParaRPr lang="en-GB" altLang="en-US" smtClean="0"/>
          </a:p>
        </p:txBody>
      </p:sp>
      <p:sp>
        <p:nvSpPr>
          <p:cNvPr id="2099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99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555408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320B8D9-16EF-405F-8690-CC1F8044E337}" type="slidenum">
              <a:rPr lang="en-GB" altLang="en-US" smtClean="0"/>
              <a:pPr>
                <a:spcBef>
                  <a:spcPct val="0"/>
                </a:spcBef>
              </a:pPr>
              <a:t>17</a:t>
            </a:fld>
            <a:endParaRPr lang="en-GB" altLang="en-US" smtClean="0"/>
          </a:p>
        </p:txBody>
      </p:sp>
      <p:sp>
        <p:nvSpPr>
          <p:cNvPr id="2119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1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724452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8FDCD93-B05E-43E6-B2A8-284D6FCD1745}" type="slidenum">
              <a:rPr lang="en-GB" altLang="en-US" smtClean="0"/>
              <a:pPr>
                <a:spcBef>
                  <a:spcPct val="0"/>
                </a:spcBef>
              </a:pPr>
              <a:t>18</a:t>
            </a:fld>
            <a:endParaRPr lang="en-GB" altLang="en-US" smtClean="0"/>
          </a:p>
        </p:txBody>
      </p:sp>
      <p:sp>
        <p:nvSpPr>
          <p:cNvPr id="2140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316754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847F5B3-A053-40F3-8C50-E81134B2168C}" type="slidenum">
              <a:rPr lang="en-GB" altLang="en-US" smtClean="0"/>
              <a:pPr>
                <a:spcBef>
                  <a:spcPct val="0"/>
                </a:spcBef>
              </a:pPr>
              <a:t>19</a:t>
            </a:fld>
            <a:endParaRPr lang="en-GB" altLang="en-US" smtClean="0"/>
          </a:p>
        </p:txBody>
      </p:sp>
      <p:sp>
        <p:nvSpPr>
          <p:cNvPr id="2160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60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smtClean="0"/>
              <a:t>This slide also has an automatic response  with ten second gaps in between each point. At this stage we have tried to keep things as simple as possible but to introduce issues that will be dealt with later in the course.</a:t>
            </a:r>
          </a:p>
        </p:txBody>
      </p:sp>
    </p:spTree>
    <p:extLst>
      <p:ext uri="{BB962C8B-B14F-4D97-AF65-F5344CB8AC3E}">
        <p14:creationId xmlns:p14="http://schemas.microsoft.com/office/powerpoint/2010/main" val="2039008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2BBA52B-D21C-47A5-B1BE-02FA2412315B}"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2202828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BBA52B-D21C-47A5-B1BE-02FA2412315B}"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1109443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BBA52B-D21C-47A5-B1BE-02FA2412315B}"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2493146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2BBA52B-D21C-47A5-B1BE-02FA2412315B}"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785355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2BBA52B-D21C-47A5-B1BE-02FA2412315B}" type="datetimeFigureOut">
              <a:rPr lang="en-US" smtClean="0"/>
              <a:t>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3606902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2BBA52B-D21C-47A5-B1BE-02FA2412315B}" type="datetimeFigureOut">
              <a:rPr lang="en-US" smtClean="0"/>
              <a:t>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3564036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BBA52B-D21C-47A5-B1BE-02FA2412315B}" type="datetimeFigureOut">
              <a:rPr lang="en-US" smtClean="0"/>
              <a:t>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3693118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BBA52B-D21C-47A5-B1BE-02FA2412315B}"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3082699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BBA52B-D21C-47A5-B1BE-02FA2412315B}"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192796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BBA52B-D21C-47A5-B1BE-02FA2412315B}"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928676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BBA52B-D21C-47A5-B1BE-02FA2412315B}"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0BDA0-EDAC-4735-BB2F-6CB4A4801932}" type="slidenum">
              <a:rPr lang="en-US" smtClean="0"/>
              <a:t>‹#›</a:t>
            </a:fld>
            <a:endParaRPr lang="en-US"/>
          </a:p>
        </p:txBody>
      </p:sp>
    </p:spTree>
    <p:extLst>
      <p:ext uri="{BB962C8B-B14F-4D97-AF65-F5344CB8AC3E}">
        <p14:creationId xmlns:p14="http://schemas.microsoft.com/office/powerpoint/2010/main" val="317040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BBA52B-D21C-47A5-B1BE-02FA2412315B}" type="datetimeFigureOut">
              <a:rPr lang="en-US" smtClean="0"/>
              <a:t>2/23/2025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E0BDA0-EDAC-4735-BB2F-6CB4A4801932}" type="slidenum">
              <a:rPr lang="en-US" smtClean="0"/>
              <a:t>‹#›</a:t>
            </a:fld>
            <a:endParaRPr lang="en-US"/>
          </a:p>
        </p:txBody>
      </p:sp>
    </p:spTree>
    <p:extLst>
      <p:ext uri="{BB962C8B-B14F-4D97-AF65-F5344CB8AC3E}">
        <p14:creationId xmlns:p14="http://schemas.microsoft.com/office/powerpoint/2010/main" val="1916358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GB" altLang="en-US" dirty="0" smtClean="0">
                <a:ln>
                  <a:noFill/>
                </a:ln>
              </a:rPr>
              <a:t>Elasticity – the concept</a:t>
            </a:r>
            <a:endParaRPr lang="en-US" altLang="en-US" dirty="0" smtClean="0">
              <a:ln>
                <a:noFill/>
              </a:ln>
            </a:endParaRPr>
          </a:p>
        </p:txBody>
      </p:sp>
      <p:sp>
        <p:nvSpPr>
          <p:cNvPr id="4099" name="Rectangle 3"/>
          <p:cNvSpPr>
            <a:spLocks noGrp="1" noChangeArrowheads="1"/>
          </p:cNvSpPr>
          <p:nvPr>
            <p:ph idx="1"/>
          </p:nvPr>
        </p:nvSpPr>
        <p:spPr/>
        <p:txBody>
          <a:bodyPr rtlCol="0">
            <a:normAutofit/>
          </a:bodyPr>
          <a:lstStyle/>
          <a:p>
            <a:pPr marL="274320" indent="-274320" defTabSz="457207">
              <a:buClr>
                <a:schemeClr val="bg2">
                  <a:lumMod val="40000"/>
                  <a:lumOff val="60000"/>
                </a:schemeClr>
              </a:buClr>
              <a:buFont typeface="Wingdings"/>
              <a:buChar char=""/>
              <a:defRPr/>
            </a:pPr>
            <a:r>
              <a:rPr lang="en-GB" dirty="0">
                <a:solidFill>
                  <a:srgbClr val="003366"/>
                </a:solidFill>
              </a:rPr>
              <a:t>If price rises by 10% - what happens to demand?</a:t>
            </a:r>
          </a:p>
          <a:p>
            <a:pPr marL="640080" lvl="1" indent="-274320" defTabSz="457207">
              <a:buClr>
                <a:schemeClr val="bg2">
                  <a:lumMod val="40000"/>
                  <a:lumOff val="60000"/>
                </a:schemeClr>
              </a:buClr>
              <a:buFont typeface="Wingdings 2"/>
              <a:buChar char=""/>
              <a:defRPr/>
            </a:pPr>
            <a:r>
              <a:rPr lang="en-GB" sz="3200" dirty="0">
                <a:solidFill>
                  <a:schemeClr val="tx1">
                    <a:lumMod val="85000"/>
                    <a:lumOff val="15000"/>
                  </a:schemeClr>
                </a:solidFill>
              </a:rPr>
              <a:t>We know demand will fall, but by how much…</a:t>
            </a:r>
          </a:p>
          <a:p>
            <a:pPr marL="1143020" lvl="2" indent="-182880" defTabSz="457207">
              <a:buClr>
                <a:schemeClr val="accent1">
                  <a:shade val="75000"/>
                </a:schemeClr>
              </a:buClr>
              <a:buFont typeface="Wingdings"/>
              <a:buChar char=""/>
              <a:defRPr/>
            </a:pPr>
            <a:r>
              <a:rPr lang="en-GB" sz="3200" dirty="0">
                <a:solidFill>
                  <a:schemeClr val="tx1">
                    <a:lumMod val="85000"/>
                    <a:lumOff val="15000"/>
                  </a:schemeClr>
                </a:solidFill>
              </a:rPr>
              <a:t>By more than 10%?</a:t>
            </a:r>
          </a:p>
          <a:p>
            <a:pPr marL="1143020" lvl="2" indent="-182880" defTabSz="457207">
              <a:buClr>
                <a:schemeClr val="accent1">
                  <a:shade val="75000"/>
                </a:schemeClr>
              </a:buClr>
              <a:buFont typeface="Wingdings"/>
              <a:buChar char=""/>
              <a:defRPr/>
            </a:pPr>
            <a:r>
              <a:rPr lang="en-GB" sz="3200" dirty="0">
                <a:solidFill>
                  <a:schemeClr val="tx1">
                    <a:lumMod val="85000"/>
                    <a:lumOff val="15000"/>
                  </a:schemeClr>
                </a:solidFill>
              </a:rPr>
              <a:t>By less than 10%?</a:t>
            </a:r>
          </a:p>
          <a:p>
            <a:pPr marL="274320" indent="-274320" defTabSz="457207">
              <a:buClr>
                <a:schemeClr val="bg2">
                  <a:lumMod val="40000"/>
                  <a:lumOff val="60000"/>
                </a:schemeClr>
              </a:buClr>
              <a:buFont typeface="Wingdings"/>
              <a:buChar char=""/>
              <a:defRPr/>
            </a:pPr>
            <a:r>
              <a:rPr lang="en-US" dirty="0">
                <a:solidFill>
                  <a:srgbClr val="FF0000"/>
                </a:solidFill>
              </a:rPr>
              <a:t>Elasticity is a measurement of the percentage change in one variable that results from a 1% change in another variable.</a:t>
            </a:r>
            <a:endParaRPr lang="en-GB" b="1" dirty="0">
              <a:solidFill>
                <a:srgbClr val="003366"/>
              </a:solidFill>
            </a:endParaRPr>
          </a:p>
          <a:p>
            <a:pPr marL="274320" indent="-274320" defTabSz="457207">
              <a:buClr>
                <a:schemeClr val="bg2">
                  <a:lumMod val="40000"/>
                  <a:lumOff val="60000"/>
                </a:schemeClr>
              </a:buClr>
              <a:buFont typeface="Wingdings"/>
              <a:buChar char=""/>
              <a:defRPr/>
            </a:pPr>
            <a:r>
              <a:rPr lang="en-GB" dirty="0">
                <a:solidFill>
                  <a:schemeClr val="tx1">
                    <a:lumMod val="85000"/>
                    <a:lumOff val="15000"/>
                  </a:schemeClr>
                </a:solidFill>
              </a:rPr>
              <a:t>Elasticity measures the </a:t>
            </a:r>
            <a:r>
              <a:rPr lang="en-GB" u="sng" dirty="0">
                <a:solidFill>
                  <a:schemeClr val="tx1">
                    <a:lumMod val="85000"/>
                    <a:lumOff val="15000"/>
                  </a:schemeClr>
                </a:solidFill>
              </a:rPr>
              <a:t>extent</a:t>
            </a:r>
            <a:r>
              <a:rPr lang="en-GB" dirty="0">
                <a:solidFill>
                  <a:schemeClr val="tx1">
                    <a:lumMod val="85000"/>
                    <a:lumOff val="15000"/>
                  </a:schemeClr>
                </a:solidFill>
              </a:rPr>
              <a:t> to which demand will change.</a:t>
            </a:r>
          </a:p>
          <a:p>
            <a:pPr marL="274320" indent="-274320" defTabSz="457207">
              <a:buClr>
                <a:schemeClr val="bg2">
                  <a:lumMod val="40000"/>
                  <a:lumOff val="60000"/>
                </a:schemeClr>
              </a:buClr>
              <a:buFont typeface="Wingdings"/>
              <a:buChar char=""/>
              <a:defRPr/>
            </a:pPr>
            <a:r>
              <a:rPr lang="en-GB" dirty="0">
                <a:solidFill>
                  <a:schemeClr val="tx1">
                    <a:lumMod val="85000"/>
                    <a:lumOff val="15000"/>
                  </a:schemeClr>
                </a:solidFill>
              </a:rPr>
              <a:t>It has no</a:t>
            </a:r>
            <a:r>
              <a:rPr lang="en-US" dirty="0">
                <a:solidFill>
                  <a:schemeClr val="tx1">
                    <a:lumMod val="85000"/>
                    <a:lumOff val="15000"/>
                  </a:schemeClr>
                </a:solidFill>
              </a:rPr>
              <a:t> units</a:t>
            </a:r>
          </a:p>
        </p:txBody>
      </p:sp>
      <p:sp>
        <p:nvSpPr>
          <p:cNvPr id="1802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4338959-72C1-47CC-84BC-81887C20A415}" type="slidenum">
              <a:rPr lang="en-US" altLang="en-US" sz="1400">
                <a:solidFill>
                  <a:srgbClr val="FFFFFF"/>
                </a:solidFill>
              </a:rPr>
              <a:pPr/>
              <a:t>1</a:t>
            </a:fld>
            <a:endParaRPr lang="en-US" altLang="en-US" sz="1400">
              <a:solidFill>
                <a:srgbClr val="FFFFFF"/>
              </a:solidFill>
            </a:endParaRPr>
          </a:p>
        </p:txBody>
      </p:sp>
    </p:spTree>
    <p:extLst>
      <p:ext uri="{BB962C8B-B14F-4D97-AF65-F5344CB8AC3E}">
        <p14:creationId xmlns:p14="http://schemas.microsoft.com/office/powerpoint/2010/main" val="55541077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r>
              <a:rPr lang="en-GB" altLang="en-US" smtClean="0">
                <a:ln>
                  <a:noFill/>
                </a:ln>
              </a:rPr>
              <a:t>Types of Elasticity</a:t>
            </a:r>
            <a:endParaRPr lang="en-US" altLang="en-US" smtClean="0">
              <a:ln>
                <a:noFill/>
              </a:ln>
            </a:endParaRPr>
          </a:p>
        </p:txBody>
      </p:sp>
      <p:sp>
        <p:nvSpPr>
          <p:cNvPr id="182275" name="Rectangle 3"/>
          <p:cNvSpPr>
            <a:spLocks noGrp="1"/>
          </p:cNvSpPr>
          <p:nvPr>
            <p:ph idx="1"/>
          </p:nvPr>
        </p:nvSpPr>
        <p:spPr/>
        <p:txBody>
          <a:bodyPr/>
          <a:lstStyle/>
          <a:p>
            <a:r>
              <a:rPr lang="en-GB" altLang="en-US" smtClean="0">
                <a:solidFill>
                  <a:srgbClr val="003366"/>
                </a:solidFill>
              </a:rPr>
              <a:t>4 basic types used:</a:t>
            </a:r>
          </a:p>
          <a:p>
            <a:pPr lvl="1"/>
            <a:r>
              <a:rPr lang="en-GB" altLang="en-US" sz="3200">
                <a:solidFill>
                  <a:srgbClr val="FF0000"/>
                </a:solidFill>
              </a:rPr>
              <a:t>Price elasticity of demand</a:t>
            </a:r>
          </a:p>
          <a:p>
            <a:pPr lvl="1"/>
            <a:r>
              <a:rPr lang="en-GB" altLang="en-US" sz="3200">
                <a:solidFill>
                  <a:srgbClr val="FF0000"/>
                </a:solidFill>
              </a:rPr>
              <a:t>Price elasticity of supply</a:t>
            </a:r>
          </a:p>
          <a:p>
            <a:pPr lvl="1"/>
            <a:r>
              <a:rPr lang="en-GB" altLang="en-US" sz="3200">
                <a:solidFill>
                  <a:srgbClr val="FF0000"/>
                </a:solidFill>
              </a:rPr>
              <a:t>Income elasticity of demand</a:t>
            </a:r>
          </a:p>
          <a:p>
            <a:pPr lvl="1"/>
            <a:r>
              <a:rPr lang="en-GB" altLang="en-US" sz="3200">
                <a:solidFill>
                  <a:srgbClr val="FF0000"/>
                </a:solidFill>
              </a:rPr>
              <a:t>Cross elasticity </a:t>
            </a:r>
          </a:p>
          <a:p>
            <a:pPr>
              <a:buFont typeface="Arial" panose="020B0604020202020204" pitchFamily="34" charset="0"/>
              <a:buNone/>
            </a:pPr>
            <a:endParaRPr lang="en-US" altLang="en-US" smtClean="0"/>
          </a:p>
        </p:txBody>
      </p:sp>
      <p:sp>
        <p:nvSpPr>
          <p:cNvPr id="1822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EB0CE0B-DE28-470A-8180-631B24068353}" type="slidenum">
              <a:rPr lang="en-US" altLang="en-US" sz="1400">
                <a:solidFill>
                  <a:srgbClr val="FFFFFF"/>
                </a:solidFill>
              </a:rPr>
              <a:pPr/>
              <a:t>2</a:t>
            </a:fld>
            <a:endParaRPr lang="en-US" altLang="en-US" sz="1400">
              <a:solidFill>
                <a:srgbClr val="FFFFFF"/>
              </a:solidFill>
            </a:endParaRPr>
          </a:p>
        </p:txBody>
      </p:sp>
    </p:spTree>
    <p:extLst>
      <p:ext uri="{BB962C8B-B14F-4D97-AF65-F5344CB8AC3E}">
        <p14:creationId xmlns:p14="http://schemas.microsoft.com/office/powerpoint/2010/main" val="2873340186"/>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r>
              <a:rPr lang="en-GB" altLang="en-US" b="1" smtClean="0">
                <a:ln>
                  <a:noFill/>
                </a:ln>
                <a:solidFill>
                  <a:srgbClr val="003366"/>
                </a:solidFill>
              </a:rPr>
              <a:t>Price Elasticity of Demand</a:t>
            </a:r>
          </a:p>
        </p:txBody>
      </p:sp>
      <p:sp>
        <p:nvSpPr>
          <p:cNvPr id="10243" name="Rectangle 3"/>
          <p:cNvSpPr>
            <a:spLocks noGrp="1"/>
          </p:cNvSpPr>
          <p:nvPr>
            <p:ph idx="1"/>
          </p:nvPr>
        </p:nvSpPr>
        <p:spPr/>
        <p:txBody>
          <a:bodyPr/>
          <a:lstStyle/>
          <a:p>
            <a:pPr lvl="1"/>
            <a:r>
              <a:rPr lang="en-GB" altLang="en-US" smtClean="0"/>
              <a:t>The responsiveness of </a:t>
            </a:r>
            <a:r>
              <a:rPr lang="en-GB" altLang="en-US" b="1" smtClean="0">
                <a:solidFill>
                  <a:srgbClr val="FF0000"/>
                </a:solidFill>
              </a:rPr>
              <a:t>demand</a:t>
            </a:r>
            <a:r>
              <a:rPr lang="en-GB" altLang="en-US" smtClean="0"/>
              <a:t> to </a:t>
            </a:r>
            <a:r>
              <a:rPr lang="en-GB" altLang="en-US" b="1" smtClean="0">
                <a:solidFill>
                  <a:srgbClr val="FF0000"/>
                </a:solidFill>
              </a:rPr>
              <a:t>changes in price</a:t>
            </a:r>
          </a:p>
          <a:p>
            <a:pPr lvl="1"/>
            <a:r>
              <a:rPr lang="en-US" altLang="en-US" smtClean="0">
                <a:solidFill>
                  <a:srgbClr val="FF0000"/>
                </a:solidFill>
              </a:rPr>
              <a:t>It is a measurement of the percentage change in one variable that results from a 1% change in another variable.</a:t>
            </a:r>
          </a:p>
          <a:p>
            <a:pPr lvl="2"/>
            <a:r>
              <a:rPr lang="en-GB" altLang="en-US" sz="2800"/>
              <a:t>Where % change in demand is greater than % change in price – </a:t>
            </a:r>
            <a:r>
              <a:rPr lang="en-GB" altLang="en-US" sz="2800" b="1">
                <a:solidFill>
                  <a:srgbClr val="003366"/>
                </a:solidFill>
              </a:rPr>
              <a:t>elastic</a:t>
            </a:r>
          </a:p>
          <a:p>
            <a:pPr lvl="2"/>
            <a:r>
              <a:rPr lang="en-GB" altLang="en-US" sz="2800"/>
              <a:t>Where % change in demand is less than % change in price – </a:t>
            </a:r>
            <a:r>
              <a:rPr lang="en-GB" altLang="en-US" sz="2800" b="1">
                <a:solidFill>
                  <a:srgbClr val="003366"/>
                </a:solidFill>
              </a:rPr>
              <a:t>inelastic</a:t>
            </a:r>
          </a:p>
          <a:p>
            <a:pPr lvl="1"/>
            <a:endParaRPr lang="en-US" altLang="en-US" smtClean="0"/>
          </a:p>
        </p:txBody>
      </p:sp>
      <p:sp>
        <p:nvSpPr>
          <p:cNvPr id="1843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C94D039-F54A-44D7-B49C-2E83D0C0B69E}" type="slidenum">
              <a:rPr lang="en-US" altLang="en-US" sz="1400">
                <a:solidFill>
                  <a:srgbClr val="FFFFFF"/>
                </a:solidFill>
              </a:rPr>
              <a:pPr/>
              <a:t>3</a:t>
            </a:fld>
            <a:endParaRPr lang="en-US" altLang="en-US" sz="1400">
              <a:solidFill>
                <a:srgbClr val="FFFFFF"/>
              </a:solidFill>
            </a:endParaRPr>
          </a:p>
        </p:txBody>
      </p:sp>
    </p:spTree>
    <p:extLst>
      <p:ext uri="{BB962C8B-B14F-4D97-AF65-F5344CB8AC3E}">
        <p14:creationId xmlns:p14="http://schemas.microsoft.com/office/powerpoint/2010/main" val="1723388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p:cTn id="7" dur="3000" fill="hold"/>
                                        <p:tgtEl>
                                          <p:spTgt spid="10243">
                                            <p:txEl>
                                              <p:pRg st="0" end="0"/>
                                            </p:txEl>
                                          </p:spTgt>
                                        </p:tgtEl>
                                        <p:attrNameLst>
                                          <p:attrName>ppt_w</p:attrName>
                                        </p:attrNameLst>
                                      </p:cBhvr>
                                      <p:tavLst>
                                        <p:tav tm="0">
                                          <p:val>
                                            <p:strVal val="#ppt_w*0.70"/>
                                          </p:val>
                                        </p:tav>
                                        <p:tav tm="100000">
                                          <p:val>
                                            <p:strVal val="#ppt_w"/>
                                          </p:val>
                                        </p:tav>
                                      </p:tavLst>
                                    </p:anim>
                                    <p:anim calcmode="lin" valueType="num">
                                      <p:cBhvr>
                                        <p:cTn id="8" dur="3000" fill="hold"/>
                                        <p:tgtEl>
                                          <p:spTgt spid="10243">
                                            <p:txEl>
                                              <p:pRg st="0" end="0"/>
                                            </p:txEl>
                                          </p:spTgt>
                                        </p:tgtEl>
                                        <p:attrNameLst>
                                          <p:attrName>ppt_h</p:attrName>
                                        </p:attrNameLst>
                                      </p:cBhvr>
                                      <p:tavLst>
                                        <p:tav tm="0">
                                          <p:val>
                                            <p:strVal val="#ppt_h"/>
                                          </p:val>
                                        </p:tav>
                                        <p:tav tm="100000">
                                          <p:val>
                                            <p:strVal val="#ppt_h"/>
                                          </p:val>
                                        </p:tav>
                                      </p:tavLst>
                                    </p:anim>
                                    <p:animEffect transition="in" filter="fade">
                                      <p:cBhvr>
                                        <p:cTn id="9" dur="3000"/>
                                        <p:tgtEl>
                                          <p:spTgt spid="10243">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 calcmode="lin" valueType="num">
                                      <p:cBhvr>
                                        <p:cTn id="12" dur="3000" fill="hold"/>
                                        <p:tgtEl>
                                          <p:spTgt spid="10243">
                                            <p:txEl>
                                              <p:pRg st="1" end="1"/>
                                            </p:txEl>
                                          </p:spTgt>
                                        </p:tgtEl>
                                        <p:attrNameLst>
                                          <p:attrName>ppt_w</p:attrName>
                                        </p:attrNameLst>
                                      </p:cBhvr>
                                      <p:tavLst>
                                        <p:tav tm="0">
                                          <p:val>
                                            <p:strVal val="#ppt_w*0.70"/>
                                          </p:val>
                                        </p:tav>
                                        <p:tav tm="100000">
                                          <p:val>
                                            <p:strVal val="#ppt_w"/>
                                          </p:val>
                                        </p:tav>
                                      </p:tavLst>
                                    </p:anim>
                                    <p:anim calcmode="lin" valueType="num">
                                      <p:cBhvr>
                                        <p:cTn id="13" dur="3000" fill="hold"/>
                                        <p:tgtEl>
                                          <p:spTgt spid="10243">
                                            <p:txEl>
                                              <p:pRg st="1" end="1"/>
                                            </p:txEl>
                                          </p:spTgt>
                                        </p:tgtEl>
                                        <p:attrNameLst>
                                          <p:attrName>ppt_h</p:attrName>
                                        </p:attrNameLst>
                                      </p:cBhvr>
                                      <p:tavLst>
                                        <p:tav tm="0">
                                          <p:val>
                                            <p:strVal val="#ppt_h"/>
                                          </p:val>
                                        </p:tav>
                                        <p:tav tm="100000">
                                          <p:val>
                                            <p:strVal val="#ppt_h"/>
                                          </p:val>
                                        </p:tav>
                                      </p:tavLst>
                                    </p:anim>
                                    <p:animEffect transition="in" filter="fade">
                                      <p:cBhvr>
                                        <p:cTn id="14" dur="3000"/>
                                        <p:tgtEl>
                                          <p:spTgt spid="10243">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 calcmode="lin" valueType="num">
                                      <p:cBhvr>
                                        <p:cTn id="17" dur="3000" fill="hold"/>
                                        <p:tgtEl>
                                          <p:spTgt spid="10243">
                                            <p:txEl>
                                              <p:pRg st="2" end="2"/>
                                            </p:txEl>
                                          </p:spTgt>
                                        </p:tgtEl>
                                        <p:attrNameLst>
                                          <p:attrName>ppt_w</p:attrName>
                                        </p:attrNameLst>
                                      </p:cBhvr>
                                      <p:tavLst>
                                        <p:tav tm="0">
                                          <p:val>
                                            <p:strVal val="#ppt_w*0.70"/>
                                          </p:val>
                                        </p:tav>
                                        <p:tav tm="100000">
                                          <p:val>
                                            <p:strVal val="#ppt_w"/>
                                          </p:val>
                                        </p:tav>
                                      </p:tavLst>
                                    </p:anim>
                                    <p:anim calcmode="lin" valueType="num">
                                      <p:cBhvr>
                                        <p:cTn id="18" dur="3000" fill="hold"/>
                                        <p:tgtEl>
                                          <p:spTgt spid="10243">
                                            <p:txEl>
                                              <p:pRg st="2" end="2"/>
                                            </p:txEl>
                                          </p:spTgt>
                                        </p:tgtEl>
                                        <p:attrNameLst>
                                          <p:attrName>ppt_h</p:attrName>
                                        </p:attrNameLst>
                                      </p:cBhvr>
                                      <p:tavLst>
                                        <p:tav tm="0">
                                          <p:val>
                                            <p:strVal val="#ppt_h"/>
                                          </p:val>
                                        </p:tav>
                                        <p:tav tm="100000">
                                          <p:val>
                                            <p:strVal val="#ppt_h"/>
                                          </p:val>
                                        </p:tav>
                                      </p:tavLst>
                                    </p:anim>
                                    <p:animEffect transition="in" filter="fade">
                                      <p:cBhvr>
                                        <p:cTn id="19" dur="3000"/>
                                        <p:tgtEl>
                                          <p:spTgt spid="10243">
                                            <p:txEl>
                                              <p:pRg st="2" end="2"/>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 calcmode="lin" valueType="num">
                                      <p:cBhvr>
                                        <p:cTn id="22" dur="3000" fill="hold"/>
                                        <p:tgtEl>
                                          <p:spTgt spid="10243">
                                            <p:txEl>
                                              <p:pRg st="3" end="3"/>
                                            </p:txEl>
                                          </p:spTgt>
                                        </p:tgtEl>
                                        <p:attrNameLst>
                                          <p:attrName>ppt_w</p:attrName>
                                        </p:attrNameLst>
                                      </p:cBhvr>
                                      <p:tavLst>
                                        <p:tav tm="0">
                                          <p:val>
                                            <p:strVal val="#ppt_w*0.70"/>
                                          </p:val>
                                        </p:tav>
                                        <p:tav tm="100000">
                                          <p:val>
                                            <p:strVal val="#ppt_w"/>
                                          </p:val>
                                        </p:tav>
                                      </p:tavLst>
                                    </p:anim>
                                    <p:anim calcmode="lin" valueType="num">
                                      <p:cBhvr>
                                        <p:cTn id="23" dur="3000" fill="hold"/>
                                        <p:tgtEl>
                                          <p:spTgt spid="10243">
                                            <p:txEl>
                                              <p:pRg st="3" end="3"/>
                                            </p:txEl>
                                          </p:spTgt>
                                        </p:tgtEl>
                                        <p:attrNameLst>
                                          <p:attrName>ppt_h</p:attrName>
                                        </p:attrNameLst>
                                      </p:cBhvr>
                                      <p:tavLst>
                                        <p:tav tm="0">
                                          <p:val>
                                            <p:strVal val="#ppt_h"/>
                                          </p:val>
                                        </p:tav>
                                        <p:tav tm="100000">
                                          <p:val>
                                            <p:strVal val="#ppt_h"/>
                                          </p:val>
                                        </p:tav>
                                      </p:tavLst>
                                    </p:anim>
                                    <p:animEffect transition="in" filter="fade">
                                      <p:cBhvr>
                                        <p:cTn id="24" dur="30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itle 1"/>
          <p:cNvSpPr>
            <a:spLocks noGrp="1"/>
          </p:cNvSpPr>
          <p:nvPr>
            <p:ph type="title"/>
          </p:nvPr>
        </p:nvSpPr>
        <p:spPr/>
        <p:txBody>
          <a:bodyPr/>
          <a:lstStyle/>
          <a:p>
            <a:endParaRPr lang="en-US" altLang="en-US" smtClean="0">
              <a:ln>
                <a:noFill/>
              </a:ln>
            </a:endParaRPr>
          </a:p>
        </p:txBody>
      </p:sp>
      <p:sp>
        <p:nvSpPr>
          <p:cNvPr id="5" name="Rectangle 3"/>
          <p:cNvSpPr>
            <a:spLocks noGrp="1"/>
          </p:cNvSpPr>
          <p:nvPr>
            <p:ph idx="1"/>
          </p:nvPr>
        </p:nvSpPr>
        <p:spPr/>
        <p:txBody>
          <a:bodyPr/>
          <a:lstStyle/>
          <a:p>
            <a:r>
              <a:rPr lang="en-US" altLang="en-US" smtClean="0"/>
              <a:t>When an elasticity is large (greater than 1 in absolute value), we call the relation that it describes </a:t>
            </a:r>
            <a:r>
              <a:rPr lang="en-US" altLang="en-US" smtClean="0">
                <a:solidFill>
                  <a:srgbClr val="FC0128"/>
                </a:solidFill>
              </a:rPr>
              <a:t>elastic</a:t>
            </a:r>
            <a:r>
              <a:rPr lang="en-US" altLang="en-US" smtClean="0"/>
              <a:t>.</a:t>
            </a:r>
          </a:p>
          <a:p>
            <a:pPr lvl="1"/>
            <a:r>
              <a:rPr lang="en-US" altLang="en-US" smtClean="0">
                <a:solidFill>
                  <a:srgbClr val="FF0000"/>
                </a:solidFill>
              </a:rPr>
              <a:t>Elastic demand means that the quantity demanded is sensitive to the price.</a:t>
            </a:r>
          </a:p>
          <a:p>
            <a:pPr lvl="1"/>
            <a:r>
              <a:rPr lang="en-US" altLang="en-US" smtClean="0">
                <a:solidFill>
                  <a:srgbClr val="FF0000"/>
                </a:solidFill>
              </a:rPr>
              <a:t>Elastic supply means that the quantity supplied is sensitive to the price</a:t>
            </a:r>
            <a:r>
              <a:rPr lang="en-US" altLang="en-US" smtClean="0"/>
              <a:t>.</a:t>
            </a:r>
          </a:p>
        </p:txBody>
      </p:sp>
      <p:sp>
        <p:nvSpPr>
          <p:cNvPr id="18637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8879DB-A3E3-48C5-9F20-7888E13CF77D}" type="slidenum">
              <a:rPr lang="en-US" altLang="en-US" sz="1400">
                <a:solidFill>
                  <a:srgbClr val="FFFFFF"/>
                </a:solidFill>
              </a:rPr>
              <a:pPr/>
              <a:t>4</a:t>
            </a:fld>
            <a:endParaRPr lang="en-US" altLang="en-US" sz="1400">
              <a:solidFill>
                <a:srgbClr val="FFFFFF"/>
              </a:solidFill>
            </a:endParaRPr>
          </a:p>
        </p:txBody>
      </p:sp>
    </p:spTree>
    <p:extLst>
      <p:ext uri="{BB962C8B-B14F-4D97-AF65-F5344CB8AC3E}">
        <p14:creationId xmlns:p14="http://schemas.microsoft.com/office/powerpoint/2010/main" val="40290011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5">
                                            <p:txEl>
                                              <p:pRg st="0" end="0"/>
                                            </p:txEl>
                                          </p:spTgt>
                                        </p:tgtEl>
                                        <p:attrNameLst>
                                          <p:attrName>ppt_c</p:attrName>
                                        </p:attrNameLst>
                                      </p:cBhvr>
                                      <p:to>
                                        <a:schemeClr val="tx2"/>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5">
                                            <p:txEl>
                                              <p:pRg st="1" end="1"/>
                                            </p:txEl>
                                          </p:spTgt>
                                        </p:tgtEl>
                                        <p:attrNameLst>
                                          <p:attrName>ppt_c</p:attrName>
                                        </p:attrNameLst>
                                      </p:cBhvr>
                                      <p:to>
                                        <a:schemeClr val="tx2"/>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5">
                                            <p:txEl>
                                              <p:pRg st="2" end="2"/>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2700338" y="915989"/>
            <a:ext cx="6799262" cy="1303337"/>
          </a:xfrm>
        </p:spPr>
        <p:txBody>
          <a:bodyPr/>
          <a:lstStyle/>
          <a:p>
            <a:r>
              <a:rPr lang="en-GB" altLang="en-US" b="1" smtClean="0">
                <a:ln>
                  <a:noFill/>
                </a:ln>
                <a:solidFill>
                  <a:srgbClr val="003366"/>
                </a:solidFill>
              </a:rPr>
              <a:t>Price Elasticity of Demand </a:t>
            </a:r>
            <a:r>
              <a:rPr lang="en-GB" altLang="en-US" sz="2800" b="1"/>
              <a:t>cont…</a:t>
            </a:r>
            <a:endParaRPr lang="en-US" altLang="en-US" smtClean="0">
              <a:ln>
                <a:noFill/>
              </a:ln>
            </a:endParaRPr>
          </a:p>
        </p:txBody>
      </p:sp>
      <p:sp>
        <p:nvSpPr>
          <p:cNvPr id="187395" name="Slide Number Placeholder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7682573-0762-4FB0-AE32-AFAC78D89E86}" type="slidenum">
              <a:rPr lang="en-US" altLang="en-US" sz="1400">
                <a:solidFill>
                  <a:srgbClr val="FFFFFF"/>
                </a:solidFill>
              </a:rPr>
              <a:pPr/>
              <a:t>5</a:t>
            </a:fld>
            <a:endParaRPr lang="en-US" altLang="en-US" sz="1400">
              <a:solidFill>
                <a:srgbClr val="FFFFFF"/>
              </a:solidFill>
            </a:endParaRPr>
          </a:p>
        </p:txBody>
      </p:sp>
      <p:sp>
        <p:nvSpPr>
          <p:cNvPr id="11268" name="Text Box 4"/>
          <p:cNvSpPr txBox="1">
            <a:spLocks noChangeArrowheads="1"/>
          </p:cNvSpPr>
          <p:nvPr/>
        </p:nvSpPr>
        <p:spPr bwMode="auto">
          <a:xfrm>
            <a:off x="2168525" y="1978025"/>
            <a:ext cx="1995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The  Formula:</a:t>
            </a:r>
            <a:endParaRPr lang="en-US" altLang="en-US" sz="2000">
              <a:latin typeface="Verdana" panose="020B0604030504040204" pitchFamily="34" charset="0"/>
            </a:endParaRPr>
          </a:p>
        </p:txBody>
      </p:sp>
      <p:sp>
        <p:nvSpPr>
          <p:cNvPr id="11269" name="Text Box 5"/>
          <p:cNvSpPr txBox="1">
            <a:spLocks noChangeArrowheads="1"/>
          </p:cNvSpPr>
          <p:nvPr/>
        </p:nvSpPr>
        <p:spPr bwMode="auto">
          <a:xfrm>
            <a:off x="2620964" y="2749551"/>
            <a:ext cx="942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Ped =</a:t>
            </a:r>
            <a:endParaRPr lang="en-US" altLang="en-US" sz="2000">
              <a:latin typeface="Verdana" panose="020B0604030504040204" pitchFamily="34" charset="0"/>
            </a:endParaRPr>
          </a:p>
        </p:txBody>
      </p:sp>
      <p:sp>
        <p:nvSpPr>
          <p:cNvPr id="11270" name="Text Box 6"/>
          <p:cNvSpPr txBox="1">
            <a:spLocks noChangeArrowheads="1"/>
          </p:cNvSpPr>
          <p:nvPr/>
        </p:nvSpPr>
        <p:spPr bwMode="auto">
          <a:xfrm>
            <a:off x="3629025" y="2462214"/>
            <a:ext cx="4471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 Change in Quantity Demanded</a:t>
            </a:r>
            <a:endParaRPr lang="en-US" altLang="en-US" sz="2000">
              <a:latin typeface="Verdana" panose="020B0604030504040204" pitchFamily="34" charset="0"/>
            </a:endParaRPr>
          </a:p>
        </p:txBody>
      </p:sp>
      <p:sp>
        <p:nvSpPr>
          <p:cNvPr id="11271" name="Text Box 7"/>
          <p:cNvSpPr txBox="1">
            <a:spLocks noChangeArrowheads="1"/>
          </p:cNvSpPr>
          <p:nvPr/>
        </p:nvSpPr>
        <p:spPr bwMode="auto">
          <a:xfrm>
            <a:off x="3629026" y="2606676"/>
            <a:ext cx="4556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___________________________</a:t>
            </a:r>
            <a:endParaRPr lang="en-US" altLang="en-US" sz="2000">
              <a:latin typeface="Verdana" panose="020B0604030504040204" pitchFamily="34" charset="0"/>
            </a:endParaRPr>
          </a:p>
        </p:txBody>
      </p:sp>
      <p:sp>
        <p:nvSpPr>
          <p:cNvPr id="11272" name="Text Box 8"/>
          <p:cNvSpPr txBox="1">
            <a:spLocks noChangeArrowheads="1"/>
          </p:cNvSpPr>
          <p:nvPr/>
        </p:nvSpPr>
        <p:spPr bwMode="auto">
          <a:xfrm>
            <a:off x="4276725" y="3038476"/>
            <a:ext cx="2616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 Change in Price </a:t>
            </a:r>
            <a:endParaRPr lang="en-US" altLang="en-US" sz="2000">
              <a:latin typeface="Verdana" panose="020B0604030504040204" pitchFamily="34" charset="0"/>
            </a:endParaRPr>
          </a:p>
        </p:txBody>
      </p:sp>
      <p:sp>
        <p:nvSpPr>
          <p:cNvPr id="11273" name="Text Box 9"/>
          <p:cNvSpPr txBox="1">
            <a:spLocks noChangeArrowheads="1"/>
          </p:cNvSpPr>
          <p:nvPr/>
        </p:nvSpPr>
        <p:spPr bwMode="auto">
          <a:xfrm>
            <a:off x="2116139" y="3614739"/>
            <a:ext cx="7623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solidFill>
                  <a:srgbClr val="FF0000"/>
                </a:solidFill>
                <a:latin typeface="Verdana" panose="020B0604030504040204" pitchFamily="34" charset="0"/>
              </a:rPr>
              <a:t>If answer is between 0 and -1: the relationship is inelastic</a:t>
            </a:r>
            <a:endParaRPr lang="en-US" altLang="en-US" sz="2000">
              <a:solidFill>
                <a:srgbClr val="FF0000"/>
              </a:solidFill>
              <a:latin typeface="Verdana" panose="020B0604030504040204" pitchFamily="34" charset="0"/>
            </a:endParaRPr>
          </a:p>
        </p:txBody>
      </p:sp>
      <p:sp>
        <p:nvSpPr>
          <p:cNvPr id="11274" name="Text Box 10"/>
          <p:cNvSpPr txBox="1">
            <a:spLocks noChangeArrowheads="1"/>
          </p:cNvSpPr>
          <p:nvPr/>
        </p:nvSpPr>
        <p:spPr bwMode="auto">
          <a:xfrm>
            <a:off x="1828800" y="4117975"/>
            <a:ext cx="8682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solidFill>
                  <a:srgbClr val="FF0000"/>
                </a:solidFill>
                <a:latin typeface="Verdana" panose="020B0604030504040204" pitchFamily="34" charset="0"/>
              </a:rPr>
              <a:t>If the answer is between 1 and infinity: the relationship is elastic</a:t>
            </a:r>
            <a:endParaRPr lang="en-US" altLang="en-US" sz="2000">
              <a:solidFill>
                <a:srgbClr val="FF0000"/>
              </a:solidFill>
              <a:latin typeface="Verdana" panose="020B0604030504040204" pitchFamily="34" charset="0"/>
            </a:endParaRPr>
          </a:p>
        </p:txBody>
      </p:sp>
      <p:sp>
        <p:nvSpPr>
          <p:cNvPr id="11275" name="Text Box 11"/>
          <p:cNvSpPr txBox="1">
            <a:spLocks noChangeArrowheads="1"/>
          </p:cNvSpPr>
          <p:nvPr/>
        </p:nvSpPr>
        <p:spPr bwMode="auto">
          <a:xfrm>
            <a:off x="2133600" y="4572000"/>
            <a:ext cx="8077200" cy="1631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pPr>
            <a:r>
              <a:rPr lang="en-GB" altLang="en-US" sz="2000">
                <a:latin typeface="Calibri" panose="020F0502020204030204" pitchFamily="34" charset="0"/>
              </a:rPr>
              <a:t>Note: Own PED has –ve sign in front of it; because as price rises demand falls and vice-versa (inverse relationship between price and demand).</a:t>
            </a:r>
          </a:p>
          <a:p>
            <a:pPr eaLnBrk="1" hangingPunct="1">
              <a:buFont typeface="Arial" panose="020B0604020202020204" pitchFamily="34" charset="0"/>
              <a:buChar char="•"/>
            </a:pPr>
            <a:endParaRPr lang="en-GB" altLang="en-US" sz="2000">
              <a:latin typeface="Calibri" panose="020F0502020204030204" pitchFamily="34" charset="0"/>
            </a:endParaRPr>
          </a:p>
          <a:p>
            <a:pPr eaLnBrk="1" hangingPunct="1">
              <a:buFont typeface="Arial" panose="020B0604020202020204" pitchFamily="34" charset="0"/>
              <a:buChar char="•"/>
            </a:pPr>
            <a:r>
              <a:rPr lang="en-US" altLang="en-US" sz="2000">
                <a:latin typeface="Calibri" panose="020F0502020204030204" pitchFamily="34" charset="0"/>
              </a:rPr>
              <a:t> Economists usually refer to the own price elasticity of demand by its absolute value (ignore the negative sign).</a:t>
            </a:r>
            <a:endParaRPr lang="en-US" altLang="en-US" sz="2000">
              <a:latin typeface="Verdana" panose="020B0604030504040204" pitchFamily="34" charset="0"/>
            </a:endParaRPr>
          </a:p>
        </p:txBody>
      </p:sp>
    </p:spTree>
    <p:extLst>
      <p:ext uri="{BB962C8B-B14F-4D97-AF65-F5344CB8AC3E}">
        <p14:creationId xmlns:p14="http://schemas.microsoft.com/office/powerpoint/2010/main" val="29565989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5000"/>
                                  </p:stCondLst>
                                  <p:childTnLst>
                                    <p:set>
                                      <p:cBhvr>
                                        <p:cTn id="6" dur="1" fill="hold">
                                          <p:stCondLst>
                                            <p:cond delay="0"/>
                                          </p:stCondLst>
                                        </p:cTn>
                                        <p:tgtEl>
                                          <p:spTgt spid="11268"/>
                                        </p:tgtEl>
                                        <p:attrNameLst>
                                          <p:attrName>style.visibility</p:attrName>
                                        </p:attrNameLst>
                                      </p:cBhvr>
                                      <p:to>
                                        <p:strVal val="visible"/>
                                      </p:to>
                                    </p:set>
                                    <p:animEffect transition="in" filter="dissolve">
                                      <p:cBhvr>
                                        <p:cTn id="7" dur="500"/>
                                        <p:tgtEl>
                                          <p:spTgt spid="112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26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27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1271"/>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127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273"/>
                                        </p:tgtEl>
                                        <p:attrNameLst>
                                          <p:attrName>style.visibility</p:attrName>
                                        </p:attrNameLst>
                                      </p:cBhvr>
                                      <p:to>
                                        <p:strVal val="visible"/>
                                      </p:to>
                                    </p:set>
                                    <p:animEffect transition="in" filter="dissolve">
                                      <p:cBhvr>
                                        <p:cTn id="28" dur="500"/>
                                        <p:tgtEl>
                                          <p:spTgt spid="1127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1274"/>
                                        </p:tgtEl>
                                        <p:attrNameLst>
                                          <p:attrName>style.visibility</p:attrName>
                                        </p:attrNameLst>
                                      </p:cBhvr>
                                      <p:to>
                                        <p:strVal val="visible"/>
                                      </p:to>
                                    </p:set>
                                    <p:animEffect transition="in" filter="dissolve">
                                      <p:cBhvr>
                                        <p:cTn id="33" dur="500"/>
                                        <p:tgtEl>
                                          <p:spTgt spid="1127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1275"/>
                                        </p:tgtEl>
                                        <p:attrNameLst>
                                          <p:attrName>style.visibility</p:attrName>
                                        </p:attrNameLst>
                                      </p:cBhvr>
                                      <p:to>
                                        <p:strVal val="visible"/>
                                      </p:to>
                                    </p:set>
                                    <p:animEffect transition="in" filter="dissolve">
                                      <p:cBhvr>
                                        <p:cTn id="38" dur="500"/>
                                        <p:tgtEl>
                                          <p:spTgt spid="11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p:bldP spid="11269" grpId="0" autoUpdateAnimBg="0"/>
      <p:bldP spid="11270" grpId="0" autoUpdateAnimBg="0"/>
      <p:bldP spid="11271" grpId="0" autoUpdateAnimBg="0"/>
      <p:bldP spid="11272" grpId="0" autoUpdateAnimBg="0"/>
      <p:bldP spid="11273" grpId="0" autoUpdateAnimBg="0"/>
      <p:bldP spid="11274" grpId="0" autoUpdateAnimBg="0"/>
      <p:bldP spid="11275"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Number Placeholder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4748275-6986-46D5-BC5B-ABE78D496E94}" type="slidenum">
              <a:rPr lang="en-US" altLang="en-US" sz="1400">
                <a:solidFill>
                  <a:srgbClr val="FFFFFF"/>
                </a:solidFill>
              </a:rPr>
              <a:pPr/>
              <a:t>6</a:t>
            </a:fld>
            <a:endParaRPr lang="en-US" altLang="en-US" sz="1400">
              <a:solidFill>
                <a:srgbClr val="FFFFFF"/>
              </a:solidFill>
            </a:endParaRPr>
          </a:p>
        </p:txBody>
      </p:sp>
      <p:sp>
        <p:nvSpPr>
          <p:cNvPr id="189443" name="Rectangle 2"/>
          <p:cNvSpPr>
            <a:spLocks noGrp="1" noChangeArrowheads="1"/>
          </p:cNvSpPr>
          <p:nvPr>
            <p:ph type="title" idx="4294967295"/>
          </p:nvPr>
        </p:nvSpPr>
        <p:spPr>
          <a:xfrm>
            <a:off x="1524000" y="274638"/>
            <a:ext cx="8229600" cy="1143000"/>
          </a:xfrm>
        </p:spPr>
        <p:txBody>
          <a:bodyPr/>
          <a:lstStyle/>
          <a:p>
            <a:r>
              <a:rPr lang="en-GB" altLang="en-US" b="1" smtClean="0">
                <a:ln>
                  <a:noFill/>
                </a:ln>
                <a:solidFill>
                  <a:srgbClr val="003366"/>
                </a:solidFill>
              </a:rPr>
              <a:t>Price Elasticity of Demand </a:t>
            </a:r>
            <a:r>
              <a:rPr lang="en-GB" altLang="en-US" sz="2800" b="1"/>
              <a:t>cont…</a:t>
            </a:r>
            <a:endParaRPr lang="en-US" altLang="en-US" smtClean="0">
              <a:ln>
                <a:noFill/>
              </a:ln>
            </a:endParaRPr>
          </a:p>
        </p:txBody>
      </p:sp>
      <p:sp>
        <p:nvSpPr>
          <p:cNvPr id="6148" name="Line 4"/>
          <p:cNvSpPr>
            <a:spLocks noChangeShapeType="1"/>
          </p:cNvSpPr>
          <p:nvPr/>
        </p:nvSpPr>
        <p:spPr bwMode="auto">
          <a:xfrm>
            <a:off x="3575050" y="1773239"/>
            <a:ext cx="0" cy="352742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 name="Line 5"/>
          <p:cNvSpPr>
            <a:spLocks noChangeShapeType="1"/>
          </p:cNvSpPr>
          <p:nvPr/>
        </p:nvSpPr>
        <p:spPr bwMode="auto">
          <a:xfrm>
            <a:off x="3575050" y="5300663"/>
            <a:ext cx="50419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 name="Line 6"/>
          <p:cNvSpPr>
            <a:spLocks noChangeShapeType="1"/>
          </p:cNvSpPr>
          <p:nvPr/>
        </p:nvSpPr>
        <p:spPr bwMode="auto">
          <a:xfrm>
            <a:off x="5448300" y="1773239"/>
            <a:ext cx="0" cy="352742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1" name="Line 7"/>
          <p:cNvSpPr>
            <a:spLocks noChangeShapeType="1"/>
          </p:cNvSpPr>
          <p:nvPr/>
        </p:nvSpPr>
        <p:spPr bwMode="auto">
          <a:xfrm>
            <a:off x="4872038" y="1844675"/>
            <a:ext cx="1079500" cy="3240088"/>
          </a:xfrm>
          <a:prstGeom prst="line">
            <a:avLst/>
          </a:prstGeom>
          <a:noFill/>
          <a:ln w="38100">
            <a:solidFill>
              <a:srgbClr val="FFCC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 name="Line 8"/>
          <p:cNvSpPr>
            <a:spLocks noChangeShapeType="1"/>
          </p:cNvSpPr>
          <p:nvPr/>
        </p:nvSpPr>
        <p:spPr bwMode="auto">
          <a:xfrm>
            <a:off x="4295775" y="2133601"/>
            <a:ext cx="2520950" cy="29511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3" name="Line 9"/>
          <p:cNvSpPr>
            <a:spLocks noChangeShapeType="1"/>
          </p:cNvSpPr>
          <p:nvPr/>
        </p:nvSpPr>
        <p:spPr bwMode="auto">
          <a:xfrm>
            <a:off x="4008439" y="2781301"/>
            <a:ext cx="4103687" cy="20875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4" name="Line 10"/>
          <p:cNvSpPr>
            <a:spLocks noChangeShapeType="1"/>
          </p:cNvSpPr>
          <p:nvPr/>
        </p:nvSpPr>
        <p:spPr bwMode="auto">
          <a:xfrm>
            <a:off x="3935414" y="3429001"/>
            <a:ext cx="4681537" cy="360363"/>
          </a:xfrm>
          <a:prstGeom prst="line">
            <a:avLst/>
          </a:prstGeom>
          <a:noFill/>
          <a:ln w="38100">
            <a:solidFill>
              <a:srgbClr val="FFCC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5" name="Line 11"/>
          <p:cNvSpPr>
            <a:spLocks noChangeShapeType="1"/>
          </p:cNvSpPr>
          <p:nvPr/>
        </p:nvSpPr>
        <p:spPr bwMode="auto">
          <a:xfrm>
            <a:off x="3575051" y="3573463"/>
            <a:ext cx="518477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6" name="Text Box 12"/>
          <p:cNvSpPr txBox="1">
            <a:spLocks noChangeArrowheads="1"/>
          </p:cNvSpPr>
          <p:nvPr/>
        </p:nvSpPr>
        <p:spPr bwMode="auto">
          <a:xfrm>
            <a:off x="2259013" y="1427164"/>
            <a:ext cx="1389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Price (MK)</a:t>
            </a:r>
            <a:endParaRPr lang="en-US" altLang="en-US">
              <a:latin typeface="Verdana" panose="020B0604030504040204" pitchFamily="34" charset="0"/>
            </a:endParaRPr>
          </a:p>
        </p:txBody>
      </p:sp>
      <p:sp>
        <p:nvSpPr>
          <p:cNvPr id="6157" name="Text Box 13"/>
          <p:cNvSpPr txBox="1">
            <a:spLocks noChangeArrowheads="1"/>
          </p:cNvSpPr>
          <p:nvPr/>
        </p:nvSpPr>
        <p:spPr bwMode="auto">
          <a:xfrm>
            <a:off x="7875588" y="5603876"/>
            <a:ext cx="24876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Quantity Demanded</a:t>
            </a:r>
            <a:endParaRPr lang="en-US" altLang="en-US">
              <a:latin typeface="Verdana" panose="020B0604030504040204" pitchFamily="34" charset="0"/>
            </a:endParaRPr>
          </a:p>
        </p:txBody>
      </p:sp>
      <p:sp>
        <p:nvSpPr>
          <p:cNvPr id="6164" name="Text Box 20"/>
          <p:cNvSpPr txBox="1">
            <a:spLocks noChangeArrowheads="1"/>
          </p:cNvSpPr>
          <p:nvPr/>
        </p:nvSpPr>
        <p:spPr bwMode="auto">
          <a:xfrm>
            <a:off x="7543800" y="1752601"/>
            <a:ext cx="2590800" cy="1015663"/>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200">
                <a:latin typeface="Verdana" panose="020B0604030504040204" pitchFamily="34" charset="0"/>
              </a:rPr>
              <a:t>The demand curve can be a range of shapes each of which is associated with a different relationship between price and the quantity demanded.</a:t>
            </a:r>
          </a:p>
        </p:txBody>
      </p:sp>
    </p:spTree>
    <p:extLst>
      <p:ext uri="{BB962C8B-B14F-4D97-AF65-F5344CB8AC3E}">
        <p14:creationId xmlns:p14="http://schemas.microsoft.com/office/powerpoint/2010/main" val="17478849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64"/>
                                        </p:tgtEl>
                                        <p:attrNameLst>
                                          <p:attrName>style.visibility</p:attrName>
                                        </p:attrNameLst>
                                      </p:cBhvr>
                                      <p:to>
                                        <p:strVal val="visible"/>
                                      </p:to>
                                    </p:set>
                                    <p:animEffect transition="in" filter="dissolve">
                                      <p:cBhvr>
                                        <p:cTn id="7" dur="500"/>
                                        <p:tgtEl>
                                          <p:spTgt spid="6164"/>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148"/>
                                        </p:tgtEl>
                                        <p:attrNameLst>
                                          <p:attrName>style.visibility</p:attrName>
                                        </p:attrNameLst>
                                      </p:cBhvr>
                                      <p:to>
                                        <p:strVal val="visible"/>
                                      </p:to>
                                    </p:set>
                                    <p:animEffect transition="in" filter="dissolve">
                                      <p:cBhvr>
                                        <p:cTn id="11" dur="500"/>
                                        <p:tgtEl>
                                          <p:spTgt spid="6148"/>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6156"/>
                                        </p:tgtEl>
                                        <p:attrNameLst>
                                          <p:attrName>style.visibility</p:attrName>
                                        </p:attrNameLst>
                                      </p:cBhvr>
                                      <p:to>
                                        <p:strVal val="visible"/>
                                      </p:to>
                                    </p:set>
                                    <p:animEffect transition="in" filter="dissolve">
                                      <p:cBhvr>
                                        <p:cTn id="15" dur="500"/>
                                        <p:tgtEl>
                                          <p:spTgt spid="6156"/>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6149"/>
                                        </p:tgtEl>
                                        <p:attrNameLst>
                                          <p:attrName>style.visibility</p:attrName>
                                        </p:attrNameLst>
                                      </p:cBhvr>
                                      <p:to>
                                        <p:strVal val="visible"/>
                                      </p:to>
                                    </p:set>
                                    <p:animEffect transition="in" filter="dissolve">
                                      <p:cBhvr>
                                        <p:cTn id="19" dur="500"/>
                                        <p:tgtEl>
                                          <p:spTgt spid="6149"/>
                                        </p:tgtEl>
                                      </p:cBhvr>
                                    </p:animEffect>
                                  </p:childTnLst>
                                </p:cTn>
                              </p:par>
                            </p:childTnLst>
                          </p:cTn>
                        </p:par>
                        <p:par>
                          <p:cTn id="20" fill="hold" nodeType="afterGroup">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6157"/>
                                        </p:tgtEl>
                                        <p:attrNameLst>
                                          <p:attrName>style.visibility</p:attrName>
                                        </p:attrNameLst>
                                      </p:cBhvr>
                                      <p:to>
                                        <p:strVal val="visible"/>
                                      </p:to>
                                    </p:set>
                                    <p:animEffect transition="in" filter="dissolve">
                                      <p:cBhvr>
                                        <p:cTn id="23" dur="500"/>
                                        <p:tgtEl>
                                          <p:spTgt spid="6157"/>
                                        </p:tgtEl>
                                      </p:cBhvr>
                                    </p:animEffect>
                                  </p:childTnLst>
                                </p:cTn>
                              </p:par>
                            </p:childTnLst>
                          </p:cTn>
                        </p:par>
                        <p:par>
                          <p:cTn id="24" fill="hold" nodeType="afterGroup">
                            <p:stCondLst>
                              <p:cond delay="2500"/>
                            </p:stCondLst>
                            <p:childTnLst>
                              <p:par>
                                <p:cTn id="25" presetID="11" presetClass="entr" presetSubtype="0" fill="hold" nodeType="afterEffect">
                                  <p:stCondLst>
                                    <p:cond delay="5000"/>
                                  </p:stCondLst>
                                  <p:childTnLst>
                                    <p:set>
                                      <p:cBhvr>
                                        <p:cTn id="26" dur="1000">
                                          <p:stCondLst>
                                            <p:cond delay="0"/>
                                          </p:stCondLst>
                                        </p:cTn>
                                        <p:tgtEl>
                                          <p:spTgt spid="6150"/>
                                        </p:tgtEl>
                                        <p:attrNameLst>
                                          <p:attrName>style.visibility</p:attrName>
                                        </p:attrNameLst>
                                      </p:cBhvr>
                                      <p:to>
                                        <p:strVal val="visible"/>
                                      </p:to>
                                    </p:set>
                                  </p:childTnLst>
                                </p:cTn>
                              </p:par>
                            </p:childTnLst>
                          </p:cTn>
                        </p:par>
                        <p:par>
                          <p:cTn id="27" fill="hold" nodeType="afterGroup">
                            <p:stCondLst>
                              <p:cond delay="8500"/>
                            </p:stCondLst>
                            <p:childTnLst>
                              <p:par>
                                <p:cTn id="28" presetID="11" presetClass="entr" presetSubtype="0" fill="hold" nodeType="afterEffect">
                                  <p:stCondLst>
                                    <p:cond delay="5000"/>
                                  </p:stCondLst>
                                  <p:childTnLst>
                                    <p:set>
                                      <p:cBhvr>
                                        <p:cTn id="29" dur="1000">
                                          <p:stCondLst>
                                            <p:cond delay="0"/>
                                          </p:stCondLst>
                                        </p:cTn>
                                        <p:tgtEl>
                                          <p:spTgt spid="6151"/>
                                        </p:tgtEl>
                                        <p:attrNameLst>
                                          <p:attrName>style.visibility</p:attrName>
                                        </p:attrNameLst>
                                      </p:cBhvr>
                                      <p:to>
                                        <p:strVal val="visible"/>
                                      </p:to>
                                    </p:set>
                                  </p:childTnLst>
                                </p:cTn>
                              </p:par>
                            </p:childTnLst>
                          </p:cTn>
                        </p:par>
                        <p:par>
                          <p:cTn id="30" fill="hold" nodeType="afterGroup">
                            <p:stCondLst>
                              <p:cond delay="14500"/>
                            </p:stCondLst>
                            <p:childTnLst>
                              <p:par>
                                <p:cTn id="31" presetID="11" presetClass="entr" presetSubtype="0" fill="hold" nodeType="afterEffect">
                                  <p:stCondLst>
                                    <p:cond delay="5000"/>
                                  </p:stCondLst>
                                  <p:childTnLst>
                                    <p:set>
                                      <p:cBhvr>
                                        <p:cTn id="32" dur="1000">
                                          <p:stCondLst>
                                            <p:cond delay="0"/>
                                          </p:stCondLst>
                                        </p:cTn>
                                        <p:tgtEl>
                                          <p:spTgt spid="6152"/>
                                        </p:tgtEl>
                                        <p:attrNameLst>
                                          <p:attrName>style.visibility</p:attrName>
                                        </p:attrNameLst>
                                      </p:cBhvr>
                                      <p:to>
                                        <p:strVal val="visible"/>
                                      </p:to>
                                    </p:set>
                                  </p:childTnLst>
                                </p:cTn>
                              </p:par>
                            </p:childTnLst>
                          </p:cTn>
                        </p:par>
                        <p:par>
                          <p:cTn id="33" fill="hold" nodeType="afterGroup">
                            <p:stCondLst>
                              <p:cond delay="20500"/>
                            </p:stCondLst>
                            <p:childTnLst>
                              <p:par>
                                <p:cTn id="34" presetID="11" presetClass="entr" presetSubtype="0" fill="hold" nodeType="afterEffect">
                                  <p:stCondLst>
                                    <p:cond delay="5000"/>
                                  </p:stCondLst>
                                  <p:childTnLst>
                                    <p:set>
                                      <p:cBhvr>
                                        <p:cTn id="35" dur="1000">
                                          <p:stCondLst>
                                            <p:cond delay="0"/>
                                          </p:stCondLst>
                                        </p:cTn>
                                        <p:tgtEl>
                                          <p:spTgt spid="6153"/>
                                        </p:tgtEl>
                                        <p:attrNameLst>
                                          <p:attrName>style.visibility</p:attrName>
                                        </p:attrNameLst>
                                      </p:cBhvr>
                                      <p:to>
                                        <p:strVal val="visible"/>
                                      </p:to>
                                    </p:set>
                                  </p:childTnLst>
                                </p:cTn>
                              </p:par>
                            </p:childTnLst>
                          </p:cTn>
                        </p:par>
                        <p:par>
                          <p:cTn id="36" fill="hold" nodeType="afterGroup">
                            <p:stCondLst>
                              <p:cond delay="26500"/>
                            </p:stCondLst>
                            <p:childTnLst>
                              <p:par>
                                <p:cTn id="37" presetID="11" presetClass="entr" presetSubtype="0" fill="hold" nodeType="afterEffect">
                                  <p:stCondLst>
                                    <p:cond delay="5000"/>
                                  </p:stCondLst>
                                  <p:childTnLst>
                                    <p:set>
                                      <p:cBhvr>
                                        <p:cTn id="38" dur="1000">
                                          <p:stCondLst>
                                            <p:cond delay="0"/>
                                          </p:stCondLst>
                                        </p:cTn>
                                        <p:tgtEl>
                                          <p:spTgt spid="6154"/>
                                        </p:tgtEl>
                                        <p:attrNameLst>
                                          <p:attrName>style.visibility</p:attrName>
                                        </p:attrNameLst>
                                      </p:cBhvr>
                                      <p:to>
                                        <p:strVal val="visible"/>
                                      </p:to>
                                    </p:set>
                                  </p:childTnLst>
                                </p:cTn>
                              </p:par>
                            </p:childTnLst>
                          </p:cTn>
                        </p:par>
                        <p:par>
                          <p:cTn id="39" fill="hold" nodeType="afterGroup">
                            <p:stCondLst>
                              <p:cond delay="32500"/>
                            </p:stCondLst>
                            <p:childTnLst>
                              <p:par>
                                <p:cTn id="40" presetID="11" presetClass="entr" presetSubtype="0" fill="hold" nodeType="afterEffect">
                                  <p:stCondLst>
                                    <p:cond delay="5000"/>
                                  </p:stCondLst>
                                  <p:childTnLst>
                                    <p:set>
                                      <p:cBhvr>
                                        <p:cTn id="41" dur="1000">
                                          <p:stCondLst>
                                            <p:cond delay="0"/>
                                          </p:stCondLst>
                                        </p:cTn>
                                        <p:tgtEl>
                                          <p:spTgt spid="6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6" grpId="0" autoUpdateAnimBg="0"/>
      <p:bldP spid="6157" grpId="0" autoUpdateAnimBg="0"/>
      <p:bldP spid="6164"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2700338" y="915989"/>
            <a:ext cx="6799262" cy="1303337"/>
          </a:xfrm>
        </p:spPr>
        <p:txBody>
          <a:bodyPr/>
          <a:lstStyle/>
          <a:p>
            <a:r>
              <a:rPr lang="en-GB" altLang="en-US" b="1" smtClean="0">
                <a:ln>
                  <a:noFill/>
                </a:ln>
                <a:solidFill>
                  <a:srgbClr val="003366"/>
                </a:solidFill>
              </a:rPr>
              <a:t>Price Elasticity of Demand </a:t>
            </a:r>
            <a:r>
              <a:rPr lang="en-GB" altLang="en-US" sz="2800" b="1"/>
              <a:t>cont…</a:t>
            </a:r>
            <a:endParaRPr lang="en-GB" altLang="en-US" smtClean="0">
              <a:ln>
                <a:noFill/>
              </a:ln>
            </a:endParaRPr>
          </a:p>
        </p:txBody>
      </p:sp>
      <p:sp>
        <p:nvSpPr>
          <p:cNvPr id="191491" name="Slide Number Placeholder 1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413AB70-89C3-48B8-A990-206AEE6755E1}" type="slidenum">
              <a:rPr lang="en-US" altLang="en-US" sz="1400">
                <a:solidFill>
                  <a:srgbClr val="FFFFFF"/>
                </a:solidFill>
              </a:rPr>
              <a:pPr/>
              <a:t>7</a:t>
            </a:fld>
            <a:endParaRPr lang="en-US" altLang="en-US" sz="1400">
              <a:solidFill>
                <a:srgbClr val="FFFFFF"/>
              </a:solidFill>
            </a:endParaRPr>
          </a:p>
        </p:txBody>
      </p:sp>
      <p:sp>
        <p:nvSpPr>
          <p:cNvPr id="28675" name="Line 3"/>
          <p:cNvSpPr>
            <a:spLocks noChangeShapeType="1"/>
          </p:cNvSpPr>
          <p:nvPr/>
        </p:nvSpPr>
        <p:spPr bwMode="auto">
          <a:xfrm>
            <a:off x="2514600" y="2057400"/>
            <a:ext cx="0" cy="3505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6" name="Text Box 4"/>
          <p:cNvSpPr txBox="1">
            <a:spLocks noChangeArrowheads="1"/>
          </p:cNvSpPr>
          <p:nvPr/>
        </p:nvSpPr>
        <p:spPr bwMode="auto">
          <a:xfrm>
            <a:off x="1828800" y="167640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600">
                <a:latin typeface="Verdana" panose="020B0604030504040204" pitchFamily="34" charset="0"/>
              </a:rPr>
              <a:t>Price</a:t>
            </a:r>
          </a:p>
        </p:txBody>
      </p:sp>
      <p:sp>
        <p:nvSpPr>
          <p:cNvPr id="28677" name="Line 5"/>
          <p:cNvSpPr>
            <a:spLocks noChangeShapeType="1"/>
          </p:cNvSpPr>
          <p:nvPr/>
        </p:nvSpPr>
        <p:spPr bwMode="auto">
          <a:xfrm>
            <a:off x="2514600" y="5562600"/>
            <a:ext cx="5257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8" name="Text Box 6"/>
          <p:cNvSpPr txBox="1">
            <a:spLocks noChangeArrowheads="1"/>
          </p:cNvSpPr>
          <p:nvPr/>
        </p:nvSpPr>
        <p:spPr bwMode="auto">
          <a:xfrm>
            <a:off x="6400800" y="5638800"/>
            <a:ext cx="3200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600">
                <a:latin typeface="Verdana" panose="020B0604030504040204" pitchFamily="34" charset="0"/>
              </a:rPr>
              <a:t>Quantity Demanded</a:t>
            </a:r>
          </a:p>
        </p:txBody>
      </p:sp>
      <p:sp>
        <p:nvSpPr>
          <p:cNvPr id="28679" name="Line 7"/>
          <p:cNvSpPr>
            <a:spLocks noChangeShapeType="1"/>
          </p:cNvSpPr>
          <p:nvPr/>
        </p:nvSpPr>
        <p:spPr bwMode="auto">
          <a:xfrm>
            <a:off x="2743200" y="2057400"/>
            <a:ext cx="4343400" cy="335280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Text Box 8"/>
          <p:cNvSpPr txBox="1">
            <a:spLocks noChangeArrowheads="1"/>
          </p:cNvSpPr>
          <p:nvPr/>
        </p:nvSpPr>
        <p:spPr bwMode="auto">
          <a:xfrm>
            <a:off x="7086600" y="5105400"/>
            <a:ext cx="381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600">
                <a:latin typeface="Verdana" panose="020B0604030504040204" pitchFamily="34" charset="0"/>
              </a:rPr>
              <a:t>D</a:t>
            </a:r>
          </a:p>
        </p:txBody>
      </p:sp>
      <p:sp>
        <p:nvSpPr>
          <p:cNvPr id="28681" name="Text Box 9"/>
          <p:cNvSpPr txBox="1">
            <a:spLocks noChangeArrowheads="1"/>
          </p:cNvSpPr>
          <p:nvPr/>
        </p:nvSpPr>
        <p:spPr bwMode="auto">
          <a:xfrm>
            <a:off x="5867400" y="1905001"/>
            <a:ext cx="2895600" cy="830263"/>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200">
                <a:latin typeface="Verdana" panose="020B0604030504040204" pitchFamily="34" charset="0"/>
              </a:rPr>
              <a:t>The importance of elasticity is the information it provides on the </a:t>
            </a:r>
            <a:r>
              <a:rPr lang="en-GB" altLang="en-US" sz="1200">
                <a:solidFill>
                  <a:srgbClr val="FF0000"/>
                </a:solidFill>
                <a:latin typeface="Verdana" panose="020B0604030504040204" pitchFamily="34" charset="0"/>
              </a:rPr>
              <a:t>effect on total revenue of changes in price.</a:t>
            </a:r>
          </a:p>
        </p:txBody>
      </p:sp>
      <p:sp>
        <p:nvSpPr>
          <p:cNvPr id="28682" name="Line 10"/>
          <p:cNvSpPr>
            <a:spLocks noChangeShapeType="1"/>
          </p:cNvSpPr>
          <p:nvPr/>
        </p:nvSpPr>
        <p:spPr bwMode="auto">
          <a:xfrm>
            <a:off x="2514600" y="3200400"/>
            <a:ext cx="175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3" name="Line 11"/>
          <p:cNvSpPr>
            <a:spLocks noChangeShapeType="1"/>
          </p:cNvSpPr>
          <p:nvPr/>
        </p:nvSpPr>
        <p:spPr bwMode="auto">
          <a:xfrm>
            <a:off x="4267200" y="3200400"/>
            <a:ext cx="0" cy="2362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4" name="Text Box 12"/>
          <p:cNvSpPr txBox="1">
            <a:spLocks noChangeArrowheads="1"/>
          </p:cNvSpPr>
          <p:nvPr/>
        </p:nvSpPr>
        <p:spPr bwMode="auto">
          <a:xfrm>
            <a:off x="1828800" y="3048001"/>
            <a:ext cx="685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400">
                <a:latin typeface="Verdana" panose="020B0604030504040204" pitchFamily="34" charset="0"/>
              </a:rPr>
              <a:t>MK50</a:t>
            </a:r>
          </a:p>
        </p:txBody>
      </p:sp>
      <p:sp>
        <p:nvSpPr>
          <p:cNvPr id="28685" name="Text Box 13"/>
          <p:cNvSpPr txBox="1">
            <a:spLocks noChangeArrowheads="1"/>
          </p:cNvSpPr>
          <p:nvPr/>
        </p:nvSpPr>
        <p:spPr bwMode="auto">
          <a:xfrm>
            <a:off x="4038600" y="556260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600">
                <a:latin typeface="Verdana" panose="020B0604030504040204" pitchFamily="34" charset="0"/>
              </a:rPr>
              <a:t>100</a:t>
            </a:r>
          </a:p>
        </p:txBody>
      </p:sp>
      <p:sp>
        <p:nvSpPr>
          <p:cNvPr id="28686" name="Text Box 14"/>
          <p:cNvSpPr txBox="1">
            <a:spLocks noChangeArrowheads="1"/>
          </p:cNvSpPr>
          <p:nvPr/>
        </p:nvSpPr>
        <p:spPr bwMode="auto">
          <a:xfrm>
            <a:off x="7086600" y="3124200"/>
            <a:ext cx="3048000" cy="1200150"/>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200">
                <a:latin typeface="Verdana" panose="020B0604030504040204" pitchFamily="34" charset="0"/>
              </a:rPr>
              <a:t>Total revenue is price x quantity sold. In this example, </a:t>
            </a:r>
          </a:p>
          <a:p>
            <a:pPr eaLnBrk="1" hangingPunct="1">
              <a:spcBef>
                <a:spcPct val="50000"/>
              </a:spcBef>
            </a:pPr>
            <a:r>
              <a:rPr lang="en-GB" altLang="en-US" sz="1200" b="1">
                <a:solidFill>
                  <a:srgbClr val="FF0000"/>
                </a:solidFill>
                <a:latin typeface="Verdana" panose="020B0604030504040204" pitchFamily="34" charset="0"/>
              </a:rPr>
              <a:t>TR = MK50 x 100= MK5,000.</a:t>
            </a:r>
          </a:p>
          <a:p>
            <a:pPr eaLnBrk="1" hangingPunct="1">
              <a:spcBef>
                <a:spcPct val="50000"/>
              </a:spcBef>
            </a:pPr>
            <a:r>
              <a:rPr lang="en-GB" altLang="en-US" sz="1200">
                <a:latin typeface="Verdana" panose="020B0604030504040204" pitchFamily="34" charset="0"/>
              </a:rPr>
              <a:t>This value is represented by the shaded rectangle.</a:t>
            </a:r>
          </a:p>
        </p:txBody>
      </p:sp>
      <p:sp>
        <p:nvSpPr>
          <p:cNvPr id="28687" name="Rectangle 15"/>
          <p:cNvSpPr>
            <a:spLocks noChangeArrowheads="1"/>
          </p:cNvSpPr>
          <p:nvPr/>
        </p:nvSpPr>
        <p:spPr bwMode="auto">
          <a:xfrm>
            <a:off x="2514600" y="3200400"/>
            <a:ext cx="1752600" cy="2362200"/>
          </a:xfrm>
          <a:prstGeom prst="rect">
            <a:avLst/>
          </a:prstGeom>
          <a:blipFill dpi="0" rotWithShape="1">
            <a:blip r:embed="rId3"/>
            <a:srcRect/>
            <a:tile tx="0" ty="0" sx="100000" sy="100000" flip="none" algn="tl"/>
          </a:blipFill>
          <a:ln w="9525">
            <a:solidFill>
              <a:srgbClr val="666699"/>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a:solidFill>
                  <a:schemeClr val="bg1"/>
                </a:solidFill>
                <a:latin typeface="Verdana" panose="020B0604030504040204" pitchFamily="34" charset="0"/>
              </a:rPr>
              <a:t>Total Revenue</a:t>
            </a:r>
          </a:p>
        </p:txBody>
      </p:sp>
    </p:spTree>
    <p:extLst>
      <p:ext uri="{BB962C8B-B14F-4D97-AF65-F5344CB8AC3E}">
        <p14:creationId xmlns:p14="http://schemas.microsoft.com/office/powerpoint/2010/main" val="40323286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dissolve">
                                      <p:cBhvr>
                                        <p:cTn id="7" dur="500"/>
                                        <p:tgtEl>
                                          <p:spTgt spid="286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dissolve">
                                      <p:cBhvr>
                                        <p:cTn id="12" dur="500"/>
                                        <p:tgtEl>
                                          <p:spTgt spid="286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8677"/>
                                        </p:tgtEl>
                                        <p:attrNameLst>
                                          <p:attrName>style.visibility</p:attrName>
                                        </p:attrNameLst>
                                      </p:cBhvr>
                                      <p:to>
                                        <p:strVal val="visible"/>
                                      </p:to>
                                    </p:set>
                                    <p:animEffect transition="in" filter="dissolve">
                                      <p:cBhvr>
                                        <p:cTn id="17" dur="500"/>
                                        <p:tgtEl>
                                          <p:spTgt spid="286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678"/>
                                        </p:tgtEl>
                                        <p:attrNameLst>
                                          <p:attrName>style.visibility</p:attrName>
                                        </p:attrNameLst>
                                      </p:cBhvr>
                                      <p:to>
                                        <p:strVal val="visible"/>
                                      </p:to>
                                    </p:set>
                                    <p:animEffect transition="in" filter="dissolve">
                                      <p:cBhvr>
                                        <p:cTn id="22" dur="500"/>
                                        <p:tgtEl>
                                          <p:spTgt spid="286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28679"/>
                                        </p:tgtEl>
                                        <p:attrNameLst>
                                          <p:attrName>style.visibility</p:attrName>
                                        </p:attrNameLst>
                                      </p:cBhvr>
                                      <p:to>
                                        <p:strVal val="visible"/>
                                      </p:to>
                                    </p:set>
                                    <p:animEffect transition="in" filter="strips(downRight)">
                                      <p:cBhvr>
                                        <p:cTn id="27" dur="500"/>
                                        <p:tgtEl>
                                          <p:spTgt spid="286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8680"/>
                                        </p:tgtEl>
                                        <p:attrNameLst>
                                          <p:attrName>style.visibility</p:attrName>
                                        </p:attrNameLst>
                                      </p:cBhvr>
                                      <p:to>
                                        <p:strVal val="visible"/>
                                      </p:to>
                                    </p:set>
                                    <p:animEffect transition="in" filter="dissolve">
                                      <p:cBhvr>
                                        <p:cTn id="32" dur="500"/>
                                        <p:tgtEl>
                                          <p:spTgt spid="286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8681"/>
                                        </p:tgtEl>
                                        <p:attrNameLst>
                                          <p:attrName>style.visibility</p:attrName>
                                        </p:attrNameLst>
                                      </p:cBhvr>
                                      <p:to>
                                        <p:strVal val="visible"/>
                                      </p:to>
                                    </p:set>
                                    <p:animEffect transition="in" filter="dissolve">
                                      <p:cBhvr>
                                        <p:cTn id="37" dur="500"/>
                                        <p:tgtEl>
                                          <p:spTgt spid="28681"/>
                                        </p:tgtEl>
                                      </p:cBhvr>
                                    </p:animEffect>
                                  </p:childTnLst>
                                  <p:subTnLst>
                                    <p:set>
                                      <p:cBhvr override="childStyle">
                                        <p:cTn dur="1" fill="hold" display="0" masterRel="nextClick" afterEffect="1"/>
                                        <p:tgtEl>
                                          <p:spTgt spid="28681"/>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28682"/>
                                        </p:tgtEl>
                                        <p:attrNameLst>
                                          <p:attrName>style.visibility</p:attrName>
                                        </p:attrNameLst>
                                      </p:cBhvr>
                                      <p:to>
                                        <p:strVal val="visible"/>
                                      </p:to>
                                    </p:set>
                                    <p:animEffect transition="in" filter="dissolve">
                                      <p:cBhvr>
                                        <p:cTn id="42" dur="500"/>
                                        <p:tgtEl>
                                          <p:spTgt spid="2868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28683"/>
                                        </p:tgtEl>
                                        <p:attrNameLst>
                                          <p:attrName>style.visibility</p:attrName>
                                        </p:attrNameLst>
                                      </p:cBhvr>
                                      <p:to>
                                        <p:strVal val="visible"/>
                                      </p:to>
                                    </p:set>
                                    <p:animEffect transition="in" filter="dissolve">
                                      <p:cBhvr>
                                        <p:cTn id="47" dur="500"/>
                                        <p:tgtEl>
                                          <p:spTgt spid="2868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8684"/>
                                        </p:tgtEl>
                                        <p:attrNameLst>
                                          <p:attrName>style.visibility</p:attrName>
                                        </p:attrNameLst>
                                      </p:cBhvr>
                                      <p:to>
                                        <p:strVal val="visible"/>
                                      </p:to>
                                    </p:set>
                                    <p:animEffect transition="in" filter="dissolve">
                                      <p:cBhvr>
                                        <p:cTn id="52" dur="500"/>
                                        <p:tgtEl>
                                          <p:spTgt spid="2868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8685"/>
                                        </p:tgtEl>
                                        <p:attrNameLst>
                                          <p:attrName>style.visibility</p:attrName>
                                        </p:attrNameLst>
                                      </p:cBhvr>
                                      <p:to>
                                        <p:strVal val="visible"/>
                                      </p:to>
                                    </p:set>
                                    <p:animEffect transition="in" filter="dissolve">
                                      <p:cBhvr>
                                        <p:cTn id="57" dur="500"/>
                                        <p:tgtEl>
                                          <p:spTgt spid="2868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8686"/>
                                        </p:tgtEl>
                                        <p:attrNameLst>
                                          <p:attrName>style.visibility</p:attrName>
                                        </p:attrNameLst>
                                      </p:cBhvr>
                                      <p:to>
                                        <p:strVal val="visible"/>
                                      </p:to>
                                    </p:set>
                                    <p:animEffect transition="in" filter="dissolve">
                                      <p:cBhvr>
                                        <p:cTn id="62" dur="500"/>
                                        <p:tgtEl>
                                          <p:spTgt spid="2868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8687"/>
                                        </p:tgtEl>
                                        <p:attrNameLst>
                                          <p:attrName>style.visibility</p:attrName>
                                        </p:attrNameLst>
                                      </p:cBhvr>
                                      <p:to>
                                        <p:strVal val="visible"/>
                                      </p:to>
                                    </p:set>
                                    <p:animEffect transition="in" filter="dissolve">
                                      <p:cBhvr>
                                        <p:cTn id="67" dur="500"/>
                                        <p:tgtEl>
                                          <p:spTgt spid="286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autoUpdateAnimBg="0"/>
      <p:bldP spid="28678" grpId="0" autoUpdateAnimBg="0"/>
      <p:bldP spid="28680" grpId="0" autoUpdateAnimBg="0"/>
      <p:bldP spid="28681" grpId="0" animBg="1" autoUpdateAnimBg="0"/>
      <p:bldP spid="28684" grpId="0" autoUpdateAnimBg="0"/>
      <p:bldP spid="28685" grpId="0" autoUpdateAnimBg="0"/>
      <p:bldP spid="28686" grpId="0" animBg="1" autoUpdateAnimBg="0"/>
      <p:bldP spid="28687"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ChangeArrowheads="1"/>
          </p:cNvSpPr>
          <p:nvPr/>
        </p:nvSpPr>
        <p:spPr bwMode="auto">
          <a:xfrm>
            <a:off x="2209800" y="5334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4000" b="1">
                <a:solidFill>
                  <a:srgbClr val="003366"/>
                </a:solidFill>
                <a:latin typeface="Calibri" panose="020F0502020204030204" pitchFamily="34" charset="0"/>
              </a:rPr>
              <a:t>Price Elasticity of Demand </a:t>
            </a:r>
            <a:r>
              <a:rPr lang="en-GB" altLang="en-US" sz="2400" b="1">
                <a:latin typeface="Calibri" panose="020F0502020204030204" pitchFamily="34" charset="0"/>
              </a:rPr>
              <a:t>cont…</a:t>
            </a:r>
            <a:endParaRPr lang="en-GB" altLang="en-US" sz="4000">
              <a:solidFill>
                <a:srgbClr val="174174"/>
              </a:solidFill>
              <a:latin typeface="Verdana" panose="020B0604030504040204" pitchFamily="34" charset="0"/>
            </a:endParaRPr>
          </a:p>
        </p:txBody>
      </p:sp>
      <p:sp>
        <p:nvSpPr>
          <p:cNvPr id="193539" name="Line 3"/>
          <p:cNvSpPr>
            <a:spLocks noChangeShapeType="1"/>
          </p:cNvSpPr>
          <p:nvPr/>
        </p:nvSpPr>
        <p:spPr bwMode="auto">
          <a:xfrm>
            <a:off x="2514600" y="2057400"/>
            <a:ext cx="0" cy="3505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540" name="Text Box 4"/>
          <p:cNvSpPr txBox="1">
            <a:spLocks noChangeArrowheads="1"/>
          </p:cNvSpPr>
          <p:nvPr/>
        </p:nvSpPr>
        <p:spPr bwMode="auto">
          <a:xfrm>
            <a:off x="1828800" y="167640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600">
                <a:latin typeface="Verdana" panose="020B0604030504040204" pitchFamily="34" charset="0"/>
              </a:rPr>
              <a:t>Price</a:t>
            </a:r>
          </a:p>
        </p:txBody>
      </p:sp>
      <p:sp>
        <p:nvSpPr>
          <p:cNvPr id="193541" name="Line 5"/>
          <p:cNvSpPr>
            <a:spLocks noChangeShapeType="1"/>
          </p:cNvSpPr>
          <p:nvPr/>
        </p:nvSpPr>
        <p:spPr bwMode="auto">
          <a:xfrm>
            <a:off x="2514600" y="5562600"/>
            <a:ext cx="5257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542" name="Text Box 6"/>
          <p:cNvSpPr txBox="1">
            <a:spLocks noChangeArrowheads="1"/>
          </p:cNvSpPr>
          <p:nvPr/>
        </p:nvSpPr>
        <p:spPr bwMode="auto">
          <a:xfrm>
            <a:off x="6400800" y="5638800"/>
            <a:ext cx="3200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600">
                <a:latin typeface="Verdana" panose="020B0604030504040204" pitchFamily="34" charset="0"/>
              </a:rPr>
              <a:t>Quantity Demanded</a:t>
            </a:r>
          </a:p>
        </p:txBody>
      </p:sp>
      <p:sp>
        <p:nvSpPr>
          <p:cNvPr id="193543" name="Line 7"/>
          <p:cNvSpPr>
            <a:spLocks noChangeShapeType="1"/>
          </p:cNvSpPr>
          <p:nvPr/>
        </p:nvSpPr>
        <p:spPr bwMode="auto">
          <a:xfrm>
            <a:off x="2743200" y="2057400"/>
            <a:ext cx="4343400" cy="335280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544" name="Text Box 8"/>
          <p:cNvSpPr txBox="1">
            <a:spLocks noChangeArrowheads="1"/>
          </p:cNvSpPr>
          <p:nvPr/>
        </p:nvSpPr>
        <p:spPr bwMode="auto">
          <a:xfrm>
            <a:off x="7086600" y="5105400"/>
            <a:ext cx="381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a:latin typeface="Calibri" panose="020F0502020204030204" pitchFamily="34" charset="0"/>
              </a:rPr>
              <a:t>D</a:t>
            </a:r>
          </a:p>
        </p:txBody>
      </p:sp>
      <p:sp>
        <p:nvSpPr>
          <p:cNvPr id="29705" name="Text Box 9"/>
          <p:cNvSpPr txBox="1">
            <a:spLocks noChangeArrowheads="1"/>
          </p:cNvSpPr>
          <p:nvPr/>
        </p:nvSpPr>
        <p:spPr bwMode="auto">
          <a:xfrm>
            <a:off x="5767388" y="1579564"/>
            <a:ext cx="4191000" cy="2708275"/>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2000">
                <a:latin typeface="Verdana" panose="020B0604030504040204" pitchFamily="34" charset="0"/>
              </a:rPr>
              <a:t>If the firm decides to decrease price to (say) MK30,</a:t>
            </a:r>
          </a:p>
          <a:p>
            <a:pPr eaLnBrk="1" hangingPunct="1">
              <a:spcBef>
                <a:spcPct val="50000"/>
              </a:spcBef>
            </a:pPr>
            <a:r>
              <a:rPr lang="en-GB" altLang="en-US" sz="2000">
                <a:latin typeface="Verdana" panose="020B0604030504040204" pitchFamily="34" charset="0"/>
              </a:rPr>
              <a:t> the degree of </a:t>
            </a:r>
            <a:r>
              <a:rPr lang="en-GB" altLang="en-US" sz="2000">
                <a:solidFill>
                  <a:srgbClr val="FF0000"/>
                </a:solidFill>
                <a:latin typeface="Verdana" panose="020B0604030504040204" pitchFamily="34" charset="0"/>
              </a:rPr>
              <a:t>price elasticity of the demand curve would determine the extent of the increase in demand </a:t>
            </a:r>
            <a:r>
              <a:rPr lang="en-GB" altLang="en-US" sz="2000">
                <a:latin typeface="Verdana" panose="020B0604030504040204" pitchFamily="34" charset="0"/>
              </a:rPr>
              <a:t>and </a:t>
            </a:r>
            <a:r>
              <a:rPr lang="en-GB" altLang="en-US" sz="2000" u="sng">
                <a:latin typeface="Verdana" panose="020B0604030504040204" pitchFamily="34" charset="0"/>
              </a:rPr>
              <a:t>the change therefore in total revenue.</a:t>
            </a:r>
          </a:p>
        </p:txBody>
      </p:sp>
      <p:sp>
        <p:nvSpPr>
          <p:cNvPr id="193546" name="Line 10"/>
          <p:cNvSpPr>
            <a:spLocks noChangeShapeType="1"/>
          </p:cNvSpPr>
          <p:nvPr/>
        </p:nvSpPr>
        <p:spPr bwMode="auto">
          <a:xfrm>
            <a:off x="2514600" y="3200400"/>
            <a:ext cx="175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547" name="Line 11"/>
          <p:cNvSpPr>
            <a:spLocks noChangeShapeType="1"/>
          </p:cNvSpPr>
          <p:nvPr/>
        </p:nvSpPr>
        <p:spPr bwMode="auto">
          <a:xfrm>
            <a:off x="4267200" y="3200400"/>
            <a:ext cx="0" cy="2362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548" name="Text Box 12"/>
          <p:cNvSpPr txBox="1">
            <a:spLocks noChangeArrowheads="1"/>
          </p:cNvSpPr>
          <p:nvPr/>
        </p:nvSpPr>
        <p:spPr bwMode="auto">
          <a:xfrm>
            <a:off x="1752600" y="3048001"/>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400">
                <a:latin typeface="Verdana" panose="020B0604030504040204" pitchFamily="34" charset="0"/>
              </a:rPr>
              <a:t>MK50</a:t>
            </a:r>
          </a:p>
        </p:txBody>
      </p:sp>
      <p:sp>
        <p:nvSpPr>
          <p:cNvPr id="193549" name="Text Box 13"/>
          <p:cNvSpPr txBox="1">
            <a:spLocks noChangeArrowheads="1"/>
          </p:cNvSpPr>
          <p:nvPr/>
        </p:nvSpPr>
        <p:spPr bwMode="auto">
          <a:xfrm>
            <a:off x="4038600" y="556260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600">
                <a:latin typeface="Verdana" panose="020B0604030504040204" pitchFamily="34" charset="0"/>
              </a:rPr>
              <a:t>100</a:t>
            </a:r>
          </a:p>
        </p:txBody>
      </p:sp>
      <p:sp>
        <p:nvSpPr>
          <p:cNvPr id="29712" name="Line 16"/>
          <p:cNvSpPr>
            <a:spLocks noChangeShapeType="1"/>
          </p:cNvSpPr>
          <p:nvPr/>
        </p:nvSpPr>
        <p:spPr bwMode="auto">
          <a:xfrm>
            <a:off x="2514600" y="4191000"/>
            <a:ext cx="297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3" name="Line 17"/>
          <p:cNvSpPr>
            <a:spLocks noChangeShapeType="1"/>
          </p:cNvSpPr>
          <p:nvPr/>
        </p:nvSpPr>
        <p:spPr bwMode="auto">
          <a:xfrm>
            <a:off x="5486400" y="4191000"/>
            <a:ext cx="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4" name="Text Box 18"/>
          <p:cNvSpPr txBox="1">
            <a:spLocks noChangeArrowheads="1"/>
          </p:cNvSpPr>
          <p:nvPr/>
        </p:nvSpPr>
        <p:spPr bwMode="auto">
          <a:xfrm>
            <a:off x="1752600" y="3886201"/>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400">
                <a:latin typeface="Verdana" panose="020B0604030504040204" pitchFamily="34" charset="0"/>
              </a:rPr>
              <a:t>MK30</a:t>
            </a:r>
          </a:p>
        </p:txBody>
      </p:sp>
      <p:sp>
        <p:nvSpPr>
          <p:cNvPr id="29715" name="Text Box 19"/>
          <p:cNvSpPr txBox="1">
            <a:spLocks noChangeArrowheads="1"/>
          </p:cNvSpPr>
          <p:nvPr/>
        </p:nvSpPr>
        <p:spPr bwMode="auto">
          <a:xfrm>
            <a:off x="5257800" y="5562600"/>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600">
                <a:latin typeface="Verdana" panose="020B0604030504040204" pitchFamily="34" charset="0"/>
              </a:rPr>
              <a:t>140</a:t>
            </a:r>
          </a:p>
        </p:txBody>
      </p:sp>
      <p:sp>
        <p:nvSpPr>
          <p:cNvPr id="29716" name="Rectangle 20"/>
          <p:cNvSpPr>
            <a:spLocks noChangeArrowheads="1"/>
          </p:cNvSpPr>
          <p:nvPr/>
        </p:nvSpPr>
        <p:spPr bwMode="auto">
          <a:xfrm>
            <a:off x="2514600" y="4191000"/>
            <a:ext cx="2971800" cy="1371600"/>
          </a:xfrm>
          <a:prstGeom prst="rect">
            <a:avLst/>
          </a:prstGeom>
          <a:solidFill>
            <a:schemeClr val="folHlink"/>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000">
                <a:solidFill>
                  <a:schemeClr val="bg1"/>
                </a:solidFill>
                <a:latin typeface="Verdana" panose="020B0604030504040204" pitchFamily="34" charset="0"/>
              </a:rPr>
              <a:t>Total</a:t>
            </a:r>
            <a:r>
              <a:rPr lang="en-GB" altLang="en-US" sz="2000">
                <a:latin typeface="Verdana" panose="020B0604030504040204" pitchFamily="34" charset="0"/>
              </a:rPr>
              <a:t> </a:t>
            </a:r>
            <a:r>
              <a:rPr lang="en-GB" altLang="en-US" sz="2000">
                <a:solidFill>
                  <a:schemeClr val="bg1"/>
                </a:solidFill>
                <a:latin typeface="Verdana" panose="020B0604030504040204" pitchFamily="34" charset="0"/>
              </a:rPr>
              <a:t>Revenue</a:t>
            </a:r>
          </a:p>
        </p:txBody>
      </p:sp>
      <p:sp>
        <p:nvSpPr>
          <p:cNvPr id="193555" name="Slide Number Placeholder 1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B98FBC6-A337-4CC6-95A7-37C36467D4BC}" type="slidenum">
              <a:rPr lang="en-US" altLang="en-US" sz="1400">
                <a:solidFill>
                  <a:srgbClr val="FFFFFF"/>
                </a:solidFill>
              </a:rPr>
              <a:pPr/>
              <a:t>8</a:t>
            </a:fld>
            <a:endParaRPr lang="en-US" altLang="en-US" sz="1400">
              <a:solidFill>
                <a:srgbClr val="FFFFFF"/>
              </a:solidFill>
            </a:endParaRPr>
          </a:p>
        </p:txBody>
      </p:sp>
    </p:spTree>
    <p:extLst>
      <p:ext uri="{BB962C8B-B14F-4D97-AF65-F5344CB8AC3E}">
        <p14:creationId xmlns:p14="http://schemas.microsoft.com/office/powerpoint/2010/main" val="32640365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705"/>
                                        </p:tgtEl>
                                        <p:attrNameLst>
                                          <p:attrName>style.visibility</p:attrName>
                                        </p:attrNameLst>
                                      </p:cBhvr>
                                      <p:to>
                                        <p:strVal val="visible"/>
                                      </p:to>
                                    </p:set>
                                    <p:animEffect transition="in" filter="dissolve">
                                      <p:cBhvr>
                                        <p:cTn id="7" dur="500"/>
                                        <p:tgtEl>
                                          <p:spTgt spid="297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1" fill="hold" nodeType="clickEffect">
                                  <p:stCondLst>
                                    <p:cond delay="0"/>
                                  </p:stCondLst>
                                  <p:childTnLst>
                                    <p:set>
                                      <p:cBhvr>
                                        <p:cTn id="11" dur="1" fill="hold">
                                          <p:stCondLst>
                                            <p:cond delay="0"/>
                                          </p:stCondLst>
                                        </p:cTn>
                                        <p:tgtEl>
                                          <p:spTgt spid="29712"/>
                                        </p:tgtEl>
                                        <p:attrNameLst>
                                          <p:attrName>style.visibility</p:attrName>
                                        </p:attrNameLst>
                                      </p:cBhvr>
                                      <p:to>
                                        <p:strVal val="visible"/>
                                      </p:to>
                                    </p:set>
                                    <p:anim calcmode="lin" valueType="num">
                                      <p:cBhvr additive="base">
                                        <p:cTn id="12" dur="5000" fill="hold"/>
                                        <p:tgtEl>
                                          <p:spTgt spid="29712"/>
                                        </p:tgtEl>
                                        <p:attrNameLst>
                                          <p:attrName>ppt_x</p:attrName>
                                        </p:attrNameLst>
                                      </p:cBhvr>
                                      <p:tavLst>
                                        <p:tav tm="0">
                                          <p:val>
                                            <p:strVal val="#ppt_x"/>
                                          </p:val>
                                        </p:tav>
                                        <p:tav tm="100000">
                                          <p:val>
                                            <p:strVal val="#ppt_x"/>
                                          </p:val>
                                        </p:tav>
                                      </p:tavLst>
                                    </p:anim>
                                    <p:anim calcmode="lin" valueType="num">
                                      <p:cBhvr additive="base">
                                        <p:cTn id="13" dur="5000" fill="hold"/>
                                        <p:tgtEl>
                                          <p:spTgt spid="29712"/>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9714"/>
                                        </p:tgtEl>
                                        <p:attrNameLst>
                                          <p:attrName>style.visibility</p:attrName>
                                        </p:attrNameLst>
                                      </p:cBhvr>
                                      <p:to>
                                        <p:strVal val="visible"/>
                                      </p:to>
                                    </p:set>
                                    <p:animEffect transition="in" filter="dissolve">
                                      <p:cBhvr>
                                        <p:cTn id="18" dur="500"/>
                                        <p:tgtEl>
                                          <p:spTgt spid="297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7" presetClass="entr" presetSubtype="8" fill="hold" nodeType="clickEffect">
                                  <p:stCondLst>
                                    <p:cond delay="0"/>
                                  </p:stCondLst>
                                  <p:childTnLst>
                                    <p:set>
                                      <p:cBhvr>
                                        <p:cTn id="22" dur="1" fill="hold">
                                          <p:stCondLst>
                                            <p:cond delay="0"/>
                                          </p:stCondLst>
                                        </p:cTn>
                                        <p:tgtEl>
                                          <p:spTgt spid="29713"/>
                                        </p:tgtEl>
                                        <p:attrNameLst>
                                          <p:attrName>style.visibility</p:attrName>
                                        </p:attrNameLst>
                                      </p:cBhvr>
                                      <p:to>
                                        <p:strVal val="visible"/>
                                      </p:to>
                                    </p:set>
                                    <p:anim calcmode="lin" valueType="num">
                                      <p:cBhvr additive="base">
                                        <p:cTn id="23" dur="5000" fill="hold"/>
                                        <p:tgtEl>
                                          <p:spTgt spid="29713"/>
                                        </p:tgtEl>
                                        <p:attrNameLst>
                                          <p:attrName>ppt_x</p:attrName>
                                        </p:attrNameLst>
                                      </p:cBhvr>
                                      <p:tavLst>
                                        <p:tav tm="0">
                                          <p:val>
                                            <p:strVal val="0-#ppt_w/2"/>
                                          </p:val>
                                        </p:tav>
                                        <p:tav tm="100000">
                                          <p:val>
                                            <p:strVal val="#ppt_x"/>
                                          </p:val>
                                        </p:tav>
                                      </p:tavLst>
                                    </p:anim>
                                    <p:anim calcmode="lin" valueType="num">
                                      <p:cBhvr additive="base">
                                        <p:cTn id="24" dur="5000" fill="hold"/>
                                        <p:tgtEl>
                                          <p:spTgt spid="2971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9715"/>
                                        </p:tgtEl>
                                        <p:attrNameLst>
                                          <p:attrName>style.visibility</p:attrName>
                                        </p:attrNameLst>
                                      </p:cBhvr>
                                      <p:to>
                                        <p:strVal val="visible"/>
                                      </p:to>
                                    </p:set>
                                    <p:animEffect transition="in" filter="dissolve">
                                      <p:cBhvr>
                                        <p:cTn id="29" dur="500"/>
                                        <p:tgtEl>
                                          <p:spTgt spid="2971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29716"/>
                                        </p:tgtEl>
                                        <p:attrNameLst>
                                          <p:attrName>style.visibility</p:attrName>
                                        </p:attrNameLst>
                                      </p:cBhvr>
                                      <p:to>
                                        <p:strVal val="visible"/>
                                      </p:to>
                                    </p:set>
                                    <p:animEffect transition="in" filter="dissolve">
                                      <p:cBhvr>
                                        <p:cTn id="34" dur="500"/>
                                        <p:tgtEl>
                                          <p:spTgt spid="29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animBg="1" autoUpdateAnimBg="0"/>
      <p:bldP spid="29714" grpId="0" autoUpdateAnimBg="0"/>
      <p:bldP spid="29715" grpId="0" autoUpdateAnimBg="0"/>
      <p:bldP spid="29716"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2700338" y="915989"/>
            <a:ext cx="6799262" cy="1303337"/>
          </a:xfrm>
        </p:spPr>
        <p:txBody>
          <a:bodyPr/>
          <a:lstStyle/>
          <a:p>
            <a:r>
              <a:rPr lang="en-GB" altLang="en-US" b="1" smtClean="0">
                <a:ln>
                  <a:noFill/>
                </a:ln>
                <a:solidFill>
                  <a:srgbClr val="003366"/>
                </a:solidFill>
              </a:rPr>
              <a:t>Price Elasticity of Demand </a:t>
            </a:r>
            <a:r>
              <a:rPr lang="en-GB" altLang="en-US" sz="2800" b="1"/>
              <a:t>cont…</a:t>
            </a:r>
            <a:endParaRPr lang="en-GB" altLang="en-US" smtClean="0">
              <a:ln>
                <a:noFill/>
              </a:ln>
            </a:endParaRPr>
          </a:p>
        </p:txBody>
      </p:sp>
      <p:sp>
        <p:nvSpPr>
          <p:cNvPr id="195587" name="Slide Number Placeholder 2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3E64745-7E28-48B4-9D1C-5FBC368E1E3D}" type="slidenum">
              <a:rPr lang="en-US" altLang="en-US" sz="1400">
                <a:solidFill>
                  <a:srgbClr val="FFFFFF"/>
                </a:solidFill>
              </a:rPr>
              <a:pPr/>
              <a:t>9</a:t>
            </a:fld>
            <a:endParaRPr lang="en-US" altLang="en-US" sz="1400">
              <a:solidFill>
                <a:srgbClr val="FFFFFF"/>
              </a:solidFill>
            </a:endParaRPr>
          </a:p>
        </p:txBody>
      </p:sp>
      <p:sp>
        <p:nvSpPr>
          <p:cNvPr id="13315" name="Line 3"/>
          <p:cNvSpPr>
            <a:spLocks noChangeShapeType="1"/>
          </p:cNvSpPr>
          <p:nvPr/>
        </p:nvSpPr>
        <p:spPr bwMode="auto">
          <a:xfrm>
            <a:off x="3429000" y="1905000"/>
            <a:ext cx="0" cy="3505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16" name="Line 4"/>
          <p:cNvSpPr>
            <a:spLocks noChangeShapeType="1"/>
          </p:cNvSpPr>
          <p:nvPr/>
        </p:nvSpPr>
        <p:spPr bwMode="auto">
          <a:xfrm>
            <a:off x="3429000" y="5410200"/>
            <a:ext cx="5638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17" name="Text Box 5"/>
          <p:cNvSpPr txBox="1">
            <a:spLocks noChangeArrowheads="1"/>
          </p:cNvSpPr>
          <p:nvPr/>
        </p:nvSpPr>
        <p:spPr bwMode="auto">
          <a:xfrm>
            <a:off x="2270126" y="1657350"/>
            <a:ext cx="12557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Price (MK)</a:t>
            </a:r>
          </a:p>
        </p:txBody>
      </p:sp>
      <p:sp>
        <p:nvSpPr>
          <p:cNvPr id="13318" name="Text Box 6"/>
          <p:cNvSpPr txBox="1">
            <a:spLocks noChangeArrowheads="1"/>
          </p:cNvSpPr>
          <p:nvPr/>
        </p:nvSpPr>
        <p:spPr bwMode="auto">
          <a:xfrm>
            <a:off x="8001001" y="5757863"/>
            <a:ext cx="2232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Quantity Demanded</a:t>
            </a:r>
          </a:p>
        </p:txBody>
      </p:sp>
      <p:sp>
        <p:nvSpPr>
          <p:cNvPr id="13319" name="Line 7"/>
          <p:cNvSpPr>
            <a:spLocks noChangeShapeType="1"/>
          </p:cNvSpPr>
          <p:nvPr/>
        </p:nvSpPr>
        <p:spPr bwMode="auto">
          <a:xfrm>
            <a:off x="4648200" y="1905000"/>
            <a:ext cx="457200" cy="33528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0" name="Rectangle 8"/>
          <p:cNvSpPr>
            <a:spLocks noChangeArrowheads="1"/>
          </p:cNvSpPr>
          <p:nvPr/>
        </p:nvSpPr>
        <p:spPr bwMode="auto">
          <a:xfrm>
            <a:off x="3429000" y="2514600"/>
            <a:ext cx="1295400" cy="28956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3322" name="Text Box 10"/>
          <p:cNvSpPr txBox="1">
            <a:spLocks noChangeArrowheads="1"/>
          </p:cNvSpPr>
          <p:nvPr/>
        </p:nvSpPr>
        <p:spPr bwMode="auto">
          <a:xfrm>
            <a:off x="2895601" y="2405064"/>
            <a:ext cx="650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100</a:t>
            </a:r>
          </a:p>
        </p:txBody>
      </p:sp>
      <p:sp>
        <p:nvSpPr>
          <p:cNvPr id="13323" name="Text Box 11"/>
          <p:cNvSpPr txBox="1">
            <a:spLocks noChangeArrowheads="1"/>
          </p:cNvSpPr>
          <p:nvPr/>
        </p:nvSpPr>
        <p:spPr bwMode="auto">
          <a:xfrm>
            <a:off x="5165725" y="4967288"/>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Calibri" panose="020F0502020204030204" pitchFamily="34" charset="0"/>
              </a:rPr>
              <a:t>D</a:t>
            </a:r>
          </a:p>
        </p:txBody>
      </p:sp>
      <p:sp>
        <p:nvSpPr>
          <p:cNvPr id="13324" name="Text Box 12"/>
          <p:cNvSpPr txBox="1">
            <a:spLocks noChangeArrowheads="1"/>
          </p:cNvSpPr>
          <p:nvPr/>
        </p:nvSpPr>
        <p:spPr bwMode="auto">
          <a:xfrm>
            <a:off x="4572000" y="5453063"/>
            <a:ext cx="312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5</a:t>
            </a:r>
          </a:p>
        </p:txBody>
      </p:sp>
      <p:sp>
        <p:nvSpPr>
          <p:cNvPr id="13325" name="Rectangle 13"/>
          <p:cNvSpPr>
            <a:spLocks noChangeArrowheads="1"/>
          </p:cNvSpPr>
          <p:nvPr/>
        </p:nvSpPr>
        <p:spPr bwMode="auto">
          <a:xfrm>
            <a:off x="3429000" y="4038600"/>
            <a:ext cx="1524000" cy="1371600"/>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3326" name="Text Box 14"/>
          <p:cNvSpPr txBox="1">
            <a:spLocks noChangeArrowheads="1"/>
          </p:cNvSpPr>
          <p:nvPr/>
        </p:nvSpPr>
        <p:spPr bwMode="auto">
          <a:xfrm>
            <a:off x="2895601" y="3867150"/>
            <a:ext cx="5810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50</a:t>
            </a:r>
          </a:p>
        </p:txBody>
      </p:sp>
      <p:sp>
        <p:nvSpPr>
          <p:cNvPr id="13327" name="Text Box 15"/>
          <p:cNvSpPr txBox="1">
            <a:spLocks noChangeArrowheads="1"/>
          </p:cNvSpPr>
          <p:nvPr/>
        </p:nvSpPr>
        <p:spPr bwMode="auto">
          <a:xfrm>
            <a:off x="4800600" y="5453063"/>
            <a:ext cx="312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6</a:t>
            </a:r>
          </a:p>
        </p:txBody>
      </p:sp>
      <p:sp>
        <p:nvSpPr>
          <p:cNvPr id="13328" name="Text Box 16"/>
          <p:cNvSpPr txBox="1">
            <a:spLocks noChangeArrowheads="1"/>
          </p:cNvSpPr>
          <p:nvPr/>
        </p:nvSpPr>
        <p:spPr bwMode="auto">
          <a:xfrm>
            <a:off x="5943600" y="2405064"/>
            <a:ext cx="2509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%Δ Price = -50%</a:t>
            </a:r>
          </a:p>
        </p:txBody>
      </p:sp>
      <p:sp>
        <p:nvSpPr>
          <p:cNvPr id="13329" name="Text Box 17"/>
          <p:cNvSpPr txBox="1">
            <a:spLocks noChangeArrowheads="1"/>
          </p:cNvSpPr>
          <p:nvPr/>
        </p:nvSpPr>
        <p:spPr bwMode="auto">
          <a:xfrm>
            <a:off x="5943600" y="2862264"/>
            <a:ext cx="472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%Δ Quantity Demanded (1/5</a:t>
            </a:r>
            <a:r>
              <a:rPr lang="en-GB" altLang="en-US" sz="1600">
                <a:latin typeface="Verdana" panose="020B0604030504040204" pitchFamily="34" charset="0"/>
              </a:rPr>
              <a:t>)=</a:t>
            </a:r>
            <a:r>
              <a:rPr lang="en-GB" altLang="en-US">
                <a:latin typeface="Verdana" panose="020B0604030504040204" pitchFamily="34" charset="0"/>
              </a:rPr>
              <a:t> +20%</a:t>
            </a:r>
          </a:p>
        </p:txBody>
      </p:sp>
      <p:sp>
        <p:nvSpPr>
          <p:cNvPr id="13330" name="Text Box 18"/>
          <p:cNvSpPr txBox="1">
            <a:spLocks noChangeArrowheads="1"/>
          </p:cNvSpPr>
          <p:nvPr/>
        </p:nvSpPr>
        <p:spPr bwMode="auto">
          <a:xfrm>
            <a:off x="5943601" y="3317876"/>
            <a:ext cx="40560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Ped = %Δ Quantity/ %Δ Price</a:t>
            </a:r>
          </a:p>
          <a:p>
            <a:pPr eaLnBrk="1" hangingPunct="1"/>
            <a:r>
              <a:rPr lang="en-GB" altLang="en-US" sz="2000">
                <a:latin typeface="Verdana" panose="020B0604030504040204" pitchFamily="34" charset="0"/>
              </a:rPr>
              <a:t>= -0.4 </a:t>
            </a:r>
            <a:r>
              <a:rPr lang="en-GB" altLang="en-US" sz="2000" b="1">
                <a:solidFill>
                  <a:srgbClr val="FF0000"/>
                </a:solidFill>
                <a:latin typeface="Verdana" panose="020B0604030504040204" pitchFamily="34" charset="0"/>
              </a:rPr>
              <a:t>(Inelastic)</a:t>
            </a:r>
          </a:p>
        </p:txBody>
      </p:sp>
      <p:sp>
        <p:nvSpPr>
          <p:cNvPr id="13331" name="Text Box 19"/>
          <p:cNvSpPr txBox="1">
            <a:spLocks noChangeArrowheads="1"/>
          </p:cNvSpPr>
          <p:nvPr/>
        </p:nvSpPr>
        <p:spPr bwMode="auto">
          <a:xfrm>
            <a:off x="6096000" y="4648201"/>
            <a:ext cx="3733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Total Revenue has fallen </a:t>
            </a:r>
          </a:p>
          <a:p>
            <a:pPr eaLnBrk="1" hangingPunct="1"/>
            <a:r>
              <a:rPr lang="en-GB" altLang="en-US" sz="2000">
                <a:latin typeface="Verdana" panose="020B0604030504040204" pitchFamily="34" charset="0"/>
              </a:rPr>
              <a:t>MK500 to MK300</a:t>
            </a:r>
          </a:p>
        </p:txBody>
      </p:sp>
      <p:sp>
        <p:nvSpPr>
          <p:cNvPr id="13332" name="Text Box 20"/>
          <p:cNvSpPr txBox="1">
            <a:spLocks noChangeArrowheads="1"/>
          </p:cNvSpPr>
          <p:nvPr/>
        </p:nvSpPr>
        <p:spPr bwMode="auto">
          <a:xfrm>
            <a:off x="4267200" y="1371600"/>
            <a:ext cx="6269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b="1">
                <a:latin typeface="Calibri" panose="020F0502020204030204" pitchFamily="34" charset="0"/>
              </a:rPr>
              <a:t>Example</a:t>
            </a:r>
            <a:r>
              <a:rPr lang="en-GB" altLang="en-US" sz="2000" b="1">
                <a:solidFill>
                  <a:srgbClr val="FF0000"/>
                </a:solidFill>
                <a:latin typeface="Calibri" panose="020F0502020204030204" pitchFamily="34" charset="0"/>
              </a:rPr>
              <a:t>:  Producer decides to lower price to attract sales</a:t>
            </a:r>
          </a:p>
        </p:txBody>
      </p:sp>
      <p:sp>
        <p:nvSpPr>
          <p:cNvPr id="13333" name="Text Box 21"/>
          <p:cNvSpPr txBox="1">
            <a:spLocks noChangeArrowheads="1"/>
          </p:cNvSpPr>
          <p:nvPr/>
        </p:nvSpPr>
        <p:spPr bwMode="auto">
          <a:xfrm>
            <a:off x="6019800" y="4232276"/>
            <a:ext cx="247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solidFill>
                  <a:srgbClr val="FF0000"/>
                </a:solidFill>
                <a:latin typeface="Verdana" panose="020B0604030504040204" pitchFamily="34" charset="0"/>
              </a:rPr>
              <a:t>Not a good move!</a:t>
            </a:r>
          </a:p>
        </p:txBody>
      </p:sp>
      <p:cxnSp>
        <p:nvCxnSpPr>
          <p:cNvPr id="22" name="Straight Connector 21"/>
          <p:cNvCxnSpPr/>
          <p:nvPr/>
        </p:nvCxnSpPr>
        <p:spPr>
          <a:xfrm rot="5400000">
            <a:off x="4038601" y="4724401"/>
            <a:ext cx="13716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13326" idx="1"/>
          </p:cNvCxnSpPr>
          <p:nvPr/>
        </p:nvCxnSpPr>
        <p:spPr>
          <a:xfrm rot="5400000">
            <a:off x="2210594" y="3352007"/>
            <a:ext cx="137001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50589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dissolve">
                                      <p:cBhvr>
                                        <p:cTn id="7" dur="500"/>
                                        <p:tgtEl>
                                          <p:spTgt spid="13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17"/>
                                        </p:tgtEl>
                                        <p:attrNameLst>
                                          <p:attrName>style.visibility</p:attrName>
                                        </p:attrNameLst>
                                      </p:cBhvr>
                                      <p:to>
                                        <p:strVal val="visible"/>
                                      </p:to>
                                    </p:set>
                                    <p:animEffect transition="in" filter="dissolve">
                                      <p:cBhvr>
                                        <p:cTn id="12" dur="500"/>
                                        <p:tgtEl>
                                          <p:spTgt spid="133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3316"/>
                                        </p:tgtEl>
                                        <p:attrNameLst>
                                          <p:attrName>style.visibility</p:attrName>
                                        </p:attrNameLst>
                                      </p:cBhvr>
                                      <p:to>
                                        <p:strVal val="visible"/>
                                      </p:to>
                                    </p:set>
                                    <p:animEffect transition="in" filter="dissolve">
                                      <p:cBhvr>
                                        <p:cTn id="17" dur="500"/>
                                        <p:tgtEl>
                                          <p:spTgt spid="133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318"/>
                                        </p:tgtEl>
                                        <p:attrNameLst>
                                          <p:attrName>style.visibility</p:attrName>
                                        </p:attrNameLst>
                                      </p:cBhvr>
                                      <p:to>
                                        <p:strVal val="visible"/>
                                      </p:to>
                                    </p:set>
                                    <p:animEffect transition="in" filter="dissolve">
                                      <p:cBhvr>
                                        <p:cTn id="22" dur="500"/>
                                        <p:tgtEl>
                                          <p:spTgt spid="133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13319"/>
                                        </p:tgtEl>
                                        <p:attrNameLst>
                                          <p:attrName>style.visibility</p:attrName>
                                        </p:attrNameLst>
                                      </p:cBhvr>
                                      <p:to>
                                        <p:strVal val="visible"/>
                                      </p:to>
                                    </p:set>
                                    <p:animEffect transition="in" filter="strips(downRight)">
                                      <p:cBhvr>
                                        <p:cTn id="27" dur="500"/>
                                        <p:tgtEl>
                                          <p:spTgt spid="133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323"/>
                                        </p:tgtEl>
                                        <p:attrNameLst>
                                          <p:attrName>style.visibility</p:attrName>
                                        </p:attrNameLst>
                                      </p:cBhvr>
                                      <p:to>
                                        <p:strVal val="visible"/>
                                      </p:to>
                                    </p:set>
                                    <p:animEffect transition="in" filter="dissolve">
                                      <p:cBhvr>
                                        <p:cTn id="32" dur="500"/>
                                        <p:tgtEl>
                                          <p:spTgt spid="133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3322"/>
                                        </p:tgtEl>
                                        <p:attrNameLst>
                                          <p:attrName>style.visibility</p:attrName>
                                        </p:attrNameLst>
                                      </p:cBhvr>
                                      <p:to>
                                        <p:strVal val="visible"/>
                                      </p:to>
                                    </p:set>
                                    <p:animEffect transition="in" filter="dissolve">
                                      <p:cBhvr>
                                        <p:cTn id="37" dur="500"/>
                                        <p:tgtEl>
                                          <p:spTgt spid="133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320"/>
                                        </p:tgtEl>
                                        <p:attrNameLst>
                                          <p:attrName>style.visibility</p:attrName>
                                        </p:attrNameLst>
                                      </p:cBhvr>
                                      <p:to>
                                        <p:strVal val="visible"/>
                                      </p:to>
                                    </p:set>
                                    <p:animEffect transition="in" filter="dissolve">
                                      <p:cBhvr>
                                        <p:cTn id="42" dur="500"/>
                                        <p:tgtEl>
                                          <p:spTgt spid="133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324"/>
                                        </p:tgtEl>
                                        <p:attrNameLst>
                                          <p:attrName>style.visibility</p:attrName>
                                        </p:attrNameLst>
                                      </p:cBhvr>
                                      <p:to>
                                        <p:strVal val="visible"/>
                                      </p:to>
                                    </p:set>
                                    <p:animEffect transition="in" filter="dissolve">
                                      <p:cBhvr>
                                        <p:cTn id="47" dur="500"/>
                                        <p:tgtEl>
                                          <p:spTgt spid="1332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3332"/>
                                        </p:tgtEl>
                                        <p:attrNameLst>
                                          <p:attrName>style.visibility</p:attrName>
                                        </p:attrNameLst>
                                      </p:cBhvr>
                                      <p:to>
                                        <p:strVal val="visible"/>
                                      </p:to>
                                    </p:set>
                                    <p:animEffect transition="in" filter="dissolve">
                                      <p:cBhvr>
                                        <p:cTn id="52" dur="500"/>
                                        <p:tgtEl>
                                          <p:spTgt spid="1333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3326"/>
                                        </p:tgtEl>
                                        <p:attrNameLst>
                                          <p:attrName>style.visibility</p:attrName>
                                        </p:attrNameLst>
                                      </p:cBhvr>
                                      <p:to>
                                        <p:strVal val="visible"/>
                                      </p:to>
                                    </p:set>
                                    <p:animEffect transition="in" filter="dissolve">
                                      <p:cBhvr>
                                        <p:cTn id="57" dur="500"/>
                                        <p:tgtEl>
                                          <p:spTgt spid="1332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3328"/>
                                        </p:tgtEl>
                                        <p:attrNameLst>
                                          <p:attrName>style.visibility</p:attrName>
                                        </p:attrNameLst>
                                      </p:cBhvr>
                                      <p:to>
                                        <p:strVal val="visible"/>
                                      </p:to>
                                    </p:set>
                                    <p:animEffect transition="in" filter="dissolve">
                                      <p:cBhvr>
                                        <p:cTn id="62" dur="500"/>
                                        <p:tgtEl>
                                          <p:spTgt spid="1332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3325"/>
                                        </p:tgtEl>
                                        <p:attrNameLst>
                                          <p:attrName>style.visibility</p:attrName>
                                        </p:attrNameLst>
                                      </p:cBhvr>
                                      <p:to>
                                        <p:strVal val="visible"/>
                                      </p:to>
                                    </p:set>
                                    <p:animEffect transition="in" filter="dissolve">
                                      <p:cBhvr>
                                        <p:cTn id="67" dur="500"/>
                                        <p:tgtEl>
                                          <p:spTgt spid="1332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3327"/>
                                        </p:tgtEl>
                                        <p:attrNameLst>
                                          <p:attrName>style.visibility</p:attrName>
                                        </p:attrNameLst>
                                      </p:cBhvr>
                                      <p:to>
                                        <p:strVal val="visible"/>
                                      </p:to>
                                    </p:set>
                                    <p:animEffect transition="in" filter="dissolve">
                                      <p:cBhvr>
                                        <p:cTn id="72" dur="500"/>
                                        <p:tgtEl>
                                          <p:spTgt spid="1332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3329"/>
                                        </p:tgtEl>
                                        <p:attrNameLst>
                                          <p:attrName>style.visibility</p:attrName>
                                        </p:attrNameLst>
                                      </p:cBhvr>
                                      <p:to>
                                        <p:strVal val="visible"/>
                                      </p:to>
                                    </p:set>
                                    <p:animEffect transition="in" filter="dissolve">
                                      <p:cBhvr>
                                        <p:cTn id="77" dur="500"/>
                                        <p:tgtEl>
                                          <p:spTgt spid="1332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3330"/>
                                        </p:tgtEl>
                                        <p:attrNameLst>
                                          <p:attrName>style.visibility</p:attrName>
                                        </p:attrNameLst>
                                      </p:cBhvr>
                                      <p:to>
                                        <p:strVal val="visible"/>
                                      </p:to>
                                    </p:set>
                                    <p:animEffect transition="in" filter="dissolve">
                                      <p:cBhvr>
                                        <p:cTn id="82" dur="500"/>
                                        <p:tgtEl>
                                          <p:spTgt spid="1333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13331"/>
                                        </p:tgtEl>
                                        <p:attrNameLst>
                                          <p:attrName>style.visibility</p:attrName>
                                        </p:attrNameLst>
                                      </p:cBhvr>
                                      <p:to>
                                        <p:strVal val="visible"/>
                                      </p:to>
                                    </p:set>
                                    <p:animEffect transition="in" filter="dissolve">
                                      <p:cBhvr>
                                        <p:cTn id="87" dur="500"/>
                                        <p:tgtEl>
                                          <p:spTgt spid="1333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 presetClass="entr" presetSubtype="2" fill="hold" grpId="0" nodeType="clickEffect">
                                  <p:stCondLst>
                                    <p:cond delay="0"/>
                                  </p:stCondLst>
                                  <p:childTnLst>
                                    <p:set>
                                      <p:cBhvr>
                                        <p:cTn id="91" dur="1" fill="hold">
                                          <p:stCondLst>
                                            <p:cond delay="0"/>
                                          </p:stCondLst>
                                        </p:cTn>
                                        <p:tgtEl>
                                          <p:spTgt spid="13333"/>
                                        </p:tgtEl>
                                        <p:attrNameLst>
                                          <p:attrName>style.visibility</p:attrName>
                                        </p:attrNameLst>
                                      </p:cBhvr>
                                      <p:to>
                                        <p:strVal val="visible"/>
                                      </p:to>
                                    </p:set>
                                    <p:anim calcmode="lin" valueType="num">
                                      <p:cBhvr additive="base">
                                        <p:cTn id="92" dur="500" fill="hold"/>
                                        <p:tgtEl>
                                          <p:spTgt spid="13333"/>
                                        </p:tgtEl>
                                        <p:attrNameLst>
                                          <p:attrName>ppt_x</p:attrName>
                                        </p:attrNameLst>
                                      </p:cBhvr>
                                      <p:tavLst>
                                        <p:tav tm="0">
                                          <p:val>
                                            <p:strVal val="1+#ppt_w/2"/>
                                          </p:val>
                                        </p:tav>
                                        <p:tav tm="100000">
                                          <p:val>
                                            <p:strVal val="#ppt_x"/>
                                          </p:val>
                                        </p:tav>
                                      </p:tavLst>
                                    </p:anim>
                                    <p:anim calcmode="lin" valueType="num">
                                      <p:cBhvr additive="base">
                                        <p:cTn id="93" dur="500" fill="hold"/>
                                        <p:tgtEl>
                                          <p:spTgt spid="133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autoUpdateAnimBg="0"/>
      <p:bldP spid="13318" grpId="0" autoUpdateAnimBg="0"/>
      <p:bldP spid="13320" grpId="0" animBg="1"/>
      <p:bldP spid="13322" grpId="0" autoUpdateAnimBg="0"/>
      <p:bldP spid="13323" grpId="0" autoUpdateAnimBg="0"/>
      <p:bldP spid="13324" grpId="0" autoUpdateAnimBg="0"/>
      <p:bldP spid="13325" grpId="0" animBg="1"/>
      <p:bldP spid="13326" grpId="0" autoUpdateAnimBg="0"/>
      <p:bldP spid="13327" grpId="0" autoUpdateAnimBg="0"/>
      <p:bldP spid="13328" grpId="0" autoUpdateAnimBg="0"/>
      <p:bldP spid="13329" grpId="0" autoUpdateAnimBg="0"/>
      <p:bldP spid="13330" grpId="0" autoUpdateAnimBg="0"/>
      <p:bldP spid="13331" grpId="0" autoUpdateAnimBg="0"/>
      <p:bldP spid="13332" grpId="0" autoUpdateAnimBg="0"/>
      <p:bldP spid="1333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2700338" y="915989"/>
            <a:ext cx="6799262" cy="1303337"/>
          </a:xfrm>
        </p:spPr>
        <p:txBody>
          <a:bodyPr/>
          <a:lstStyle/>
          <a:p>
            <a:r>
              <a:rPr lang="en-GB" altLang="en-US" b="1" smtClean="0">
                <a:ln>
                  <a:noFill/>
                </a:ln>
                <a:solidFill>
                  <a:srgbClr val="003366"/>
                </a:solidFill>
              </a:rPr>
              <a:t>Price Elasticity of Demand </a:t>
            </a:r>
            <a:r>
              <a:rPr lang="en-GB" altLang="en-US" sz="2800" b="1"/>
              <a:t>cont…</a:t>
            </a:r>
            <a:endParaRPr lang="en-GB" altLang="en-US" smtClean="0">
              <a:ln>
                <a:noFill/>
              </a:ln>
            </a:endParaRPr>
          </a:p>
        </p:txBody>
      </p:sp>
      <p:sp>
        <p:nvSpPr>
          <p:cNvPr id="197635" name="Slide Number Placeholder 2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E7153D9-5ACA-4117-9AC1-E5925EA475D2}" type="slidenum">
              <a:rPr lang="en-US" altLang="en-US" sz="1400">
                <a:solidFill>
                  <a:srgbClr val="FFFFFF"/>
                </a:solidFill>
              </a:rPr>
              <a:pPr/>
              <a:t>10</a:t>
            </a:fld>
            <a:endParaRPr lang="en-US" altLang="en-US" sz="1400">
              <a:solidFill>
                <a:srgbClr val="FFFFFF"/>
              </a:solidFill>
            </a:endParaRPr>
          </a:p>
        </p:txBody>
      </p:sp>
      <p:sp>
        <p:nvSpPr>
          <p:cNvPr id="14339" name="Line 3"/>
          <p:cNvSpPr>
            <a:spLocks noChangeShapeType="1"/>
          </p:cNvSpPr>
          <p:nvPr/>
        </p:nvSpPr>
        <p:spPr bwMode="auto">
          <a:xfrm>
            <a:off x="2895600" y="2057400"/>
            <a:ext cx="0" cy="3657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 name="Line 4"/>
          <p:cNvSpPr>
            <a:spLocks noChangeShapeType="1"/>
          </p:cNvSpPr>
          <p:nvPr/>
        </p:nvSpPr>
        <p:spPr bwMode="auto">
          <a:xfrm>
            <a:off x="2895600" y="5715000"/>
            <a:ext cx="7162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1" name="Text Box 5"/>
          <p:cNvSpPr txBox="1">
            <a:spLocks noChangeArrowheads="1"/>
          </p:cNvSpPr>
          <p:nvPr/>
        </p:nvSpPr>
        <p:spPr bwMode="auto">
          <a:xfrm>
            <a:off x="1812926" y="1657350"/>
            <a:ext cx="12557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Price (MK)</a:t>
            </a:r>
          </a:p>
        </p:txBody>
      </p:sp>
      <p:sp>
        <p:nvSpPr>
          <p:cNvPr id="14342" name="Text Box 6"/>
          <p:cNvSpPr txBox="1">
            <a:spLocks noChangeArrowheads="1"/>
          </p:cNvSpPr>
          <p:nvPr/>
        </p:nvSpPr>
        <p:spPr bwMode="auto">
          <a:xfrm>
            <a:off x="6248401" y="5834063"/>
            <a:ext cx="2232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Quantity Demanded</a:t>
            </a:r>
          </a:p>
        </p:txBody>
      </p:sp>
      <p:sp>
        <p:nvSpPr>
          <p:cNvPr id="14344" name="Line 8"/>
          <p:cNvSpPr>
            <a:spLocks noChangeShapeType="1"/>
          </p:cNvSpPr>
          <p:nvPr/>
        </p:nvSpPr>
        <p:spPr bwMode="auto">
          <a:xfrm>
            <a:off x="3048000" y="3505200"/>
            <a:ext cx="6477000" cy="9906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5" name="Text Box 9"/>
          <p:cNvSpPr txBox="1">
            <a:spLocks noChangeArrowheads="1"/>
          </p:cNvSpPr>
          <p:nvPr/>
        </p:nvSpPr>
        <p:spPr bwMode="auto">
          <a:xfrm>
            <a:off x="9677401" y="4462463"/>
            <a:ext cx="341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D</a:t>
            </a:r>
          </a:p>
        </p:txBody>
      </p:sp>
      <p:sp>
        <p:nvSpPr>
          <p:cNvPr id="14346" name="Rectangle 10"/>
          <p:cNvSpPr>
            <a:spLocks noChangeArrowheads="1"/>
          </p:cNvSpPr>
          <p:nvPr/>
        </p:nvSpPr>
        <p:spPr bwMode="auto">
          <a:xfrm>
            <a:off x="2895600" y="3733800"/>
            <a:ext cx="1524000" cy="19812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4347" name="Text Box 11"/>
          <p:cNvSpPr txBox="1">
            <a:spLocks noChangeArrowheads="1"/>
          </p:cNvSpPr>
          <p:nvPr/>
        </p:nvSpPr>
        <p:spPr bwMode="auto">
          <a:xfrm>
            <a:off x="2438401" y="3624263"/>
            <a:ext cx="4413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10</a:t>
            </a:r>
          </a:p>
        </p:txBody>
      </p:sp>
      <p:sp>
        <p:nvSpPr>
          <p:cNvPr id="14348" name="Text Box 12"/>
          <p:cNvSpPr txBox="1">
            <a:spLocks noChangeArrowheads="1"/>
          </p:cNvSpPr>
          <p:nvPr/>
        </p:nvSpPr>
        <p:spPr bwMode="auto">
          <a:xfrm>
            <a:off x="4251325" y="5772150"/>
            <a:ext cx="312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5</a:t>
            </a:r>
          </a:p>
        </p:txBody>
      </p:sp>
      <p:sp>
        <p:nvSpPr>
          <p:cNvPr id="14350" name="Rectangle 14"/>
          <p:cNvSpPr>
            <a:spLocks noChangeArrowheads="1"/>
          </p:cNvSpPr>
          <p:nvPr/>
        </p:nvSpPr>
        <p:spPr bwMode="auto">
          <a:xfrm>
            <a:off x="2895600" y="4419600"/>
            <a:ext cx="6248400" cy="1295400"/>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4351" name="Text Box 15"/>
          <p:cNvSpPr txBox="1">
            <a:spLocks noChangeArrowheads="1"/>
          </p:cNvSpPr>
          <p:nvPr/>
        </p:nvSpPr>
        <p:spPr bwMode="auto">
          <a:xfrm>
            <a:off x="8915401" y="5734050"/>
            <a:ext cx="4413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20</a:t>
            </a:r>
          </a:p>
        </p:txBody>
      </p:sp>
      <p:sp>
        <p:nvSpPr>
          <p:cNvPr id="14352" name="Text Box 16"/>
          <p:cNvSpPr txBox="1">
            <a:spLocks noChangeArrowheads="1"/>
          </p:cNvSpPr>
          <p:nvPr/>
        </p:nvSpPr>
        <p:spPr bwMode="auto">
          <a:xfrm>
            <a:off x="3724276" y="1835151"/>
            <a:ext cx="6562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solidFill>
                  <a:srgbClr val="FF0000"/>
                </a:solidFill>
                <a:latin typeface="Verdana" panose="020B0604030504040204" pitchFamily="34" charset="0"/>
              </a:rPr>
              <a:t>Producer decides to reduce price to increase sales</a:t>
            </a:r>
          </a:p>
        </p:txBody>
      </p:sp>
      <p:sp>
        <p:nvSpPr>
          <p:cNvPr id="14353" name="Text Box 17"/>
          <p:cNvSpPr txBox="1">
            <a:spLocks noChangeArrowheads="1"/>
          </p:cNvSpPr>
          <p:nvPr/>
        </p:nvSpPr>
        <p:spPr bwMode="auto">
          <a:xfrm>
            <a:off x="2590800" y="4310063"/>
            <a:ext cx="312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a:latin typeface="Verdana" panose="020B0604030504040204" pitchFamily="34" charset="0"/>
              </a:rPr>
              <a:t>7</a:t>
            </a:r>
          </a:p>
        </p:txBody>
      </p:sp>
      <p:sp>
        <p:nvSpPr>
          <p:cNvPr id="14354" name="Text Box 18"/>
          <p:cNvSpPr txBox="1">
            <a:spLocks noChangeArrowheads="1"/>
          </p:cNvSpPr>
          <p:nvPr/>
        </p:nvSpPr>
        <p:spPr bwMode="auto">
          <a:xfrm>
            <a:off x="3952876" y="2217739"/>
            <a:ext cx="300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%Δ in Price =  - 30%</a:t>
            </a:r>
          </a:p>
        </p:txBody>
      </p:sp>
      <p:sp>
        <p:nvSpPr>
          <p:cNvPr id="14355" name="Text Box 19"/>
          <p:cNvSpPr txBox="1">
            <a:spLocks noChangeArrowheads="1"/>
          </p:cNvSpPr>
          <p:nvPr/>
        </p:nvSpPr>
        <p:spPr bwMode="auto">
          <a:xfrm>
            <a:off x="4333876" y="2598739"/>
            <a:ext cx="3624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%Δ in Demand = + 300%</a:t>
            </a:r>
          </a:p>
        </p:txBody>
      </p:sp>
      <p:sp>
        <p:nvSpPr>
          <p:cNvPr id="14356" name="Text Box 20"/>
          <p:cNvSpPr txBox="1">
            <a:spLocks noChangeArrowheads="1"/>
          </p:cNvSpPr>
          <p:nvPr/>
        </p:nvSpPr>
        <p:spPr bwMode="auto">
          <a:xfrm>
            <a:off x="5095876" y="2978151"/>
            <a:ext cx="5572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Ped = %Δ Quantity /%Δ Price= - 10 </a:t>
            </a:r>
            <a:r>
              <a:rPr lang="en-GB" altLang="en-US" sz="2000" b="1">
                <a:solidFill>
                  <a:srgbClr val="FF0000"/>
                </a:solidFill>
                <a:latin typeface="Verdana" panose="020B0604030504040204" pitchFamily="34" charset="0"/>
              </a:rPr>
              <a:t>(Elastic).</a:t>
            </a:r>
          </a:p>
        </p:txBody>
      </p:sp>
      <p:sp>
        <p:nvSpPr>
          <p:cNvPr id="14357" name="Text Box 21"/>
          <p:cNvSpPr txBox="1">
            <a:spLocks noChangeArrowheads="1"/>
          </p:cNvSpPr>
          <p:nvPr/>
        </p:nvSpPr>
        <p:spPr bwMode="auto">
          <a:xfrm>
            <a:off x="5867400" y="3581401"/>
            <a:ext cx="2687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Total Revenue rises</a:t>
            </a:r>
          </a:p>
        </p:txBody>
      </p:sp>
      <p:sp>
        <p:nvSpPr>
          <p:cNvPr id="14358" name="Text Box 22"/>
          <p:cNvSpPr txBox="1">
            <a:spLocks noChangeArrowheads="1"/>
          </p:cNvSpPr>
          <p:nvPr/>
        </p:nvSpPr>
        <p:spPr bwMode="auto">
          <a:xfrm>
            <a:off x="8534401" y="3962401"/>
            <a:ext cx="1706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latin typeface="Verdana" panose="020B0604030504040204" pitchFamily="34" charset="0"/>
              </a:rPr>
              <a:t>Good Move!</a:t>
            </a:r>
          </a:p>
        </p:txBody>
      </p:sp>
    </p:spTree>
    <p:extLst>
      <p:ext uri="{BB962C8B-B14F-4D97-AF65-F5344CB8AC3E}">
        <p14:creationId xmlns:p14="http://schemas.microsoft.com/office/powerpoint/2010/main" val="17935349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dissolve">
                                      <p:cBhvr>
                                        <p:cTn id="7" dur="500"/>
                                        <p:tgtEl>
                                          <p:spTgt spid="14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41"/>
                                        </p:tgtEl>
                                        <p:attrNameLst>
                                          <p:attrName>style.visibility</p:attrName>
                                        </p:attrNameLst>
                                      </p:cBhvr>
                                      <p:to>
                                        <p:strVal val="visible"/>
                                      </p:to>
                                    </p:set>
                                    <p:animEffect transition="in" filter="dissolve">
                                      <p:cBhvr>
                                        <p:cTn id="12" dur="500"/>
                                        <p:tgtEl>
                                          <p:spTgt spid="143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340"/>
                                        </p:tgtEl>
                                        <p:attrNameLst>
                                          <p:attrName>style.visibility</p:attrName>
                                        </p:attrNameLst>
                                      </p:cBhvr>
                                      <p:to>
                                        <p:strVal val="visible"/>
                                      </p:to>
                                    </p:set>
                                    <p:animEffect transition="in" filter="dissolve">
                                      <p:cBhvr>
                                        <p:cTn id="17" dur="500"/>
                                        <p:tgtEl>
                                          <p:spTgt spid="143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342"/>
                                        </p:tgtEl>
                                        <p:attrNameLst>
                                          <p:attrName>style.visibility</p:attrName>
                                        </p:attrNameLst>
                                      </p:cBhvr>
                                      <p:to>
                                        <p:strVal val="visible"/>
                                      </p:to>
                                    </p:set>
                                    <p:animEffect transition="in" filter="dissolve">
                                      <p:cBhvr>
                                        <p:cTn id="22" dur="500"/>
                                        <p:tgtEl>
                                          <p:spTgt spid="143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14344"/>
                                        </p:tgtEl>
                                        <p:attrNameLst>
                                          <p:attrName>style.visibility</p:attrName>
                                        </p:attrNameLst>
                                      </p:cBhvr>
                                      <p:to>
                                        <p:strVal val="visible"/>
                                      </p:to>
                                    </p:set>
                                    <p:animEffect transition="in" filter="strips(downRight)">
                                      <p:cBhvr>
                                        <p:cTn id="27" dur="500"/>
                                        <p:tgtEl>
                                          <p:spTgt spid="143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45"/>
                                        </p:tgtEl>
                                        <p:attrNameLst>
                                          <p:attrName>style.visibility</p:attrName>
                                        </p:attrNameLst>
                                      </p:cBhvr>
                                      <p:to>
                                        <p:strVal val="visible"/>
                                      </p:to>
                                    </p:set>
                                    <p:animEffect transition="in" filter="dissolve">
                                      <p:cBhvr>
                                        <p:cTn id="32" dur="500"/>
                                        <p:tgtEl>
                                          <p:spTgt spid="143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4347"/>
                                        </p:tgtEl>
                                        <p:attrNameLst>
                                          <p:attrName>style.visibility</p:attrName>
                                        </p:attrNameLst>
                                      </p:cBhvr>
                                      <p:to>
                                        <p:strVal val="visible"/>
                                      </p:to>
                                    </p:set>
                                    <p:animEffect transition="in" filter="dissolve">
                                      <p:cBhvr>
                                        <p:cTn id="37" dur="500"/>
                                        <p:tgtEl>
                                          <p:spTgt spid="143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4346"/>
                                        </p:tgtEl>
                                        <p:attrNameLst>
                                          <p:attrName>style.visibility</p:attrName>
                                        </p:attrNameLst>
                                      </p:cBhvr>
                                      <p:to>
                                        <p:strVal val="visible"/>
                                      </p:to>
                                    </p:set>
                                    <p:animEffect transition="in" filter="dissolve">
                                      <p:cBhvr>
                                        <p:cTn id="42" dur="500"/>
                                        <p:tgtEl>
                                          <p:spTgt spid="1434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4348"/>
                                        </p:tgtEl>
                                        <p:attrNameLst>
                                          <p:attrName>style.visibility</p:attrName>
                                        </p:attrNameLst>
                                      </p:cBhvr>
                                      <p:to>
                                        <p:strVal val="visible"/>
                                      </p:to>
                                    </p:set>
                                    <p:animEffect transition="in" filter="dissolve">
                                      <p:cBhvr>
                                        <p:cTn id="47" dur="500"/>
                                        <p:tgtEl>
                                          <p:spTgt spid="1434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4352"/>
                                        </p:tgtEl>
                                        <p:attrNameLst>
                                          <p:attrName>style.visibility</p:attrName>
                                        </p:attrNameLst>
                                      </p:cBhvr>
                                      <p:to>
                                        <p:strVal val="visible"/>
                                      </p:to>
                                    </p:set>
                                    <p:animEffect transition="in" filter="dissolve">
                                      <p:cBhvr>
                                        <p:cTn id="52" dur="500"/>
                                        <p:tgtEl>
                                          <p:spTgt spid="1435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4353"/>
                                        </p:tgtEl>
                                        <p:attrNameLst>
                                          <p:attrName>style.visibility</p:attrName>
                                        </p:attrNameLst>
                                      </p:cBhvr>
                                      <p:to>
                                        <p:strVal val="visible"/>
                                      </p:to>
                                    </p:set>
                                    <p:animEffect transition="in" filter="dissolve">
                                      <p:cBhvr>
                                        <p:cTn id="57" dur="500"/>
                                        <p:tgtEl>
                                          <p:spTgt spid="1435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4354"/>
                                        </p:tgtEl>
                                        <p:attrNameLst>
                                          <p:attrName>style.visibility</p:attrName>
                                        </p:attrNameLst>
                                      </p:cBhvr>
                                      <p:to>
                                        <p:strVal val="visible"/>
                                      </p:to>
                                    </p:set>
                                    <p:animEffect transition="in" filter="dissolve">
                                      <p:cBhvr>
                                        <p:cTn id="62" dur="500"/>
                                        <p:tgtEl>
                                          <p:spTgt spid="1435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4350"/>
                                        </p:tgtEl>
                                        <p:attrNameLst>
                                          <p:attrName>style.visibility</p:attrName>
                                        </p:attrNameLst>
                                      </p:cBhvr>
                                      <p:to>
                                        <p:strVal val="visible"/>
                                      </p:to>
                                    </p:set>
                                    <p:animEffect transition="in" filter="dissolve">
                                      <p:cBhvr>
                                        <p:cTn id="67" dur="500"/>
                                        <p:tgtEl>
                                          <p:spTgt spid="1435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4351"/>
                                        </p:tgtEl>
                                        <p:attrNameLst>
                                          <p:attrName>style.visibility</p:attrName>
                                        </p:attrNameLst>
                                      </p:cBhvr>
                                      <p:to>
                                        <p:strVal val="visible"/>
                                      </p:to>
                                    </p:set>
                                    <p:animEffect transition="in" filter="dissolve">
                                      <p:cBhvr>
                                        <p:cTn id="72" dur="500"/>
                                        <p:tgtEl>
                                          <p:spTgt spid="1435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4355"/>
                                        </p:tgtEl>
                                        <p:attrNameLst>
                                          <p:attrName>style.visibility</p:attrName>
                                        </p:attrNameLst>
                                      </p:cBhvr>
                                      <p:to>
                                        <p:strVal val="visible"/>
                                      </p:to>
                                    </p:set>
                                    <p:animEffect transition="in" filter="dissolve">
                                      <p:cBhvr>
                                        <p:cTn id="77" dur="500"/>
                                        <p:tgtEl>
                                          <p:spTgt spid="1435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4356"/>
                                        </p:tgtEl>
                                        <p:attrNameLst>
                                          <p:attrName>style.visibility</p:attrName>
                                        </p:attrNameLst>
                                      </p:cBhvr>
                                      <p:to>
                                        <p:strVal val="visible"/>
                                      </p:to>
                                    </p:set>
                                    <p:animEffect transition="in" filter="dissolve">
                                      <p:cBhvr>
                                        <p:cTn id="82" dur="500"/>
                                        <p:tgtEl>
                                          <p:spTgt spid="1435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14357"/>
                                        </p:tgtEl>
                                        <p:attrNameLst>
                                          <p:attrName>style.visibility</p:attrName>
                                        </p:attrNameLst>
                                      </p:cBhvr>
                                      <p:to>
                                        <p:strVal val="visible"/>
                                      </p:to>
                                    </p:set>
                                    <p:animEffect transition="in" filter="dissolve">
                                      <p:cBhvr>
                                        <p:cTn id="87" dur="500"/>
                                        <p:tgtEl>
                                          <p:spTgt spid="1435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 presetClass="entr" presetSubtype="2" fill="hold" grpId="0" nodeType="clickEffect">
                                  <p:stCondLst>
                                    <p:cond delay="0"/>
                                  </p:stCondLst>
                                  <p:childTnLst>
                                    <p:set>
                                      <p:cBhvr>
                                        <p:cTn id="91" dur="1" fill="hold">
                                          <p:stCondLst>
                                            <p:cond delay="0"/>
                                          </p:stCondLst>
                                        </p:cTn>
                                        <p:tgtEl>
                                          <p:spTgt spid="14358"/>
                                        </p:tgtEl>
                                        <p:attrNameLst>
                                          <p:attrName>style.visibility</p:attrName>
                                        </p:attrNameLst>
                                      </p:cBhvr>
                                      <p:to>
                                        <p:strVal val="visible"/>
                                      </p:to>
                                    </p:set>
                                    <p:anim calcmode="lin" valueType="num">
                                      <p:cBhvr additive="base">
                                        <p:cTn id="92" dur="500" fill="hold"/>
                                        <p:tgtEl>
                                          <p:spTgt spid="14358"/>
                                        </p:tgtEl>
                                        <p:attrNameLst>
                                          <p:attrName>ppt_x</p:attrName>
                                        </p:attrNameLst>
                                      </p:cBhvr>
                                      <p:tavLst>
                                        <p:tav tm="0">
                                          <p:val>
                                            <p:strVal val="1+#ppt_w/2"/>
                                          </p:val>
                                        </p:tav>
                                        <p:tav tm="100000">
                                          <p:val>
                                            <p:strVal val="#ppt_x"/>
                                          </p:val>
                                        </p:tav>
                                      </p:tavLst>
                                    </p:anim>
                                    <p:anim calcmode="lin" valueType="num">
                                      <p:cBhvr additive="base">
                                        <p:cTn id="93" dur="500" fill="hold"/>
                                        <p:tgtEl>
                                          <p:spTgt spid="143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utoUpdateAnimBg="0"/>
      <p:bldP spid="14342" grpId="0" autoUpdateAnimBg="0"/>
      <p:bldP spid="14345" grpId="0" autoUpdateAnimBg="0"/>
      <p:bldP spid="14346" grpId="0" animBg="1"/>
      <p:bldP spid="14347" grpId="0" autoUpdateAnimBg="0"/>
      <p:bldP spid="14348" grpId="0" autoUpdateAnimBg="0"/>
      <p:bldP spid="14350" grpId="0" animBg="1"/>
      <p:bldP spid="14351" grpId="0" autoUpdateAnimBg="0"/>
      <p:bldP spid="14352" grpId="0" autoUpdateAnimBg="0"/>
      <p:bldP spid="14353" grpId="0" autoUpdateAnimBg="0"/>
      <p:bldP spid="14354" grpId="0" autoUpdateAnimBg="0"/>
      <p:bldP spid="14355" grpId="0" autoUpdateAnimBg="0"/>
      <p:bldP spid="14356" grpId="0" autoUpdateAnimBg="0"/>
      <p:bldP spid="14357" grpId="0" autoUpdateAnimBg="0"/>
      <p:bldP spid="14358"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2700338" y="915989"/>
            <a:ext cx="6799262" cy="1303337"/>
          </a:xfrm>
        </p:spPr>
        <p:txBody>
          <a:bodyPr/>
          <a:lstStyle/>
          <a:p>
            <a:r>
              <a:rPr lang="en-GB" altLang="en-US" b="1" smtClean="0">
                <a:ln>
                  <a:noFill/>
                </a:ln>
                <a:solidFill>
                  <a:srgbClr val="003366"/>
                </a:solidFill>
              </a:rPr>
              <a:t>Price Elasticity of Demand </a:t>
            </a:r>
            <a:r>
              <a:rPr lang="en-GB" altLang="en-US" sz="2800" b="1"/>
              <a:t>cont…</a:t>
            </a:r>
            <a:endParaRPr lang="en-GB" altLang="en-US" smtClean="0">
              <a:ln>
                <a:noFill/>
              </a:ln>
            </a:endParaRPr>
          </a:p>
        </p:txBody>
      </p:sp>
      <p:sp>
        <p:nvSpPr>
          <p:cNvPr id="191492" name="Rectangle 3"/>
          <p:cNvSpPr>
            <a:spLocks noGrp="1"/>
          </p:cNvSpPr>
          <p:nvPr>
            <p:ph sz="half" idx="1"/>
          </p:nvPr>
        </p:nvSpPr>
        <p:spPr>
          <a:xfrm>
            <a:off x="2700338" y="2487613"/>
            <a:ext cx="3338512" cy="3446462"/>
          </a:xfrm>
        </p:spPr>
        <p:txBody>
          <a:bodyPr rtlCol="0">
            <a:normAutofit fontScale="85000" lnSpcReduction="10000"/>
          </a:bodyPr>
          <a:lstStyle/>
          <a:p>
            <a:pPr marL="342906" indent="-342906" defTabSz="457207">
              <a:buClr>
                <a:schemeClr val="bg2">
                  <a:lumMod val="40000"/>
                  <a:lumOff val="60000"/>
                </a:schemeClr>
              </a:buClr>
              <a:buFont typeface="Wingdings 3" charset="2"/>
              <a:buChar char=""/>
              <a:defRPr/>
            </a:pPr>
            <a:r>
              <a:rPr lang="en-GB" altLang="en-US" b="1" smtClean="0">
                <a:solidFill>
                  <a:srgbClr val="003366"/>
                </a:solidFill>
              </a:rPr>
              <a:t>If demand is price elastic:</a:t>
            </a:r>
          </a:p>
          <a:p>
            <a:pPr marL="742962" lvl="1" indent="-285755" defTabSz="457207">
              <a:buClr>
                <a:schemeClr val="bg2">
                  <a:lumMod val="40000"/>
                  <a:lumOff val="60000"/>
                </a:schemeClr>
              </a:buClr>
              <a:buFont typeface="Wingdings 3" charset="2"/>
              <a:buChar char=""/>
              <a:defRPr/>
            </a:pPr>
            <a:r>
              <a:rPr lang="en-GB" altLang="en-US" sz="3200">
                <a:solidFill>
                  <a:schemeClr val="tx1">
                    <a:lumMod val="85000"/>
                    <a:lumOff val="15000"/>
                  </a:schemeClr>
                </a:solidFill>
              </a:rPr>
              <a:t>Increasing price would </a:t>
            </a:r>
            <a:r>
              <a:rPr lang="en-GB" altLang="en-US" sz="3200" b="1">
                <a:solidFill>
                  <a:srgbClr val="003366"/>
                </a:solidFill>
              </a:rPr>
              <a:t>reduce</a:t>
            </a:r>
            <a:r>
              <a:rPr lang="en-GB" altLang="en-US" sz="3200">
                <a:solidFill>
                  <a:schemeClr val="tx1">
                    <a:lumMod val="85000"/>
                    <a:lumOff val="15000"/>
                  </a:schemeClr>
                </a:solidFill>
              </a:rPr>
              <a:t> TR (%Δ Qd &gt; % Δ P)</a:t>
            </a:r>
          </a:p>
          <a:p>
            <a:pPr marL="742962" lvl="1" indent="-285755" defTabSz="457207">
              <a:buClr>
                <a:schemeClr val="bg2">
                  <a:lumMod val="40000"/>
                  <a:lumOff val="60000"/>
                </a:schemeClr>
              </a:buClr>
              <a:buFont typeface="Wingdings 3" charset="2"/>
              <a:buChar char=""/>
              <a:defRPr/>
            </a:pPr>
            <a:r>
              <a:rPr lang="en-GB" altLang="en-US" sz="3200">
                <a:solidFill>
                  <a:schemeClr val="tx1">
                    <a:lumMod val="85000"/>
                    <a:lumOff val="15000"/>
                  </a:schemeClr>
                </a:solidFill>
              </a:rPr>
              <a:t>Reducing price would </a:t>
            </a:r>
            <a:r>
              <a:rPr lang="en-GB" altLang="en-US" sz="3200" b="1">
                <a:solidFill>
                  <a:srgbClr val="003366"/>
                </a:solidFill>
              </a:rPr>
              <a:t>increase</a:t>
            </a:r>
            <a:r>
              <a:rPr lang="en-GB" altLang="en-US" sz="3200">
                <a:solidFill>
                  <a:schemeClr val="tx1">
                    <a:lumMod val="85000"/>
                    <a:lumOff val="15000"/>
                  </a:schemeClr>
                </a:solidFill>
              </a:rPr>
              <a:t> TR </a:t>
            </a:r>
          </a:p>
          <a:p>
            <a:pPr marL="742962" lvl="1" indent="-285755" defTabSz="457207">
              <a:buClr>
                <a:schemeClr val="bg2">
                  <a:lumMod val="40000"/>
                  <a:lumOff val="60000"/>
                </a:schemeClr>
              </a:buClr>
              <a:buNone/>
              <a:defRPr/>
            </a:pPr>
            <a:r>
              <a:rPr lang="en-GB" altLang="en-US" sz="3200">
                <a:solidFill>
                  <a:schemeClr val="tx1">
                    <a:lumMod val="85000"/>
                    <a:lumOff val="15000"/>
                  </a:schemeClr>
                </a:solidFill>
              </a:rPr>
              <a:t>	(%Δ Qd &gt; % Δ P)</a:t>
            </a:r>
          </a:p>
        </p:txBody>
      </p:sp>
      <p:sp>
        <p:nvSpPr>
          <p:cNvPr id="191493" name="Rectangle 4"/>
          <p:cNvSpPr>
            <a:spLocks noGrp="1"/>
          </p:cNvSpPr>
          <p:nvPr>
            <p:ph sz="half" idx="2"/>
          </p:nvPr>
        </p:nvSpPr>
        <p:spPr>
          <a:xfrm>
            <a:off x="6169026" y="2487613"/>
            <a:ext cx="3336925" cy="3446462"/>
          </a:xfrm>
        </p:spPr>
        <p:txBody>
          <a:bodyPr rtlCol="0">
            <a:normAutofit fontScale="85000" lnSpcReduction="10000"/>
          </a:bodyPr>
          <a:lstStyle/>
          <a:p>
            <a:pPr marL="342906" indent="-342906" defTabSz="457207">
              <a:buClr>
                <a:schemeClr val="bg2">
                  <a:lumMod val="40000"/>
                  <a:lumOff val="60000"/>
                </a:schemeClr>
              </a:buClr>
              <a:buFont typeface="Wingdings 3" charset="2"/>
              <a:buChar char=""/>
              <a:defRPr/>
            </a:pPr>
            <a:r>
              <a:rPr lang="en-GB" altLang="en-US" b="1" smtClean="0">
                <a:solidFill>
                  <a:srgbClr val="003366"/>
                </a:solidFill>
              </a:rPr>
              <a:t>If demand is price inelastic:</a:t>
            </a:r>
          </a:p>
          <a:p>
            <a:pPr marL="742962" lvl="1" indent="-285755" defTabSz="457207">
              <a:buClr>
                <a:schemeClr val="bg2">
                  <a:lumMod val="40000"/>
                  <a:lumOff val="60000"/>
                </a:schemeClr>
              </a:buClr>
              <a:buFont typeface="Wingdings 3" charset="2"/>
              <a:buChar char=""/>
              <a:defRPr/>
            </a:pPr>
            <a:r>
              <a:rPr lang="en-GB" altLang="en-US" sz="3200">
                <a:solidFill>
                  <a:schemeClr val="tx1">
                    <a:lumMod val="85000"/>
                    <a:lumOff val="15000"/>
                  </a:schemeClr>
                </a:solidFill>
              </a:rPr>
              <a:t>Increasing price would </a:t>
            </a:r>
            <a:r>
              <a:rPr lang="en-GB" altLang="en-US" sz="3200" b="1">
                <a:solidFill>
                  <a:srgbClr val="003366"/>
                </a:solidFill>
              </a:rPr>
              <a:t>increase</a:t>
            </a:r>
            <a:r>
              <a:rPr lang="en-GB" altLang="en-US" sz="3200">
                <a:solidFill>
                  <a:schemeClr val="tx1">
                    <a:lumMod val="85000"/>
                    <a:lumOff val="15000"/>
                  </a:schemeClr>
                </a:solidFill>
              </a:rPr>
              <a:t> TR </a:t>
            </a:r>
          </a:p>
          <a:p>
            <a:pPr marL="742962" lvl="1" indent="-285755" defTabSz="457207">
              <a:buClr>
                <a:schemeClr val="bg2">
                  <a:lumMod val="40000"/>
                  <a:lumOff val="60000"/>
                </a:schemeClr>
              </a:buClr>
              <a:buNone/>
              <a:defRPr/>
            </a:pPr>
            <a:r>
              <a:rPr lang="en-GB" altLang="en-US" sz="2800">
                <a:solidFill>
                  <a:schemeClr val="tx1">
                    <a:lumMod val="85000"/>
                    <a:lumOff val="15000"/>
                  </a:schemeClr>
                </a:solidFill>
              </a:rPr>
              <a:t>	</a:t>
            </a:r>
            <a:r>
              <a:rPr lang="en-GB" altLang="en-US" sz="3200">
                <a:solidFill>
                  <a:schemeClr val="tx1">
                    <a:lumMod val="85000"/>
                    <a:lumOff val="15000"/>
                  </a:schemeClr>
                </a:solidFill>
              </a:rPr>
              <a:t>(%Δ Qd &lt; % Δ P)</a:t>
            </a:r>
          </a:p>
          <a:p>
            <a:pPr marL="742962" lvl="1" indent="-285755" defTabSz="457207">
              <a:buClr>
                <a:schemeClr val="bg2">
                  <a:lumMod val="40000"/>
                  <a:lumOff val="60000"/>
                </a:schemeClr>
              </a:buClr>
              <a:buFont typeface="Wingdings 3" charset="2"/>
              <a:buChar char=""/>
              <a:defRPr/>
            </a:pPr>
            <a:r>
              <a:rPr lang="en-GB" altLang="en-US" sz="3200">
                <a:solidFill>
                  <a:schemeClr val="tx1">
                    <a:lumMod val="85000"/>
                    <a:lumOff val="15000"/>
                  </a:schemeClr>
                </a:solidFill>
              </a:rPr>
              <a:t>Reducing price would </a:t>
            </a:r>
            <a:r>
              <a:rPr lang="en-GB" altLang="en-US" sz="3200" b="1">
                <a:solidFill>
                  <a:srgbClr val="003366"/>
                </a:solidFill>
              </a:rPr>
              <a:t>reduce</a:t>
            </a:r>
            <a:r>
              <a:rPr lang="en-GB" altLang="en-US" sz="3200">
                <a:solidFill>
                  <a:schemeClr val="tx1">
                    <a:lumMod val="85000"/>
                    <a:lumOff val="15000"/>
                  </a:schemeClr>
                </a:solidFill>
              </a:rPr>
              <a:t> TR (%Δ Qd &lt; % Δ P)</a:t>
            </a:r>
          </a:p>
        </p:txBody>
      </p:sp>
      <p:sp>
        <p:nvSpPr>
          <p:cNvPr id="19968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9A514BE-3EF6-4F01-9DE5-9F9F4CD330A1}" type="slidenum">
              <a:rPr lang="en-US" altLang="en-US" sz="1400">
                <a:solidFill>
                  <a:srgbClr val="FFFFFF"/>
                </a:solidFill>
              </a:rPr>
              <a:pPr/>
              <a:t>11</a:t>
            </a:fld>
            <a:endParaRPr lang="en-US" altLang="en-US" sz="1400">
              <a:solidFill>
                <a:srgbClr val="FFFFFF"/>
              </a:solidFill>
            </a:endParaRPr>
          </a:p>
        </p:txBody>
      </p:sp>
    </p:spTree>
    <p:extLst>
      <p:ext uri="{BB962C8B-B14F-4D97-AF65-F5344CB8AC3E}">
        <p14:creationId xmlns:p14="http://schemas.microsoft.com/office/powerpoint/2010/main" val="155961265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r>
              <a:rPr lang="en-GB" altLang="en-US" b="1" smtClean="0">
                <a:ln>
                  <a:noFill/>
                </a:ln>
                <a:solidFill>
                  <a:srgbClr val="003366"/>
                </a:solidFill>
              </a:rPr>
              <a:t>Income Elasticity of Demand</a:t>
            </a:r>
            <a:endParaRPr lang="en-GB" altLang="en-US" smtClean="0">
              <a:ln>
                <a:noFill/>
              </a:ln>
            </a:endParaRPr>
          </a:p>
        </p:txBody>
      </p:sp>
      <p:sp>
        <p:nvSpPr>
          <p:cNvPr id="14339" name="Rectangle 3"/>
          <p:cNvSpPr>
            <a:spLocks noGrp="1" noChangeArrowheads="1"/>
          </p:cNvSpPr>
          <p:nvPr>
            <p:ph idx="1"/>
          </p:nvPr>
        </p:nvSpPr>
        <p:spPr/>
        <p:txBody>
          <a:bodyPr rtlCol="0">
            <a:normAutofit/>
          </a:bodyPr>
          <a:lstStyle/>
          <a:p>
            <a:pPr marL="640080" lvl="1" indent="-274320" defTabSz="457207">
              <a:buClr>
                <a:schemeClr val="bg2">
                  <a:lumMod val="40000"/>
                  <a:lumOff val="60000"/>
                </a:schemeClr>
              </a:buClr>
              <a:buFont typeface="Wingdings 2"/>
              <a:buChar char=""/>
              <a:defRPr/>
            </a:pPr>
            <a:r>
              <a:rPr lang="en-GB" sz="3200" dirty="0">
                <a:solidFill>
                  <a:schemeClr val="tx1">
                    <a:lumMod val="85000"/>
                    <a:lumOff val="15000"/>
                  </a:schemeClr>
                </a:solidFill>
              </a:rPr>
              <a:t>The responsiveness of demand to changes in incomes</a:t>
            </a:r>
          </a:p>
          <a:p>
            <a:pPr marL="1143020" lvl="2" indent="-182880" defTabSz="457207">
              <a:buClr>
                <a:schemeClr val="accent1">
                  <a:shade val="75000"/>
                </a:schemeClr>
              </a:buClr>
              <a:buFont typeface="Wingdings"/>
              <a:buChar char=""/>
              <a:defRPr/>
            </a:pPr>
            <a:r>
              <a:rPr lang="en-GB" sz="3200" b="1" dirty="0">
                <a:solidFill>
                  <a:srgbClr val="003366"/>
                </a:solidFill>
              </a:rPr>
              <a:t>Normal Good </a:t>
            </a:r>
            <a:r>
              <a:rPr lang="en-GB" sz="3200" dirty="0">
                <a:solidFill>
                  <a:schemeClr val="tx1">
                    <a:lumMod val="85000"/>
                    <a:lumOff val="15000"/>
                  </a:schemeClr>
                </a:solidFill>
              </a:rPr>
              <a:t>– demand rises as income rises and vice versa</a:t>
            </a:r>
          </a:p>
          <a:p>
            <a:pPr marL="1143020" lvl="2" indent="-182880" defTabSz="457207">
              <a:buClr>
                <a:schemeClr val="accent1">
                  <a:shade val="75000"/>
                </a:schemeClr>
              </a:buClr>
              <a:buFont typeface="Wingdings"/>
              <a:buChar char=""/>
              <a:defRPr/>
            </a:pPr>
            <a:r>
              <a:rPr lang="en-GB" sz="3200" dirty="0">
                <a:solidFill>
                  <a:srgbClr val="FF0000"/>
                </a:solidFill>
              </a:rPr>
              <a:t>A positive sign </a:t>
            </a:r>
            <a:r>
              <a:rPr lang="en-GB" sz="3200" dirty="0">
                <a:solidFill>
                  <a:schemeClr val="tx1">
                    <a:lumMod val="85000"/>
                    <a:lumOff val="15000"/>
                  </a:schemeClr>
                </a:solidFill>
              </a:rPr>
              <a:t>denotes </a:t>
            </a:r>
            <a:r>
              <a:rPr lang="en-GB" sz="3200" b="1" dirty="0">
                <a:solidFill>
                  <a:srgbClr val="003366"/>
                </a:solidFill>
              </a:rPr>
              <a:t>a normal good</a:t>
            </a:r>
          </a:p>
          <a:p>
            <a:pPr marL="1143020" lvl="2" indent="-182880" defTabSz="457207">
              <a:buClr>
                <a:schemeClr val="accent1">
                  <a:shade val="75000"/>
                </a:schemeClr>
              </a:buClr>
              <a:buNone/>
              <a:defRPr/>
            </a:pPr>
            <a:endParaRPr lang="en-GB" sz="3200" dirty="0">
              <a:solidFill>
                <a:schemeClr val="tx1">
                  <a:lumMod val="85000"/>
                  <a:lumOff val="15000"/>
                </a:schemeClr>
              </a:solidFill>
            </a:endParaRPr>
          </a:p>
          <a:p>
            <a:pPr marL="1143020" lvl="2" indent="-182880" defTabSz="457207">
              <a:buClr>
                <a:schemeClr val="accent1">
                  <a:shade val="75000"/>
                </a:schemeClr>
              </a:buClr>
              <a:buFont typeface="Wingdings"/>
              <a:buChar char=""/>
              <a:defRPr/>
            </a:pPr>
            <a:r>
              <a:rPr lang="en-GB" sz="3200" b="1" dirty="0">
                <a:solidFill>
                  <a:srgbClr val="003366"/>
                </a:solidFill>
              </a:rPr>
              <a:t>Inferior Good </a:t>
            </a:r>
            <a:r>
              <a:rPr lang="en-GB" sz="3200" dirty="0">
                <a:solidFill>
                  <a:schemeClr val="tx1">
                    <a:lumMod val="85000"/>
                    <a:lumOff val="15000"/>
                  </a:schemeClr>
                </a:solidFill>
              </a:rPr>
              <a:t>– demand falls as income rises and vice versa</a:t>
            </a:r>
          </a:p>
          <a:p>
            <a:pPr marL="1143020" lvl="2" indent="-182880" defTabSz="457207">
              <a:buClr>
                <a:schemeClr val="accent1">
                  <a:shade val="75000"/>
                </a:schemeClr>
              </a:buClr>
              <a:buFont typeface="Wingdings"/>
              <a:buChar char=""/>
              <a:defRPr/>
            </a:pPr>
            <a:r>
              <a:rPr lang="en-GB" sz="3200" dirty="0">
                <a:solidFill>
                  <a:srgbClr val="FF0000"/>
                </a:solidFill>
              </a:rPr>
              <a:t>A negative sign </a:t>
            </a:r>
            <a:r>
              <a:rPr lang="en-GB" sz="3200" dirty="0">
                <a:solidFill>
                  <a:schemeClr val="tx1">
                    <a:lumMod val="85000"/>
                    <a:lumOff val="15000"/>
                  </a:schemeClr>
                </a:solidFill>
              </a:rPr>
              <a:t>denotes </a:t>
            </a:r>
            <a:r>
              <a:rPr lang="en-GB" sz="3200" b="1" dirty="0">
                <a:solidFill>
                  <a:srgbClr val="003366"/>
                </a:solidFill>
              </a:rPr>
              <a:t>an inferior good</a:t>
            </a:r>
          </a:p>
          <a:p>
            <a:pPr marL="1143020" lvl="2" indent="-182880" defTabSz="457207">
              <a:buClr>
                <a:schemeClr val="accent1">
                  <a:shade val="75000"/>
                </a:schemeClr>
              </a:buClr>
              <a:buFont typeface="Wingdings"/>
              <a:buChar char=""/>
              <a:defRPr/>
            </a:pPr>
            <a:endParaRPr lang="en-GB" sz="3200" dirty="0">
              <a:solidFill>
                <a:schemeClr val="tx1">
                  <a:lumMod val="85000"/>
                  <a:lumOff val="15000"/>
                </a:schemeClr>
              </a:solidFill>
            </a:endParaRPr>
          </a:p>
        </p:txBody>
      </p:sp>
      <p:sp>
        <p:nvSpPr>
          <p:cNvPr id="20173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561F64B-390D-418E-9351-918DC8AB3CC7}" type="slidenum">
              <a:rPr lang="en-US" altLang="en-US" sz="1400">
                <a:solidFill>
                  <a:srgbClr val="FFFFFF"/>
                </a:solidFill>
              </a:rPr>
              <a:pPr/>
              <a:t>12</a:t>
            </a:fld>
            <a:endParaRPr lang="en-US" altLang="en-US" sz="1400">
              <a:solidFill>
                <a:srgbClr val="FFFFFF"/>
              </a:solidFill>
            </a:endParaRPr>
          </a:p>
        </p:txBody>
      </p:sp>
    </p:spTree>
    <p:extLst>
      <p:ext uri="{BB962C8B-B14F-4D97-AF65-F5344CB8AC3E}">
        <p14:creationId xmlns:p14="http://schemas.microsoft.com/office/powerpoint/2010/main" val="88461160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5" name="Rectangle 3"/>
          <p:cNvSpPr>
            <a:spLocks noGrp="1" noChangeArrowheads="1"/>
          </p:cNvSpPr>
          <p:nvPr>
            <p:ph idx="1"/>
          </p:nvPr>
        </p:nvSpPr>
        <p:spPr>
          <a:xfrm>
            <a:off x="2057400" y="838201"/>
            <a:ext cx="8229600" cy="4525963"/>
          </a:xfrm>
        </p:spPr>
        <p:txBody>
          <a:bodyPr rtlCol="0">
            <a:normAutofit/>
          </a:bodyPr>
          <a:lstStyle/>
          <a:p>
            <a:pPr marL="640080" lvl="1" indent="-274320" defTabSz="457207">
              <a:buClr>
                <a:schemeClr val="bg2">
                  <a:lumMod val="40000"/>
                  <a:lumOff val="60000"/>
                </a:schemeClr>
              </a:buClr>
              <a:buNone/>
              <a:defRPr/>
            </a:pPr>
            <a:r>
              <a:rPr lang="en-US" b="1" dirty="0">
                <a:solidFill>
                  <a:schemeClr val="tx1">
                    <a:lumMod val="85000"/>
                    <a:lumOff val="15000"/>
                  </a:schemeClr>
                </a:solidFill>
              </a:rPr>
              <a:t>Examples</a:t>
            </a:r>
          </a:p>
          <a:p>
            <a:pPr marL="640080" lvl="1" indent="-274320" defTabSz="457207">
              <a:buClr>
                <a:schemeClr val="bg2">
                  <a:lumMod val="40000"/>
                  <a:lumOff val="60000"/>
                </a:schemeClr>
              </a:buClr>
              <a:buFont typeface="Wingdings 2"/>
              <a:buChar char=""/>
              <a:defRPr/>
            </a:pPr>
            <a:r>
              <a:rPr lang="en-US" dirty="0">
                <a:solidFill>
                  <a:schemeClr val="tx1">
                    <a:lumMod val="85000"/>
                    <a:lumOff val="15000"/>
                  </a:schemeClr>
                </a:solidFill>
              </a:rPr>
              <a:t>When the income elasticity of demand is positive </a:t>
            </a:r>
            <a:r>
              <a:rPr lang="en-US" dirty="0">
                <a:solidFill>
                  <a:srgbClr val="FF0000"/>
                </a:solidFill>
              </a:rPr>
              <a:t>(normal good), </a:t>
            </a:r>
            <a:r>
              <a:rPr lang="en-US" dirty="0">
                <a:solidFill>
                  <a:schemeClr val="tx1">
                    <a:lumMod val="85000"/>
                    <a:lumOff val="15000"/>
                  </a:schemeClr>
                </a:solidFill>
              </a:rPr>
              <a:t>consumers increase their purchases of the good as their incomes rise (e.g. Bread).</a:t>
            </a:r>
          </a:p>
          <a:p>
            <a:pPr marL="640080" lvl="1" indent="-274320" defTabSz="457207">
              <a:buClr>
                <a:schemeClr val="bg2">
                  <a:lumMod val="40000"/>
                  <a:lumOff val="60000"/>
                </a:schemeClr>
              </a:buClr>
              <a:buFont typeface="Wingdings 2"/>
              <a:buChar char=""/>
              <a:defRPr/>
            </a:pPr>
            <a:r>
              <a:rPr lang="en-US" dirty="0">
                <a:solidFill>
                  <a:schemeClr val="tx1">
                    <a:lumMod val="85000"/>
                    <a:lumOff val="15000"/>
                  </a:schemeClr>
                </a:solidFill>
              </a:rPr>
              <a:t>When the income elasticity of demand is negative </a:t>
            </a:r>
            <a:r>
              <a:rPr lang="en-US" dirty="0">
                <a:solidFill>
                  <a:srgbClr val="FF0000"/>
                </a:solidFill>
              </a:rPr>
              <a:t>(inferior good)</a:t>
            </a:r>
            <a:r>
              <a:rPr lang="en-US" dirty="0">
                <a:solidFill>
                  <a:schemeClr val="tx1">
                    <a:lumMod val="85000"/>
                    <a:lumOff val="15000"/>
                  </a:schemeClr>
                </a:solidFill>
              </a:rPr>
              <a:t>, consumers reduce their purchases of the good as their incomes rise (e.g. Plastic shoes).</a:t>
            </a:r>
          </a:p>
          <a:p>
            <a:pPr marL="640080" lvl="1" indent="-274320" defTabSz="457207">
              <a:buClr>
                <a:schemeClr val="bg2">
                  <a:lumMod val="40000"/>
                  <a:lumOff val="60000"/>
                </a:schemeClr>
              </a:buClr>
              <a:buNone/>
              <a:defRPr/>
            </a:pPr>
            <a:endParaRPr lang="en-US" dirty="0">
              <a:solidFill>
                <a:schemeClr val="tx1">
                  <a:lumMod val="85000"/>
                  <a:lumOff val="15000"/>
                </a:schemeClr>
              </a:solidFill>
            </a:endParaRPr>
          </a:p>
          <a:p>
            <a:pPr marL="640080" lvl="1" indent="-274320" defTabSz="457207">
              <a:buClr>
                <a:schemeClr val="bg2">
                  <a:lumMod val="40000"/>
                  <a:lumOff val="60000"/>
                </a:schemeClr>
              </a:buClr>
              <a:buFont typeface="Wingdings 2"/>
              <a:buChar char=""/>
              <a:defRPr/>
            </a:pPr>
            <a:r>
              <a:rPr lang="en-US" dirty="0">
                <a:solidFill>
                  <a:schemeClr val="tx1">
                    <a:lumMod val="85000"/>
                    <a:lumOff val="15000"/>
                  </a:schemeClr>
                </a:solidFill>
              </a:rPr>
              <a:t>When the income elasticity of demand is greater than 1 </a:t>
            </a:r>
            <a:r>
              <a:rPr lang="en-US" dirty="0">
                <a:solidFill>
                  <a:srgbClr val="FF0000"/>
                </a:solidFill>
              </a:rPr>
              <a:t>(luxury good), </a:t>
            </a:r>
            <a:r>
              <a:rPr lang="en-US" dirty="0">
                <a:solidFill>
                  <a:schemeClr val="tx1">
                    <a:lumMod val="85000"/>
                    <a:lumOff val="15000"/>
                  </a:schemeClr>
                </a:solidFill>
              </a:rPr>
              <a:t>consumers increase their purchases of the good more than proportionate to the income increase (e.g. Hiring a car).</a:t>
            </a:r>
          </a:p>
        </p:txBody>
      </p:sp>
      <p:sp>
        <p:nvSpPr>
          <p:cNvPr id="203779"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7E6239E-D885-40FB-8C8E-683830335C80}" type="slidenum">
              <a:rPr lang="en-US" altLang="en-US" sz="1400">
                <a:solidFill>
                  <a:srgbClr val="FFFFFF"/>
                </a:solidFill>
              </a:rPr>
              <a:pPr/>
              <a:t>13</a:t>
            </a:fld>
            <a:endParaRPr lang="en-US" altLang="en-US" sz="1400">
              <a:solidFill>
                <a:srgbClr val="FFFFFF"/>
              </a:solidFill>
            </a:endParaRPr>
          </a:p>
        </p:txBody>
      </p:sp>
    </p:spTree>
    <p:extLst>
      <p:ext uri="{BB962C8B-B14F-4D97-AF65-F5344CB8AC3E}">
        <p14:creationId xmlns:p14="http://schemas.microsoft.com/office/powerpoint/2010/main" val="25439864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 calcmode="lin" valueType="num">
                                      <p:cBhvr additive="base">
                                        <p:cTn id="7" dur="500" fill="hold"/>
                                        <p:tgtEl>
                                          <p:spTgt spid="141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31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41315">
                                            <p:txEl>
                                              <p:pRg st="0" end="0"/>
                                            </p:txEl>
                                          </p:spTgt>
                                        </p:tgtEl>
                                        <p:attrNameLst>
                                          <p:attrName>ppt_c</p:attrName>
                                        </p:attrNameLst>
                                      </p:cBhvr>
                                      <p:to>
                                        <a:schemeClr val="tx2"/>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41315">
                                            <p:txEl>
                                              <p:pRg st="1" end="1"/>
                                            </p:txEl>
                                          </p:spTgt>
                                        </p:tgtEl>
                                        <p:attrNameLst>
                                          <p:attrName>style.visibility</p:attrName>
                                        </p:attrNameLst>
                                      </p:cBhvr>
                                      <p:to>
                                        <p:strVal val="visible"/>
                                      </p:to>
                                    </p:set>
                                    <p:anim calcmode="lin" valueType="num">
                                      <p:cBhvr additive="base">
                                        <p:cTn id="13" dur="500" fill="hold"/>
                                        <p:tgtEl>
                                          <p:spTgt spid="141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131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41315">
                                            <p:txEl>
                                              <p:pRg st="1" end="1"/>
                                            </p:txEl>
                                          </p:spTgt>
                                        </p:tgtEl>
                                        <p:attrNameLst>
                                          <p:attrName>ppt_c</p:attrName>
                                        </p:attrNameLst>
                                      </p:cBhvr>
                                      <p:to>
                                        <a:schemeClr val="tx2"/>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41315">
                                            <p:txEl>
                                              <p:pRg st="2" end="2"/>
                                            </p:txEl>
                                          </p:spTgt>
                                        </p:tgtEl>
                                        <p:attrNameLst>
                                          <p:attrName>style.visibility</p:attrName>
                                        </p:attrNameLst>
                                      </p:cBhvr>
                                      <p:to>
                                        <p:strVal val="visible"/>
                                      </p:to>
                                    </p:set>
                                    <p:anim calcmode="lin" valueType="num">
                                      <p:cBhvr additive="base">
                                        <p:cTn id="19" dur="500" fill="hold"/>
                                        <p:tgtEl>
                                          <p:spTgt spid="141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131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41315">
                                            <p:txEl>
                                              <p:pRg st="2" end="2"/>
                                            </p:txEl>
                                          </p:spTgt>
                                        </p:tgtEl>
                                        <p:attrNameLst>
                                          <p:attrName>ppt_c</p:attrName>
                                        </p:attrNameLst>
                                      </p:cBhvr>
                                      <p:to>
                                        <a:schemeClr val="tx2"/>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141315">
                                            <p:txEl>
                                              <p:pRg st="4" end="4"/>
                                            </p:txEl>
                                          </p:spTgt>
                                        </p:tgtEl>
                                        <p:attrNameLst>
                                          <p:attrName>style.visibility</p:attrName>
                                        </p:attrNameLst>
                                      </p:cBhvr>
                                      <p:to>
                                        <p:strVal val="visible"/>
                                      </p:to>
                                    </p:set>
                                    <p:anim calcmode="lin" valueType="num">
                                      <p:cBhvr additive="base">
                                        <p:cTn id="25" dur="500" fill="hold"/>
                                        <p:tgtEl>
                                          <p:spTgt spid="14131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1315">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41315">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en-GB" altLang="en-US" b="1" smtClean="0">
                <a:ln>
                  <a:noFill/>
                </a:ln>
                <a:solidFill>
                  <a:srgbClr val="003366"/>
                </a:solidFill>
              </a:rPr>
              <a:t>Income Elasticity of Demand </a:t>
            </a:r>
            <a:r>
              <a:rPr lang="en-GB" altLang="en-US" sz="3200" b="1"/>
              <a:t>cont…</a:t>
            </a:r>
            <a:endParaRPr lang="en-GB" altLang="en-US" smtClean="0">
              <a:ln>
                <a:noFill/>
              </a:ln>
            </a:endParaRPr>
          </a:p>
        </p:txBody>
      </p:sp>
      <p:sp>
        <p:nvSpPr>
          <p:cNvPr id="19459" name="Rectangle 3"/>
          <p:cNvSpPr>
            <a:spLocks noGrp="1" noChangeArrowheads="1"/>
          </p:cNvSpPr>
          <p:nvPr>
            <p:ph idx="1"/>
          </p:nvPr>
        </p:nvSpPr>
        <p:spPr>
          <a:xfrm>
            <a:off x="1981200" y="1371601"/>
            <a:ext cx="8229600" cy="4525963"/>
          </a:xfrm>
        </p:spPr>
        <p:txBody>
          <a:bodyPr rtlCol="0">
            <a:normAutofit lnSpcReduction="10000"/>
          </a:bodyPr>
          <a:lstStyle/>
          <a:p>
            <a:pPr marL="274320" indent="-274320" defTabSz="457207">
              <a:buClr>
                <a:schemeClr val="bg2">
                  <a:lumMod val="40000"/>
                  <a:lumOff val="60000"/>
                </a:schemeClr>
              </a:buClr>
              <a:buFont typeface="Wingdings"/>
              <a:buChar char=""/>
              <a:defRPr/>
            </a:pPr>
            <a:r>
              <a:rPr lang="en-GB" dirty="0">
                <a:solidFill>
                  <a:schemeClr val="tx1">
                    <a:lumMod val="85000"/>
                    <a:lumOff val="15000"/>
                  </a:schemeClr>
                </a:solidFill>
              </a:rPr>
              <a:t>Interpretations (For example):</a:t>
            </a:r>
          </a:p>
          <a:p>
            <a:pPr marL="274320" indent="-274320" defTabSz="457207">
              <a:buClr>
                <a:schemeClr val="bg2">
                  <a:lumMod val="40000"/>
                  <a:lumOff val="60000"/>
                </a:schemeClr>
              </a:buClr>
              <a:buNone/>
              <a:defRPr/>
            </a:pPr>
            <a:endParaRPr lang="en-GB" dirty="0">
              <a:solidFill>
                <a:schemeClr val="tx1">
                  <a:lumMod val="85000"/>
                  <a:lumOff val="15000"/>
                </a:schemeClr>
              </a:solidFill>
            </a:endParaRPr>
          </a:p>
          <a:p>
            <a:pPr marL="640080" lvl="1" indent="-274320" defTabSz="457207">
              <a:buClr>
                <a:schemeClr val="bg2">
                  <a:lumMod val="40000"/>
                  <a:lumOff val="60000"/>
                </a:schemeClr>
              </a:buClr>
              <a:buFont typeface="Wingdings 2"/>
              <a:buChar char=""/>
              <a:defRPr/>
            </a:pPr>
            <a:r>
              <a:rPr lang="en-GB" dirty="0" err="1">
                <a:solidFill>
                  <a:schemeClr val="tx1">
                    <a:lumMod val="85000"/>
                    <a:lumOff val="15000"/>
                  </a:schemeClr>
                </a:solidFill>
              </a:rPr>
              <a:t>Yed</a:t>
            </a:r>
            <a:r>
              <a:rPr lang="en-GB" dirty="0">
                <a:solidFill>
                  <a:schemeClr val="tx1">
                    <a:lumMod val="85000"/>
                    <a:lumOff val="15000"/>
                  </a:schemeClr>
                </a:solidFill>
              </a:rPr>
              <a:t> = - 0.6: Good is an </a:t>
            </a:r>
            <a:r>
              <a:rPr lang="en-GB" b="1" dirty="0">
                <a:solidFill>
                  <a:srgbClr val="003366"/>
                </a:solidFill>
              </a:rPr>
              <a:t>inferior good</a:t>
            </a:r>
            <a:r>
              <a:rPr lang="en-GB" dirty="0">
                <a:solidFill>
                  <a:schemeClr val="tx1">
                    <a:lumMod val="85000"/>
                    <a:lumOff val="15000"/>
                  </a:schemeClr>
                </a:solidFill>
              </a:rPr>
              <a:t> but </a:t>
            </a:r>
            <a:r>
              <a:rPr lang="en-GB" b="1" dirty="0">
                <a:solidFill>
                  <a:srgbClr val="003366"/>
                </a:solidFill>
              </a:rPr>
              <a:t>inelastic</a:t>
            </a:r>
            <a:r>
              <a:rPr lang="en-GB" dirty="0">
                <a:solidFill>
                  <a:schemeClr val="tx1">
                    <a:lumMod val="85000"/>
                    <a:lumOff val="15000"/>
                  </a:schemeClr>
                </a:solidFill>
              </a:rPr>
              <a:t> – a rise in income of 3% would lead to demand falling by 1.8%</a:t>
            </a:r>
          </a:p>
          <a:p>
            <a:pPr marL="640080" lvl="1" indent="-274320" defTabSz="457207">
              <a:buClr>
                <a:schemeClr val="bg2">
                  <a:lumMod val="40000"/>
                  <a:lumOff val="60000"/>
                </a:schemeClr>
              </a:buClr>
              <a:buFont typeface="Wingdings 2"/>
              <a:buChar char=""/>
              <a:defRPr/>
            </a:pPr>
            <a:r>
              <a:rPr lang="en-GB" dirty="0" err="1">
                <a:solidFill>
                  <a:schemeClr val="tx1">
                    <a:lumMod val="85000"/>
                    <a:lumOff val="15000"/>
                  </a:schemeClr>
                </a:solidFill>
              </a:rPr>
              <a:t>Yed</a:t>
            </a:r>
            <a:r>
              <a:rPr lang="en-GB" dirty="0">
                <a:solidFill>
                  <a:schemeClr val="tx1">
                    <a:lumMod val="85000"/>
                    <a:lumOff val="15000"/>
                  </a:schemeClr>
                </a:solidFill>
              </a:rPr>
              <a:t> = - 2.1: Good is an </a:t>
            </a:r>
            <a:r>
              <a:rPr lang="en-GB" b="1" dirty="0">
                <a:solidFill>
                  <a:srgbClr val="003366"/>
                </a:solidFill>
              </a:rPr>
              <a:t>inferior good</a:t>
            </a:r>
            <a:r>
              <a:rPr lang="en-GB" dirty="0">
                <a:solidFill>
                  <a:schemeClr val="tx1">
                    <a:lumMod val="85000"/>
                    <a:lumOff val="15000"/>
                  </a:schemeClr>
                </a:solidFill>
              </a:rPr>
              <a:t> and </a:t>
            </a:r>
            <a:r>
              <a:rPr lang="en-GB" b="1" dirty="0">
                <a:solidFill>
                  <a:srgbClr val="003366"/>
                </a:solidFill>
              </a:rPr>
              <a:t>elastic</a:t>
            </a:r>
            <a:r>
              <a:rPr lang="en-GB" dirty="0">
                <a:solidFill>
                  <a:schemeClr val="tx1">
                    <a:lumMod val="85000"/>
                    <a:lumOff val="15000"/>
                  </a:schemeClr>
                </a:solidFill>
              </a:rPr>
              <a:t> – </a:t>
            </a:r>
            <a:br>
              <a:rPr lang="en-GB" dirty="0">
                <a:solidFill>
                  <a:schemeClr val="tx1">
                    <a:lumMod val="85000"/>
                    <a:lumOff val="15000"/>
                  </a:schemeClr>
                </a:solidFill>
              </a:rPr>
            </a:br>
            <a:r>
              <a:rPr lang="en-GB" dirty="0">
                <a:solidFill>
                  <a:schemeClr val="tx1">
                    <a:lumMod val="85000"/>
                    <a:lumOff val="15000"/>
                  </a:schemeClr>
                </a:solidFill>
              </a:rPr>
              <a:t>a rise in incomes of 3% would lead to a fall in demand of 6.3%</a:t>
            </a:r>
          </a:p>
          <a:p>
            <a:pPr marL="640080" lvl="1" indent="-274320" defTabSz="457207">
              <a:buClr>
                <a:schemeClr val="bg2">
                  <a:lumMod val="40000"/>
                  <a:lumOff val="60000"/>
                </a:schemeClr>
              </a:buClr>
              <a:buFont typeface="Wingdings 2"/>
              <a:buChar char=""/>
              <a:defRPr/>
            </a:pPr>
            <a:r>
              <a:rPr lang="en-GB" dirty="0" err="1">
                <a:solidFill>
                  <a:schemeClr val="tx1">
                    <a:lumMod val="85000"/>
                    <a:lumOff val="15000"/>
                  </a:schemeClr>
                </a:solidFill>
              </a:rPr>
              <a:t>Yed</a:t>
            </a:r>
            <a:r>
              <a:rPr lang="en-GB" dirty="0">
                <a:solidFill>
                  <a:schemeClr val="tx1">
                    <a:lumMod val="85000"/>
                    <a:lumOff val="15000"/>
                  </a:schemeClr>
                </a:solidFill>
              </a:rPr>
              <a:t> = + 0.4: Good is a </a:t>
            </a:r>
            <a:r>
              <a:rPr lang="en-GB" b="1" dirty="0">
                <a:solidFill>
                  <a:srgbClr val="003366"/>
                </a:solidFill>
              </a:rPr>
              <a:t>normal good</a:t>
            </a:r>
            <a:r>
              <a:rPr lang="en-GB" dirty="0">
                <a:solidFill>
                  <a:schemeClr val="tx1">
                    <a:lumMod val="85000"/>
                    <a:lumOff val="15000"/>
                  </a:schemeClr>
                </a:solidFill>
              </a:rPr>
              <a:t> but </a:t>
            </a:r>
            <a:r>
              <a:rPr lang="en-GB" b="1" dirty="0">
                <a:solidFill>
                  <a:srgbClr val="003366"/>
                </a:solidFill>
              </a:rPr>
              <a:t>inelastic</a:t>
            </a:r>
            <a:r>
              <a:rPr lang="en-GB" dirty="0">
                <a:solidFill>
                  <a:schemeClr val="tx1">
                    <a:lumMod val="85000"/>
                    <a:lumOff val="15000"/>
                  </a:schemeClr>
                </a:solidFill>
              </a:rPr>
              <a:t> – </a:t>
            </a:r>
            <a:br>
              <a:rPr lang="en-GB" dirty="0">
                <a:solidFill>
                  <a:schemeClr val="tx1">
                    <a:lumMod val="85000"/>
                    <a:lumOff val="15000"/>
                  </a:schemeClr>
                </a:solidFill>
              </a:rPr>
            </a:br>
            <a:r>
              <a:rPr lang="en-GB" dirty="0">
                <a:solidFill>
                  <a:schemeClr val="tx1">
                    <a:lumMod val="85000"/>
                    <a:lumOff val="15000"/>
                  </a:schemeClr>
                </a:solidFill>
              </a:rPr>
              <a:t>a rise in incomes of 3% would lead to demand rising </a:t>
            </a:r>
            <a:br>
              <a:rPr lang="en-GB" dirty="0">
                <a:solidFill>
                  <a:schemeClr val="tx1">
                    <a:lumMod val="85000"/>
                    <a:lumOff val="15000"/>
                  </a:schemeClr>
                </a:solidFill>
              </a:rPr>
            </a:br>
            <a:r>
              <a:rPr lang="en-GB" dirty="0">
                <a:solidFill>
                  <a:schemeClr val="tx1">
                    <a:lumMod val="85000"/>
                    <a:lumOff val="15000"/>
                  </a:schemeClr>
                </a:solidFill>
              </a:rPr>
              <a:t>by 1.2%</a:t>
            </a:r>
          </a:p>
          <a:p>
            <a:pPr marL="640080" lvl="1" indent="-274320" defTabSz="457207">
              <a:buClr>
                <a:schemeClr val="bg2">
                  <a:lumMod val="40000"/>
                  <a:lumOff val="60000"/>
                </a:schemeClr>
              </a:buClr>
              <a:buFont typeface="Wingdings 2"/>
              <a:buChar char=""/>
              <a:defRPr/>
            </a:pPr>
            <a:r>
              <a:rPr lang="en-GB" dirty="0" err="1">
                <a:solidFill>
                  <a:schemeClr val="tx1">
                    <a:lumMod val="85000"/>
                    <a:lumOff val="15000"/>
                  </a:schemeClr>
                </a:solidFill>
              </a:rPr>
              <a:t>Yed</a:t>
            </a:r>
            <a:r>
              <a:rPr lang="en-GB" dirty="0">
                <a:solidFill>
                  <a:schemeClr val="tx1">
                    <a:lumMod val="85000"/>
                    <a:lumOff val="15000"/>
                  </a:schemeClr>
                </a:solidFill>
              </a:rPr>
              <a:t> = + 1.6: Good is a </a:t>
            </a:r>
            <a:r>
              <a:rPr lang="en-GB" b="1" dirty="0">
                <a:solidFill>
                  <a:srgbClr val="003366"/>
                </a:solidFill>
              </a:rPr>
              <a:t>normal good</a:t>
            </a:r>
            <a:r>
              <a:rPr lang="en-GB" dirty="0">
                <a:solidFill>
                  <a:schemeClr val="tx1">
                    <a:lumMod val="85000"/>
                    <a:lumOff val="15000"/>
                  </a:schemeClr>
                </a:solidFill>
              </a:rPr>
              <a:t> and </a:t>
            </a:r>
            <a:r>
              <a:rPr lang="en-GB" b="1" dirty="0">
                <a:solidFill>
                  <a:srgbClr val="003366"/>
                </a:solidFill>
              </a:rPr>
              <a:t>elastic</a:t>
            </a:r>
            <a:r>
              <a:rPr lang="en-GB" dirty="0">
                <a:solidFill>
                  <a:schemeClr val="tx1">
                    <a:lumMod val="85000"/>
                    <a:lumOff val="15000"/>
                  </a:schemeClr>
                </a:solidFill>
              </a:rPr>
              <a:t> – </a:t>
            </a:r>
            <a:br>
              <a:rPr lang="en-GB" dirty="0">
                <a:solidFill>
                  <a:schemeClr val="tx1">
                    <a:lumMod val="85000"/>
                    <a:lumOff val="15000"/>
                  </a:schemeClr>
                </a:solidFill>
              </a:rPr>
            </a:br>
            <a:r>
              <a:rPr lang="en-GB" dirty="0">
                <a:solidFill>
                  <a:schemeClr val="tx1">
                    <a:lumMod val="85000"/>
                    <a:lumOff val="15000"/>
                  </a:schemeClr>
                </a:solidFill>
              </a:rPr>
              <a:t>a rise in incomes of 3% would lead to demand rising </a:t>
            </a:r>
            <a:br>
              <a:rPr lang="en-GB" dirty="0">
                <a:solidFill>
                  <a:schemeClr val="tx1">
                    <a:lumMod val="85000"/>
                    <a:lumOff val="15000"/>
                  </a:schemeClr>
                </a:solidFill>
              </a:rPr>
            </a:br>
            <a:r>
              <a:rPr lang="en-GB" dirty="0">
                <a:solidFill>
                  <a:schemeClr val="tx1">
                    <a:lumMod val="85000"/>
                    <a:lumOff val="15000"/>
                  </a:schemeClr>
                </a:solidFill>
              </a:rPr>
              <a:t>by 4.8%</a:t>
            </a:r>
          </a:p>
          <a:p>
            <a:pPr marL="274320" indent="-274320" defTabSz="457207">
              <a:buClr>
                <a:schemeClr val="bg2">
                  <a:lumMod val="40000"/>
                  <a:lumOff val="60000"/>
                </a:schemeClr>
              </a:buClr>
              <a:buFont typeface="Wingdings"/>
              <a:buChar char=""/>
              <a:defRPr/>
            </a:pPr>
            <a:endParaRPr lang="en-GB" dirty="0">
              <a:solidFill>
                <a:schemeClr val="tx1">
                  <a:lumMod val="85000"/>
                  <a:lumOff val="15000"/>
                </a:schemeClr>
              </a:solidFill>
            </a:endParaRPr>
          </a:p>
        </p:txBody>
      </p:sp>
      <p:sp>
        <p:nvSpPr>
          <p:cNvPr id="20480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757D8C-C71B-4DF1-BF34-E94732F1C22F}" type="slidenum">
              <a:rPr lang="en-US" altLang="en-US" sz="1400">
                <a:solidFill>
                  <a:srgbClr val="FFFFFF"/>
                </a:solidFill>
              </a:rPr>
              <a:pPr/>
              <a:t>14</a:t>
            </a:fld>
            <a:endParaRPr lang="en-US" altLang="en-US" sz="1400">
              <a:solidFill>
                <a:srgbClr val="FFFFFF"/>
              </a:solidFill>
            </a:endParaRPr>
          </a:p>
        </p:txBody>
      </p:sp>
    </p:spTree>
    <p:extLst>
      <p:ext uri="{BB962C8B-B14F-4D97-AF65-F5344CB8AC3E}">
        <p14:creationId xmlns:p14="http://schemas.microsoft.com/office/powerpoint/2010/main" val="37018394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1000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ox(out)">
                                      <p:cBhvr>
                                        <p:cTn id="7" dur="500"/>
                                        <p:tgtEl>
                                          <p:spTgt spid="19459">
                                            <p:txEl>
                                              <p:pRg st="0" end="0"/>
                                            </p:txEl>
                                          </p:spTgt>
                                        </p:tgtEl>
                                      </p:cBhvr>
                                    </p:animEffect>
                                  </p:childTnLst>
                                  <p:subTnLst>
                                    <p:animClr clrSpc="rgb" dir="cw">
                                      <p:cBhvr override="childStyle">
                                        <p:cTn dur="1" fill="hold" display="0" masterRel="nextClick" afterEffect="1"/>
                                        <p:tgtEl>
                                          <p:spTgt spid="19459">
                                            <p:txEl>
                                              <p:pRg st="0" end="0"/>
                                            </p:txEl>
                                          </p:spTgt>
                                        </p:tgtEl>
                                        <p:attrNameLst>
                                          <p:attrName>ppt_c</p:attrName>
                                        </p:attrNameLst>
                                      </p:cBhvr>
                                      <p:to>
                                        <a:schemeClr val="folHlink"/>
                                      </p:to>
                                    </p:animClr>
                                  </p:subTnLst>
                                </p:cTn>
                              </p:par>
                              <p:par>
                                <p:cTn id="8" presetID="4" presetClass="entr" presetSubtype="32" fill="hold" grpId="0" nodeType="withEffect">
                                  <p:stCondLst>
                                    <p:cond delay="2000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box(out)">
                                      <p:cBhvr>
                                        <p:cTn id="10" dur="500"/>
                                        <p:tgtEl>
                                          <p:spTgt spid="19459">
                                            <p:txEl>
                                              <p:pRg st="2" end="2"/>
                                            </p:txEl>
                                          </p:spTgt>
                                        </p:tgtEl>
                                      </p:cBhvr>
                                    </p:animEffect>
                                  </p:childTnLst>
                                  <p:subTnLst>
                                    <p:animClr clrSpc="rgb" dir="cw">
                                      <p:cBhvr override="childStyle">
                                        <p:cTn dur="1" fill="hold" display="0" masterRel="nextClick" afterEffect="1"/>
                                        <p:tgtEl>
                                          <p:spTgt spid="19459">
                                            <p:txEl>
                                              <p:pRg st="2" end="2"/>
                                            </p:txEl>
                                          </p:spTgt>
                                        </p:tgtEl>
                                        <p:attrNameLst>
                                          <p:attrName>ppt_c</p:attrName>
                                        </p:attrNameLst>
                                      </p:cBhvr>
                                      <p:to>
                                        <a:schemeClr val="folHlink"/>
                                      </p:to>
                                    </p:animClr>
                                  </p:subTnLst>
                                </p:cTn>
                              </p:par>
                              <p:par>
                                <p:cTn id="11" presetID="4" presetClass="entr" presetSubtype="32" fill="hold" grpId="0" nodeType="withEffect">
                                  <p:stCondLst>
                                    <p:cond delay="4000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box(out)">
                                      <p:cBhvr>
                                        <p:cTn id="13" dur="500"/>
                                        <p:tgtEl>
                                          <p:spTgt spid="19459">
                                            <p:txEl>
                                              <p:pRg st="3" end="3"/>
                                            </p:txEl>
                                          </p:spTgt>
                                        </p:tgtEl>
                                      </p:cBhvr>
                                    </p:animEffect>
                                  </p:childTnLst>
                                  <p:subTnLst>
                                    <p:animClr clrSpc="rgb" dir="cw">
                                      <p:cBhvr override="childStyle">
                                        <p:cTn dur="1" fill="hold" display="0" masterRel="nextClick" afterEffect="1"/>
                                        <p:tgtEl>
                                          <p:spTgt spid="19459">
                                            <p:txEl>
                                              <p:pRg st="3" end="3"/>
                                            </p:txEl>
                                          </p:spTgt>
                                        </p:tgtEl>
                                        <p:attrNameLst>
                                          <p:attrName>ppt_c</p:attrName>
                                        </p:attrNameLst>
                                      </p:cBhvr>
                                      <p:to>
                                        <a:schemeClr val="folHlink"/>
                                      </p:to>
                                    </p:animClr>
                                  </p:subTnLst>
                                </p:cTn>
                              </p:par>
                              <p:par>
                                <p:cTn id="14" presetID="4" presetClass="entr" presetSubtype="32" fill="hold" grpId="0" nodeType="withEffect">
                                  <p:stCondLst>
                                    <p:cond delay="3000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box(out)">
                                      <p:cBhvr>
                                        <p:cTn id="16" dur="500"/>
                                        <p:tgtEl>
                                          <p:spTgt spid="19459">
                                            <p:txEl>
                                              <p:pRg st="4" end="4"/>
                                            </p:txEl>
                                          </p:spTgt>
                                        </p:tgtEl>
                                      </p:cBhvr>
                                    </p:animEffect>
                                  </p:childTnLst>
                                  <p:subTnLst>
                                    <p:animClr clrSpc="rgb" dir="cw">
                                      <p:cBhvr override="childStyle">
                                        <p:cTn dur="1" fill="hold" display="0" masterRel="nextClick" afterEffect="1"/>
                                        <p:tgtEl>
                                          <p:spTgt spid="19459">
                                            <p:txEl>
                                              <p:pRg st="4" end="4"/>
                                            </p:txEl>
                                          </p:spTgt>
                                        </p:tgtEl>
                                        <p:attrNameLst>
                                          <p:attrName>ppt_c</p:attrName>
                                        </p:attrNameLst>
                                      </p:cBhvr>
                                      <p:to>
                                        <a:schemeClr val="folHlink"/>
                                      </p:to>
                                    </p:animClr>
                                  </p:subTnLst>
                                </p:cTn>
                              </p:par>
                              <p:par>
                                <p:cTn id="17" presetID="4" presetClass="entr" presetSubtype="32" fill="hold" grpId="0" nodeType="withEffect">
                                  <p:stCondLst>
                                    <p:cond delay="30000"/>
                                  </p:stCondLst>
                                  <p:childTnLst>
                                    <p:set>
                                      <p:cBhvr>
                                        <p:cTn id="18" dur="1" fill="hold">
                                          <p:stCondLst>
                                            <p:cond delay="0"/>
                                          </p:stCondLst>
                                        </p:cTn>
                                        <p:tgtEl>
                                          <p:spTgt spid="19459">
                                            <p:txEl>
                                              <p:pRg st="5" end="5"/>
                                            </p:txEl>
                                          </p:spTgt>
                                        </p:tgtEl>
                                        <p:attrNameLst>
                                          <p:attrName>style.visibility</p:attrName>
                                        </p:attrNameLst>
                                      </p:cBhvr>
                                      <p:to>
                                        <p:strVal val="visible"/>
                                      </p:to>
                                    </p:set>
                                    <p:animEffect transition="in" filter="box(out)">
                                      <p:cBhvr>
                                        <p:cTn id="19" dur="500"/>
                                        <p:tgtEl>
                                          <p:spTgt spid="19459">
                                            <p:txEl>
                                              <p:pRg st="5" end="5"/>
                                            </p:txEl>
                                          </p:spTgt>
                                        </p:tgtEl>
                                      </p:cBhvr>
                                    </p:animEffect>
                                  </p:childTnLst>
                                  <p:subTnLst>
                                    <p:animClr clrSpc="rgb" dir="cw">
                                      <p:cBhvr override="childStyle">
                                        <p:cTn dur="1" fill="hold" display="0" masterRel="nextClick" afterEffect="1"/>
                                        <p:tgtEl>
                                          <p:spTgt spid="19459">
                                            <p:txEl>
                                              <p:pRg st="5" end="5"/>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advAuto="1000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en-GB" altLang="en-US" b="1" smtClean="0">
                <a:ln>
                  <a:noFill/>
                </a:ln>
                <a:solidFill>
                  <a:srgbClr val="003366"/>
                </a:solidFill>
              </a:rPr>
              <a:t>Cross Elasticity</a:t>
            </a:r>
            <a:endParaRPr lang="en-GB" altLang="en-US" smtClean="0">
              <a:ln>
                <a:noFill/>
              </a:ln>
            </a:endParaRPr>
          </a:p>
        </p:txBody>
      </p:sp>
      <p:sp>
        <p:nvSpPr>
          <p:cNvPr id="206851" name="Rectangle 3"/>
          <p:cNvSpPr>
            <a:spLocks noGrp="1"/>
          </p:cNvSpPr>
          <p:nvPr>
            <p:ph idx="1"/>
          </p:nvPr>
        </p:nvSpPr>
        <p:spPr>
          <a:xfrm>
            <a:off x="2209800" y="1524000"/>
            <a:ext cx="7772400" cy="3124200"/>
          </a:xfrm>
        </p:spPr>
        <p:txBody>
          <a:bodyPr/>
          <a:lstStyle/>
          <a:p>
            <a:pPr lvl="1"/>
            <a:r>
              <a:rPr lang="en-GB" altLang="en-US" smtClean="0"/>
              <a:t>The responsiveness of demand of one good to changes in the price of a related good – either </a:t>
            </a:r>
            <a:br>
              <a:rPr lang="en-GB" altLang="en-US" smtClean="0"/>
            </a:br>
            <a:r>
              <a:rPr lang="en-GB" altLang="en-US" smtClean="0"/>
              <a:t>a substitute or a complement</a:t>
            </a:r>
          </a:p>
        </p:txBody>
      </p:sp>
      <p:sp>
        <p:nvSpPr>
          <p:cNvPr id="206852" name="Slide Number Placeholder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6EDE886-575D-44DA-90CC-B848F53EA01A}" type="slidenum">
              <a:rPr lang="en-US" altLang="en-US" sz="1400">
                <a:solidFill>
                  <a:srgbClr val="FFFFFF"/>
                </a:solidFill>
              </a:rPr>
              <a:pPr/>
              <a:t>15</a:t>
            </a:fld>
            <a:endParaRPr lang="en-US" altLang="en-US" sz="1400">
              <a:solidFill>
                <a:srgbClr val="FFFFFF"/>
              </a:solidFill>
            </a:endParaRPr>
          </a:p>
        </p:txBody>
      </p:sp>
      <p:sp>
        <p:nvSpPr>
          <p:cNvPr id="206853" name="Text Box 4"/>
          <p:cNvSpPr txBox="1">
            <a:spLocks noChangeArrowheads="1"/>
          </p:cNvSpPr>
          <p:nvPr/>
        </p:nvSpPr>
        <p:spPr bwMode="auto">
          <a:xfrm>
            <a:off x="2743200" y="5248275"/>
            <a:ext cx="9714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Xed = </a:t>
            </a:r>
          </a:p>
        </p:txBody>
      </p:sp>
      <p:sp>
        <p:nvSpPr>
          <p:cNvPr id="206854" name="Text Box 5"/>
          <p:cNvSpPr txBox="1">
            <a:spLocks noChangeArrowheads="1"/>
          </p:cNvSpPr>
          <p:nvPr/>
        </p:nvSpPr>
        <p:spPr bwMode="auto">
          <a:xfrm>
            <a:off x="3733800" y="4946650"/>
            <a:ext cx="3657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 Δ Quantity of tea bags</a:t>
            </a:r>
          </a:p>
        </p:txBody>
      </p:sp>
      <p:sp>
        <p:nvSpPr>
          <p:cNvPr id="206855" name="Text Box 6"/>
          <p:cNvSpPr txBox="1">
            <a:spLocks noChangeArrowheads="1"/>
          </p:cNvSpPr>
          <p:nvPr/>
        </p:nvSpPr>
        <p:spPr bwMode="auto">
          <a:xfrm>
            <a:off x="3581401" y="5029200"/>
            <a:ext cx="28392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__________________</a:t>
            </a:r>
          </a:p>
        </p:txBody>
      </p:sp>
      <p:sp>
        <p:nvSpPr>
          <p:cNvPr id="206856" name="Text Box 7"/>
          <p:cNvSpPr txBox="1">
            <a:spLocks noChangeArrowheads="1"/>
          </p:cNvSpPr>
          <p:nvPr/>
        </p:nvSpPr>
        <p:spPr bwMode="auto">
          <a:xfrm>
            <a:off x="3657600" y="5486400"/>
            <a:ext cx="403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 Δ Price of sugar (or coffee)</a:t>
            </a:r>
          </a:p>
        </p:txBody>
      </p:sp>
    </p:spTree>
    <p:extLst>
      <p:ext uri="{BB962C8B-B14F-4D97-AF65-F5344CB8AC3E}">
        <p14:creationId xmlns:p14="http://schemas.microsoft.com/office/powerpoint/2010/main" val="2198900791"/>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r>
              <a:rPr lang="en-GB" altLang="en-US" b="1" smtClean="0">
                <a:ln>
                  <a:noFill/>
                </a:ln>
                <a:solidFill>
                  <a:srgbClr val="003366"/>
                </a:solidFill>
              </a:rPr>
              <a:t>Cross Elasticity</a:t>
            </a:r>
            <a:endParaRPr lang="en-GB" altLang="en-US" smtClean="0">
              <a:ln>
                <a:noFill/>
              </a:ln>
            </a:endParaRPr>
          </a:p>
        </p:txBody>
      </p:sp>
      <p:sp>
        <p:nvSpPr>
          <p:cNvPr id="208899" name="Rectangle 3"/>
          <p:cNvSpPr>
            <a:spLocks noGrp="1"/>
          </p:cNvSpPr>
          <p:nvPr>
            <p:ph idx="1"/>
          </p:nvPr>
        </p:nvSpPr>
        <p:spPr/>
        <p:txBody>
          <a:bodyPr/>
          <a:lstStyle/>
          <a:p>
            <a:r>
              <a:rPr lang="en-GB" altLang="en-US" b="1" smtClean="0">
                <a:solidFill>
                  <a:srgbClr val="003366"/>
                </a:solidFill>
              </a:rPr>
              <a:t>Goods which are complements</a:t>
            </a:r>
            <a:r>
              <a:rPr lang="en-GB" altLang="en-US" smtClean="0">
                <a:solidFill>
                  <a:srgbClr val="003366"/>
                </a:solidFill>
              </a:rPr>
              <a:t>:</a:t>
            </a:r>
          </a:p>
          <a:p>
            <a:pPr lvl="1"/>
            <a:r>
              <a:rPr lang="en-GB" altLang="en-US" smtClean="0">
                <a:solidFill>
                  <a:srgbClr val="FF0000"/>
                </a:solidFill>
              </a:rPr>
              <a:t>Cross Elasticity will have negative sign </a:t>
            </a:r>
            <a:r>
              <a:rPr lang="en-GB" altLang="en-US" smtClean="0"/>
              <a:t>(inverse relationship between the two)</a:t>
            </a:r>
          </a:p>
          <a:p>
            <a:r>
              <a:rPr lang="en-GB" altLang="en-US" b="1" smtClean="0">
                <a:solidFill>
                  <a:srgbClr val="003366"/>
                </a:solidFill>
              </a:rPr>
              <a:t>Goods which are substitutes</a:t>
            </a:r>
            <a:r>
              <a:rPr lang="en-GB" altLang="en-US" smtClean="0">
                <a:solidFill>
                  <a:srgbClr val="003366"/>
                </a:solidFill>
              </a:rPr>
              <a:t>:</a:t>
            </a:r>
          </a:p>
          <a:p>
            <a:pPr lvl="1"/>
            <a:r>
              <a:rPr lang="en-GB" altLang="en-US" smtClean="0">
                <a:solidFill>
                  <a:srgbClr val="FF0000"/>
                </a:solidFill>
              </a:rPr>
              <a:t>Cross Elasticity will have a positive sign </a:t>
            </a:r>
            <a:r>
              <a:rPr lang="en-GB" altLang="en-US" smtClean="0"/>
              <a:t>(positive relationship between the two)</a:t>
            </a:r>
          </a:p>
        </p:txBody>
      </p:sp>
      <p:sp>
        <p:nvSpPr>
          <p:cNvPr id="20890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64C357-E618-4438-8406-A36F9B20ECCF}" type="slidenum">
              <a:rPr lang="en-US" altLang="en-US" sz="1400">
                <a:solidFill>
                  <a:srgbClr val="FFFFFF"/>
                </a:solidFill>
              </a:rPr>
              <a:pPr/>
              <a:t>16</a:t>
            </a:fld>
            <a:endParaRPr lang="en-US" altLang="en-US" sz="1400">
              <a:solidFill>
                <a:srgbClr val="FFFFFF"/>
              </a:solidFill>
            </a:endParaRPr>
          </a:p>
        </p:txBody>
      </p:sp>
    </p:spTree>
    <p:extLst>
      <p:ext uri="{BB962C8B-B14F-4D97-AF65-F5344CB8AC3E}">
        <p14:creationId xmlns:p14="http://schemas.microsoft.com/office/powerpoint/2010/main" val="3777373977"/>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en-GB" altLang="en-US" b="1" smtClean="0">
                <a:ln>
                  <a:noFill/>
                </a:ln>
                <a:solidFill>
                  <a:srgbClr val="003366"/>
                </a:solidFill>
              </a:rPr>
              <a:t>Price Elasticity of Supply</a:t>
            </a:r>
            <a:endParaRPr lang="en-GB" altLang="en-US" smtClean="0">
              <a:ln>
                <a:noFill/>
              </a:ln>
            </a:endParaRPr>
          </a:p>
        </p:txBody>
      </p:sp>
      <p:sp>
        <p:nvSpPr>
          <p:cNvPr id="210947" name="Rectangle 3"/>
          <p:cNvSpPr>
            <a:spLocks noGrp="1"/>
          </p:cNvSpPr>
          <p:nvPr>
            <p:ph idx="1"/>
          </p:nvPr>
        </p:nvSpPr>
        <p:spPr>
          <a:xfrm>
            <a:off x="2209800" y="1600200"/>
            <a:ext cx="7772400" cy="3429000"/>
          </a:xfrm>
        </p:spPr>
        <p:txBody>
          <a:bodyPr/>
          <a:lstStyle/>
          <a:p>
            <a:pPr lvl="1"/>
            <a:r>
              <a:rPr lang="en-GB" altLang="en-US" smtClean="0"/>
              <a:t>The responsiveness of supply to changes in price</a:t>
            </a:r>
          </a:p>
          <a:p>
            <a:pPr lvl="2"/>
            <a:r>
              <a:rPr lang="en-GB" altLang="en-US" sz="2800"/>
              <a:t>If PES is </a:t>
            </a:r>
            <a:r>
              <a:rPr lang="en-GB" altLang="en-US" sz="2800" b="1">
                <a:solidFill>
                  <a:srgbClr val="003366"/>
                </a:solidFill>
              </a:rPr>
              <a:t>inelastic</a:t>
            </a:r>
            <a:r>
              <a:rPr lang="en-GB" altLang="en-US" sz="2800"/>
              <a:t> - it will be difficult for suppliers to react swiftly to changes in price</a:t>
            </a:r>
          </a:p>
          <a:p>
            <a:pPr lvl="2"/>
            <a:r>
              <a:rPr lang="en-GB" altLang="en-US" sz="2800"/>
              <a:t>If PES is </a:t>
            </a:r>
            <a:r>
              <a:rPr lang="en-GB" altLang="en-US" sz="2800" b="1">
                <a:solidFill>
                  <a:srgbClr val="003366"/>
                </a:solidFill>
              </a:rPr>
              <a:t>elastic</a:t>
            </a:r>
            <a:r>
              <a:rPr lang="en-GB" altLang="en-US" sz="2800"/>
              <a:t> – supply can react quickly to changes in price</a:t>
            </a:r>
          </a:p>
        </p:txBody>
      </p:sp>
      <p:sp>
        <p:nvSpPr>
          <p:cNvPr id="210948" name="Slide Number Placeholder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AAD29E-7707-4E75-8766-CE7BABCEAFB5}" type="slidenum">
              <a:rPr lang="en-US" altLang="en-US" sz="1400">
                <a:solidFill>
                  <a:srgbClr val="FFFFFF"/>
                </a:solidFill>
              </a:rPr>
              <a:pPr/>
              <a:t>17</a:t>
            </a:fld>
            <a:endParaRPr lang="en-US" altLang="en-US" sz="1400">
              <a:solidFill>
                <a:srgbClr val="FFFFFF"/>
              </a:solidFill>
            </a:endParaRPr>
          </a:p>
        </p:txBody>
      </p:sp>
      <p:sp>
        <p:nvSpPr>
          <p:cNvPr id="210949" name="Text Box 4"/>
          <p:cNvSpPr txBox="1">
            <a:spLocks noChangeArrowheads="1"/>
          </p:cNvSpPr>
          <p:nvPr/>
        </p:nvSpPr>
        <p:spPr bwMode="auto">
          <a:xfrm>
            <a:off x="4114800" y="5324475"/>
            <a:ext cx="979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PES = </a:t>
            </a:r>
          </a:p>
        </p:txBody>
      </p:sp>
      <p:sp>
        <p:nvSpPr>
          <p:cNvPr id="210950" name="Text Box 5"/>
          <p:cNvSpPr txBox="1">
            <a:spLocks noChangeArrowheads="1"/>
          </p:cNvSpPr>
          <p:nvPr/>
        </p:nvSpPr>
        <p:spPr bwMode="auto">
          <a:xfrm>
            <a:off x="5029201" y="5022850"/>
            <a:ext cx="28348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 Δ Quantity Supplied</a:t>
            </a:r>
          </a:p>
        </p:txBody>
      </p:sp>
      <p:sp>
        <p:nvSpPr>
          <p:cNvPr id="210951" name="Text Box 6"/>
          <p:cNvSpPr txBox="1">
            <a:spLocks noChangeArrowheads="1"/>
          </p:cNvSpPr>
          <p:nvPr/>
        </p:nvSpPr>
        <p:spPr bwMode="auto">
          <a:xfrm>
            <a:off x="5105401" y="5172075"/>
            <a:ext cx="31341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____________________</a:t>
            </a:r>
          </a:p>
        </p:txBody>
      </p:sp>
      <p:sp>
        <p:nvSpPr>
          <p:cNvPr id="210952" name="Text Box 7"/>
          <p:cNvSpPr txBox="1">
            <a:spLocks noChangeArrowheads="1"/>
          </p:cNvSpPr>
          <p:nvPr/>
        </p:nvSpPr>
        <p:spPr bwMode="auto">
          <a:xfrm>
            <a:off x="5715000" y="5632450"/>
            <a:ext cx="13997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latin typeface="Verdana" panose="020B0604030504040204" pitchFamily="34" charset="0"/>
              </a:rPr>
              <a:t>% Δ Price </a:t>
            </a:r>
          </a:p>
        </p:txBody>
      </p:sp>
    </p:spTree>
    <p:extLst>
      <p:ext uri="{BB962C8B-B14F-4D97-AF65-F5344CB8AC3E}">
        <p14:creationId xmlns:p14="http://schemas.microsoft.com/office/powerpoint/2010/main" val="330716714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r>
              <a:rPr lang="en-GB" altLang="en-US" smtClean="0">
                <a:ln>
                  <a:noFill/>
                </a:ln>
              </a:rPr>
              <a:t>Determinants of Elasticity</a:t>
            </a:r>
          </a:p>
        </p:txBody>
      </p:sp>
      <p:sp>
        <p:nvSpPr>
          <p:cNvPr id="25603" name="Rectangle 3"/>
          <p:cNvSpPr>
            <a:spLocks noGrp="1"/>
          </p:cNvSpPr>
          <p:nvPr>
            <p:ph idx="1"/>
          </p:nvPr>
        </p:nvSpPr>
        <p:spPr/>
        <p:txBody>
          <a:bodyPr rtlCol="0">
            <a:normAutofit/>
          </a:bodyPr>
          <a:lstStyle/>
          <a:p>
            <a:pPr fontAlgn="auto">
              <a:lnSpc>
                <a:spcPct val="90000"/>
              </a:lnSpc>
              <a:buFont typeface="Arial"/>
              <a:buChar char="•"/>
              <a:defRPr/>
            </a:pPr>
            <a:r>
              <a:rPr lang="en-GB" altLang="en-US" b="1" smtClean="0">
                <a:solidFill>
                  <a:srgbClr val="003366"/>
                </a:solidFill>
              </a:rPr>
              <a:t>Availability and closeness of substitutes</a:t>
            </a:r>
            <a:r>
              <a:rPr lang="en-GB" altLang="en-US" smtClean="0">
                <a:solidFill>
                  <a:schemeClr val="tx1">
                    <a:lumMod val="85000"/>
                    <a:lumOff val="15000"/>
                  </a:schemeClr>
                </a:solidFill>
              </a:rPr>
              <a:t> </a:t>
            </a:r>
          </a:p>
          <a:p>
            <a:pPr lvl="2" indent="-457200">
              <a:buFont typeface="Wingdings" panose="05000000000000000000" pitchFamily="2" charset="2"/>
              <a:buChar char="q"/>
              <a:defRPr/>
            </a:pPr>
            <a:r>
              <a:rPr lang="en-GB" altLang="en-US">
                <a:solidFill>
                  <a:schemeClr val="tx1">
                    <a:lumMod val="85000"/>
                    <a:lumOff val="15000"/>
                  </a:schemeClr>
                </a:solidFill>
              </a:rPr>
              <a:t>the greater the number of substitutes, the more elastic</a:t>
            </a:r>
          </a:p>
          <a:p>
            <a:pPr fontAlgn="auto">
              <a:lnSpc>
                <a:spcPct val="90000"/>
              </a:lnSpc>
              <a:buFont typeface="Arial"/>
              <a:buChar char="•"/>
              <a:defRPr/>
            </a:pPr>
            <a:r>
              <a:rPr lang="en-GB" altLang="en-US" b="1" smtClean="0">
                <a:solidFill>
                  <a:srgbClr val="003366"/>
                </a:solidFill>
              </a:rPr>
              <a:t>Time period</a:t>
            </a:r>
            <a:r>
              <a:rPr lang="en-GB" altLang="en-US" smtClean="0">
                <a:solidFill>
                  <a:schemeClr val="tx1">
                    <a:lumMod val="85000"/>
                    <a:lumOff val="15000"/>
                  </a:schemeClr>
                </a:solidFill>
              </a:rPr>
              <a:t> </a:t>
            </a:r>
          </a:p>
          <a:p>
            <a:pPr marL="914400" lvl="3" indent="-457200">
              <a:buFont typeface="Wingdings" panose="05000000000000000000" pitchFamily="2" charset="2"/>
              <a:buChar char="q"/>
              <a:defRPr/>
            </a:pPr>
            <a:r>
              <a:rPr lang="en-GB" altLang="en-US">
                <a:solidFill>
                  <a:schemeClr val="tx1">
                    <a:lumMod val="85000"/>
                    <a:lumOff val="15000"/>
                  </a:schemeClr>
                </a:solidFill>
              </a:rPr>
              <a:t>the longer the time under consideration the more elastic a good is likely to be</a:t>
            </a:r>
          </a:p>
          <a:p>
            <a:pPr fontAlgn="auto">
              <a:lnSpc>
                <a:spcPct val="90000"/>
              </a:lnSpc>
              <a:buFont typeface="Arial"/>
              <a:buChar char="•"/>
              <a:defRPr/>
            </a:pPr>
            <a:r>
              <a:rPr lang="en-GB" altLang="en-US" b="1" smtClean="0">
                <a:solidFill>
                  <a:srgbClr val="003366"/>
                </a:solidFill>
              </a:rPr>
              <a:t>The proportion of income taken up by the product</a:t>
            </a:r>
            <a:r>
              <a:rPr lang="en-GB" altLang="en-US" smtClean="0">
                <a:solidFill>
                  <a:schemeClr val="tx1">
                    <a:lumMod val="85000"/>
                    <a:lumOff val="15000"/>
                  </a:schemeClr>
                </a:solidFill>
              </a:rPr>
              <a:t> </a:t>
            </a:r>
          </a:p>
          <a:p>
            <a:pPr lvl="1" fontAlgn="auto">
              <a:lnSpc>
                <a:spcPct val="90000"/>
              </a:lnSpc>
              <a:buFont typeface="Wingdings" panose="05000000000000000000" pitchFamily="2" charset="2"/>
              <a:buChar char="q"/>
              <a:defRPr/>
            </a:pPr>
            <a:r>
              <a:rPr lang="en-GB" altLang="en-US" smtClean="0">
                <a:solidFill>
                  <a:schemeClr val="tx1">
                    <a:lumMod val="85000"/>
                    <a:lumOff val="15000"/>
                  </a:schemeClr>
                </a:solidFill>
              </a:rPr>
              <a:t>the smaller the proportion the more inelastic</a:t>
            </a:r>
          </a:p>
          <a:p>
            <a:pPr fontAlgn="auto">
              <a:lnSpc>
                <a:spcPct val="90000"/>
              </a:lnSpc>
              <a:buFont typeface="Arial"/>
              <a:buChar char="•"/>
              <a:defRPr/>
            </a:pPr>
            <a:r>
              <a:rPr lang="en-GB" altLang="en-US" b="1" smtClean="0">
                <a:solidFill>
                  <a:srgbClr val="003366"/>
                </a:solidFill>
              </a:rPr>
              <a:t>Luxury or Necessity</a:t>
            </a:r>
            <a:r>
              <a:rPr lang="en-GB" altLang="en-US" smtClean="0">
                <a:solidFill>
                  <a:schemeClr val="tx1">
                    <a:lumMod val="85000"/>
                    <a:lumOff val="15000"/>
                  </a:schemeClr>
                </a:solidFill>
              </a:rPr>
              <a:t> </a:t>
            </a:r>
          </a:p>
          <a:p>
            <a:pPr lvl="1" fontAlgn="auto">
              <a:lnSpc>
                <a:spcPct val="90000"/>
              </a:lnSpc>
              <a:buFont typeface="Wingdings" panose="05000000000000000000" pitchFamily="2" charset="2"/>
              <a:buChar char="q"/>
              <a:defRPr/>
            </a:pPr>
            <a:r>
              <a:rPr lang="en-GB" altLang="en-US" smtClean="0">
                <a:solidFill>
                  <a:schemeClr val="tx1">
                    <a:lumMod val="85000"/>
                    <a:lumOff val="15000"/>
                  </a:schemeClr>
                </a:solidFill>
              </a:rPr>
              <a:t>for example, addictive drugs</a:t>
            </a:r>
          </a:p>
        </p:txBody>
      </p:sp>
      <p:sp>
        <p:nvSpPr>
          <p:cNvPr id="2129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964BC5C-0E25-4934-90B2-AF3BA8C26FC4}" type="slidenum">
              <a:rPr lang="en-US" altLang="en-US" sz="1400">
                <a:solidFill>
                  <a:srgbClr val="FFFFFF"/>
                </a:solidFill>
              </a:rPr>
              <a:pPr/>
              <a:t>18</a:t>
            </a:fld>
            <a:endParaRPr lang="en-US" altLang="en-US" sz="1400">
              <a:solidFill>
                <a:srgbClr val="FFFFFF"/>
              </a:solidFill>
            </a:endParaRPr>
          </a:p>
        </p:txBody>
      </p:sp>
    </p:spTree>
    <p:extLst>
      <p:ext uri="{BB962C8B-B14F-4D97-AF65-F5344CB8AC3E}">
        <p14:creationId xmlns:p14="http://schemas.microsoft.com/office/powerpoint/2010/main" val="21481648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700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dissolve">
                                      <p:cBhvr>
                                        <p:cTn id="7" dur="500"/>
                                        <p:tgtEl>
                                          <p:spTgt spid="25603">
                                            <p:txEl>
                                              <p:pRg st="0" end="0"/>
                                            </p:txEl>
                                          </p:spTgt>
                                        </p:tgtEl>
                                      </p:cBhvr>
                                    </p:animEffect>
                                  </p:childTnLst>
                                  <p:subTnLst>
                                    <p:animClr clrSpc="rgb" dir="cw">
                                      <p:cBhvr override="childStyle">
                                        <p:cTn dur="1" fill="hold" display="0" masterRel="nextClick" afterEffect="1"/>
                                        <p:tgtEl>
                                          <p:spTgt spid="25603">
                                            <p:txEl>
                                              <p:pRg st="0" end="0"/>
                                            </p:txEl>
                                          </p:spTgt>
                                        </p:tgtEl>
                                        <p:attrNameLst>
                                          <p:attrName>ppt_c</p:attrName>
                                        </p:attrNameLst>
                                      </p:cBhvr>
                                      <p:to>
                                        <a:schemeClr val="folHlink"/>
                                      </p:to>
                                    </p:animClr>
                                  </p:subTnLst>
                                </p:cTn>
                              </p:par>
                              <p:par>
                                <p:cTn id="8" presetID="9" presetClass="entr" presetSubtype="0" fill="hold" grpId="0" nodeType="withEffect">
                                  <p:stCondLst>
                                    <p:cond delay="14000"/>
                                  </p:stCondLst>
                                  <p:childTnLst>
                                    <p:set>
                                      <p:cBhvr>
                                        <p:cTn id="9" dur="1" fill="hold">
                                          <p:stCondLst>
                                            <p:cond delay="0"/>
                                          </p:stCondLst>
                                        </p:cTn>
                                        <p:tgtEl>
                                          <p:spTgt spid="25603">
                                            <p:txEl>
                                              <p:pRg st="1" end="1"/>
                                            </p:txEl>
                                          </p:spTgt>
                                        </p:tgtEl>
                                        <p:attrNameLst>
                                          <p:attrName>style.visibility</p:attrName>
                                        </p:attrNameLst>
                                      </p:cBhvr>
                                      <p:to>
                                        <p:strVal val="visible"/>
                                      </p:to>
                                    </p:set>
                                    <p:animEffect transition="in" filter="dissolve">
                                      <p:cBhvr>
                                        <p:cTn id="10" dur="500"/>
                                        <p:tgtEl>
                                          <p:spTgt spid="25603">
                                            <p:txEl>
                                              <p:pRg st="1" end="1"/>
                                            </p:txEl>
                                          </p:spTgt>
                                        </p:tgtEl>
                                      </p:cBhvr>
                                    </p:animEffect>
                                  </p:childTnLst>
                                  <p:subTnLst>
                                    <p:animClr clrSpc="rgb" dir="cw">
                                      <p:cBhvr override="childStyle">
                                        <p:cTn dur="1" fill="hold" display="0" masterRel="nextClick" afterEffect="1"/>
                                        <p:tgtEl>
                                          <p:spTgt spid="25603">
                                            <p:txEl>
                                              <p:pRg st="1" end="1"/>
                                            </p:txEl>
                                          </p:spTgt>
                                        </p:tgtEl>
                                        <p:attrNameLst>
                                          <p:attrName>ppt_c</p:attrName>
                                        </p:attrNameLst>
                                      </p:cBhvr>
                                      <p:to>
                                        <a:schemeClr val="folHlink"/>
                                      </p:to>
                                    </p:animClr>
                                  </p:subTnLst>
                                </p:cTn>
                              </p:par>
                            </p:childTnLst>
                          </p:cTn>
                        </p:par>
                        <p:par>
                          <p:cTn id="11" fill="hold" nodeType="afterGroup">
                            <p:stCondLst>
                              <p:cond delay="14500"/>
                            </p:stCondLst>
                            <p:childTnLst>
                              <p:par>
                                <p:cTn id="12" presetID="9" presetClass="entr" presetSubtype="0" fill="hold" grpId="0" nodeType="afterEffect">
                                  <p:stCondLst>
                                    <p:cond delay="14000"/>
                                  </p:stCondLst>
                                  <p:childTnLst>
                                    <p:set>
                                      <p:cBhvr>
                                        <p:cTn id="13" dur="1" fill="hold">
                                          <p:stCondLst>
                                            <p:cond delay="0"/>
                                          </p:stCondLst>
                                        </p:cTn>
                                        <p:tgtEl>
                                          <p:spTgt spid="25603">
                                            <p:txEl>
                                              <p:pRg st="2" end="2"/>
                                            </p:txEl>
                                          </p:spTgt>
                                        </p:tgtEl>
                                        <p:attrNameLst>
                                          <p:attrName>style.visibility</p:attrName>
                                        </p:attrNameLst>
                                      </p:cBhvr>
                                      <p:to>
                                        <p:strVal val="visible"/>
                                      </p:to>
                                    </p:set>
                                    <p:animEffect transition="in" filter="dissolve">
                                      <p:cBhvr>
                                        <p:cTn id="14" dur="500"/>
                                        <p:tgtEl>
                                          <p:spTgt spid="25603">
                                            <p:txEl>
                                              <p:pRg st="2" end="2"/>
                                            </p:txEl>
                                          </p:spTgt>
                                        </p:tgtEl>
                                      </p:cBhvr>
                                    </p:animEffect>
                                  </p:childTnLst>
                                  <p:subTnLst>
                                    <p:animClr clrSpc="rgb" dir="cw">
                                      <p:cBhvr override="childStyle">
                                        <p:cTn dur="1" fill="hold" display="0" masterRel="nextClick" afterEffect="1"/>
                                        <p:tgtEl>
                                          <p:spTgt spid="25603">
                                            <p:txEl>
                                              <p:pRg st="2" end="2"/>
                                            </p:txEl>
                                          </p:spTgt>
                                        </p:tgtEl>
                                        <p:attrNameLst>
                                          <p:attrName>ppt_c</p:attrName>
                                        </p:attrNameLst>
                                      </p:cBhvr>
                                      <p:to>
                                        <a:schemeClr val="folHlink"/>
                                      </p:to>
                                    </p:animClr>
                                  </p:subTnLst>
                                </p:cTn>
                              </p:par>
                              <p:par>
                                <p:cTn id="15" presetID="9" presetClass="entr" presetSubtype="0" fill="hold" grpId="0" nodeType="withEffect">
                                  <p:stCondLst>
                                    <p:cond delay="14000"/>
                                  </p:stCondLst>
                                  <p:childTnLst>
                                    <p:set>
                                      <p:cBhvr>
                                        <p:cTn id="16" dur="1" fill="hold">
                                          <p:stCondLst>
                                            <p:cond delay="0"/>
                                          </p:stCondLst>
                                        </p:cTn>
                                        <p:tgtEl>
                                          <p:spTgt spid="25603">
                                            <p:txEl>
                                              <p:pRg st="3" end="3"/>
                                            </p:txEl>
                                          </p:spTgt>
                                        </p:tgtEl>
                                        <p:attrNameLst>
                                          <p:attrName>style.visibility</p:attrName>
                                        </p:attrNameLst>
                                      </p:cBhvr>
                                      <p:to>
                                        <p:strVal val="visible"/>
                                      </p:to>
                                    </p:set>
                                    <p:animEffect transition="in" filter="dissolve">
                                      <p:cBhvr>
                                        <p:cTn id="17" dur="500"/>
                                        <p:tgtEl>
                                          <p:spTgt spid="25603">
                                            <p:txEl>
                                              <p:pRg st="3" end="3"/>
                                            </p:txEl>
                                          </p:spTgt>
                                        </p:tgtEl>
                                      </p:cBhvr>
                                    </p:animEffect>
                                  </p:childTnLst>
                                  <p:subTnLst>
                                    <p:animClr clrSpc="rgb" dir="cw">
                                      <p:cBhvr override="childStyle">
                                        <p:cTn dur="1" fill="hold" display="0" masterRel="nextClick" afterEffect="1"/>
                                        <p:tgtEl>
                                          <p:spTgt spid="25603">
                                            <p:txEl>
                                              <p:pRg st="3" end="3"/>
                                            </p:txEl>
                                          </p:spTgt>
                                        </p:tgtEl>
                                        <p:attrNameLst>
                                          <p:attrName>ppt_c</p:attrName>
                                        </p:attrNameLst>
                                      </p:cBhvr>
                                      <p:to>
                                        <a:schemeClr val="folHlink"/>
                                      </p:to>
                                    </p:animClr>
                                  </p:subTnLst>
                                </p:cTn>
                              </p:par>
                            </p:childTnLst>
                          </p:cTn>
                        </p:par>
                        <p:par>
                          <p:cTn id="18" fill="hold" nodeType="afterGroup">
                            <p:stCondLst>
                              <p:cond delay="29000"/>
                            </p:stCondLst>
                            <p:childTnLst>
                              <p:par>
                                <p:cTn id="19" presetID="9" presetClass="entr" presetSubtype="0" fill="hold" grpId="0" nodeType="afterEffect">
                                  <p:stCondLst>
                                    <p:cond delay="14000"/>
                                  </p:stCondLst>
                                  <p:childTnLst>
                                    <p:set>
                                      <p:cBhvr>
                                        <p:cTn id="20" dur="1" fill="hold">
                                          <p:stCondLst>
                                            <p:cond delay="0"/>
                                          </p:stCondLst>
                                        </p:cTn>
                                        <p:tgtEl>
                                          <p:spTgt spid="25603">
                                            <p:txEl>
                                              <p:pRg st="4" end="4"/>
                                            </p:txEl>
                                          </p:spTgt>
                                        </p:tgtEl>
                                        <p:attrNameLst>
                                          <p:attrName>style.visibility</p:attrName>
                                        </p:attrNameLst>
                                      </p:cBhvr>
                                      <p:to>
                                        <p:strVal val="visible"/>
                                      </p:to>
                                    </p:set>
                                    <p:animEffect transition="in" filter="dissolve">
                                      <p:cBhvr>
                                        <p:cTn id="21" dur="500"/>
                                        <p:tgtEl>
                                          <p:spTgt spid="25603">
                                            <p:txEl>
                                              <p:pRg st="4" end="4"/>
                                            </p:txEl>
                                          </p:spTgt>
                                        </p:tgtEl>
                                      </p:cBhvr>
                                    </p:animEffect>
                                  </p:childTnLst>
                                  <p:subTnLst>
                                    <p:animClr clrSpc="rgb" dir="cw">
                                      <p:cBhvr override="childStyle">
                                        <p:cTn dur="1" fill="hold" display="0" masterRel="nextClick" afterEffect="1"/>
                                        <p:tgtEl>
                                          <p:spTgt spid="25603">
                                            <p:txEl>
                                              <p:pRg st="4" end="4"/>
                                            </p:txEl>
                                          </p:spTgt>
                                        </p:tgtEl>
                                        <p:attrNameLst>
                                          <p:attrName>ppt_c</p:attrName>
                                        </p:attrNameLst>
                                      </p:cBhvr>
                                      <p:to>
                                        <a:schemeClr val="folHlink"/>
                                      </p:to>
                                    </p:animClr>
                                  </p:subTnLst>
                                </p:cTn>
                              </p:par>
                              <p:par>
                                <p:cTn id="22" presetID="9" presetClass="entr" presetSubtype="0" fill="hold" grpId="0" nodeType="withEffect">
                                  <p:stCondLst>
                                    <p:cond delay="7000"/>
                                  </p:stCondLst>
                                  <p:childTnLst>
                                    <p:set>
                                      <p:cBhvr>
                                        <p:cTn id="23" dur="1" fill="hold">
                                          <p:stCondLst>
                                            <p:cond delay="0"/>
                                          </p:stCondLst>
                                        </p:cTn>
                                        <p:tgtEl>
                                          <p:spTgt spid="25603">
                                            <p:txEl>
                                              <p:pRg st="5" end="5"/>
                                            </p:txEl>
                                          </p:spTgt>
                                        </p:tgtEl>
                                        <p:attrNameLst>
                                          <p:attrName>style.visibility</p:attrName>
                                        </p:attrNameLst>
                                      </p:cBhvr>
                                      <p:to>
                                        <p:strVal val="visible"/>
                                      </p:to>
                                    </p:set>
                                    <p:animEffect transition="in" filter="dissolve">
                                      <p:cBhvr>
                                        <p:cTn id="24" dur="500"/>
                                        <p:tgtEl>
                                          <p:spTgt spid="25603">
                                            <p:txEl>
                                              <p:pRg st="5" end="5"/>
                                            </p:txEl>
                                          </p:spTgt>
                                        </p:tgtEl>
                                      </p:cBhvr>
                                    </p:animEffect>
                                  </p:childTnLst>
                                  <p:subTnLst>
                                    <p:animClr clrSpc="rgb" dir="cw">
                                      <p:cBhvr override="childStyle">
                                        <p:cTn dur="1" fill="hold" display="0" masterRel="nextClick" afterEffect="1"/>
                                        <p:tgtEl>
                                          <p:spTgt spid="25603">
                                            <p:txEl>
                                              <p:pRg st="5" end="5"/>
                                            </p:txEl>
                                          </p:spTgt>
                                        </p:tgtEl>
                                        <p:attrNameLst>
                                          <p:attrName>ppt_c</p:attrName>
                                        </p:attrNameLst>
                                      </p:cBhvr>
                                      <p:to>
                                        <a:schemeClr val="folHlink"/>
                                      </p:to>
                                    </p:animClr>
                                  </p:subTnLst>
                                </p:cTn>
                              </p:par>
                            </p:childTnLst>
                          </p:cTn>
                        </p:par>
                        <p:par>
                          <p:cTn id="25" fill="hold" nodeType="afterGroup">
                            <p:stCondLst>
                              <p:cond delay="43500"/>
                            </p:stCondLst>
                            <p:childTnLst>
                              <p:par>
                                <p:cTn id="26" presetID="9" presetClass="entr" presetSubtype="0" fill="hold" grpId="0" nodeType="afterEffect">
                                  <p:stCondLst>
                                    <p:cond delay="7000"/>
                                  </p:stCondLst>
                                  <p:childTnLst>
                                    <p:set>
                                      <p:cBhvr>
                                        <p:cTn id="27" dur="1" fill="hold">
                                          <p:stCondLst>
                                            <p:cond delay="0"/>
                                          </p:stCondLst>
                                        </p:cTn>
                                        <p:tgtEl>
                                          <p:spTgt spid="25603">
                                            <p:txEl>
                                              <p:pRg st="6" end="6"/>
                                            </p:txEl>
                                          </p:spTgt>
                                        </p:tgtEl>
                                        <p:attrNameLst>
                                          <p:attrName>style.visibility</p:attrName>
                                        </p:attrNameLst>
                                      </p:cBhvr>
                                      <p:to>
                                        <p:strVal val="visible"/>
                                      </p:to>
                                    </p:set>
                                    <p:animEffect transition="in" filter="dissolve">
                                      <p:cBhvr>
                                        <p:cTn id="28" dur="500"/>
                                        <p:tgtEl>
                                          <p:spTgt spid="25603">
                                            <p:txEl>
                                              <p:pRg st="6" end="6"/>
                                            </p:txEl>
                                          </p:spTgt>
                                        </p:tgtEl>
                                      </p:cBhvr>
                                    </p:animEffect>
                                  </p:childTnLst>
                                  <p:subTnLst>
                                    <p:animClr clrSpc="rgb" dir="cw">
                                      <p:cBhvr override="childStyle">
                                        <p:cTn dur="1" fill="hold" display="0" masterRel="nextClick" afterEffect="1"/>
                                        <p:tgtEl>
                                          <p:spTgt spid="25603">
                                            <p:txEl>
                                              <p:pRg st="6" end="6"/>
                                            </p:txEl>
                                          </p:spTgt>
                                        </p:tgtEl>
                                        <p:attrNameLst>
                                          <p:attrName>ppt_c</p:attrName>
                                        </p:attrNameLst>
                                      </p:cBhvr>
                                      <p:to>
                                        <a:schemeClr val="folHlink"/>
                                      </p:to>
                                    </p:animClr>
                                  </p:subTnLst>
                                </p:cTn>
                              </p:par>
                              <p:par>
                                <p:cTn id="29" presetID="9" presetClass="entr" presetSubtype="0" fill="hold" grpId="0" nodeType="withEffect">
                                  <p:stCondLst>
                                    <p:cond delay="7000"/>
                                  </p:stCondLst>
                                  <p:childTnLst>
                                    <p:set>
                                      <p:cBhvr>
                                        <p:cTn id="30" dur="1" fill="hold">
                                          <p:stCondLst>
                                            <p:cond delay="0"/>
                                          </p:stCondLst>
                                        </p:cTn>
                                        <p:tgtEl>
                                          <p:spTgt spid="25603">
                                            <p:txEl>
                                              <p:pRg st="7" end="7"/>
                                            </p:txEl>
                                          </p:spTgt>
                                        </p:tgtEl>
                                        <p:attrNameLst>
                                          <p:attrName>style.visibility</p:attrName>
                                        </p:attrNameLst>
                                      </p:cBhvr>
                                      <p:to>
                                        <p:strVal val="visible"/>
                                      </p:to>
                                    </p:set>
                                    <p:animEffect transition="in" filter="dissolve">
                                      <p:cBhvr>
                                        <p:cTn id="31" dur="500"/>
                                        <p:tgtEl>
                                          <p:spTgt spid="25603">
                                            <p:txEl>
                                              <p:pRg st="7" end="7"/>
                                            </p:txEl>
                                          </p:spTgt>
                                        </p:tgtEl>
                                      </p:cBhvr>
                                    </p:animEffect>
                                  </p:childTnLst>
                                  <p:subTnLst>
                                    <p:animClr clrSpc="rgb" dir="cw">
                                      <p:cBhvr override="childStyle">
                                        <p:cTn dur="1" fill="hold" display="0" masterRel="nextClick" afterEffect="1"/>
                                        <p:tgtEl>
                                          <p:spTgt spid="25603">
                                            <p:txEl>
                                              <p:pRg st="7" end="7"/>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advAuto="700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en-GB" altLang="en-US" smtClean="0">
                <a:ln>
                  <a:noFill/>
                </a:ln>
              </a:rPr>
              <a:t>Importance of Elasticity</a:t>
            </a:r>
          </a:p>
        </p:txBody>
      </p:sp>
      <p:sp>
        <p:nvSpPr>
          <p:cNvPr id="26627" name="Rectangle 3"/>
          <p:cNvSpPr>
            <a:spLocks noGrp="1" noChangeArrowheads="1"/>
          </p:cNvSpPr>
          <p:nvPr>
            <p:ph idx="1"/>
          </p:nvPr>
        </p:nvSpPr>
        <p:spPr/>
        <p:txBody>
          <a:bodyPr rtlCol="0">
            <a:normAutofit/>
          </a:bodyPr>
          <a:lstStyle/>
          <a:p>
            <a:pPr defTabSz="457207">
              <a:buClr>
                <a:schemeClr val="bg2">
                  <a:lumMod val="40000"/>
                  <a:lumOff val="60000"/>
                </a:schemeClr>
              </a:buClr>
              <a:buFont typeface="Wingdings" panose="05000000000000000000" pitchFamily="2" charset="2"/>
              <a:buChar char="q"/>
              <a:defRPr/>
            </a:pPr>
            <a:r>
              <a:rPr lang="en-GB" dirty="0">
                <a:solidFill>
                  <a:schemeClr val="tx1">
                    <a:lumMod val="85000"/>
                    <a:lumOff val="15000"/>
                  </a:schemeClr>
                </a:solidFill>
              </a:rPr>
              <a:t>There is a relationship between changes in price and total revenue</a:t>
            </a:r>
          </a:p>
          <a:p>
            <a:pPr defTabSz="457207">
              <a:buClr>
                <a:schemeClr val="bg2">
                  <a:lumMod val="40000"/>
                  <a:lumOff val="60000"/>
                </a:schemeClr>
              </a:buClr>
              <a:buFont typeface="Wingdings" panose="05000000000000000000" pitchFamily="2" charset="2"/>
              <a:buChar char="q"/>
              <a:defRPr/>
            </a:pPr>
            <a:r>
              <a:rPr lang="en-GB" dirty="0">
                <a:solidFill>
                  <a:schemeClr val="tx1">
                    <a:lumMod val="85000"/>
                    <a:lumOff val="15000"/>
                  </a:schemeClr>
                </a:solidFill>
              </a:rPr>
              <a:t>It is importance in determining what goods to tax (tax revenue)</a:t>
            </a:r>
          </a:p>
          <a:p>
            <a:pPr defTabSz="457207">
              <a:buClr>
                <a:schemeClr val="bg2">
                  <a:lumMod val="40000"/>
                  <a:lumOff val="60000"/>
                </a:schemeClr>
              </a:buClr>
              <a:buFont typeface="Wingdings" panose="05000000000000000000" pitchFamily="2" charset="2"/>
              <a:buChar char="q"/>
              <a:defRPr/>
            </a:pPr>
            <a:r>
              <a:rPr lang="en-GB" dirty="0">
                <a:solidFill>
                  <a:schemeClr val="tx1">
                    <a:lumMod val="85000"/>
                    <a:lumOff val="15000"/>
                  </a:schemeClr>
                </a:solidFill>
              </a:rPr>
              <a:t>It is importance in analysing time lags in production</a:t>
            </a:r>
          </a:p>
          <a:p>
            <a:pPr defTabSz="457207">
              <a:buClr>
                <a:schemeClr val="bg2">
                  <a:lumMod val="40000"/>
                  <a:lumOff val="60000"/>
                </a:schemeClr>
              </a:buClr>
              <a:buFont typeface="Wingdings" panose="05000000000000000000" pitchFamily="2" charset="2"/>
              <a:buChar char="q"/>
              <a:defRPr/>
            </a:pPr>
            <a:r>
              <a:rPr lang="en-GB" dirty="0">
                <a:solidFill>
                  <a:schemeClr val="tx1">
                    <a:lumMod val="85000"/>
                    <a:lumOff val="15000"/>
                  </a:schemeClr>
                </a:solidFill>
              </a:rPr>
              <a:t>Elasticity influences the behaviour of a firm</a:t>
            </a:r>
          </a:p>
          <a:p>
            <a:pPr marL="640080" lvl="1" indent="-274320" defTabSz="457207">
              <a:buClr>
                <a:schemeClr val="bg2">
                  <a:lumMod val="40000"/>
                  <a:lumOff val="60000"/>
                </a:schemeClr>
              </a:buClr>
              <a:buFont typeface="Wingdings 2"/>
              <a:buChar char=""/>
              <a:defRPr/>
            </a:pPr>
            <a:r>
              <a:rPr lang="en-US" dirty="0">
                <a:solidFill>
                  <a:schemeClr val="tx1">
                    <a:lumMod val="85000"/>
                    <a:lumOff val="15000"/>
                  </a:schemeClr>
                </a:solidFill>
              </a:rPr>
              <a:t>Elasticity allow economists to quantify the differences among markets without standardizing the units of measurement.</a:t>
            </a:r>
            <a:endParaRPr lang="en-US" dirty="0">
              <a:solidFill>
                <a:srgbClr val="FF0000"/>
              </a:solidFill>
            </a:endParaRPr>
          </a:p>
          <a:p>
            <a:pPr marL="640080" lvl="1" indent="-274320" defTabSz="457207">
              <a:buClr>
                <a:schemeClr val="bg2">
                  <a:lumMod val="40000"/>
                  <a:lumOff val="60000"/>
                </a:schemeClr>
              </a:buClr>
              <a:buFont typeface="Wingdings 2"/>
              <a:buChar char=""/>
              <a:defRPr/>
            </a:pPr>
            <a:r>
              <a:rPr lang="en-US" dirty="0">
                <a:solidFill>
                  <a:schemeClr val="tx1">
                    <a:lumMod val="85000"/>
                    <a:lumOff val="15000"/>
                  </a:schemeClr>
                </a:solidFill>
              </a:rPr>
              <a:t>By comparing markets using </a:t>
            </a:r>
            <a:r>
              <a:rPr lang="en-US" dirty="0" err="1">
                <a:solidFill>
                  <a:schemeClr val="tx1">
                    <a:lumMod val="85000"/>
                    <a:lumOff val="15000"/>
                  </a:schemeClr>
                </a:solidFill>
              </a:rPr>
              <a:t>elasticities</a:t>
            </a:r>
            <a:r>
              <a:rPr lang="en-US" dirty="0">
                <a:solidFill>
                  <a:schemeClr val="tx1">
                    <a:lumMod val="85000"/>
                    <a:lumOff val="15000"/>
                  </a:schemeClr>
                </a:solidFill>
              </a:rPr>
              <a:t> it does not matter how we measure the price or the quantity in the two markets.</a:t>
            </a:r>
            <a:endParaRPr lang="en-GB" dirty="0">
              <a:solidFill>
                <a:schemeClr val="tx1">
                  <a:lumMod val="85000"/>
                  <a:lumOff val="15000"/>
                </a:schemeClr>
              </a:solidFill>
            </a:endParaRPr>
          </a:p>
          <a:p>
            <a:pPr marL="274320" indent="-274320" defTabSz="457207">
              <a:buClr>
                <a:schemeClr val="bg2">
                  <a:lumMod val="40000"/>
                  <a:lumOff val="60000"/>
                </a:schemeClr>
              </a:buClr>
              <a:buNone/>
              <a:defRPr/>
            </a:pPr>
            <a:endParaRPr lang="en-GB" dirty="0">
              <a:solidFill>
                <a:schemeClr val="tx1">
                  <a:lumMod val="85000"/>
                  <a:lumOff val="15000"/>
                </a:schemeClr>
              </a:solidFill>
            </a:endParaRPr>
          </a:p>
        </p:txBody>
      </p:sp>
      <p:sp>
        <p:nvSpPr>
          <p:cNvPr id="2150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24CBAE5-DF03-4485-B3DC-F8D02FED1BD3}" type="slidenum">
              <a:rPr lang="en-US" altLang="en-US" sz="1400">
                <a:solidFill>
                  <a:srgbClr val="FFFFFF"/>
                </a:solidFill>
              </a:rPr>
              <a:pPr/>
              <a:t>19</a:t>
            </a:fld>
            <a:endParaRPr lang="en-US" altLang="en-US" sz="1400">
              <a:solidFill>
                <a:srgbClr val="FFFFFF"/>
              </a:solidFill>
            </a:endParaRPr>
          </a:p>
        </p:txBody>
      </p:sp>
    </p:spTree>
    <p:extLst>
      <p:ext uri="{BB962C8B-B14F-4D97-AF65-F5344CB8AC3E}">
        <p14:creationId xmlns:p14="http://schemas.microsoft.com/office/powerpoint/2010/main" val="36572784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7" presetClass="entr" presetSubtype="8" fill="hold" grpId="0" nodeType="afterEffect">
                                  <p:stCondLst>
                                    <p:cond delay="1000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0" fill="hold"/>
                                        <p:tgtEl>
                                          <p:spTgt spid="26627">
                                            <p:txEl>
                                              <p:pRg st="0" end="0"/>
                                            </p:txEl>
                                          </p:spTgt>
                                        </p:tgtEl>
                                        <p:attrNameLst>
                                          <p:attrName>ppt_x</p:attrName>
                                        </p:attrNameLst>
                                      </p:cBhvr>
                                      <p:tavLst>
                                        <p:tav tm="0">
                                          <p:val>
                                            <p:strVal val="0-#ppt_w/2"/>
                                          </p:val>
                                        </p:tav>
                                        <p:tav tm="100000">
                                          <p:val>
                                            <p:strVal val="#ppt_x"/>
                                          </p:val>
                                        </p:tav>
                                      </p:tavLst>
                                    </p:anim>
                                    <p:anim calcmode="lin" valueType="num">
                                      <p:cBhvr additive="base">
                                        <p:cTn id="8" dur="5000" fill="hold"/>
                                        <p:tgtEl>
                                          <p:spTgt spid="26627">
                                            <p:txEl>
                                              <p:pRg st="0" end="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6627">
                                            <p:txEl>
                                              <p:pRg st="0" end="0"/>
                                            </p:txEl>
                                          </p:spTgt>
                                        </p:tgtEl>
                                        <p:attrNameLst>
                                          <p:attrName>ppt_c</p:attrName>
                                        </p:attrNameLst>
                                      </p:cBhvr>
                                      <p:to>
                                        <a:schemeClr val="folHlink"/>
                                      </p:to>
                                    </p:animClr>
                                  </p:subTnLst>
                                </p:cTn>
                              </p:par>
                            </p:childTnLst>
                          </p:cTn>
                        </p:par>
                        <p:par>
                          <p:cTn id="9" fill="hold" nodeType="afterGroup">
                            <p:stCondLst>
                              <p:cond delay="15000"/>
                            </p:stCondLst>
                            <p:childTnLst>
                              <p:par>
                                <p:cTn id="10" presetID="7" presetClass="entr" presetSubtype="8" fill="hold" grpId="0" nodeType="afterEffect">
                                  <p:stCondLst>
                                    <p:cond delay="10000"/>
                                  </p:stCondLst>
                                  <p:childTnLst>
                                    <p:set>
                                      <p:cBhvr>
                                        <p:cTn id="11" dur="1" fill="hold">
                                          <p:stCondLst>
                                            <p:cond delay="0"/>
                                          </p:stCondLst>
                                        </p:cTn>
                                        <p:tgtEl>
                                          <p:spTgt spid="26627">
                                            <p:txEl>
                                              <p:pRg st="1" end="1"/>
                                            </p:txEl>
                                          </p:spTgt>
                                        </p:tgtEl>
                                        <p:attrNameLst>
                                          <p:attrName>style.visibility</p:attrName>
                                        </p:attrNameLst>
                                      </p:cBhvr>
                                      <p:to>
                                        <p:strVal val="visible"/>
                                      </p:to>
                                    </p:set>
                                    <p:anim calcmode="lin" valueType="num">
                                      <p:cBhvr additive="base">
                                        <p:cTn id="12" dur="5000" fill="hold"/>
                                        <p:tgtEl>
                                          <p:spTgt spid="26627">
                                            <p:txEl>
                                              <p:pRg st="1" end="1"/>
                                            </p:txEl>
                                          </p:spTgt>
                                        </p:tgtEl>
                                        <p:attrNameLst>
                                          <p:attrName>ppt_x</p:attrName>
                                        </p:attrNameLst>
                                      </p:cBhvr>
                                      <p:tavLst>
                                        <p:tav tm="0">
                                          <p:val>
                                            <p:strVal val="0-#ppt_w/2"/>
                                          </p:val>
                                        </p:tav>
                                        <p:tav tm="100000">
                                          <p:val>
                                            <p:strVal val="#ppt_x"/>
                                          </p:val>
                                        </p:tav>
                                      </p:tavLst>
                                    </p:anim>
                                    <p:anim calcmode="lin" valueType="num">
                                      <p:cBhvr additive="base">
                                        <p:cTn id="13" dur="5000" fill="hold"/>
                                        <p:tgtEl>
                                          <p:spTgt spid="26627">
                                            <p:txEl>
                                              <p:pRg st="1" end="1"/>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6627">
                                            <p:txEl>
                                              <p:pRg st="1" end="1"/>
                                            </p:txEl>
                                          </p:spTgt>
                                        </p:tgtEl>
                                        <p:attrNameLst>
                                          <p:attrName>ppt_c</p:attrName>
                                        </p:attrNameLst>
                                      </p:cBhvr>
                                      <p:to>
                                        <a:schemeClr val="folHlink"/>
                                      </p:to>
                                    </p:animClr>
                                  </p:subTnLst>
                                </p:cTn>
                              </p:par>
                            </p:childTnLst>
                          </p:cTn>
                        </p:par>
                        <p:par>
                          <p:cTn id="14" fill="hold" nodeType="afterGroup">
                            <p:stCondLst>
                              <p:cond delay="30000"/>
                            </p:stCondLst>
                            <p:childTnLst>
                              <p:par>
                                <p:cTn id="15" presetID="7" presetClass="entr" presetSubtype="8" fill="hold" grpId="0" nodeType="afterEffect">
                                  <p:stCondLst>
                                    <p:cond delay="10000"/>
                                  </p:stCondLst>
                                  <p:childTnLst>
                                    <p:set>
                                      <p:cBhvr>
                                        <p:cTn id="16" dur="1" fill="hold">
                                          <p:stCondLst>
                                            <p:cond delay="0"/>
                                          </p:stCondLst>
                                        </p:cTn>
                                        <p:tgtEl>
                                          <p:spTgt spid="26627">
                                            <p:txEl>
                                              <p:pRg st="2" end="2"/>
                                            </p:txEl>
                                          </p:spTgt>
                                        </p:tgtEl>
                                        <p:attrNameLst>
                                          <p:attrName>style.visibility</p:attrName>
                                        </p:attrNameLst>
                                      </p:cBhvr>
                                      <p:to>
                                        <p:strVal val="visible"/>
                                      </p:to>
                                    </p:set>
                                    <p:anim calcmode="lin" valueType="num">
                                      <p:cBhvr additive="base">
                                        <p:cTn id="17" dur="5000" fill="hold"/>
                                        <p:tgtEl>
                                          <p:spTgt spid="26627">
                                            <p:txEl>
                                              <p:pRg st="2" end="2"/>
                                            </p:txEl>
                                          </p:spTgt>
                                        </p:tgtEl>
                                        <p:attrNameLst>
                                          <p:attrName>ppt_x</p:attrName>
                                        </p:attrNameLst>
                                      </p:cBhvr>
                                      <p:tavLst>
                                        <p:tav tm="0">
                                          <p:val>
                                            <p:strVal val="0-#ppt_w/2"/>
                                          </p:val>
                                        </p:tav>
                                        <p:tav tm="100000">
                                          <p:val>
                                            <p:strVal val="#ppt_x"/>
                                          </p:val>
                                        </p:tav>
                                      </p:tavLst>
                                    </p:anim>
                                    <p:anim calcmode="lin" valueType="num">
                                      <p:cBhvr additive="base">
                                        <p:cTn id="18" dur="5000" fill="hold"/>
                                        <p:tgtEl>
                                          <p:spTgt spid="26627">
                                            <p:txEl>
                                              <p:pRg st="2" end="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6627">
                                            <p:txEl>
                                              <p:pRg st="2" end="2"/>
                                            </p:txEl>
                                          </p:spTgt>
                                        </p:tgtEl>
                                        <p:attrNameLst>
                                          <p:attrName>ppt_c</p:attrName>
                                        </p:attrNameLst>
                                      </p:cBhvr>
                                      <p:to>
                                        <a:schemeClr val="folHlink"/>
                                      </p:to>
                                    </p:animClr>
                                  </p:subTnLst>
                                </p:cTn>
                              </p:par>
                            </p:childTnLst>
                          </p:cTn>
                        </p:par>
                        <p:par>
                          <p:cTn id="19" fill="hold" nodeType="afterGroup">
                            <p:stCondLst>
                              <p:cond delay="45000"/>
                            </p:stCondLst>
                            <p:childTnLst>
                              <p:par>
                                <p:cTn id="20" presetID="7" presetClass="entr" presetSubtype="8" fill="hold" grpId="0" nodeType="afterEffect">
                                  <p:stCondLst>
                                    <p:cond delay="10000"/>
                                  </p:stCondLst>
                                  <p:childTnLst>
                                    <p:set>
                                      <p:cBhvr>
                                        <p:cTn id="21" dur="1" fill="hold">
                                          <p:stCondLst>
                                            <p:cond delay="0"/>
                                          </p:stCondLst>
                                        </p:cTn>
                                        <p:tgtEl>
                                          <p:spTgt spid="26627">
                                            <p:txEl>
                                              <p:pRg st="3" end="3"/>
                                            </p:txEl>
                                          </p:spTgt>
                                        </p:tgtEl>
                                        <p:attrNameLst>
                                          <p:attrName>style.visibility</p:attrName>
                                        </p:attrNameLst>
                                      </p:cBhvr>
                                      <p:to>
                                        <p:strVal val="visible"/>
                                      </p:to>
                                    </p:set>
                                    <p:anim calcmode="lin" valueType="num">
                                      <p:cBhvr additive="base">
                                        <p:cTn id="22" dur="5000" fill="hold"/>
                                        <p:tgtEl>
                                          <p:spTgt spid="26627">
                                            <p:txEl>
                                              <p:pRg st="3" end="3"/>
                                            </p:txEl>
                                          </p:spTgt>
                                        </p:tgtEl>
                                        <p:attrNameLst>
                                          <p:attrName>ppt_x</p:attrName>
                                        </p:attrNameLst>
                                      </p:cBhvr>
                                      <p:tavLst>
                                        <p:tav tm="0">
                                          <p:val>
                                            <p:strVal val="0-#ppt_w/2"/>
                                          </p:val>
                                        </p:tav>
                                        <p:tav tm="100000">
                                          <p:val>
                                            <p:strVal val="#ppt_x"/>
                                          </p:val>
                                        </p:tav>
                                      </p:tavLst>
                                    </p:anim>
                                    <p:anim calcmode="lin" valueType="num">
                                      <p:cBhvr additive="base">
                                        <p:cTn id="23" dur="5000" fill="hold"/>
                                        <p:tgtEl>
                                          <p:spTgt spid="26627">
                                            <p:txEl>
                                              <p:pRg st="3" end="3"/>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6627">
                                            <p:txEl>
                                              <p:pRg st="3" end="3"/>
                                            </p:txEl>
                                          </p:spTgt>
                                        </p:tgtEl>
                                        <p:attrNameLst>
                                          <p:attrName>ppt_c</p:attrName>
                                        </p:attrNameLst>
                                      </p:cBhvr>
                                      <p:to>
                                        <a:schemeClr val="folHlink"/>
                                      </p:to>
                                    </p:animClr>
                                  </p:subTnLst>
                                </p:cTn>
                              </p:par>
                              <p:par>
                                <p:cTn id="24" presetID="7" presetClass="entr" presetSubtype="8" fill="hold" grpId="0" nodeType="withEffect">
                                  <p:stCondLst>
                                    <p:cond delay="20000"/>
                                  </p:stCondLst>
                                  <p:childTnLst>
                                    <p:set>
                                      <p:cBhvr>
                                        <p:cTn id="25" dur="1" fill="hold">
                                          <p:stCondLst>
                                            <p:cond delay="0"/>
                                          </p:stCondLst>
                                        </p:cTn>
                                        <p:tgtEl>
                                          <p:spTgt spid="26627">
                                            <p:txEl>
                                              <p:pRg st="4" end="4"/>
                                            </p:txEl>
                                          </p:spTgt>
                                        </p:tgtEl>
                                        <p:attrNameLst>
                                          <p:attrName>style.visibility</p:attrName>
                                        </p:attrNameLst>
                                      </p:cBhvr>
                                      <p:to>
                                        <p:strVal val="visible"/>
                                      </p:to>
                                    </p:set>
                                    <p:anim calcmode="lin" valueType="num">
                                      <p:cBhvr additive="base">
                                        <p:cTn id="26" dur="5000" fill="hold"/>
                                        <p:tgtEl>
                                          <p:spTgt spid="26627">
                                            <p:txEl>
                                              <p:pRg st="4" end="4"/>
                                            </p:txEl>
                                          </p:spTgt>
                                        </p:tgtEl>
                                        <p:attrNameLst>
                                          <p:attrName>ppt_x</p:attrName>
                                        </p:attrNameLst>
                                      </p:cBhvr>
                                      <p:tavLst>
                                        <p:tav tm="0">
                                          <p:val>
                                            <p:strVal val="0-#ppt_w/2"/>
                                          </p:val>
                                        </p:tav>
                                        <p:tav tm="100000">
                                          <p:val>
                                            <p:strVal val="#ppt_x"/>
                                          </p:val>
                                        </p:tav>
                                      </p:tavLst>
                                    </p:anim>
                                    <p:anim calcmode="lin" valueType="num">
                                      <p:cBhvr additive="base">
                                        <p:cTn id="27" dur="5000" fill="hold"/>
                                        <p:tgtEl>
                                          <p:spTgt spid="26627">
                                            <p:txEl>
                                              <p:pRg st="4" end="4"/>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6627">
                                            <p:txEl>
                                              <p:pRg st="4" end="4"/>
                                            </p:txEl>
                                          </p:spTgt>
                                        </p:tgtEl>
                                        <p:attrNameLst>
                                          <p:attrName>ppt_c</p:attrName>
                                        </p:attrNameLst>
                                      </p:cBhvr>
                                      <p:to>
                                        <a:schemeClr val="folHlink"/>
                                      </p:to>
                                    </p:animClr>
                                  </p:subTnLst>
                                </p:cTn>
                              </p:par>
                              <p:par>
                                <p:cTn id="28" presetID="7" presetClass="entr" presetSubtype="8" fill="hold" grpId="0" nodeType="withEffect">
                                  <p:stCondLst>
                                    <p:cond delay="30000"/>
                                  </p:stCondLst>
                                  <p:childTnLst>
                                    <p:set>
                                      <p:cBhvr>
                                        <p:cTn id="29" dur="1" fill="hold">
                                          <p:stCondLst>
                                            <p:cond delay="0"/>
                                          </p:stCondLst>
                                        </p:cTn>
                                        <p:tgtEl>
                                          <p:spTgt spid="26627">
                                            <p:txEl>
                                              <p:pRg st="5" end="5"/>
                                            </p:txEl>
                                          </p:spTgt>
                                        </p:tgtEl>
                                        <p:attrNameLst>
                                          <p:attrName>style.visibility</p:attrName>
                                        </p:attrNameLst>
                                      </p:cBhvr>
                                      <p:to>
                                        <p:strVal val="visible"/>
                                      </p:to>
                                    </p:set>
                                    <p:anim calcmode="lin" valueType="num">
                                      <p:cBhvr additive="base">
                                        <p:cTn id="30" dur="5000" fill="hold"/>
                                        <p:tgtEl>
                                          <p:spTgt spid="26627">
                                            <p:txEl>
                                              <p:pRg st="5" end="5"/>
                                            </p:txEl>
                                          </p:spTgt>
                                        </p:tgtEl>
                                        <p:attrNameLst>
                                          <p:attrName>ppt_x</p:attrName>
                                        </p:attrNameLst>
                                      </p:cBhvr>
                                      <p:tavLst>
                                        <p:tav tm="0">
                                          <p:val>
                                            <p:strVal val="0-#ppt_w/2"/>
                                          </p:val>
                                        </p:tav>
                                        <p:tav tm="100000">
                                          <p:val>
                                            <p:strVal val="#ppt_x"/>
                                          </p:val>
                                        </p:tav>
                                      </p:tavLst>
                                    </p:anim>
                                    <p:anim calcmode="lin" valueType="num">
                                      <p:cBhvr additive="base">
                                        <p:cTn id="31" dur="5000" fill="hold"/>
                                        <p:tgtEl>
                                          <p:spTgt spid="26627">
                                            <p:txEl>
                                              <p:pRg st="5" end="5"/>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6627">
                                            <p:txEl>
                                              <p:pRg st="5" end="5"/>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autoUpdateAnimBg="0" advAuto="1000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1212</Words>
  <Application>Microsoft Office PowerPoint</Application>
  <PresentationFormat>Widescreen</PresentationFormat>
  <Paragraphs>190</Paragraphs>
  <Slides>19</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Verdana</vt:lpstr>
      <vt:lpstr>Wingdings</vt:lpstr>
      <vt:lpstr>Wingdings 2</vt:lpstr>
      <vt:lpstr>Wingdings 3</vt:lpstr>
      <vt:lpstr>Office Theme</vt:lpstr>
      <vt:lpstr>Elasticity – the concept</vt:lpstr>
      <vt:lpstr>Types of Elasticity</vt:lpstr>
      <vt:lpstr>Price Elasticity of Demand</vt:lpstr>
      <vt:lpstr>PowerPoint Presentation</vt:lpstr>
      <vt:lpstr>Price Elasticity of Demand cont…</vt:lpstr>
      <vt:lpstr>Price Elasticity of Demand cont…</vt:lpstr>
      <vt:lpstr>Price Elasticity of Demand cont…</vt:lpstr>
      <vt:lpstr>PowerPoint Presentation</vt:lpstr>
      <vt:lpstr>Price Elasticity of Demand cont…</vt:lpstr>
      <vt:lpstr>Price Elasticity of Demand cont…</vt:lpstr>
      <vt:lpstr>Price Elasticity of Demand cont…</vt:lpstr>
      <vt:lpstr>Income Elasticity of Demand</vt:lpstr>
      <vt:lpstr>PowerPoint Presentation</vt:lpstr>
      <vt:lpstr>Income Elasticity of Demand cont…</vt:lpstr>
      <vt:lpstr>Cross Elasticity</vt:lpstr>
      <vt:lpstr>Cross Elasticity</vt:lpstr>
      <vt:lpstr>Price Elasticity of Supply</vt:lpstr>
      <vt:lpstr>Determinants of Elasticity</vt:lpstr>
      <vt:lpstr>Importance of Elasticity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Elasticity – the concept</dc:title>
  <dc:creator>hp</dc:creator>
  <cp:lastModifiedBy>hp</cp:lastModifiedBy>
  <cp:revision>3</cp:revision>
  <dcterms:created xsi:type="dcterms:W3CDTF">2025-02-23T06:23:08Z</dcterms:created>
  <dcterms:modified xsi:type="dcterms:W3CDTF">2025-02-23T06:27:33Z</dcterms:modified>
</cp:coreProperties>
</file>