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0" r:id="rId2"/>
    <p:sldId id="264" r:id="rId3"/>
    <p:sldId id="271" r:id="rId4"/>
    <p:sldId id="257" r:id="rId5"/>
    <p:sldId id="258" r:id="rId6"/>
    <p:sldId id="259" r:id="rId7"/>
    <p:sldId id="260" r:id="rId8"/>
    <p:sldId id="265" r:id="rId9"/>
    <p:sldId id="266" r:id="rId10"/>
    <p:sldId id="261"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7" d="100"/>
          <a:sy n="87" d="100"/>
        </p:scale>
        <p:origin x="9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AA2BD30-E88B-4F35-B5FB-216F314A6BB3}"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2205914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AA2BD30-E88B-4F35-B5FB-216F314A6BB3}"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307606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AA2BD30-E88B-4F35-B5FB-216F314A6BB3}"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797303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AA2BD30-E88B-4F35-B5FB-216F314A6BB3}"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2789327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AA2BD30-E88B-4F35-B5FB-216F314A6BB3}" type="datetimeFigureOut">
              <a:rPr lang="en-US" smtClean="0"/>
              <a:t>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2362553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AA2BD30-E88B-4F35-B5FB-216F314A6BB3}" type="datetimeFigureOut">
              <a:rPr lang="en-US" smtClean="0"/>
              <a:t>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658921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A2BD30-E88B-4F35-B5FB-216F314A6BB3}" type="datetimeFigureOut">
              <a:rPr lang="en-US" smtClean="0"/>
              <a:t>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591060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AA2BD30-E88B-4F35-B5FB-216F314A6BB3}"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3720020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AA2BD30-E88B-4F35-B5FB-216F314A6BB3}"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3409948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AA2BD30-E88B-4F35-B5FB-216F314A6BB3}"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272486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AA2BD30-E88B-4F35-B5FB-216F314A6BB3}"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2074904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AA2BD30-E88B-4F35-B5FB-216F314A6BB3}"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9B971-7D25-42E1-9C5F-267747E7D794}"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05623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AA2BD30-E88B-4F35-B5FB-216F314A6BB3}"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39260729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1AA2BD30-E88B-4F35-B5FB-216F314A6BB3}" type="datetimeFigureOut">
              <a:rPr lang="en-US" smtClean="0"/>
              <a:t>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3299889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1AA2BD30-E88B-4F35-B5FB-216F314A6BB3}" type="datetimeFigureOut">
              <a:rPr lang="en-US" smtClean="0"/>
              <a:t>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29352083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AA2BD30-E88B-4F35-B5FB-216F314A6BB3}"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24006383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AA2BD30-E88B-4F35-B5FB-216F314A6BB3}"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9B971-7D25-42E1-9C5F-267747E7D794}" type="slidenum">
              <a:rPr lang="en-US" smtClean="0"/>
              <a:t>‹#›</a:t>
            </a:fld>
            <a:endParaRPr lang="en-US"/>
          </a:p>
        </p:txBody>
      </p:sp>
    </p:spTree>
    <p:extLst>
      <p:ext uri="{BB962C8B-B14F-4D97-AF65-F5344CB8AC3E}">
        <p14:creationId xmlns:p14="http://schemas.microsoft.com/office/powerpoint/2010/main" val="1794594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AA2BD30-E88B-4F35-B5FB-216F314A6BB3}" type="datetimeFigureOut">
              <a:rPr lang="en-US" smtClean="0"/>
              <a:t>2/7/2025</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B69B971-7D25-42E1-9C5F-267747E7D794}" type="slidenum">
              <a:rPr lang="en-US" smtClean="0"/>
              <a:t>‹#›</a:t>
            </a:fld>
            <a:endParaRPr lang="en-US"/>
          </a:p>
        </p:txBody>
      </p:sp>
    </p:spTree>
    <p:extLst>
      <p:ext uri="{BB962C8B-B14F-4D97-AF65-F5344CB8AC3E}">
        <p14:creationId xmlns:p14="http://schemas.microsoft.com/office/powerpoint/2010/main" val="17488376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9FBF7-37DB-D3B9-BE0C-4B350D54DE4D}"/>
              </a:ext>
            </a:extLst>
          </p:cNvPr>
          <p:cNvSpPr>
            <a:spLocks noGrp="1"/>
          </p:cNvSpPr>
          <p:nvPr>
            <p:ph type="title"/>
          </p:nvPr>
        </p:nvSpPr>
        <p:spPr>
          <a:xfrm>
            <a:off x="838200" y="365125"/>
            <a:ext cx="10515600" cy="6025284"/>
          </a:xfrm>
        </p:spPr>
        <p:txBody>
          <a:bodyPr>
            <a:normAutofit/>
          </a:bodyPr>
          <a:lstStyle/>
          <a:p>
            <a:pPr algn="ctr"/>
            <a:r>
              <a:rPr lang="en-US" sz="5400" b="1" kern="100" dirty="0">
                <a:latin typeface="Century Gothic" panose="020B0502020202020204" pitchFamily="34" charset="0"/>
                <a:ea typeface="Calibri" panose="020F0502020204030204" pitchFamily="34" charset="0"/>
                <a:cs typeface="Times New Roman" panose="02020603050405020304" pitchFamily="18" charset="0"/>
              </a:rPr>
              <a:t>Lecture 7: </a:t>
            </a:r>
            <a:br>
              <a:rPr lang="en-US" sz="5400" b="1" kern="100" dirty="0">
                <a:latin typeface="Century Gothic" panose="020B0502020202020204" pitchFamily="34" charset="0"/>
                <a:ea typeface="Calibri" panose="020F0502020204030204" pitchFamily="34" charset="0"/>
                <a:cs typeface="Times New Roman" panose="02020603050405020304" pitchFamily="18" charset="0"/>
              </a:rPr>
            </a:br>
            <a:r>
              <a:rPr lang="en-US" sz="5400" b="1" kern="100" dirty="0">
                <a:latin typeface="Century Gothic" panose="020B0502020202020204" pitchFamily="34" charset="0"/>
                <a:ea typeface="Calibri" panose="020F0502020204030204" pitchFamily="34" charset="0"/>
                <a:cs typeface="Times New Roman" panose="02020603050405020304" pitchFamily="18" charset="0"/>
              </a:rPr>
              <a:t>Externalities in Value Chain Agriculture</a:t>
            </a:r>
            <a:endParaRPr lang="en-US" sz="5400" dirty="0"/>
          </a:p>
        </p:txBody>
      </p:sp>
    </p:spTree>
    <p:extLst>
      <p:ext uri="{BB962C8B-B14F-4D97-AF65-F5344CB8AC3E}">
        <p14:creationId xmlns:p14="http://schemas.microsoft.com/office/powerpoint/2010/main" val="3269039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875" y="1731264"/>
            <a:ext cx="10353762" cy="2645664"/>
          </a:xfrm>
        </p:spPr>
        <p:txBody>
          <a:bodyPr/>
          <a:lstStyle/>
          <a:p>
            <a:r>
              <a:rPr lang="en-US" dirty="0" smtClean="0"/>
              <a:t>EXTERNALITIES </a:t>
            </a:r>
            <a:endParaRPr lang="en-US" dirty="0"/>
          </a:p>
        </p:txBody>
      </p:sp>
    </p:spTree>
    <p:extLst>
      <p:ext uri="{BB962C8B-B14F-4D97-AF65-F5344CB8AC3E}">
        <p14:creationId xmlns:p14="http://schemas.microsoft.com/office/powerpoint/2010/main" val="4032951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E1D71-AEE4-5326-E763-CBCD3AACCB75}"/>
              </a:ext>
            </a:extLst>
          </p:cNvPr>
          <p:cNvSpPr>
            <a:spLocks noGrp="1"/>
          </p:cNvSpPr>
          <p:nvPr>
            <p:ph type="title"/>
          </p:nvPr>
        </p:nvSpPr>
        <p:spPr/>
        <p:txBody>
          <a:bodyPr>
            <a:normAutofit fontScale="90000"/>
          </a:bodyPr>
          <a:lstStyle/>
          <a:p>
            <a:pPr algn="ct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C13A35A-69F6-E353-7F61-3CD012886360}"/>
              </a:ext>
            </a:extLst>
          </p:cNvPr>
          <p:cNvSpPr>
            <a:spLocks noGrp="1"/>
          </p:cNvSpPr>
          <p:nvPr>
            <p:ph idx="1"/>
          </p:nvPr>
        </p:nvSpPr>
        <p:spPr>
          <a:xfrm>
            <a:off x="913795" y="1732449"/>
            <a:ext cx="10353762" cy="2778591"/>
          </a:xfrm>
        </p:spPr>
        <p:txBody>
          <a:bodyPr>
            <a:normAutofit/>
          </a:bodyPr>
          <a:lstStyle/>
          <a:p>
            <a:pPr algn="just">
              <a:lnSpc>
                <a:spcPct val="107000"/>
              </a:lnSpc>
              <a:spcBef>
                <a:spcPts val="0"/>
              </a:spcBef>
              <a:spcAft>
                <a:spcPts val="800"/>
              </a:spcAft>
            </a:pPr>
            <a:r>
              <a:rPr lang="en-US" sz="2800" kern="100" dirty="0">
                <a:latin typeface="Century Gothic" panose="020B0502020202020204" pitchFamily="34" charset="0"/>
                <a:ea typeface="Calibri" panose="020F0502020204030204" pitchFamily="34" charset="0"/>
                <a:cs typeface="Times New Roman" panose="02020603050405020304" pitchFamily="18" charset="0"/>
              </a:rPr>
              <a:t>Understanding externalities is crucial for value chain agriculture students as they play a significant role in market efficiency and resource allocation.</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endParaRPr lang="en-US" sz="2800" dirty="0"/>
          </a:p>
        </p:txBody>
      </p:sp>
    </p:spTree>
    <p:extLst>
      <p:ext uri="{BB962C8B-B14F-4D97-AF65-F5344CB8AC3E}">
        <p14:creationId xmlns:p14="http://schemas.microsoft.com/office/powerpoint/2010/main" val="3404071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C138-5199-F999-72BA-96B250A01C03}"/>
              </a:ext>
            </a:extLst>
          </p:cNvPr>
          <p:cNvSpPr>
            <a:spLocks noGrp="1"/>
          </p:cNvSpPr>
          <p:nvPr>
            <p:ph type="title"/>
          </p:nvPr>
        </p:nvSpPr>
        <p:spPr>
          <a:xfrm>
            <a:off x="838200" y="365125"/>
            <a:ext cx="10515600" cy="1796184"/>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Externalities</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CABF4F1-947F-E9DC-75EE-4534BE84D057}"/>
              </a:ext>
            </a:extLst>
          </p:cNvPr>
          <p:cNvSpPr>
            <a:spLocks noGrp="1"/>
          </p:cNvSpPr>
          <p:nvPr>
            <p:ph idx="1"/>
          </p:nvPr>
        </p:nvSpPr>
        <p:spPr>
          <a:xfrm>
            <a:off x="838200" y="2161309"/>
            <a:ext cx="10515600" cy="4015654"/>
          </a:xfrm>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Externalities refer to the </a:t>
            </a:r>
            <a:r>
              <a:rPr lang="en-US" b="1" kern="100" dirty="0">
                <a:latin typeface="Century Gothic" panose="020B0502020202020204" pitchFamily="34" charset="0"/>
                <a:ea typeface="Calibri" panose="020F0502020204030204" pitchFamily="34" charset="0"/>
                <a:cs typeface="Times New Roman" panose="02020603050405020304" pitchFamily="18" charset="0"/>
              </a:rPr>
              <a:t>unintended</a:t>
            </a:r>
            <a:r>
              <a:rPr lang="en-US" kern="100" dirty="0">
                <a:latin typeface="Century Gothic" panose="020B0502020202020204" pitchFamily="34" charset="0"/>
                <a:ea typeface="Calibri" panose="020F0502020204030204" pitchFamily="34" charset="0"/>
                <a:cs typeface="Times New Roman" panose="02020603050405020304" pitchFamily="18" charset="0"/>
              </a:rPr>
              <a:t> and </a:t>
            </a:r>
            <a:r>
              <a:rPr lang="en-US" b="1" kern="100" dirty="0">
                <a:latin typeface="Century Gothic" panose="020B0502020202020204" pitchFamily="34" charset="0"/>
                <a:ea typeface="Calibri" panose="020F0502020204030204" pitchFamily="34" charset="0"/>
                <a:cs typeface="Times New Roman" panose="02020603050405020304" pitchFamily="18" charset="0"/>
              </a:rPr>
              <a:t>uncompensated</a:t>
            </a:r>
            <a:r>
              <a:rPr lang="en-US" kern="100" dirty="0">
                <a:latin typeface="Century Gothic" panose="020B0502020202020204" pitchFamily="34" charset="0"/>
                <a:ea typeface="Calibri" panose="020F0502020204030204" pitchFamily="34" charset="0"/>
                <a:cs typeface="Times New Roman" panose="02020603050405020304" pitchFamily="18" charset="0"/>
              </a:rPr>
              <a:t> side effects of economic activities (production and  consumption) on third parties/bystanders who are not involved in the transactions.</a:t>
            </a:r>
          </a:p>
          <a:p>
            <a:r>
              <a:rPr lang="en-US" kern="100" dirty="0">
                <a:latin typeface="Century Gothic" panose="020B0502020202020204" pitchFamily="34" charset="0"/>
                <a:ea typeface="Calibri" panose="020F0502020204030204" pitchFamily="34" charset="0"/>
                <a:cs typeface="Times New Roman" panose="02020603050405020304" pitchFamily="18" charset="0"/>
              </a:rPr>
              <a:t>These effects can either be positive or negative and occur outside the </a:t>
            </a:r>
            <a:r>
              <a:rPr lang="en-US" kern="100" dirty="0" smtClean="0">
                <a:latin typeface="Century Gothic" panose="020B0502020202020204" pitchFamily="34" charset="0"/>
                <a:ea typeface="Calibri" panose="020F0502020204030204" pitchFamily="34" charset="0"/>
                <a:cs typeface="Times New Roman" panose="02020603050405020304" pitchFamily="18" charset="0"/>
              </a:rPr>
              <a:t>market</a:t>
            </a:r>
          </a:p>
          <a:p>
            <a:pPr marL="36900" indent="0">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r>
              <a:rPr lang="en-US" b="1" dirty="0" smtClean="0">
                <a:effectLst/>
              </a:rPr>
              <a:t>Externality refers to </a:t>
            </a:r>
            <a:r>
              <a:rPr lang="en-US" dirty="0" smtClean="0">
                <a:effectLst/>
              </a:rPr>
              <a:t>the uncompensated impact </a:t>
            </a:r>
            <a:r>
              <a:rPr lang="en-US" dirty="0">
                <a:effectLst/>
              </a:rPr>
              <a:t>of one </a:t>
            </a:r>
            <a:r>
              <a:rPr lang="en-US" dirty="0" smtClean="0">
                <a:effectLst/>
              </a:rPr>
              <a:t>person’s actions </a:t>
            </a:r>
            <a:r>
              <a:rPr lang="en-US" dirty="0">
                <a:effectLst/>
              </a:rPr>
              <a:t>on the </a:t>
            </a:r>
            <a:r>
              <a:rPr lang="en-US" dirty="0" smtClean="0">
                <a:effectLst/>
              </a:rPr>
              <a:t>well-being of </a:t>
            </a:r>
            <a:r>
              <a:rPr lang="en-US" dirty="0">
                <a:effectLst/>
              </a:rPr>
              <a:t>a </a:t>
            </a:r>
            <a:r>
              <a:rPr lang="en-US" dirty="0" smtClean="0"/>
              <a:t>bystander</a:t>
            </a:r>
            <a:endParaRPr lang="en-US" dirty="0"/>
          </a:p>
        </p:txBody>
      </p:sp>
    </p:spTree>
    <p:extLst>
      <p:ext uri="{BB962C8B-B14F-4D97-AF65-F5344CB8AC3E}">
        <p14:creationId xmlns:p14="http://schemas.microsoft.com/office/powerpoint/2010/main" val="3560653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F488E-2AFA-D4A2-E60A-F2F2A0894411}"/>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Classification of Externalities</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523F280-F6F7-78A9-1D82-6E98EBC70CEA}"/>
              </a:ext>
            </a:extLst>
          </p:cNvPr>
          <p:cNvSpPr>
            <a:spLocks noGrp="1"/>
          </p:cNvSpPr>
          <p:nvPr>
            <p:ph idx="1"/>
          </p:nvPr>
        </p:nvSpPr>
        <p:spPr/>
        <p:txBody>
          <a:bodyPr>
            <a:normAutofit fontScale="92500" lnSpcReduction="10000"/>
          </a:bodyPr>
          <a:lstStyle/>
          <a:p>
            <a:pPr marL="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Externalities can be classified into two main types: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Positive Externality: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Occurs when an activity creates benefits for third parties who are not directly involved in the activity.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E.g. the use of organic farming practices can improve soil health and benefit neighboring farms.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Negative Externality: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Occurs when an activity imposes costs on third parties who are not directly involved in the activity.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E.g. air pollution from agricultural machinery can harm the health of nearby residents.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1823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4B985-0F16-66F8-0C86-67B745F8107D}"/>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Occurrence of Externalities in Agricultural Activities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E6D109A-3CE5-D008-8B20-E692BA07A707}"/>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agriculture, externalities are prevalent due to the interconnectedness of various production and consumption activities. </a:t>
            </a:r>
          </a:p>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Externalities in agriculture include:</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Positive Externality: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When a beekeeper sets up beehives for honey production, it leads to increased pollination of nearby crops, benefiting neighboring farmers.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Negative Externality: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Pesticide use by one farmer may lead to chemical runoff into nearby water sources, affecting the quality of water for other farmers downstream.</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33593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D4BE0-3834-E3F8-7DCC-939AC8CB32CF}"/>
              </a:ext>
            </a:extLst>
          </p:cNvPr>
          <p:cNvSpPr>
            <a:spLocks noGrp="1"/>
          </p:cNvSpPr>
          <p:nvPr>
            <p:ph type="title"/>
          </p:nvPr>
        </p:nvSpPr>
        <p:spPr/>
        <p:txBody>
          <a:bodyPr>
            <a:normAutofit fontScale="90000"/>
          </a:bodyPr>
          <a:lstStyle/>
          <a:p>
            <a:pPr algn="ctr"/>
            <a:r>
              <a:rPr lang="en-US" b="1" kern="100" dirty="0" smtClean="0">
                <a:latin typeface="Century Gothic" panose="020B0502020202020204" pitchFamily="34" charset="0"/>
                <a:ea typeface="Calibri" panose="020F0502020204030204" pitchFamily="34" charset="0"/>
                <a:cs typeface="Times New Roman" panose="02020603050405020304" pitchFamily="18" charset="0"/>
              </a:rPr>
              <a:t>Effects </a:t>
            </a:r>
            <a:r>
              <a:rPr lang="en-US" b="1" kern="100" dirty="0">
                <a:latin typeface="Century Gothic" panose="020B0502020202020204" pitchFamily="34" charset="0"/>
                <a:ea typeface="Calibri" panose="020F0502020204030204" pitchFamily="34" charset="0"/>
                <a:cs typeface="Times New Roman" panose="02020603050405020304" pitchFamily="18" charset="0"/>
              </a:rPr>
              <a:t>of Externalities on Market Efficiency </a:t>
            </a:r>
            <a:endParaRPr lang="en-US" dirty="0"/>
          </a:p>
        </p:txBody>
      </p:sp>
      <p:sp>
        <p:nvSpPr>
          <p:cNvPr id="3" name="Content Placeholder 2">
            <a:extLst>
              <a:ext uri="{FF2B5EF4-FFF2-40B4-BE49-F238E27FC236}">
                <a16:creationId xmlns:a16="http://schemas.microsoft.com/office/drawing/2014/main" id="{E12AD85F-0224-E016-061E-1D8D45597840}"/>
              </a:ext>
            </a:extLst>
          </p:cNvPr>
          <p:cNvSpPr>
            <a:spLocks noGrp="1"/>
          </p:cNvSpPr>
          <p:nvPr>
            <p:ph idx="1"/>
          </p:nvPr>
        </p:nvSpPr>
        <p:spPr>
          <a:xfrm>
            <a:off x="913795" y="1732450"/>
            <a:ext cx="10353762" cy="3004804"/>
          </a:xfrm>
        </p:spPr>
        <p:txBody>
          <a:bodyPr>
            <a:normAutofit/>
          </a:bodyPr>
          <a:lstStyle/>
          <a:p>
            <a:pPr algn="just">
              <a:lnSpc>
                <a:spcPct val="107000"/>
              </a:lnSpc>
              <a:spcBef>
                <a:spcPts val="0"/>
              </a:spcBef>
              <a:spcAft>
                <a:spcPts val="800"/>
              </a:spcAft>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Externalities can disrupt the efficiency of the market as prices and quantities do not fully account for the external costs or benefits. This leads to:</a:t>
            </a:r>
          </a:p>
          <a:p>
            <a:pPr marL="871200" lvl="1" indent="-457200" algn="just">
              <a:lnSpc>
                <a:spcPct val="107000"/>
              </a:lnSpc>
              <a:spcBef>
                <a:spcPts val="0"/>
              </a:spcBef>
              <a:spcAft>
                <a:spcPts val="800"/>
              </a:spcAft>
              <a:buFont typeface="+mj-lt"/>
              <a:buAutoNum type="arabicParen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Underproduction of Positive Externalities: If positive externalities exist, the market may produce less than the socially optimal level of output.</a:t>
            </a:r>
          </a:p>
          <a:p>
            <a:pPr marL="871200" lvl="1" indent="-457200" algn="just">
              <a:lnSpc>
                <a:spcPct val="107000"/>
              </a:lnSpc>
              <a:spcBef>
                <a:spcPts val="0"/>
              </a:spcBef>
              <a:spcAft>
                <a:spcPts val="800"/>
              </a:spcAft>
              <a:buFont typeface="+mj-lt"/>
              <a:buAutoNum type="arabicParen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Overproduction of Negative Externalities: If negative externalities exist, the market may produce more than the socially optimal level of output</a:t>
            </a:r>
            <a:r>
              <a:rPr lang="en-US" sz="2400" kern="1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2400"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73385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 y="902763"/>
            <a:ext cx="10442013" cy="4917345"/>
          </a:xfrm>
          <a:prstGeom prst="rect">
            <a:avLst/>
          </a:prstGeom>
        </p:spPr>
      </p:pic>
    </p:spTree>
    <p:extLst>
      <p:ext uri="{BB962C8B-B14F-4D97-AF65-F5344CB8AC3E}">
        <p14:creationId xmlns:p14="http://schemas.microsoft.com/office/powerpoint/2010/main" val="2429385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8928" y="1266319"/>
            <a:ext cx="8936736" cy="4401205"/>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To summarize</a:t>
            </a:r>
            <a:r>
              <a:rPr lang="en-US" sz="2800" dirty="0" smtClean="0">
                <a:latin typeface="Times New Roman" panose="02020603050405020304" pitchFamily="18" charset="0"/>
                <a:cs typeface="Times New Roman" panose="02020603050405020304" pitchFamily="18" charset="0"/>
              </a:rPr>
              <a:t>:</a:t>
            </a:r>
          </a:p>
          <a:p>
            <a:pPr marL="514350" indent="-514350">
              <a:buFont typeface="+mj-lt"/>
              <a:buAutoNum type="alphaLcParenR"/>
            </a:pPr>
            <a:r>
              <a:rPr lang="en-US" sz="2800" dirty="0" smtClean="0">
                <a:latin typeface="Times New Roman" panose="02020603050405020304" pitchFamily="18" charset="0"/>
                <a:cs typeface="Times New Roman" panose="02020603050405020304" pitchFamily="18" charset="0"/>
              </a:rPr>
              <a:t>Negative </a:t>
            </a:r>
            <a:r>
              <a:rPr lang="en-US" sz="2800" dirty="0">
                <a:latin typeface="Times New Roman" panose="02020603050405020304" pitchFamily="18" charset="0"/>
                <a:cs typeface="Times New Roman" panose="02020603050405020304" pitchFamily="18" charset="0"/>
              </a:rPr>
              <a:t>externalities lead markets to produce a larger quantity </a:t>
            </a:r>
            <a:r>
              <a:rPr lang="en-US" sz="2800" dirty="0" smtClean="0">
                <a:latin typeface="Times New Roman" panose="02020603050405020304" pitchFamily="18" charset="0"/>
                <a:cs typeface="Times New Roman" panose="02020603050405020304" pitchFamily="18" charset="0"/>
              </a:rPr>
              <a:t>than is </a:t>
            </a:r>
            <a:r>
              <a:rPr lang="en-US" sz="2800" dirty="0">
                <a:latin typeface="Times New Roman" panose="02020603050405020304" pitchFamily="18" charset="0"/>
                <a:cs typeface="Times New Roman" panose="02020603050405020304" pitchFamily="18" charset="0"/>
              </a:rPr>
              <a:t>socially desirable</a:t>
            </a:r>
            <a:r>
              <a:rPr lang="en-US" sz="2800" dirty="0" smtClean="0">
                <a:latin typeface="Times New Roman" panose="02020603050405020304" pitchFamily="18" charset="0"/>
                <a:cs typeface="Times New Roman" panose="02020603050405020304" pitchFamily="18" charset="0"/>
              </a:rPr>
              <a:t>.</a:t>
            </a:r>
          </a:p>
          <a:p>
            <a:pPr marL="514350" indent="-514350">
              <a:buFont typeface="+mj-lt"/>
              <a:buAutoNum type="alphaLcParenR"/>
            </a:pPr>
            <a:r>
              <a:rPr lang="en-US" sz="2800" dirty="0" smtClean="0">
                <a:latin typeface="Times New Roman" panose="02020603050405020304" pitchFamily="18" charset="0"/>
                <a:cs typeface="Times New Roman" panose="02020603050405020304" pitchFamily="18" charset="0"/>
              </a:rPr>
              <a:t>Positive </a:t>
            </a:r>
            <a:r>
              <a:rPr lang="en-US" sz="2800" dirty="0">
                <a:latin typeface="Times New Roman" panose="02020603050405020304" pitchFamily="18" charset="0"/>
                <a:cs typeface="Times New Roman" panose="02020603050405020304" pitchFamily="18" charset="0"/>
              </a:rPr>
              <a:t>externalities lead markets to produce a smaller quantity </a:t>
            </a:r>
            <a:r>
              <a:rPr lang="en-US" sz="2800" dirty="0" smtClean="0">
                <a:latin typeface="Times New Roman" panose="02020603050405020304" pitchFamily="18" charset="0"/>
                <a:cs typeface="Times New Roman" panose="02020603050405020304" pitchFamily="18" charset="0"/>
              </a:rPr>
              <a:t>than is </a:t>
            </a:r>
            <a:r>
              <a:rPr lang="en-US" sz="2800" dirty="0">
                <a:latin typeface="Times New Roman" panose="02020603050405020304" pitchFamily="18" charset="0"/>
                <a:cs typeface="Times New Roman" panose="02020603050405020304" pitchFamily="18" charset="0"/>
              </a:rPr>
              <a:t>socially desirable. </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To </a:t>
            </a:r>
            <a:r>
              <a:rPr lang="en-US" sz="2800" dirty="0">
                <a:latin typeface="Times New Roman" panose="02020603050405020304" pitchFamily="18" charset="0"/>
                <a:cs typeface="Times New Roman" panose="02020603050405020304" pitchFamily="18" charset="0"/>
              </a:rPr>
              <a:t>remedy the problem, the government can internalize the externality by taxing goods that have negative externalities and subsidizing goods that </a:t>
            </a:r>
            <a:r>
              <a:rPr lang="en-US" sz="2800" dirty="0" smtClean="0">
                <a:latin typeface="Times New Roman" panose="02020603050405020304" pitchFamily="18" charset="0"/>
                <a:cs typeface="Times New Roman" panose="02020603050405020304" pitchFamily="18" charset="0"/>
              </a:rPr>
              <a:t>have positive </a:t>
            </a:r>
            <a:r>
              <a:rPr lang="en-US" sz="2800" dirty="0">
                <a:latin typeface="Times New Roman" panose="02020603050405020304" pitchFamily="18" charset="0"/>
                <a:cs typeface="Times New Roman" panose="02020603050405020304" pitchFamily="18" charset="0"/>
              </a:rPr>
              <a:t>externalities</a:t>
            </a:r>
            <a:r>
              <a:rPr lang="en-US" sz="2800" dirty="0" smtClean="0">
                <a:latin typeface="Times New Roman" panose="02020603050405020304" pitchFamily="18" charset="0"/>
                <a:cs typeface="Times New Roman" panose="02020603050405020304" pitchFamily="18" charset="0"/>
              </a:rPr>
              <a:t> </a:t>
            </a:r>
            <a:br>
              <a:rPr lang="en-US" sz="2800" dirty="0" smtClean="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0334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45037-8F45-2296-6F7F-735C17F6012A}"/>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Resource Allocation and Externalities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B0A89E0-4149-DCB7-4141-A3E8A1934B1A}"/>
              </a:ext>
            </a:extLst>
          </p:cNvPr>
          <p:cNvSpPr>
            <a:spLocks noGrp="1"/>
          </p:cNvSpPr>
          <p:nvPr>
            <p:ph idx="1"/>
          </p:nvPr>
        </p:nvSpPr>
        <p:spPr/>
        <p:txBody>
          <a:bodyPr/>
          <a:lstStyle/>
          <a:p>
            <a:r>
              <a:rPr lang="en-US" kern="100" dirty="0">
                <a:latin typeface="Century Gothic" panose="020B0502020202020204" pitchFamily="34" charset="0"/>
                <a:ea typeface="Calibri" panose="020F0502020204030204" pitchFamily="34" charset="0"/>
                <a:cs typeface="Times New Roman" panose="02020603050405020304" pitchFamily="18" charset="0"/>
              </a:rPr>
              <a:t>Externalities also affect the allocation of resources in value chain agriculture. </a:t>
            </a:r>
          </a:p>
          <a:p>
            <a:r>
              <a:rPr lang="en-US" kern="100" dirty="0">
                <a:latin typeface="Century Gothic" panose="020B0502020202020204" pitchFamily="34" charset="0"/>
                <a:ea typeface="Calibri" panose="020F0502020204030204" pitchFamily="34" charset="0"/>
                <a:cs typeface="Times New Roman" panose="02020603050405020304" pitchFamily="18" charset="0"/>
              </a:rPr>
              <a:t>When externalities are present, the private costs and benefits of production or consumption do not reflect the true social costs and benefits.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32925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50AC-1EF8-4694-C19B-ED5D09E03290}"/>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Policy Options to Internalize Externalities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C9C71DB-25D7-2F31-4207-32A3F344C1AF}"/>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To address externalities and promote market efficiency, policymakers have several options: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Taxes and Subsidies: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Implementing taxes on activities with negative externalities or providing subsidies for activities with positive externalities can internalize the external effects.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Regulations: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Setting environmental regulations or standards can control the negative externalities, such as emission limits for agricultural machinery.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66499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9BD3C-73CC-F627-31C6-0076DA57BC15}"/>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Studies and Exercises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8FACC8C-A5B7-1FC8-03D8-13099B520502}"/>
              </a:ext>
            </a:extLst>
          </p:cNvPr>
          <p:cNvSpPr>
            <a:spLocks noGrp="1"/>
          </p:cNvSpPr>
          <p:nvPr>
            <p:ph idx="1"/>
          </p:nvPr>
        </p:nvSpPr>
        <p:spPr/>
        <p:txBody>
          <a:bodyPr>
            <a:normAutofit/>
          </a:bodyPr>
          <a:lstStyle/>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Provide real-life case studies or exercises on externalities in value chain agriculture. Students can analyze the scenarios and identify the type of externality, its impact on market efficiency, and propose policy solutions.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Externalities are an essential aspect of value chain agriculture, influencing market efficiency and resource allocation. Understanding the types and impacts of externalities allows students to develop informed solutions and policies that promote sustainable and efficient agricultural practices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467902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797</TotalTime>
  <Words>570</Words>
  <Application>Microsoft Office PowerPoint</Application>
  <PresentationFormat>Widescreen</PresentationFormat>
  <Paragraphs>43</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Calisto MT</vt:lpstr>
      <vt:lpstr>Century Gothic</vt:lpstr>
      <vt:lpstr>Times New Roman</vt:lpstr>
      <vt:lpstr>Trebuchet MS</vt:lpstr>
      <vt:lpstr>Wingdings 2</vt:lpstr>
      <vt:lpstr>Slate</vt:lpstr>
      <vt:lpstr>Lecture 7:  Externalities in Value Chain Agriculture</vt:lpstr>
      <vt:lpstr>EXTERNALITIES </vt:lpstr>
      <vt:lpstr> </vt:lpstr>
      <vt:lpstr>Externalities </vt:lpstr>
      <vt:lpstr>Classification of Externalities </vt:lpstr>
      <vt:lpstr>Occurrence of Externalities in Agricultural Activities  </vt:lpstr>
      <vt:lpstr>Effects of Externalities on Market Efficiency </vt:lpstr>
      <vt:lpstr>PowerPoint Presentation</vt:lpstr>
      <vt:lpstr>PowerPoint Presentation</vt:lpstr>
      <vt:lpstr>Resource Allocation and Externalities  </vt:lpstr>
      <vt:lpstr>Policy Options to Internalize Externalities  </vt:lpstr>
      <vt:lpstr>Case Studies and Exercises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12</cp:revision>
  <dcterms:created xsi:type="dcterms:W3CDTF">2025-01-24T01:13:43Z</dcterms:created>
  <dcterms:modified xsi:type="dcterms:W3CDTF">2025-02-08T05:36:34Z</dcterms:modified>
</cp:coreProperties>
</file>