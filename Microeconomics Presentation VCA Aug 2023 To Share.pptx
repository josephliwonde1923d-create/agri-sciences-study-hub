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501" r:id="rId4"/>
    <p:sldId id="260" r:id="rId5"/>
    <p:sldId id="502" r:id="rId6"/>
    <p:sldId id="503" r:id="rId7"/>
    <p:sldId id="261" r:id="rId8"/>
    <p:sldId id="450" r:id="rId9"/>
    <p:sldId id="451" r:id="rId10"/>
    <p:sldId id="452" r:id="rId11"/>
    <p:sldId id="453" r:id="rId12"/>
    <p:sldId id="454" r:id="rId13"/>
    <p:sldId id="455" r:id="rId14"/>
    <p:sldId id="456" r:id="rId15"/>
    <p:sldId id="457" r:id="rId16"/>
    <p:sldId id="458" r:id="rId17"/>
    <p:sldId id="504" r:id="rId18"/>
    <p:sldId id="262" r:id="rId19"/>
    <p:sldId id="263" r:id="rId20"/>
    <p:sldId id="459" r:id="rId21"/>
    <p:sldId id="265" r:id="rId22"/>
    <p:sldId id="266" r:id="rId23"/>
    <p:sldId id="267" r:id="rId24"/>
    <p:sldId id="268" r:id="rId25"/>
    <p:sldId id="269" r:id="rId26"/>
    <p:sldId id="270" r:id="rId27"/>
    <p:sldId id="271" r:id="rId28"/>
    <p:sldId id="274" r:id="rId29"/>
    <p:sldId id="275" r:id="rId30"/>
    <p:sldId id="276" r:id="rId31"/>
    <p:sldId id="277" r:id="rId32"/>
    <p:sldId id="278" r:id="rId33"/>
    <p:sldId id="279" r:id="rId34"/>
    <p:sldId id="280" r:id="rId35"/>
    <p:sldId id="281" r:id="rId36"/>
    <p:sldId id="282" r:id="rId37"/>
    <p:sldId id="283" r:id="rId38"/>
    <p:sldId id="286" r:id="rId39"/>
    <p:sldId id="284" r:id="rId40"/>
    <p:sldId id="285" r:id="rId41"/>
    <p:sldId id="287" r:id="rId42"/>
    <p:sldId id="288" r:id="rId43"/>
    <p:sldId id="289" r:id="rId44"/>
    <p:sldId id="290" r:id="rId45"/>
    <p:sldId id="291" r:id="rId46"/>
    <p:sldId id="292" r:id="rId47"/>
    <p:sldId id="293" r:id="rId48"/>
    <p:sldId id="461" r:id="rId49"/>
    <p:sldId id="294" r:id="rId50"/>
    <p:sldId id="295" r:id="rId51"/>
    <p:sldId id="297" r:id="rId52"/>
    <p:sldId id="298" r:id="rId53"/>
    <p:sldId id="500" r:id="rId54"/>
    <p:sldId id="299" r:id="rId55"/>
    <p:sldId id="300" r:id="rId56"/>
    <p:sldId id="301" r:id="rId57"/>
    <p:sldId id="495" r:id="rId58"/>
    <p:sldId id="492" r:id="rId59"/>
    <p:sldId id="493" r:id="rId60"/>
    <p:sldId id="302" r:id="rId61"/>
    <p:sldId id="303" r:id="rId62"/>
    <p:sldId id="304" r:id="rId63"/>
    <p:sldId id="499" r:id="rId64"/>
    <p:sldId id="497" r:id="rId65"/>
    <p:sldId id="498" r:id="rId66"/>
    <p:sldId id="305" r:id="rId67"/>
    <p:sldId id="306" r:id="rId68"/>
    <p:sldId id="307" r:id="rId69"/>
    <p:sldId id="308" r:id="rId70"/>
    <p:sldId id="309" r:id="rId71"/>
    <p:sldId id="310" r:id="rId72"/>
    <p:sldId id="311" r:id="rId73"/>
    <p:sldId id="312" r:id="rId74"/>
    <p:sldId id="313" r:id="rId75"/>
    <p:sldId id="314" r:id="rId76"/>
    <p:sldId id="315" r:id="rId77"/>
    <p:sldId id="316" r:id="rId78"/>
    <p:sldId id="317" r:id="rId79"/>
    <p:sldId id="319" r:id="rId80"/>
    <p:sldId id="320" r:id="rId81"/>
    <p:sldId id="321" r:id="rId82"/>
    <p:sldId id="322" r:id="rId83"/>
    <p:sldId id="323" r:id="rId84"/>
    <p:sldId id="324" r:id="rId85"/>
    <p:sldId id="462" r:id="rId86"/>
    <p:sldId id="326" r:id="rId87"/>
    <p:sldId id="327" r:id="rId88"/>
    <p:sldId id="328" r:id="rId89"/>
    <p:sldId id="463" r:id="rId90"/>
    <p:sldId id="329" r:id="rId91"/>
    <p:sldId id="330" r:id="rId92"/>
    <p:sldId id="331" r:id="rId93"/>
    <p:sldId id="332" r:id="rId94"/>
    <p:sldId id="464" r:id="rId95"/>
    <p:sldId id="333" r:id="rId96"/>
    <p:sldId id="334" r:id="rId97"/>
    <p:sldId id="335" r:id="rId98"/>
    <p:sldId id="336" r:id="rId99"/>
    <p:sldId id="465" r:id="rId100"/>
    <p:sldId id="337" r:id="rId101"/>
    <p:sldId id="338" r:id="rId102"/>
    <p:sldId id="339" r:id="rId103"/>
    <p:sldId id="340" r:id="rId104"/>
    <p:sldId id="341" r:id="rId105"/>
    <p:sldId id="342" r:id="rId106"/>
    <p:sldId id="343" r:id="rId107"/>
    <p:sldId id="466" r:id="rId108"/>
    <p:sldId id="344" r:id="rId109"/>
    <p:sldId id="345" r:id="rId110"/>
    <p:sldId id="347" r:id="rId111"/>
    <p:sldId id="467" r:id="rId112"/>
    <p:sldId id="468" r:id="rId113"/>
    <p:sldId id="348" r:id="rId114"/>
    <p:sldId id="349" r:id="rId115"/>
    <p:sldId id="351" r:id="rId116"/>
    <p:sldId id="350" r:id="rId117"/>
    <p:sldId id="352" r:id="rId118"/>
    <p:sldId id="353" r:id="rId119"/>
    <p:sldId id="354" r:id="rId120"/>
    <p:sldId id="355" r:id="rId121"/>
    <p:sldId id="469" r:id="rId122"/>
    <p:sldId id="357" r:id="rId123"/>
    <p:sldId id="362" r:id="rId124"/>
    <p:sldId id="359" r:id="rId125"/>
    <p:sldId id="364" r:id="rId126"/>
    <p:sldId id="363" r:id="rId127"/>
    <p:sldId id="360" r:id="rId128"/>
    <p:sldId id="358" r:id="rId129"/>
    <p:sldId id="361" r:id="rId130"/>
    <p:sldId id="365" r:id="rId131"/>
    <p:sldId id="366" r:id="rId132"/>
    <p:sldId id="367" r:id="rId133"/>
    <p:sldId id="368" r:id="rId134"/>
    <p:sldId id="369" r:id="rId135"/>
    <p:sldId id="370" r:id="rId136"/>
    <p:sldId id="371" r:id="rId137"/>
    <p:sldId id="372" r:id="rId138"/>
    <p:sldId id="482" r:id="rId139"/>
    <p:sldId id="401" r:id="rId140"/>
    <p:sldId id="402" r:id="rId141"/>
    <p:sldId id="403" r:id="rId142"/>
    <p:sldId id="406" r:id="rId143"/>
    <p:sldId id="404" r:id="rId144"/>
    <p:sldId id="405" r:id="rId145"/>
    <p:sldId id="407" r:id="rId146"/>
    <p:sldId id="408" r:id="rId147"/>
    <p:sldId id="409" r:id="rId148"/>
    <p:sldId id="410" r:id="rId149"/>
    <p:sldId id="411" r:id="rId150"/>
    <p:sldId id="412" r:id="rId151"/>
    <p:sldId id="413" r:id="rId152"/>
    <p:sldId id="414" r:id="rId153"/>
    <p:sldId id="415" r:id="rId154"/>
    <p:sldId id="483" r:id="rId155"/>
    <p:sldId id="416" r:id="rId156"/>
    <p:sldId id="417" r:id="rId157"/>
    <p:sldId id="418" r:id="rId158"/>
    <p:sldId id="419" r:id="rId159"/>
    <p:sldId id="420" r:id="rId160"/>
    <p:sldId id="421" r:id="rId161"/>
    <p:sldId id="422" r:id="rId162"/>
    <p:sldId id="484" r:id="rId163"/>
    <p:sldId id="485" r:id="rId164"/>
    <p:sldId id="486" r:id="rId165"/>
    <p:sldId id="487" r:id="rId166"/>
    <p:sldId id="423" r:id="rId167"/>
    <p:sldId id="424" r:id="rId168"/>
    <p:sldId id="425" r:id="rId169"/>
    <p:sldId id="426" r:id="rId170"/>
    <p:sldId id="427" r:id="rId171"/>
    <p:sldId id="428" r:id="rId172"/>
    <p:sldId id="429" r:id="rId173"/>
    <p:sldId id="430" r:id="rId174"/>
    <p:sldId id="431" r:id="rId175"/>
    <p:sldId id="488" r:id="rId176"/>
    <p:sldId id="433" r:id="rId177"/>
    <p:sldId id="434" r:id="rId178"/>
    <p:sldId id="435" r:id="rId179"/>
    <p:sldId id="436" r:id="rId180"/>
    <p:sldId id="489" r:id="rId181"/>
    <p:sldId id="437" r:id="rId182"/>
    <p:sldId id="438" r:id="rId183"/>
    <p:sldId id="439" r:id="rId184"/>
    <p:sldId id="440" r:id="rId185"/>
    <p:sldId id="441" r:id="rId186"/>
    <p:sldId id="442" r:id="rId187"/>
    <p:sldId id="443" r:id="rId1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92" d="100"/>
          <a:sy n="92" d="100"/>
        </p:scale>
        <p:origin x="4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15695-644D-EB8C-FBD8-7A35B9205A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FAAB61-E118-583C-BD5C-581F967407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F2CAC1-B14B-6936-7F8D-5F63AF763B1F}"/>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5" name="Footer Placeholder 4">
            <a:extLst>
              <a:ext uri="{FF2B5EF4-FFF2-40B4-BE49-F238E27FC236}">
                <a16:creationId xmlns:a16="http://schemas.microsoft.com/office/drawing/2014/main" id="{70F3D35A-894E-3596-F70E-7F0DDFB8C8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28C05-A31E-907B-85D1-52276145109E}"/>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3391817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B4F44-C9B8-D4E7-AEC0-3371DABD82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2FFA5F-6DA8-45C3-DA80-40539099F3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B72BB-2A6F-37A8-48FA-254E8E13F7DA}"/>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5" name="Footer Placeholder 4">
            <a:extLst>
              <a:ext uri="{FF2B5EF4-FFF2-40B4-BE49-F238E27FC236}">
                <a16:creationId xmlns:a16="http://schemas.microsoft.com/office/drawing/2014/main" id="{6FE23BA2-8BCC-9FAB-A38E-877EB0D685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5D89D2-898B-4272-6B87-535555E70A92}"/>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3600939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3950E-DBA8-7870-F033-A2E0A45F3E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859120-C6C7-563E-D8DA-FFFD12B1A9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CC3D18-56B1-86B4-B0B1-A3E9D11FB463}"/>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5" name="Footer Placeholder 4">
            <a:extLst>
              <a:ext uri="{FF2B5EF4-FFF2-40B4-BE49-F238E27FC236}">
                <a16:creationId xmlns:a16="http://schemas.microsoft.com/office/drawing/2014/main" id="{46B57EC5-949B-1983-353D-B36BD3FF8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87CD39-D782-7157-6965-DEA409CCF3C7}"/>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3698120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FC428-249F-A094-C745-F348AA768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DEB792-C3A8-6D9C-F170-E49ABEFC7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39C2FE-D7CF-CC71-B38F-FDA5A72522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4B409E-E2D3-4CD5-80D7-C4393F2D349F}"/>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6" name="Footer Placeholder 5">
            <a:extLst>
              <a:ext uri="{FF2B5EF4-FFF2-40B4-BE49-F238E27FC236}">
                <a16:creationId xmlns:a16="http://schemas.microsoft.com/office/drawing/2014/main" id="{8DC6DE33-6828-B516-B3B5-BEB47EEE33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1BC15A-0BA4-1C83-56F2-7F0B7DD9FA8F}"/>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3178204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2F0E-2694-CA98-F25E-4F9CA80652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2CE331-E988-4EB0-8C31-A6E2DCFB52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9EBC48-10AF-6E9F-2788-A7A0332A98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4CBD59-5987-0CE3-2065-200B99BC9D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A07CF4-EA04-A2E3-7CFB-0306744C01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27AE6F-935C-3509-5E57-948C1C456FBD}"/>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8" name="Footer Placeholder 7">
            <a:extLst>
              <a:ext uri="{FF2B5EF4-FFF2-40B4-BE49-F238E27FC236}">
                <a16:creationId xmlns:a16="http://schemas.microsoft.com/office/drawing/2014/main" id="{603C654E-9888-13B4-F68B-1B29986D29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E1C19E-8DDA-9070-05CD-12702F89E57C}"/>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143850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0719-EAEF-0CB7-7744-1F5CB9B11A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619DC6-204D-C5C5-6AE3-227467BBD179}"/>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4" name="Footer Placeholder 3">
            <a:extLst>
              <a:ext uri="{FF2B5EF4-FFF2-40B4-BE49-F238E27FC236}">
                <a16:creationId xmlns:a16="http://schemas.microsoft.com/office/drawing/2014/main" id="{8C1FB6B1-36AC-18C0-2EE2-32AB017A4D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EB77CC-6535-4944-51ED-A071A7014E0F}"/>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1661608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C8D91A-BAAC-4B97-9F33-49C19B727ECA}"/>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3" name="Footer Placeholder 2">
            <a:extLst>
              <a:ext uri="{FF2B5EF4-FFF2-40B4-BE49-F238E27FC236}">
                <a16:creationId xmlns:a16="http://schemas.microsoft.com/office/drawing/2014/main" id="{EE1D0917-F8E8-2023-EF5A-94D3CB7427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BC6956-386E-A4EE-0092-CE4BEB0B65AB}"/>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1006426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D3DA4-A39D-CFE6-B4FC-8AB646FE7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857053-0AAA-37BA-0A94-C22042B3AC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C41601-0A62-B8CC-2F88-29B4FD38D0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933CD8-867A-81D7-69D2-0C7E4A75DE8C}"/>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6" name="Footer Placeholder 5">
            <a:extLst>
              <a:ext uri="{FF2B5EF4-FFF2-40B4-BE49-F238E27FC236}">
                <a16:creationId xmlns:a16="http://schemas.microsoft.com/office/drawing/2014/main" id="{85E4C167-C1E8-4370-0C83-7F1A23F5BD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5697F4-B9AF-4AFE-F598-2A8F31D8BE6D}"/>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3934073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F52E3-8A8C-EF75-DC4E-C91F28467B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A92031-5D10-6804-71F7-949F8514E0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5A8C5D-6D63-A268-2418-788B8365C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A787E-076C-A30B-0245-99A6F2B9A4BF}"/>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6" name="Footer Placeholder 5">
            <a:extLst>
              <a:ext uri="{FF2B5EF4-FFF2-40B4-BE49-F238E27FC236}">
                <a16:creationId xmlns:a16="http://schemas.microsoft.com/office/drawing/2014/main" id="{8CF569B6-4AEF-DE65-8113-91DA3C5424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6ABC47-516D-BCD6-FB8B-A0F7695377CE}"/>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1854117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27B83-7386-A805-E53C-F7CE6B1A91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437541-68CE-05C4-5BC8-27EE2E599D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F034B9-0138-DE30-26AD-D743B974A76E}"/>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5" name="Footer Placeholder 4">
            <a:extLst>
              <a:ext uri="{FF2B5EF4-FFF2-40B4-BE49-F238E27FC236}">
                <a16:creationId xmlns:a16="http://schemas.microsoft.com/office/drawing/2014/main" id="{4D618D33-501C-115D-A9EE-B1D82B4E89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3808ED-CCC2-855D-6133-2D404DF3EDE8}"/>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3741830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24B374-625D-827E-61E6-BEB2F64F65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39CEDD-63CB-31CF-91C2-B65033431F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F9D74-7E05-3A15-7808-444D474B11EF}"/>
              </a:ext>
            </a:extLst>
          </p:cNvPr>
          <p:cNvSpPr>
            <a:spLocks noGrp="1"/>
          </p:cNvSpPr>
          <p:nvPr>
            <p:ph type="dt" sz="half" idx="10"/>
          </p:nvPr>
        </p:nvSpPr>
        <p:spPr/>
        <p:txBody>
          <a:bodyPr/>
          <a:lstStyle/>
          <a:p>
            <a:fld id="{B1518F43-021A-40D2-9FC8-925C761D58A6}" type="datetimeFigureOut">
              <a:rPr lang="en-US" smtClean="0"/>
              <a:t>12/24/2023</a:t>
            </a:fld>
            <a:endParaRPr lang="en-US"/>
          </a:p>
        </p:txBody>
      </p:sp>
      <p:sp>
        <p:nvSpPr>
          <p:cNvPr id="5" name="Footer Placeholder 4">
            <a:extLst>
              <a:ext uri="{FF2B5EF4-FFF2-40B4-BE49-F238E27FC236}">
                <a16:creationId xmlns:a16="http://schemas.microsoft.com/office/drawing/2014/main" id="{5990E5EA-0FFA-B6CB-2484-F2435233E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6D8575-7BB0-7031-0AAB-C4FEC7111733}"/>
              </a:ext>
            </a:extLst>
          </p:cNvPr>
          <p:cNvSpPr>
            <a:spLocks noGrp="1"/>
          </p:cNvSpPr>
          <p:nvPr>
            <p:ph type="sldNum" sz="quarter" idx="12"/>
          </p:nvPr>
        </p:nvSpPr>
        <p:spPr/>
        <p:txBody>
          <a:bodyPr/>
          <a:lstStyle/>
          <a:p>
            <a:fld id="{B03B0775-7207-4FA3-8018-060AEE0DB5CA}" type="slidenum">
              <a:rPr lang="en-US" smtClean="0"/>
              <a:t>‹#›</a:t>
            </a:fld>
            <a:endParaRPr lang="en-US"/>
          </a:p>
        </p:txBody>
      </p:sp>
    </p:spTree>
    <p:extLst>
      <p:ext uri="{BB962C8B-B14F-4D97-AF65-F5344CB8AC3E}">
        <p14:creationId xmlns:p14="http://schemas.microsoft.com/office/powerpoint/2010/main" val="1206128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C19E2F-E531-0D00-47E0-636BD6F53E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4CE8B4-17DF-ABD1-11FD-3413D92CE4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7FC6B0-AC20-20D3-5D7C-34CF62023A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518F43-021A-40D2-9FC8-925C761D58A6}" type="datetimeFigureOut">
              <a:rPr lang="en-US" smtClean="0"/>
              <a:t>12/24/2023</a:t>
            </a:fld>
            <a:endParaRPr lang="en-US"/>
          </a:p>
        </p:txBody>
      </p:sp>
      <p:sp>
        <p:nvSpPr>
          <p:cNvPr id="5" name="Footer Placeholder 4">
            <a:extLst>
              <a:ext uri="{FF2B5EF4-FFF2-40B4-BE49-F238E27FC236}">
                <a16:creationId xmlns:a16="http://schemas.microsoft.com/office/drawing/2014/main" id="{4F37C8B5-A769-97A9-51E0-CD54827F6F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C7597-C098-E8D5-38CC-00183E6A3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3B0775-7207-4FA3-8018-060AEE0DB5CA}" type="slidenum">
              <a:rPr lang="en-US" smtClean="0"/>
              <a:t>‹#›</a:t>
            </a:fld>
            <a:endParaRPr lang="en-US"/>
          </a:p>
        </p:txBody>
      </p:sp>
    </p:spTree>
    <p:extLst>
      <p:ext uri="{BB962C8B-B14F-4D97-AF65-F5344CB8AC3E}">
        <p14:creationId xmlns:p14="http://schemas.microsoft.com/office/powerpoint/2010/main" val="35127942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6.webp"/><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7.webp"/><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8.webp"/><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22F85-60B6-D4E4-CD34-67220E7E93FE}"/>
              </a:ext>
            </a:extLst>
          </p:cNvPr>
          <p:cNvSpPr>
            <a:spLocks noGrp="1"/>
          </p:cNvSpPr>
          <p:nvPr>
            <p:ph type="ctrTitle"/>
          </p:nvPr>
        </p:nvSpPr>
        <p:spPr>
          <a:xfrm>
            <a:off x="1524000" y="103910"/>
            <a:ext cx="9144000" cy="6754090"/>
          </a:xfrm>
        </p:spPr>
        <p:txBody>
          <a:bodyPr anchor="ctr">
            <a:noAutofit/>
          </a:bodyPr>
          <a:lstStyle/>
          <a:p>
            <a:r>
              <a:rPr lang="en-US" sz="8800" b="1" kern="100" dirty="0">
                <a:effectLst/>
                <a:latin typeface="Century Gothic" panose="020B0502020202020204" pitchFamily="34" charset="0"/>
                <a:ea typeface="Calibri" panose="020F0502020204030204" pitchFamily="34" charset="0"/>
                <a:cs typeface="Times New Roman" panose="02020603050405020304" pitchFamily="18" charset="0"/>
              </a:rPr>
              <a:t>Lecture 1: Introduction to Economics</a:t>
            </a:r>
            <a:br>
              <a:rPr lang="en-US" sz="8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8800" dirty="0"/>
          </a:p>
        </p:txBody>
      </p:sp>
    </p:spTree>
    <p:extLst>
      <p:ext uri="{BB962C8B-B14F-4D97-AF65-F5344CB8AC3E}">
        <p14:creationId xmlns:p14="http://schemas.microsoft.com/office/powerpoint/2010/main" val="2516353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4E161-4565-1E41-C9DD-E8AD43C285C9}"/>
              </a:ext>
            </a:extLst>
          </p:cNvPr>
          <p:cNvSpPr>
            <a:spLocks noGrp="1"/>
          </p:cNvSpPr>
          <p:nvPr>
            <p:ph type="title"/>
          </p:nvPr>
        </p:nvSpPr>
        <p:spPr/>
        <p:txBody>
          <a:bodyPr>
            <a:normAutofit fontScale="90000"/>
          </a:bodyPr>
          <a:lstStyle/>
          <a:p>
            <a:r>
              <a:rPr lang="en-US" b="1" kern="100" dirty="0">
                <a:effectLst/>
                <a:latin typeface="Century Gothic" panose="020B0502020202020204" pitchFamily="34" charset="0"/>
                <a:ea typeface="Calibri" panose="020F0502020204030204" pitchFamily="34" charset="0"/>
                <a:cs typeface="Times New Roman" panose="02020603050405020304" pitchFamily="18" charset="0"/>
              </a:rPr>
              <a:t>Economics and its Importance in Value Chain Agriculture </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1A4DC23-A9B8-7170-CF52-C4AA9EC7AFAF}"/>
              </a:ext>
            </a:extLst>
          </p:cNvPr>
          <p:cNvSpPr>
            <a:spLocks noGrp="1"/>
          </p:cNvSpPr>
          <p:nvPr>
            <p:ph idx="1"/>
          </p:nvPr>
        </p:nvSpPr>
        <p:spPr>
          <a:xfrm>
            <a:off x="838200" y="1690688"/>
            <a:ext cx="10515600" cy="4486275"/>
          </a:xfrm>
        </p:spPr>
        <p:txBody>
          <a:bodyPr>
            <a:normAutofit/>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The management of society’s resources is important because resources are scarce.</a:t>
            </a: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Scarcity means that society has limited resources and therefore cannot produce all the goods and services people wish to have. </a:t>
            </a: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Economics is the study of how society manages its scarce resources. </a:t>
            </a: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Economics, in the context of value chain agriculture, can be defined as the study of how individuals, businesses, and governments make choices regarding resource utilization, production, distribution, and consumption of agricultural goods and services.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63733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4D390-B2D7-D7B2-93B8-0971CA8DF90D}"/>
              </a:ext>
            </a:extLst>
          </p:cNvPr>
          <p:cNvSpPr>
            <a:spLocks noGrp="1"/>
          </p:cNvSpPr>
          <p:nvPr>
            <p:ph type="title"/>
          </p:nvPr>
        </p:nvSpPr>
        <p:spPr/>
        <p:txBody>
          <a:bodyPr/>
          <a:lstStyle/>
          <a:p>
            <a:pPr algn="ctr"/>
            <a:r>
              <a:rPr lang="en-US" b="1" kern="100" dirty="0">
                <a:effectLst/>
                <a:latin typeface="Century Gothic" panose="020B0502020202020204" pitchFamily="34" charset="0"/>
                <a:ea typeface="Calibri" panose="020F0502020204030204" pitchFamily="34" charset="0"/>
                <a:cs typeface="Times New Roman" panose="02020603050405020304" pitchFamily="18" charset="0"/>
              </a:rPr>
              <a:t>Economics and its Importance in Value Chain Agriculture</a:t>
            </a:r>
            <a:endParaRPr lang="en-US" dirty="0"/>
          </a:p>
        </p:txBody>
      </p:sp>
      <p:sp>
        <p:nvSpPr>
          <p:cNvPr id="3" name="Content Placeholder 2">
            <a:extLst>
              <a:ext uri="{FF2B5EF4-FFF2-40B4-BE49-F238E27FC236}">
                <a16:creationId xmlns:a16="http://schemas.microsoft.com/office/drawing/2014/main" id="{8C6D9BE9-008C-90E6-ED39-B52D109A4BE7}"/>
              </a:ext>
            </a:extLst>
          </p:cNvPr>
          <p:cNvSpPr>
            <a:spLocks noGrp="1"/>
          </p:cNvSpPr>
          <p:nvPr>
            <p:ph idx="1"/>
          </p:nvPr>
        </p:nvSpPr>
        <p:spPr/>
        <p:txBody>
          <a:bodyPr>
            <a:normAutofit fontScale="85000" lnSpcReduction="20000"/>
          </a:bodyPr>
          <a:lstStyle/>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As future professionals in the value chain agriculture domain, an understanding of economics is </a:t>
            </a:r>
            <a:r>
              <a:rPr lang="en-US" kern="100" dirty="0">
                <a:latin typeface="Century Gothic" panose="020B0502020202020204" pitchFamily="34" charset="0"/>
                <a:ea typeface="Calibri" panose="020F0502020204030204" pitchFamily="34" charset="0"/>
                <a:cs typeface="Times New Roman" panose="02020603050405020304" pitchFamily="18" charset="0"/>
              </a:rPr>
              <a:t>essential</a:t>
            </a: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 in formulating strategies that foster sustainable agricultural practices, enhance productivity, and improve livelihoods within rural communities.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Economic analysis equips value-chain agriculture students with the tools to identify and address various challenges faced by producers and consumers in the agricultural market.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By evaluating the impacts of supply and demand dynamics, students can discern how price changes affect agricultural outputs, consumer behavior, and market equilibrium.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This knowledge will enable them to make informed decisions to maximize profitability and promote overall economic welfare.</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54322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4E5E1-699A-FED5-DCBE-21979E944EF3}"/>
              </a:ext>
            </a:extLst>
          </p:cNvPr>
          <p:cNvSpPr>
            <a:spLocks noGrp="1"/>
          </p:cNvSpPr>
          <p:nvPr>
            <p:ph type="title"/>
          </p:nvPr>
        </p:nvSpPr>
        <p:spPr/>
        <p:txBody>
          <a:bodyPr>
            <a:normAutofit fontScale="90000"/>
          </a:bodyPr>
          <a:lstStyle/>
          <a:p>
            <a:pPr algn="ctr"/>
            <a:r>
              <a:rPr lang="en-US" b="1" kern="100" dirty="0">
                <a:effectLst/>
                <a:latin typeface="Century Gothic" panose="020B0502020202020204" pitchFamily="34" charset="0"/>
                <a:ea typeface="Calibri" panose="020F0502020204030204" pitchFamily="34" charset="0"/>
                <a:cs typeface="Times New Roman" panose="02020603050405020304" pitchFamily="18" charset="0"/>
              </a:rPr>
              <a:t>The distinction between Microeconomics and Macroeconomics </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62CC9A2-33B4-18AE-364A-BB5D6A57BEF4}"/>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In the study of economics, students encounter two key branches of economics: microeconomics and macroeconomics.</a:t>
            </a: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Microeconomics </a:t>
            </a:r>
            <a:r>
              <a:rPr lang="en-US" sz="2400" kern="100" dirty="0">
                <a:latin typeface="Century Gothic" panose="020B0502020202020204" pitchFamily="34" charset="0"/>
                <a:ea typeface="Calibri" panose="020F0502020204030204" pitchFamily="34" charset="0"/>
                <a:cs typeface="Times New Roman" panose="02020603050405020304" pitchFamily="18" charset="0"/>
              </a:rPr>
              <a:t>explores the </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behavior of individual economic agents, including farmers, agribusinesses, and consumers. </a:t>
            </a: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It </a:t>
            </a:r>
            <a:r>
              <a:rPr lang="en-US" sz="2400" kern="100" dirty="0">
                <a:latin typeface="Century Gothic" panose="020B0502020202020204" pitchFamily="34" charset="0"/>
                <a:ea typeface="Calibri" panose="020F0502020204030204" pitchFamily="34" charset="0"/>
                <a:cs typeface="Times New Roman" panose="02020603050405020304" pitchFamily="18" charset="0"/>
              </a:rPr>
              <a:t>seeks to explain </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the decision-making process at the grassroots level, helping students understand the factors that influence crop selection, input choices, and production levels. </a:t>
            </a:r>
          </a:p>
        </p:txBody>
      </p:sp>
    </p:spTree>
    <p:extLst>
      <p:ext uri="{BB962C8B-B14F-4D97-AF65-F5344CB8AC3E}">
        <p14:creationId xmlns:p14="http://schemas.microsoft.com/office/powerpoint/2010/main" val="2219732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EEB62-DB29-2B38-532A-43AD46DB065A}"/>
              </a:ext>
            </a:extLst>
          </p:cNvPr>
          <p:cNvSpPr>
            <a:spLocks noGrp="1"/>
          </p:cNvSpPr>
          <p:nvPr>
            <p:ph type="title"/>
          </p:nvPr>
        </p:nvSpPr>
        <p:spPr/>
        <p:txBody>
          <a:bodyPr>
            <a:normAutofit fontScale="90000"/>
          </a:bodyPr>
          <a:lstStyle/>
          <a:p>
            <a:pPr algn="ctr"/>
            <a:r>
              <a:rPr lang="en-US" b="1" kern="100" dirty="0">
                <a:effectLst/>
                <a:latin typeface="Century Gothic" panose="020B0502020202020204" pitchFamily="34" charset="0"/>
                <a:ea typeface="Calibri" panose="020F0502020204030204" pitchFamily="34" charset="0"/>
                <a:cs typeface="Times New Roman" panose="02020603050405020304" pitchFamily="18" charset="0"/>
              </a:rPr>
              <a:t>The distinction between Microeconomics and Macroeconomics</a:t>
            </a:r>
            <a:endParaRPr lang="en-US" dirty="0"/>
          </a:p>
        </p:txBody>
      </p:sp>
      <p:sp>
        <p:nvSpPr>
          <p:cNvPr id="3" name="Content Placeholder 2">
            <a:extLst>
              <a:ext uri="{FF2B5EF4-FFF2-40B4-BE49-F238E27FC236}">
                <a16:creationId xmlns:a16="http://schemas.microsoft.com/office/drawing/2014/main" id="{975753DB-0636-99FD-D6F5-598744DFE7FD}"/>
              </a:ext>
            </a:extLst>
          </p:cNvPr>
          <p:cNvSpPr>
            <a:spLocks noGrp="1"/>
          </p:cNvSpPr>
          <p:nvPr>
            <p:ph idx="1"/>
          </p:nvPr>
        </p:nvSpPr>
        <p:spPr/>
        <p:txBody>
          <a:bodyPr/>
          <a:lstStyle/>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Additionally, microeconomics analyzes market structures and the role of price mechanisms in transactions. e.g. agricultural transactions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Macroeconomics, on the other hand, focuses on the economy as a whole. It examines aggregate variables like national income, inflation, and unemployment.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299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A8831-8691-0E6D-C0BC-4174DE4414BE}"/>
              </a:ext>
            </a:extLst>
          </p:cNvPr>
          <p:cNvSpPr>
            <a:spLocks noGrp="1"/>
          </p:cNvSpPr>
          <p:nvPr>
            <p:ph type="title"/>
          </p:nvPr>
        </p:nvSpPr>
        <p:spPr>
          <a:xfrm>
            <a:off x="838200" y="365125"/>
            <a:ext cx="10515600" cy="5536911"/>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Overview of Economic Principles</a:t>
            </a:r>
            <a:endParaRPr lang="en-US" dirty="0"/>
          </a:p>
        </p:txBody>
      </p:sp>
    </p:spTree>
    <p:extLst>
      <p:ext uri="{BB962C8B-B14F-4D97-AF65-F5344CB8AC3E}">
        <p14:creationId xmlns:p14="http://schemas.microsoft.com/office/powerpoint/2010/main" val="3945502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DE8B2-72D0-C243-CE47-CFA9D891C7C3}"/>
              </a:ext>
            </a:extLst>
          </p:cNvPr>
          <p:cNvSpPr>
            <a:spLocks noGrp="1"/>
          </p:cNvSpPr>
          <p:nvPr>
            <p:ph type="title"/>
          </p:nvPr>
        </p:nvSpPr>
        <p:spPr>
          <a:xfrm>
            <a:off x="838200" y="365125"/>
            <a:ext cx="10515600" cy="1474066"/>
          </a:xfrm>
        </p:spPr>
        <p:txBody>
          <a:bodyPr>
            <a:normAutofit/>
          </a:bodyPr>
          <a:lstStyle/>
          <a:p>
            <a:r>
              <a:rPr lang="en-US" sz="4400" b="1" kern="100" dirty="0">
                <a:effectLst/>
                <a:latin typeface="Century Gothic" panose="020B0502020202020204" pitchFamily="34" charset="0"/>
                <a:ea typeface="Calibri" panose="020F0502020204030204" pitchFamily="34" charset="0"/>
                <a:cs typeface="Times New Roman" panose="02020603050405020304" pitchFamily="18" charset="0"/>
              </a:rPr>
              <a:t>People Face Tradeoffs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99073FD-9836-F1D9-00BF-3C23EE266351}"/>
              </a:ext>
            </a:extLst>
          </p:cNvPr>
          <p:cNvSpPr>
            <a:spLocks noGrp="1"/>
          </p:cNvSpPr>
          <p:nvPr>
            <p:ph idx="1"/>
          </p:nvPr>
        </p:nvSpPr>
        <p:spPr>
          <a:xfrm>
            <a:off x="838200" y="1506682"/>
            <a:ext cx="10515600" cy="5216235"/>
          </a:xfrm>
        </p:spPr>
        <p:txBody>
          <a:bodyPr>
            <a:normAutofit fontScale="92500"/>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The principle of tradeoffs underscores the inevitable reality of scarcity—limited resources against unlimited wants.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To get </a:t>
            </a:r>
            <a:r>
              <a:rPr lang="en-US" sz="2400" kern="100" dirty="0">
                <a:latin typeface="Century Gothic" panose="020B0502020202020204" pitchFamily="34" charset="0"/>
                <a:ea typeface="Calibri" panose="020F0502020204030204" pitchFamily="34" charset="0"/>
                <a:cs typeface="Times New Roman" panose="02020603050405020304" pitchFamily="18" charset="0"/>
              </a:rPr>
              <a:t>one </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item, individuals usually give up another item(s)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In personal and society contexts, tradeoffs force us to allocate resources wisely and make conscious choices that yield the greatest benefit.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Another trade-off society faces is between efficiency and equality. </a:t>
            </a:r>
          </a:p>
          <a:p>
            <a:pPr algn="just">
              <a:lnSpc>
                <a:spcPct val="107000"/>
              </a:lnSpc>
              <a:spcBef>
                <a:spcPts val="0"/>
              </a:spcBef>
              <a:spcAft>
                <a:spcPts val="800"/>
              </a:spcAft>
            </a:pP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Efficiency </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means that society is getting the maximum benefits from its scarce resources. </a:t>
            </a:r>
          </a:p>
          <a:p>
            <a:pPr algn="just">
              <a:lnSpc>
                <a:spcPct val="107000"/>
              </a:lnSpc>
              <a:spcBef>
                <a:spcPts val="0"/>
              </a:spcBef>
              <a:spcAft>
                <a:spcPts val="800"/>
              </a:spcAft>
            </a:pP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Equality </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means that those benefits are distributed uniformly among society’s members.</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E</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fficiency refers to the size of the economic pie, and equality emphasizes on how the pie is divided into individual slices.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37118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13BA-28CF-C22A-66E3-4E07F74072D4}"/>
              </a:ext>
            </a:extLst>
          </p:cNvPr>
          <p:cNvSpPr>
            <a:spLocks noGrp="1"/>
          </p:cNvSpPr>
          <p:nvPr>
            <p:ph type="title"/>
          </p:nvPr>
        </p:nvSpPr>
        <p:spPr/>
        <p:txBody>
          <a:bodyPr>
            <a:normAutofit fontScale="90000"/>
          </a:bodyPr>
          <a:lstStyle/>
          <a:p>
            <a:pPr algn="ctr"/>
            <a:r>
              <a:rPr lang="en-US" b="1" kern="100" dirty="0">
                <a:effectLst/>
                <a:latin typeface="Century Gothic" panose="020B0502020202020204" pitchFamily="34" charset="0"/>
                <a:ea typeface="Calibri" panose="020F0502020204030204" pitchFamily="34" charset="0"/>
                <a:cs typeface="Times New Roman" panose="02020603050405020304" pitchFamily="18" charset="0"/>
              </a:rPr>
              <a:t>The Cost of Something Is What You Give Up to Get It (Opportunity cost)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32EE229-F2BF-4ED5-43E6-AC38C452561B}"/>
              </a:ext>
            </a:extLst>
          </p:cNvPr>
          <p:cNvSpPr>
            <a:spLocks noGrp="1"/>
          </p:cNvSpPr>
          <p:nvPr>
            <p:ph idx="1"/>
          </p:nvPr>
        </p:nvSpPr>
        <p:spPr/>
        <p:txBody>
          <a:bodyPr/>
          <a:lstStyle/>
          <a:p>
            <a:pPr algn="just">
              <a:lnSpc>
                <a:spcPct val="107000"/>
              </a:lnSpc>
              <a:spcBef>
                <a:spcPts val="120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Opportunity cost is forgone cost- what we give up to obtain something else.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The concept of opportunity cost reveals the hidden costs of decisions.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Recognizing opportunity costs enhances decision making by revealing the full array of choices and their consequences.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dirty="0">
                <a:latin typeface="Century Gothic" panose="020B0502020202020204" pitchFamily="34" charset="0"/>
              </a:rPr>
              <a:t>Economic profit = accounting profit – opportunity cost</a:t>
            </a:r>
          </a:p>
        </p:txBody>
      </p:sp>
    </p:spTree>
    <p:extLst>
      <p:ext uri="{BB962C8B-B14F-4D97-AF65-F5344CB8AC3E}">
        <p14:creationId xmlns:p14="http://schemas.microsoft.com/office/powerpoint/2010/main" val="1911695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D0556-A752-0849-185C-F1CAB56C37E8}"/>
              </a:ext>
            </a:extLst>
          </p:cNvPr>
          <p:cNvSpPr>
            <a:spLocks noGrp="1"/>
          </p:cNvSpPr>
          <p:nvPr>
            <p:ph type="title"/>
          </p:nvPr>
        </p:nvSpPr>
        <p:spPr/>
        <p:txBody>
          <a:bodyPr/>
          <a:lstStyle/>
          <a:p>
            <a:pPr algn="ctr"/>
            <a:r>
              <a:rPr lang="en-US" b="1" kern="100" dirty="0">
                <a:effectLst/>
                <a:latin typeface="Century Gothic" panose="020B0502020202020204" pitchFamily="34" charset="0"/>
                <a:ea typeface="Calibri" panose="020F0502020204030204" pitchFamily="34" charset="0"/>
                <a:cs typeface="Times New Roman" panose="02020603050405020304" pitchFamily="18" charset="0"/>
              </a:rPr>
              <a:t>Rational People Think at the Margin:</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776884F-5D40-E0E7-82B8-24F976F6CB55}"/>
              </a:ext>
            </a:extLst>
          </p:cNvPr>
          <p:cNvSpPr>
            <a:spLocks noGrp="1"/>
          </p:cNvSpPr>
          <p:nvPr>
            <p:ph idx="1"/>
          </p:nvPr>
        </p:nvSpPr>
        <p:spPr/>
        <p:txBody>
          <a:bodyPr/>
          <a:lstStyle/>
          <a:p>
            <a:pPr algn="just">
              <a:lnSpc>
                <a:spcPct val="107000"/>
              </a:lnSpc>
              <a:spcBef>
                <a:spcPts val="0"/>
              </a:spcBef>
              <a:spcAft>
                <a:spcPts val="800"/>
              </a:spcAft>
            </a:pP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Rational people</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 are individuals who systematically and purposefully do the best they can to achieve their objectives.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Rational decisionmakers weigh the additional benefits and costs of incremental changes(marginal changes).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This principle guides us in optimizing decisions by considering the incremental impact of each step.</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62543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A8CF6-4BC8-E895-D447-19CD604686DD}"/>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People Respond to Incentives: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63D2E98-E367-89B9-C5FB-2033D06F6BC4}"/>
              </a:ext>
            </a:extLst>
          </p:cNvPr>
          <p:cNvSpPr>
            <a:spLocks noGrp="1"/>
          </p:cNvSpPr>
          <p:nvPr>
            <p:ph idx="1"/>
          </p:nvPr>
        </p:nvSpPr>
        <p:spPr/>
        <p:txBody>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Incentives are rewards or penalties that influence behavior</a:t>
            </a:r>
            <a:r>
              <a:rPr lang="en-US" sz="2400" kern="100" dirty="0">
                <a:latin typeface="Century Gothic" panose="020B0502020202020204" pitchFamily="34" charset="0"/>
                <a:ea typeface="Calibri" panose="020F0502020204030204" pitchFamily="34" charset="0"/>
                <a:cs typeface="Times New Roman" panose="02020603050405020304" pitchFamily="18" charset="0"/>
              </a:rPr>
              <a:t>.</a:t>
            </a: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Incentives, both positive and negative, shape human behavior.</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A deep understanding of incentives empowers us to predict and influence individual and collective actions.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811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51A9B-66E4-B67B-63AA-AF0B0C508D30}"/>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Trade Can Make Everyone Better Off:</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7317825-9F44-7AA3-DAEB-68C9DC48CAA1}"/>
              </a:ext>
            </a:extLst>
          </p:cNvPr>
          <p:cNvSpPr>
            <a:spLocks noGrp="1"/>
          </p:cNvSpPr>
          <p:nvPr>
            <p:ph idx="1"/>
          </p:nvPr>
        </p:nvSpPr>
        <p:spPr/>
        <p:txBody>
          <a:bodyPr>
            <a:normAutofit/>
          </a:bodyPr>
          <a:lstStyle/>
          <a:p>
            <a:r>
              <a:rPr lang="en-US" sz="2400" b="0" i="0" dirty="0">
                <a:solidFill>
                  <a:srgbClr val="231F20"/>
                </a:solidFill>
                <a:effectLst/>
                <a:latin typeface="Century Gothic" panose="020B0502020202020204" pitchFamily="34" charset="0"/>
              </a:rPr>
              <a:t>Trade allows each person to specialize in the activities he or she does best, whether it is farming, sewing, or home building. </a:t>
            </a:r>
          </a:p>
          <a:p>
            <a:r>
              <a:rPr lang="en-US" sz="2400" b="0" i="0" dirty="0">
                <a:solidFill>
                  <a:srgbClr val="231F20"/>
                </a:solidFill>
                <a:effectLst/>
                <a:latin typeface="Century Gothic" panose="020B0502020202020204" pitchFamily="34" charset="0"/>
              </a:rPr>
              <a:t>By trading with others, people can buy a greater variety of goods and services at lower cost.</a:t>
            </a:r>
          </a:p>
          <a:p>
            <a:r>
              <a:rPr lang="en-US" sz="2400" b="0" i="0" dirty="0">
                <a:solidFill>
                  <a:srgbClr val="231F20"/>
                </a:solidFill>
                <a:effectLst/>
                <a:latin typeface="Century Gothic" panose="020B0502020202020204" pitchFamily="34" charset="0"/>
              </a:rPr>
              <a:t>Countries as well as </a:t>
            </a:r>
            <a:r>
              <a:rPr lang="en-US" sz="2400" dirty="0">
                <a:solidFill>
                  <a:srgbClr val="231F20"/>
                </a:solidFill>
                <a:latin typeface="Century Gothic" panose="020B0502020202020204" pitchFamily="34" charset="0"/>
              </a:rPr>
              <a:t>households </a:t>
            </a:r>
            <a:r>
              <a:rPr lang="en-US" sz="2400" b="0" i="0" dirty="0">
                <a:solidFill>
                  <a:srgbClr val="231F20"/>
                </a:solidFill>
                <a:effectLst/>
                <a:latin typeface="Century Gothic" panose="020B0502020202020204" pitchFamily="34" charset="0"/>
              </a:rPr>
              <a:t>benefit from the ability to trade with one another. </a:t>
            </a:r>
          </a:p>
          <a:p>
            <a:pPr algn="just">
              <a:lnSpc>
                <a:spcPct val="107000"/>
              </a:lnSpc>
              <a:spcBef>
                <a:spcPts val="0"/>
              </a:spcBef>
              <a:spcAft>
                <a:spcPts val="800"/>
              </a:spcAft>
            </a:pPr>
            <a:r>
              <a:rPr lang="en-US" sz="2400" b="0" i="0" dirty="0">
                <a:solidFill>
                  <a:srgbClr val="231F20"/>
                </a:solidFill>
                <a:effectLst/>
                <a:latin typeface="Century Gothic" panose="020B0502020202020204" pitchFamily="34" charset="0"/>
              </a:rPr>
              <a:t>Trade allows countries to specialize in what they do best and to enjoy a greater variety of goods and services. </a:t>
            </a:r>
          </a:p>
          <a:p>
            <a:pPr algn="just">
              <a:lnSpc>
                <a:spcPct val="107000"/>
              </a:lnSpc>
              <a:spcBef>
                <a:spcPts val="0"/>
              </a:spcBef>
              <a:spcAft>
                <a:spcPts val="800"/>
              </a:spcAft>
            </a:pPr>
            <a:r>
              <a:rPr lang="en-US" sz="2400" b="0" i="0" dirty="0">
                <a:solidFill>
                  <a:srgbClr val="231F20"/>
                </a:solidFill>
                <a:effectLst/>
                <a:latin typeface="Century Gothic" panose="020B0502020202020204" pitchFamily="34" charset="0"/>
              </a:rPr>
              <a:t>This concept is known as comparative advantage in economics </a:t>
            </a:r>
            <a:br>
              <a:rPr lang="en-US" sz="2400" dirty="0">
                <a:latin typeface="Century Gothic" panose="020B0502020202020204" pitchFamily="34" charset="0"/>
              </a:rPr>
            </a:b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Mutual gains from trade foster cooperation and specialization</a:t>
            </a:r>
            <a:r>
              <a:rPr lang="en-US" kern="100" dirty="0">
                <a:effectLst/>
                <a:latin typeface="Century Gothic" panose="020B0502020202020204" pitchFamily="34" charset="0"/>
                <a:ea typeface="Calibri" panose="020F0502020204030204" pitchFamily="34" charset="0"/>
                <a:cs typeface="Times New Roman" panose="02020603050405020304" pitchFamily="18" charset="0"/>
              </a:rPr>
              <a:t>.</a:t>
            </a:r>
          </a:p>
          <a:p>
            <a:pPr marL="0" indent="0">
              <a:buNone/>
            </a:pPr>
            <a:endParaRPr lang="en-US" dirty="0"/>
          </a:p>
        </p:txBody>
      </p:sp>
    </p:spTree>
    <p:extLst>
      <p:ext uri="{BB962C8B-B14F-4D97-AF65-F5344CB8AC3E}">
        <p14:creationId xmlns:p14="http://schemas.microsoft.com/office/powerpoint/2010/main" val="3109990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B567-6BA0-7EAB-4D56-7C46D4346EB5}"/>
              </a:ext>
            </a:extLst>
          </p:cNvPr>
          <p:cNvSpPr>
            <a:spLocks noGrp="1"/>
          </p:cNvSpPr>
          <p:nvPr>
            <p:ph type="title"/>
          </p:nvPr>
        </p:nvSpPr>
        <p:spPr>
          <a:xfrm>
            <a:off x="838200" y="365125"/>
            <a:ext cx="10515600" cy="1775402"/>
          </a:xfrm>
        </p:spPr>
        <p:txBody>
          <a:bodyPr>
            <a:normAutofit fontScale="90000"/>
          </a:bodyPr>
          <a:lstStyle/>
          <a:p>
            <a:pPr marL="0" marR="0">
              <a:lnSpc>
                <a:spcPct val="107000"/>
              </a:lnSpc>
              <a:spcBef>
                <a:spcPts val="0"/>
              </a:spcBef>
              <a:spcAft>
                <a:spcPts val="800"/>
              </a:spcAft>
            </a:pPr>
            <a:r>
              <a:rPr lang="en-US" sz="4900" b="1" kern="100" dirty="0">
                <a:effectLst/>
                <a:latin typeface="Century Gothic" panose="020B0502020202020204" pitchFamily="34" charset="0"/>
                <a:ea typeface="Calibri" panose="020F0502020204030204" pitchFamily="34" charset="0"/>
                <a:cs typeface="Times New Roman" panose="02020603050405020304" pitchFamily="18" charset="0"/>
              </a:rPr>
              <a:t>Markets Are Usually a Good Way to Organize Economic Activity:</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8548540-63A8-81F1-D3A2-68BD73C81E48}"/>
              </a:ext>
            </a:extLst>
          </p:cNvPr>
          <p:cNvSpPr>
            <a:spLocks noGrp="1"/>
          </p:cNvSpPr>
          <p:nvPr>
            <p:ph idx="1"/>
          </p:nvPr>
        </p:nvSpPr>
        <p:spPr>
          <a:xfrm>
            <a:off x="550718" y="1953491"/>
            <a:ext cx="10803082" cy="4223472"/>
          </a:xfrm>
        </p:spPr>
        <p:txBody>
          <a:bodyPr>
            <a:normAutofit fontScale="92500"/>
          </a:bodyPr>
          <a:lstStyle/>
          <a:p>
            <a:r>
              <a:rPr lang="en-US" sz="2400" kern="100" dirty="0">
                <a:latin typeface="Century Gothic" panose="020B0502020202020204" pitchFamily="34" charset="0"/>
                <a:ea typeface="Calibri" panose="020F0502020204030204" pitchFamily="34" charset="0"/>
                <a:cs typeface="Times New Roman" panose="02020603050405020304" pitchFamily="18" charset="0"/>
              </a:rPr>
              <a:t>Market interactions facilitate efficient resource allocation through supply and demand as postulated by Adam Smith- “the invisible hand”. </a:t>
            </a:r>
          </a:p>
          <a:p>
            <a:r>
              <a:rPr lang="en-US" sz="2400" kern="100" dirty="0">
                <a:latin typeface="Century Gothic" panose="020B0502020202020204" pitchFamily="34" charset="0"/>
                <a:cs typeface="Times New Roman" panose="02020603050405020304" pitchFamily="18" charset="0"/>
              </a:rPr>
              <a:t>This type of economy is known as </a:t>
            </a:r>
            <a:r>
              <a:rPr lang="en-US" sz="2400" b="1" kern="100" dirty="0">
                <a:latin typeface="Century Gothic" panose="020B0502020202020204" pitchFamily="34" charset="0"/>
                <a:cs typeface="Times New Roman" panose="02020603050405020304" pitchFamily="18" charset="0"/>
              </a:rPr>
              <a:t>market economy or decentralized economy. </a:t>
            </a:r>
          </a:p>
          <a:p>
            <a:r>
              <a:rPr lang="en-US" sz="2400" kern="100" dirty="0">
                <a:latin typeface="Century Gothic" panose="020B0502020202020204" pitchFamily="34" charset="0"/>
                <a:cs typeface="Times New Roman" panose="02020603050405020304" pitchFamily="18" charset="0"/>
              </a:rPr>
              <a:t>A market economy is an economy that allocates resources through the decentralized decisions of many firms and households as they interact in markets for goods and services</a:t>
            </a:r>
          </a:p>
          <a:p>
            <a:r>
              <a:rPr lang="en-US" sz="2400" kern="100" dirty="0">
                <a:latin typeface="Century Gothic" panose="020B0502020202020204" pitchFamily="34" charset="0"/>
                <a:cs typeface="Times New Roman" panose="02020603050405020304" pitchFamily="18" charset="0"/>
              </a:rPr>
              <a:t>As opposed to </a:t>
            </a:r>
            <a:r>
              <a:rPr lang="en-US" sz="2400" b="1" kern="100" dirty="0">
                <a:latin typeface="Century Gothic" panose="020B0502020202020204" pitchFamily="34" charset="0"/>
                <a:cs typeface="Times New Roman" panose="02020603050405020304" pitchFamily="18" charset="0"/>
              </a:rPr>
              <a:t>central planner economy </a:t>
            </a:r>
            <a:r>
              <a:rPr lang="en-US" sz="2400" kern="100" dirty="0">
                <a:latin typeface="Century Gothic" panose="020B0502020202020204" pitchFamily="34" charset="0"/>
                <a:cs typeface="Times New Roman" panose="02020603050405020304" pitchFamily="18" charset="0"/>
              </a:rPr>
              <a:t>where economic activity (what to produce, how much was produced and who should it be produced for  produce) is determined by the government with the ideology of promoting wellbeing of the economy as a whole i.e. communism </a:t>
            </a:r>
          </a:p>
          <a:p>
            <a:pPr marL="0" indent="0">
              <a:buNone/>
            </a:pPr>
            <a:endParaRPr lang="en-US" dirty="0"/>
          </a:p>
        </p:txBody>
      </p:sp>
    </p:spTree>
    <p:extLst>
      <p:ext uri="{BB962C8B-B14F-4D97-AF65-F5344CB8AC3E}">
        <p14:creationId xmlns:p14="http://schemas.microsoft.com/office/powerpoint/2010/main" val="3781277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D0981-1CF4-7B3F-1563-846FF059D40C}"/>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Governments Can </a:t>
            </a:r>
            <a:r>
              <a:rPr lang="en-US" b="1" u="sng" kern="100" dirty="0">
                <a:latin typeface="Century Gothic" panose="020B0502020202020204" pitchFamily="34" charset="0"/>
                <a:ea typeface="Calibri" panose="020F0502020204030204" pitchFamily="34" charset="0"/>
                <a:cs typeface="Times New Roman" panose="02020603050405020304" pitchFamily="18" charset="0"/>
              </a:rPr>
              <a:t>Sometimes</a:t>
            </a:r>
            <a:r>
              <a:rPr lang="en-US" b="1" kern="100" dirty="0">
                <a:latin typeface="Century Gothic" panose="020B0502020202020204" pitchFamily="34" charset="0"/>
                <a:ea typeface="Calibri" panose="020F0502020204030204" pitchFamily="34" charset="0"/>
                <a:cs typeface="Times New Roman" panose="02020603050405020304" pitchFamily="18" charset="0"/>
              </a:rPr>
              <a:t> Improve Market Outcomes: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D0BBA08-6172-E733-D40B-3849C2525287}"/>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Government intervention can </a:t>
            </a: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correct</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 market failures, such as externalities and information asymmetry.</a:t>
            </a: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Effective governance enhances overall societal wellbeing by addressing market imperfections. </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Government is a necessary entity in the system that enforces </a:t>
            </a:r>
            <a:r>
              <a:rPr lang="en-US" sz="2400" b="1" kern="100" dirty="0">
                <a:latin typeface="Century Gothic" panose="020B0502020202020204" pitchFamily="34" charset="0"/>
                <a:ea typeface="Calibri" panose="020F0502020204030204" pitchFamily="34" charset="0"/>
                <a:cs typeface="Times New Roman" panose="02020603050405020304" pitchFamily="18" charset="0"/>
              </a:rPr>
              <a:t>property rights</a:t>
            </a:r>
            <a:r>
              <a:rPr lang="en-US" sz="2400" kern="100" dirty="0">
                <a:latin typeface="Century Gothic" panose="020B0502020202020204" pitchFamily="34" charset="0"/>
                <a:ea typeface="Calibri" panose="020F0502020204030204" pitchFamily="34" charset="0"/>
                <a:cs typeface="Times New Roman" panose="02020603050405020304" pitchFamily="18" charset="0"/>
              </a:rPr>
              <a:t>.</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a:t>
            </a:r>
            <a:r>
              <a:rPr lang="en-US" sz="2400" dirty="0">
                <a:latin typeface="Century Gothic" panose="020B0502020202020204" pitchFamily="34" charset="0"/>
              </a:rPr>
              <a:t>roperty rights is the ability to exercise control over scarce resources </a:t>
            </a:r>
            <a:endParaRPr lang="en-US" sz="2400"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20208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D676E-264B-A243-43BD-8AD0609DD55A}"/>
              </a:ext>
            </a:extLst>
          </p:cNvPr>
          <p:cNvSpPr>
            <a:spLocks noGrp="1"/>
          </p:cNvSpPr>
          <p:nvPr>
            <p:ph type="title"/>
          </p:nvPr>
        </p:nvSpPr>
        <p:spPr>
          <a:xfrm>
            <a:off x="838200" y="365125"/>
            <a:ext cx="10515600" cy="2170257"/>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A Country’s Standard of Living Depends on Its Ability to Produce Goods and Services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8CA6CCF-CE81-FA7E-BECF-534A9F140717}"/>
              </a:ext>
            </a:extLst>
          </p:cNvPr>
          <p:cNvSpPr>
            <a:spLocks noGrp="1"/>
          </p:cNvSpPr>
          <p:nvPr>
            <p:ph idx="1"/>
          </p:nvPr>
        </p:nvSpPr>
        <p:spPr>
          <a:xfrm>
            <a:off x="838200" y="2234045"/>
            <a:ext cx="10515600" cy="3942917"/>
          </a:xfrm>
        </p:spPr>
        <p:txBody>
          <a:bodyPr>
            <a:normAutofit/>
          </a:bodyPr>
          <a:lstStyle/>
          <a:p>
            <a:pPr algn="just">
              <a:lnSpc>
                <a:spcPct val="107000"/>
              </a:lnSpc>
              <a:spcBef>
                <a:spcPts val="0"/>
              </a:spcBef>
              <a:spcAft>
                <a:spcPts val="800"/>
              </a:spcAft>
            </a:pPr>
            <a:r>
              <a:rPr lang="en-US" kern="100" dirty="0">
                <a:effectLst/>
                <a:latin typeface="Century Gothic" panose="020B0502020202020204" pitchFamily="34" charset="0"/>
                <a:ea typeface="Calibri" panose="020F0502020204030204" pitchFamily="34" charset="0"/>
                <a:cs typeface="Times New Roman" panose="02020603050405020304" pitchFamily="18" charset="0"/>
              </a:rPr>
              <a:t>Economic prosperity hinges on productivity growth and technological advancement.</a:t>
            </a:r>
          </a:p>
          <a:p>
            <a:pPr algn="just">
              <a:lnSpc>
                <a:spcPct val="107000"/>
              </a:lnSpc>
              <a:spcBef>
                <a:spcPts val="0"/>
              </a:spcBef>
              <a:spcAft>
                <a:spcPts val="800"/>
              </a:spcAft>
            </a:pPr>
            <a:r>
              <a:rPr lang="en-US" kern="100" dirty="0">
                <a:effectLst/>
                <a:latin typeface="Century Gothic" panose="020B0502020202020204" pitchFamily="34" charset="0"/>
                <a:ea typeface="Calibri" panose="020F0502020204030204" pitchFamily="34" charset="0"/>
                <a:cs typeface="Times New Roman" panose="02020603050405020304" pitchFamily="18" charset="0"/>
              </a:rPr>
              <a:t>Productivity i</a:t>
            </a:r>
            <a:r>
              <a:rPr lang="en-US" kern="100" dirty="0">
                <a:latin typeface="Century Gothic" panose="020B0502020202020204" pitchFamily="34" charset="0"/>
                <a:ea typeface="Calibri" panose="020F0502020204030204" pitchFamily="34" charset="0"/>
                <a:cs typeface="Times New Roman" panose="02020603050405020304" pitchFamily="18" charset="0"/>
              </a:rPr>
              <a:t>s the quantity of output produced from a single unit of labor. </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effectLst/>
                <a:latin typeface="Century Gothic" panose="020B0502020202020204" pitchFamily="34" charset="0"/>
                <a:ea typeface="Calibri" panose="020F0502020204030204" pitchFamily="34" charset="0"/>
                <a:cs typeface="Times New Roman" panose="02020603050405020304" pitchFamily="18" charset="0"/>
              </a:rPr>
              <a:t>Fostering an environment conducive to innovation and skill development elevates living standards.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6360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AED6A-CB21-BDE4-A911-78DB9DA5E4E8}"/>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Prices Rise When the Government Prints Too Much Money:</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C06E43A-E28E-9396-8BC1-B95648ADD5F2}"/>
              </a:ext>
            </a:extLst>
          </p:cNvPr>
          <p:cNvSpPr>
            <a:spLocks noGrp="1"/>
          </p:cNvSpPr>
          <p:nvPr>
            <p:ph idx="1"/>
          </p:nvPr>
        </p:nvSpPr>
        <p:spPr>
          <a:xfrm>
            <a:off x="838200" y="1932709"/>
            <a:ext cx="10515600" cy="4244254"/>
          </a:xfrm>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principle of monetary responsibility warns against excessive money supply and resulting inflation.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‘Sound’ monetary policy safeguards the purchasing power of currency and maintains price stability.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29731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E7A88-E1AC-1C5B-0FBC-44CF15951982}"/>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Society Faces a Short Run Tradeoff between Inflation and Unemployment:</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C159040-2193-2866-3421-09092572BBC2}"/>
              </a:ext>
            </a:extLst>
          </p:cNvPr>
          <p:cNvSpPr>
            <a:spLocks noGrp="1"/>
          </p:cNvSpPr>
          <p:nvPr>
            <p:ph idx="1"/>
          </p:nvPr>
        </p:nvSpPr>
        <p:spPr>
          <a:xfrm>
            <a:off x="838200" y="1773670"/>
            <a:ext cx="10515600" cy="4351338"/>
          </a:xfrm>
        </p:spPr>
        <p:txBody>
          <a:bodyPr>
            <a:normAutofit fontScale="85000" lnSpcReduction="20000"/>
          </a:bodyPr>
          <a:lstStyle/>
          <a:p>
            <a:pPr marL="0" indent="0">
              <a:buNone/>
            </a:pPr>
            <a:r>
              <a:rPr lang="en-US" sz="3100" b="1" dirty="0">
                <a:latin typeface="Century Gothic" panose="020B0502020202020204" pitchFamily="34" charset="0"/>
              </a:rPr>
              <a:t>Short-Run Effects of Monetary Injections:</a:t>
            </a:r>
          </a:p>
          <a:p>
            <a:pPr marL="514350" indent="-514350">
              <a:buFont typeface="+mj-lt"/>
              <a:buAutoNum type="alphaLcPeriod"/>
            </a:pPr>
            <a:r>
              <a:rPr lang="en-US" sz="3100" dirty="0">
                <a:latin typeface="Century Gothic" panose="020B0502020202020204" pitchFamily="34" charset="0"/>
              </a:rPr>
              <a:t>Increasing money supply stimulates overall spending and demand for goods/services. This creates a situation where there is plenty money chasing a few goods. e.g. Maize market recently </a:t>
            </a:r>
          </a:p>
          <a:p>
            <a:pPr marL="514350" indent="-514350">
              <a:buFont typeface="+mj-lt"/>
              <a:buAutoNum type="alphaLcPeriod"/>
            </a:pPr>
            <a:r>
              <a:rPr lang="en-US" sz="3100" dirty="0">
                <a:latin typeface="Century Gothic" panose="020B0502020202020204" pitchFamily="34" charset="0"/>
              </a:rPr>
              <a:t>Higher demand encourages firms to hire more workers and increase production and this  leads to lower unemployment.</a:t>
            </a:r>
            <a:r>
              <a:rPr lang="en-US" sz="3100" kern="100" dirty="0">
                <a:latin typeface="Century Gothic" panose="020B0502020202020204" pitchFamily="34" charset="0"/>
                <a:ea typeface="Calibri" panose="020F0502020204030204" pitchFamily="34" charset="0"/>
                <a:cs typeface="Times New Roman" panose="02020603050405020304" pitchFamily="18" charset="0"/>
              </a:rPr>
              <a:t>  </a:t>
            </a:r>
          </a:p>
          <a:p>
            <a:pPr marL="0" indent="0">
              <a:buNone/>
            </a:pPr>
            <a:endParaRPr lang="en-US" sz="3100"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3100" kern="100" dirty="0">
                <a:latin typeface="Century Gothic" panose="020B0502020202020204" pitchFamily="34" charset="0"/>
                <a:ea typeface="Calibri" panose="020F0502020204030204" pitchFamily="34" charset="0"/>
                <a:cs typeface="Times New Roman" panose="02020603050405020304" pitchFamily="18" charset="0"/>
              </a:rPr>
              <a:t>This relationship is shown by the </a:t>
            </a:r>
            <a:r>
              <a:rPr lang="en-US" sz="3100" b="1" kern="100" dirty="0">
                <a:latin typeface="Century Gothic" panose="020B0502020202020204" pitchFamily="34" charset="0"/>
                <a:ea typeface="Calibri" panose="020F0502020204030204" pitchFamily="34" charset="0"/>
                <a:cs typeface="Times New Roman" panose="02020603050405020304" pitchFamily="18" charset="0"/>
              </a:rPr>
              <a:t>Phillips curve</a:t>
            </a:r>
            <a:r>
              <a:rPr lang="en-US" sz="3100" kern="100" dirty="0">
                <a:latin typeface="Century Gothic" panose="020B0502020202020204" pitchFamily="34" charset="0"/>
                <a:ea typeface="Calibri" panose="020F0502020204030204" pitchFamily="34" charset="0"/>
                <a:cs typeface="Times New Roman" panose="02020603050405020304" pitchFamily="18" charset="0"/>
              </a:rPr>
              <a:t>. It suggests that employment and inflation are inversely related.  </a:t>
            </a:r>
          </a:p>
          <a:p>
            <a:pPr algn="just">
              <a:lnSpc>
                <a:spcPct val="107000"/>
              </a:lnSpc>
              <a:spcBef>
                <a:spcPts val="0"/>
              </a:spcBef>
              <a:spcAft>
                <a:spcPts val="800"/>
              </a:spcAft>
            </a:pPr>
            <a:r>
              <a:rPr lang="en-US" sz="3100" kern="100" dirty="0">
                <a:latin typeface="Century Gothic" panose="020B0502020202020204" pitchFamily="34" charset="0"/>
                <a:ea typeface="Calibri" panose="020F0502020204030204" pitchFamily="34" charset="0"/>
                <a:cs typeface="Times New Roman" panose="02020603050405020304" pitchFamily="18" charset="0"/>
              </a:rPr>
              <a:t>Policymakers must navigate this delicate balance to achieve both economic stability and employment goals.</a:t>
            </a:r>
          </a:p>
          <a:p>
            <a:endParaRPr lang="en-US" dirty="0"/>
          </a:p>
        </p:txBody>
      </p:sp>
    </p:spTree>
    <p:extLst>
      <p:ext uri="{BB962C8B-B14F-4D97-AF65-F5344CB8AC3E}">
        <p14:creationId xmlns:p14="http://schemas.microsoft.com/office/powerpoint/2010/main" val="2823691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C90EB40F-90C0-1251-1741-9580643C57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34677" y="1253331"/>
            <a:ext cx="652264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782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83AAB-2CE2-E6D9-03B6-3FBEB30FC19C}"/>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Application of Economic Thinking in Real-World Agricultural Challenges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0FAD89C-832C-F315-A6C7-E4AF19EEA759}"/>
              </a:ext>
            </a:extLst>
          </p:cNvPr>
          <p:cNvSpPr>
            <a:spLocks noGrp="1"/>
          </p:cNvSpPr>
          <p:nvPr>
            <p:ph idx="1"/>
          </p:nvPr>
        </p:nvSpPr>
        <p:spPr/>
        <p:txBody>
          <a:bodyPr>
            <a:normAutofit fontScale="70000" lnSpcReduction="20000"/>
          </a:bodyPr>
          <a:lstStyle/>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The application of economic thinking is instrumental in resolving real-world challenges faced by agricultural producers and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Sustainable Agriculture:</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Economic analysis assists in evaluating the costs and benefits of adopting sustainable practices, guiding individuals to strike a balance between productivity and environmental conservation.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Agricultural Policy Formulation: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Individuals learn to design policies that incentivize agricultural growth, enhance food security, and address income inequality in rural communities.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Technological Advancements: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Economic thinking helps individuals assess the economic viability of adopting innovative technologies in value chain agriculture, such as precision agriculture and biotechnology.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Food Supply and Distribution: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Individuals will explore the role of economics in analyzing food supply chains, addressing food shortages, and optimizing distribution networks to ensure food accessibility and affordability.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210125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A68641-CD59-98E4-2274-75DAD94470EC}"/>
              </a:ext>
            </a:extLst>
          </p:cNvPr>
          <p:cNvSpPr>
            <a:spLocks noGrp="1"/>
          </p:cNvSpPr>
          <p:nvPr>
            <p:ph idx="1"/>
          </p:nvPr>
        </p:nvSpPr>
        <p:spPr/>
        <p:txBody>
          <a:bodyPr/>
          <a:lstStyle/>
          <a:p>
            <a:pPr marL="0" marR="0" algn="just">
              <a:lnSpc>
                <a:spcPct val="107000"/>
              </a:lnSpc>
              <a:spcBef>
                <a:spcPts val="0"/>
              </a:spcBef>
              <a:spcAft>
                <a:spcPts val="800"/>
              </a:spcAft>
            </a:pPr>
            <a:r>
              <a:rPr lang="en-US" sz="1800" i="1" kern="100" dirty="0">
                <a:effectLst/>
                <a:latin typeface="Century Gothic" panose="020B0502020202020204" pitchFamily="34" charset="0"/>
                <a:ea typeface="Calibri" panose="020F0502020204030204" pitchFamily="34" charset="0"/>
                <a:cs typeface="Times New Roman" panose="02020603050405020304" pitchFamily="18" charset="0"/>
              </a:rPr>
              <a:t>Economics forms the bedrock of understanding decision-making and resource allocation within value chain agriculture. Aspiring professionals in this domain benefit significantly from comprehending the principles of economics, distinguishing between microeconomics and macroeconomics, and applying economic thinking to address real-world challenges.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i="1" kern="100" dirty="0">
                <a:effectLst/>
                <a:latin typeface="Century Gothic" panose="020B0502020202020204" pitchFamily="34" charset="0"/>
                <a:ea typeface="Calibri" panose="020F0502020204030204" pitchFamily="34" charset="0"/>
                <a:cs typeface="Times New Roman" panose="02020603050405020304" pitchFamily="18" charset="0"/>
              </a:rPr>
              <a:t>Armed with economic insights, value chain agriculture students can chart a sustainable path, optimize resource utilization, and contribute to transformative development within agricultural communities.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i="1" kern="100" dirty="0">
                <a:effectLst/>
                <a:latin typeface="Century Gothic" panose="020B0502020202020204" pitchFamily="34" charset="0"/>
                <a:ea typeface="Calibri" panose="020F0502020204030204" pitchFamily="34" charset="0"/>
                <a:cs typeface="Times New Roman" panose="02020603050405020304" pitchFamily="18" charset="0"/>
              </a:rPr>
              <a:t>By leveraging economic principles, they become key players in driving positive change, promoting inclusive growth, and fostering resilience in the ever-evolving landscape of value chain agriculture.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7481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4B9CF-1F44-31C5-2B04-A50C26F6A3BA}"/>
              </a:ext>
            </a:extLst>
          </p:cNvPr>
          <p:cNvSpPr>
            <a:spLocks noGrp="1"/>
          </p:cNvSpPr>
          <p:nvPr>
            <p:ph type="title"/>
          </p:nvPr>
        </p:nvSpPr>
        <p:spPr>
          <a:xfrm>
            <a:off x="838200" y="365125"/>
            <a:ext cx="10515600" cy="5786293"/>
          </a:xfrm>
        </p:spPr>
        <p:txBody>
          <a:bodyPr>
            <a:normAutofit/>
          </a:bodyPr>
          <a:lstStyle/>
          <a:p>
            <a:r>
              <a:rPr lang="en-US" sz="7200" b="1" dirty="0">
                <a:latin typeface="Century Gothic" panose="020B0502020202020204" pitchFamily="34" charset="0"/>
                <a:ea typeface="Calibri" panose="020F0502020204030204" pitchFamily="34" charset="0"/>
                <a:cs typeface="Times New Roman" panose="02020603050405020304" pitchFamily="18" charset="0"/>
              </a:rPr>
              <a:t>Lecture 2: </a:t>
            </a:r>
            <a:br>
              <a:rPr lang="en-US" sz="7200" b="1" dirty="0">
                <a:latin typeface="Century Gothic" panose="020B0502020202020204" pitchFamily="34" charset="0"/>
                <a:ea typeface="Calibri" panose="020F0502020204030204" pitchFamily="34" charset="0"/>
                <a:cs typeface="Times New Roman" panose="02020603050405020304" pitchFamily="18" charset="0"/>
              </a:rPr>
            </a:br>
            <a:r>
              <a:rPr lang="en-US" sz="7200" b="1" dirty="0">
                <a:latin typeface="Century Gothic" panose="020B0502020202020204" pitchFamily="34" charset="0"/>
                <a:ea typeface="Calibri" panose="020F0502020204030204" pitchFamily="34" charset="0"/>
                <a:cs typeface="Times New Roman" panose="02020603050405020304" pitchFamily="18" charset="0"/>
              </a:rPr>
              <a:t>Market Forces: </a:t>
            </a:r>
            <a:br>
              <a:rPr lang="en-US" sz="7200" b="1" dirty="0">
                <a:latin typeface="Century Gothic" panose="020B0502020202020204" pitchFamily="34" charset="0"/>
                <a:ea typeface="Calibri" panose="020F0502020204030204" pitchFamily="34" charset="0"/>
                <a:cs typeface="Times New Roman" panose="02020603050405020304" pitchFamily="18" charset="0"/>
              </a:rPr>
            </a:br>
            <a:r>
              <a:rPr lang="en-US" sz="7200" b="1" dirty="0">
                <a:latin typeface="Century Gothic" panose="020B0502020202020204" pitchFamily="34" charset="0"/>
                <a:ea typeface="Calibri" panose="020F0502020204030204" pitchFamily="34" charset="0"/>
                <a:cs typeface="Times New Roman" panose="02020603050405020304" pitchFamily="18" charset="0"/>
              </a:rPr>
              <a:t>Demand and Supply </a:t>
            </a:r>
            <a:endParaRPr lang="en-US" sz="7200" dirty="0"/>
          </a:p>
        </p:txBody>
      </p:sp>
    </p:spTree>
    <p:extLst>
      <p:ext uri="{BB962C8B-B14F-4D97-AF65-F5344CB8AC3E}">
        <p14:creationId xmlns:p14="http://schemas.microsoft.com/office/powerpoint/2010/main" val="4240923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225A5-85B2-776B-32D4-00EA8C94098D}"/>
              </a:ext>
            </a:extLst>
          </p:cNvPr>
          <p:cNvSpPr>
            <a:spLocks noGrp="1"/>
          </p:cNvSpPr>
          <p:nvPr>
            <p:ph type="title"/>
          </p:nvPr>
        </p:nvSpPr>
        <p:spPr>
          <a:xfrm>
            <a:off x="838200" y="365125"/>
            <a:ext cx="10515600" cy="6035675"/>
          </a:xfrm>
        </p:spPr>
        <p:txBody>
          <a:bodyPr>
            <a:normAutofit/>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Demand and Supply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2349366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8260-8CAB-0CFE-B4A2-66BE9F3284E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Demand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62330C2-CF3A-8777-B9AA-D2764E4A0336}"/>
              </a:ext>
            </a:extLst>
          </p:cNvPr>
          <p:cNvSpPr>
            <a:spLocks noGrp="1"/>
          </p:cNvSpPr>
          <p:nvPr>
            <p:ph idx="1"/>
          </p:nvPr>
        </p:nvSpPr>
        <p:spPr/>
        <p:txBody>
          <a:bodyPr>
            <a:normAutofit fontScale="92500" lnSpcReduction="1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Demand is the quantity of goods or services that consumers are willing and able to buy at different price levels during a specific period.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represents the desire of buyers to obtain products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Law of demand</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Other things held equal (ceteris paribus), when the price of a good rises, the quantity demanded of that particular good falls and when the price of the good falls, the quantity demanded of the good rises.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86694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57AAC-8275-34A7-624E-FDE916CFBF68}"/>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Supply</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7AA7049-E698-F608-C3A9-46551DEBC4F3}"/>
              </a:ext>
            </a:extLst>
          </p:cNvPr>
          <p:cNvSpPr>
            <a:spLocks noGrp="1"/>
          </p:cNvSpPr>
          <p:nvPr>
            <p:ph idx="1"/>
          </p:nvPr>
        </p:nvSpPr>
        <p:spPr/>
        <p:txBody>
          <a:bodyPr>
            <a:normAutofit fontScale="925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Supply, on the other hand, refers to the quantity of goods or services that producers are willing and able to offer for sale at various price levels during a specific period.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Supply reflects the willingness of producers to make their products available to the market.</a:t>
            </a:r>
            <a:r>
              <a:rPr lang="en-US" kern="100" dirty="0">
                <a:latin typeface="Calibri" panose="020F0502020204030204" pitchFamily="34" charset="0"/>
                <a:ea typeface="Calibri" panose="020F0502020204030204" pitchFamily="34" charset="0"/>
                <a:cs typeface="Times New Roman" panose="02020603050405020304" pitchFamily="18" charset="0"/>
              </a:rPr>
              <a:t> </a:t>
            </a: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Law of supply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Other things equal (ceteris paribus), when the price of a good rises, the quantity supplied of the good rises and when the price of the good falls, the quantity supplied of the good falls.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45213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53A8-7A5B-7BF7-0EA1-39C3BB977C26}"/>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Diagram showing supply and demand schedule</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818007B4-17C5-9C0A-7138-C8BA7A25D8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5222" y="1825625"/>
            <a:ext cx="5121556" cy="4351338"/>
          </a:xfrm>
          <a:prstGeom prst="rect">
            <a:avLst/>
          </a:prstGeom>
        </p:spPr>
      </p:pic>
    </p:spTree>
    <p:extLst>
      <p:ext uri="{BB962C8B-B14F-4D97-AF65-F5344CB8AC3E}">
        <p14:creationId xmlns:p14="http://schemas.microsoft.com/office/powerpoint/2010/main" val="473960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07F65-7BCC-6D41-2B6A-2257E67F75F8}"/>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Factors Influencing Demand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49D8D4D-09F2-F6CA-5836-0028E963BE77}"/>
              </a:ext>
            </a:extLst>
          </p:cNvPr>
          <p:cNvSpPr>
            <a:spLocks noGrp="1"/>
          </p:cNvSpPr>
          <p:nvPr>
            <p:ph idx="1"/>
          </p:nvPr>
        </p:nvSpPr>
        <p:spPr/>
        <p:txBody>
          <a:bodyPr>
            <a:normAutofit fontScale="775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Price</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change in the price of products can directly affect the quantity demanded by consumers. When prices rise, demand tends to decrease, and vice versa. This causes a movement along the demand schedule.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Income</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As consumers' income changes, their ability to purchase products also changes. Higher incomes often lead to increased demand for goods. This causes a shift in the demand schedule.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Preferences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Consumer preferences for specific products can greatly impact demand. Changes in taste and preferences may cause shifts in demand between different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67263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AC35FB-AE12-DB3C-AE59-529128363CBD}"/>
              </a:ext>
            </a:extLst>
          </p:cNvPr>
          <p:cNvSpPr>
            <a:spLocks noGrp="1"/>
          </p:cNvSpPr>
          <p:nvPr>
            <p:ph idx="1"/>
          </p:nvPr>
        </p:nvSpPr>
        <p:spPr>
          <a:xfrm>
            <a:off x="838200" y="1340427"/>
            <a:ext cx="10515600" cy="4836536"/>
          </a:xfrm>
        </p:spPr>
        <p:txBody>
          <a:bodyPr>
            <a:normAutofit fontScale="85000" lnSpcReduction="2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Population: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An increase in population typically leads to higher demand for products.</a:t>
            </a: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Expectations: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Expectations of future price changes or income fluctuations can influence current demand. For example, if consumers anticipate higher prices in the future, they may increase their current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Price of other goods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Substitutes</a:t>
            </a:r>
            <a:r>
              <a:rPr lang="en-US" b="1" kern="100" dirty="0">
                <a:latin typeface="Century Gothic" panose="020B0502020202020204" pitchFamily="34" charset="0"/>
                <a:ea typeface="Calibri" panose="020F0502020204030204" pitchFamily="34" charset="0"/>
                <a:cs typeface="Times New Roman" panose="02020603050405020304" pitchFamily="18" charset="0"/>
              </a:rPr>
              <a:t>-</a:t>
            </a:r>
            <a:r>
              <a:rPr lang="en-US" kern="100" dirty="0">
                <a:latin typeface="Century Gothic" panose="020B0502020202020204" pitchFamily="34" charset="0"/>
                <a:ea typeface="Calibri" panose="020F0502020204030204" pitchFamily="34" charset="0"/>
                <a:cs typeface="Times New Roman" panose="02020603050405020304" pitchFamily="18" charset="0"/>
              </a:rPr>
              <a:t> when the prices of substitutes of a good a rises, it leads to an increase in the quantity demanded of it’s close substitute.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Complements</a:t>
            </a: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when the prices of a good rises, the quantity demanded of its ‘perfect’ complement falls.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99469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0B07E-223C-6C80-700E-B047A464C4F2}"/>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Factors Influencing Supply</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94F6C35-776D-2A8F-8974-A1345C6A392A}"/>
              </a:ext>
            </a:extLst>
          </p:cNvPr>
          <p:cNvSpPr>
            <a:spLocks noGrp="1"/>
          </p:cNvSpPr>
          <p:nvPr>
            <p:ph idx="1"/>
          </p:nvPr>
        </p:nvSpPr>
        <p:spPr>
          <a:xfrm>
            <a:off x="838200" y="1496291"/>
            <a:ext cx="10515600" cy="4996584"/>
          </a:xfrm>
        </p:spPr>
        <p:txBody>
          <a:bodyPr>
            <a:normAutofit fontScale="775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Input Prices: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Changes in the prices of inputs like seeds, fertilizers, and labor can affect the cost of production, influencing the quantity of agricultural goods that producers are willing to supply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Technology: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Technological advancements in agriculture can increase productivity, leading to higher supply of agricultural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Government Policies: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Government policies, such as subsidies or trade regulations, can impact the cost of production and, consequently, the supply of agricultural goods.</a:t>
            </a: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Natural Conditions: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Weather conditions, pest outbreaks, and natural disasters can significantly influence the quantity of agricultural products available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84880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B200F-36EE-CE5C-FED9-8901D9D8883B}"/>
              </a:ext>
            </a:extLst>
          </p:cNvPr>
          <p:cNvSpPr>
            <a:spLocks noGrp="1"/>
          </p:cNvSpPr>
          <p:nvPr>
            <p:ph type="title"/>
          </p:nvPr>
        </p:nvSpPr>
        <p:spPr>
          <a:xfrm>
            <a:off x="838200" y="365125"/>
            <a:ext cx="10515600" cy="1444393"/>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Understanding Market Equilibrium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Picture 3">
            <a:extLst>
              <a:ext uri="{FF2B5EF4-FFF2-40B4-BE49-F238E27FC236}">
                <a16:creationId xmlns:a16="http://schemas.microsoft.com/office/drawing/2014/main" id="{52582AA3-D82C-5919-DAA9-735BC2AF37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0137" y="1809518"/>
            <a:ext cx="6816436" cy="4714973"/>
          </a:xfrm>
          <a:prstGeom prst="rect">
            <a:avLst/>
          </a:prstGeom>
        </p:spPr>
      </p:pic>
    </p:spTree>
    <p:extLst>
      <p:ext uri="{BB962C8B-B14F-4D97-AF65-F5344CB8AC3E}">
        <p14:creationId xmlns:p14="http://schemas.microsoft.com/office/powerpoint/2010/main" val="3327721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4AD3CC-2A5D-4C24-8A2C-6DB7B75F0F0D}"/>
              </a:ext>
            </a:extLst>
          </p:cNvPr>
          <p:cNvSpPr>
            <a:spLocks noGrp="1"/>
          </p:cNvSpPr>
          <p:nvPr>
            <p:ph idx="1"/>
          </p:nvPr>
        </p:nvSpPr>
        <p:spPr>
          <a:xfrm>
            <a:off x="838200" y="1319645"/>
            <a:ext cx="10515600" cy="4857318"/>
          </a:xfrm>
        </p:spPr>
        <p:txBody>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Market equilibrium is the point where the quantity demanded by consumers is equal to the quantity supplied by producers at a particular price level. </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At this point, there is no surplus or shortage in the market.</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When the price is too high (above the equilibrium), there is a surplus, leading to downward pressure on prices. </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When the price is too low (below the equilibrium), there is a shortage, leading to upward pressure on prices.</a:t>
            </a:r>
          </a:p>
          <a:p>
            <a:endParaRPr lang="en-US" dirty="0"/>
          </a:p>
        </p:txBody>
      </p:sp>
    </p:spTree>
    <p:extLst>
      <p:ext uri="{BB962C8B-B14F-4D97-AF65-F5344CB8AC3E}">
        <p14:creationId xmlns:p14="http://schemas.microsoft.com/office/powerpoint/2010/main" val="1626673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F115-229E-F37F-0168-C436988CC1CF}"/>
              </a:ext>
            </a:extLst>
          </p:cNvPr>
          <p:cNvSpPr>
            <a:spLocks noGrp="1"/>
          </p:cNvSpPr>
          <p:nvPr>
            <p:ph type="title"/>
          </p:nvPr>
        </p:nvSpPr>
        <p:spPr>
          <a:xfrm>
            <a:off x="838200" y="103909"/>
            <a:ext cx="10515600" cy="1246909"/>
          </a:xfrm>
        </p:spPr>
        <p:txBody>
          <a:bodyPr>
            <a:normAutofit fontScale="90000"/>
          </a:bodyPr>
          <a:lstStyle/>
          <a:p>
            <a:pPr marL="0" marR="0" algn="ctr">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Consumer Surplus and Producer Surplus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B7A9865-BA98-4804-55B2-94BD1D205C43}"/>
              </a:ext>
            </a:extLst>
          </p:cNvPr>
          <p:cNvSpPr>
            <a:spLocks noGrp="1"/>
          </p:cNvSpPr>
          <p:nvPr>
            <p:ph idx="1"/>
          </p:nvPr>
        </p:nvSpPr>
        <p:spPr>
          <a:xfrm>
            <a:off x="838200" y="1278082"/>
            <a:ext cx="10515600" cy="5382491"/>
          </a:xfrm>
        </p:spPr>
        <p:txBody>
          <a:bodyPr>
            <a:normAutofit fontScale="92500"/>
          </a:bodyPr>
          <a:lstStyle/>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Consumer surplus refers to the economic benefit that consumers receive from purchasing a good or service at a price lower than the maximum price they were willing to pay.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In simpler terms, it represents the difference between the price a consumer actually pays and the highest price they would have been willing to pay.</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Producer surplus, on the other hand, refers to the economic benefit that producers or firms receive from selling a good or service at a price higher than the minimum price they were willing to accept.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It represents the difference between the market price of a product and the lowest price a producer would have been willing to sell it for.</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3758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C073A-229F-33FD-E57B-376B69610E95}"/>
              </a:ext>
            </a:extLst>
          </p:cNvPr>
          <p:cNvSpPr>
            <a:spLocks noGrp="1"/>
          </p:cNvSpPr>
          <p:nvPr>
            <p:ph type="title"/>
          </p:nvPr>
        </p:nvSpPr>
        <p:spPr>
          <a:xfrm>
            <a:off x="838200" y="93519"/>
            <a:ext cx="10515600" cy="1597170"/>
          </a:xfrm>
        </p:spPr>
        <p:txBody>
          <a:bodyPr>
            <a:normAutofit fontScale="90000"/>
          </a:bodyPr>
          <a:lstStyle/>
          <a:p>
            <a:pPr algn="ctr"/>
            <a:r>
              <a:rPr lang="en-US" b="1" dirty="0">
                <a:latin typeface="Century Gothic" panose="020B0502020202020204" pitchFamily="34" charset="0"/>
              </a:rPr>
              <a:t>Graph showing Consumer and Producer Surplus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2050" name="Picture 2">
            <a:extLst>
              <a:ext uri="{FF2B5EF4-FFF2-40B4-BE49-F238E27FC236}">
                <a16:creationId xmlns:a16="http://schemas.microsoft.com/office/drawing/2014/main" id="{0ADFBD13-FE95-8C2E-FA71-9C163F6851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28870" y="1690688"/>
            <a:ext cx="6534259" cy="420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281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62228-6E4C-CAEA-9A45-B27074F50D7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Consumer Surplus in Agriculture</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2DF2CD9-176B-8F99-9AFD-CAB805644ED9}"/>
              </a:ext>
            </a:extLst>
          </p:cNvPr>
          <p:cNvSpPr>
            <a:spLocks noGrp="1"/>
          </p:cNvSpPr>
          <p:nvPr>
            <p:ph idx="1"/>
          </p:nvPr>
        </p:nvSpPr>
        <p:spPr>
          <a:xfrm>
            <a:off x="838200" y="1569027"/>
            <a:ext cx="10515600" cy="4607936"/>
          </a:xfrm>
        </p:spPr>
        <p:txBody>
          <a:bodyPr>
            <a:normAutofit fontScale="85000" lnSpcReduction="2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Consumer surplus in agriculture refers to the benefit that consumers receive when purchasing agricultural products at a price lower than the maximum price they were willing to pay.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a farmer's market selling fresh organic tomatoes. Suppose a consumer values a basket of organic tomatoes at MWK 200 because they highly appreciate the quality and health benefits of these tomatoes. </a:t>
            </a: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However, due to market competition or promotional discounts, the tomatoes are available for purchase at MWK 150. </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In this case, the consumer surplus would be MWK 50 (MWK 200 – MWK 150), representing the extra value the consumer gains by acquiring the tomatoes at a price lower than their perceived worth.</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85264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C0E95-FFC6-1895-CBAA-F06BA083ACE5}"/>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Producer Surplus in Agriculture:</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E4D19B6-B25F-183C-2CEC-B70B172D4E13}"/>
              </a:ext>
            </a:extLst>
          </p:cNvPr>
          <p:cNvSpPr>
            <a:spLocks noGrp="1"/>
          </p:cNvSpPr>
          <p:nvPr>
            <p:ph idx="1"/>
          </p:nvPr>
        </p:nvSpPr>
        <p:spPr>
          <a:xfrm>
            <a:off x="838200" y="1600200"/>
            <a:ext cx="10515600" cy="4576763"/>
          </a:xfrm>
        </p:spPr>
        <p:txBody>
          <a:bodyPr>
            <a:normAutofit fontScale="85000" lnSpcReduction="2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Producer surplus in agriculture refers to the benefit that farmers or agricultural producers receive when selling their products at a price higher than the minimum price they were willing to accept.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Consider a wheat farmer selling sacks of wheat in the market. Suppose the farmer incurs production costs and would be willing to sell a sack of wheat at MWK 80 to cover these costs and earn a reasonable profit.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However, due to the strong demand for high-quality wheat, the market price for a sack of wheat is MWK 120. In this scenario, the producer surplus would be MWK 40 (MWK 120 – MWK 80), reflecting the extra revenue or profit the farmer gains by selling the wheat at a price higher than their production cost or the minimum price they were willing to accept.</a:t>
            </a: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8839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56713-DE63-EBA6-7276-4C5104959FCA}"/>
              </a:ext>
            </a:extLst>
          </p:cNvPr>
          <p:cNvSpPr>
            <a:spLocks noGrp="1"/>
          </p:cNvSpPr>
          <p:nvPr>
            <p:ph idx="1"/>
          </p:nvPr>
        </p:nvSpPr>
        <p:spPr/>
        <p:txBody>
          <a:bodyPr>
            <a:normAutofit fontScale="92500" lnSpcReduction="2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both cases, consumer surplus and producer surplus play a crucial role in understanding the welfare and efficiency of agricultural markets.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Consumer surplus highlights the benefits that consumers enjoy when they can purchase products at prices lower than their valuation, while producer surplus emphasizes the benefits that farmers gain when they can sell their products at prices higher than their production costs.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These concepts help economists and policy makers evaluate market efficiency, welfare, and the overall economic impact of agricultural transactions.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58921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B45C-38DB-5A8E-7561-35315530CCF3}"/>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Practical Examples of Demand and Supply in Agricultural Markets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652F815-66B1-3662-2E75-828550625F54}"/>
              </a:ext>
            </a:extLst>
          </p:cNvPr>
          <p:cNvSpPr>
            <a:spLocks noGrp="1"/>
          </p:cNvSpPr>
          <p:nvPr>
            <p:ph idx="1"/>
          </p:nvPr>
        </p:nvSpPr>
        <p:spPr/>
        <p:txBody>
          <a:bodyPr>
            <a:normAutofit fontScale="92500" lnSpcReduction="2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Example 1: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Apple Market: During a bumper apple harvest, the supply of apples increases, leading to a surplus. </a:t>
            </a: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As a result, apple prices drop, and producers may find it challenging to sell their produce</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Example 2: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Rice Market: If a government implements a subsidy program for rice farmers, the cost of production decreases, leading to an increase in the supply of rice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96419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A705-A4A2-A8C0-4A10-981C52D5AD33}"/>
              </a:ext>
            </a:extLst>
          </p:cNvPr>
          <p:cNvSpPr>
            <a:spLocks noGrp="1"/>
          </p:cNvSpPr>
          <p:nvPr>
            <p:ph type="title"/>
          </p:nvPr>
        </p:nvSpPr>
        <p:spPr>
          <a:xfrm>
            <a:off x="838200" y="124691"/>
            <a:ext cx="10515600" cy="1700934"/>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Implications of Demand and Supply in Agriculture</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401E0D1-BE8D-5765-071E-A74AC9C47EE9}"/>
              </a:ext>
            </a:extLst>
          </p:cNvPr>
          <p:cNvSpPr>
            <a:spLocks noGrp="1"/>
          </p:cNvSpPr>
          <p:nvPr>
            <p:ph idx="1"/>
          </p:nvPr>
        </p:nvSpPr>
        <p:spPr/>
        <p:txBody>
          <a:bodyPr>
            <a:normAutofit lnSpcReduction="1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demand and supply helps value-chain agriculture students in: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Price Analysis: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Analyze how changes in demand and supply affect agricultural prices and the income of producers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Strategies: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Devise strategies to match production with consumer demand and maximize profits for farmers.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Policy Formulation: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Evaluate the impact of government policies on agricultural markets and production.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80569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638967-F5E5-926C-AA32-C04F51D4184A}"/>
              </a:ext>
            </a:extLst>
          </p:cNvPr>
          <p:cNvSpPr>
            <a:spLocks noGrp="1"/>
          </p:cNvSpPr>
          <p:nvPr>
            <p:ph idx="1"/>
          </p:nvPr>
        </p:nvSpPr>
        <p:spPr>
          <a:xfrm>
            <a:off x="838200" y="1049482"/>
            <a:ext cx="10515600" cy="5127481"/>
          </a:xfrm>
        </p:spPr>
        <p:txBody>
          <a:bodyPr>
            <a:normAutofit/>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Demand and supply are the driving forces behind agricultural markets. By comprehending these concepts, value chain agriculture students can better analyze market dynamics, make informed decisions, and address challenges in the agricultural sector.</a:t>
            </a:r>
          </a:p>
          <a:p>
            <a:pPr mar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As future professionals, mastering demand and supply will enable students to contribute significantly to the sustainable growth and development of value chain agriculture.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33556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9D7C9-737B-AC5D-C611-AA4866CA8A2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Demand and Supply Analysis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D890A53-DE7D-3BE3-8A26-A2A4346286A4}"/>
              </a:ext>
            </a:extLst>
          </p:cNvPr>
          <p:cNvSpPr>
            <a:spLocks noGrp="1"/>
          </p:cNvSpPr>
          <p:nvPr>
            <p:ph idx="1"/>
          </p:nvPr>
        </p:nvSpPr>
        <p:spPr>
          <a:xfrm>
            <a:off x="838200" y="1690688"/>
            <a:ext cx="10515600" cy="4802187"/>
          </a:xfrm>
        </p:spPr>
        <p:txBody>
          <a:bodyPr>
            <a:normAutofit fontScale="92500" lnSpcReduction="20000"/>
          </a:bodyPr>
          <a:lstStyle/>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price of tomatoes in a local market increases due to a decrease in supply. What will be the likely impact on the quantity demanded by consumers? Explain your answer.</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In a hypothetical scenario, the income of consumers in a rural area increases significantly. How will this change in income influence the demand for agricultural products in the region?</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Draw a demand curve for oranges in a value chain agriculture market, indicating the relationship between price and quantity demanded. Explain the slope of the demand curve.</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07450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BCA-8CB1-F6A6-6D26-3A7F9BC3C8C4}"/>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Factors Influencing Supply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D1495C4-0135-3F4E-E359-F05292BD9B2E}"/>
              </a:ext>
            </a:extLst>
          </p:cNvPr>
          <p:cNvSpPr>
            <a:spLocks noGrp="1"/>
          </p:cNvSpPr>
          <p:nvPr>
            <p:ph idx="1"/>
          </p:nvPr>
        </p:nvSpPr>
        <p:spPr/>
        <p:txBody>
          <a:bodyPr>
            <a:normAutofit lnSpcReduction="10000"/>
          </a:bodyPr>
          <a:lstStyle/>
          <a:p>
            <a:pPr marL="457200" indent="-457200" algn="just">
              <a:lnSpc>
                <a:spcPct val="107000"/>
              </a:lnSpc>
              <a:spcBef>
                <a:spcPts val="0"/>
              </a:spcBef>
              <a:spcAft>
                <a:spcPts val="800"/>
              </a:spcAft>
              <a:buFont typeface="+mj-lt"/>
              <a:buAutoNum type="arabicPeriod"/>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Analyze the impact of a drought on the supply of wheat in a value-chain agriculture market. How might farmers respond to the reduced supply?</a:t>
            </a:r>
          </a:p>
          <a:p>
            <a:pPr marL="457200" indent="-457200" algn="just">
              <a:lnSpc>
                <a:spcPct val="107000"/>
              </a:lnSpc>
              <a:spcBef>
                <a:spcPts val="0"/>
              </a:spcBef>
              <a:spcAft>
                <a:spcPts val="800"/>
              </a:spcAft>
              <a:buFont typeface="+mj-lt"/>
              <a:buAutoNum type="arabicPeriod"/>
            </a:pP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07000"/>
              </a:lnSpc>
              <a:spcBef>
                <a:spcPts val="0"/>
              </a:spcBef>
              <a:spcAft>
                <a:spcPts val="800"/>
              </a:spcAft>
              <a:buFont typeface="+mj-lt"/>
              <a:buAutoNum type="arabicPeriod"/>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Discuss how government policies, such as imposing export tariffs on agricultural products, can affect the supply of those products in the domestic market.</a:t>
            </a:r>
          </a:p>
          <a:p>
            <a:pPr marL="0" indent="0" algn="just">
              <a:lnSpc>
                <a:spcPct val="107000"/>
              </a:lnSpc>
              <a:spcBef>
                <a:spcPts val="0"/>
              </a:spcBef>
              <a:spcAft>
                <a:spcPts val="800"/>
              </a:spcAft>
              <a:buNone/>
            </a:pP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3. Provide examples of technological advancements in agriculture and explain how they can increase the supply of specific crops.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56110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6B6F-954D-B689-F6B3-92AF88C3E2CF}"/>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The Impact of COVID-19 on the Poultry Industry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9B3B59C-F66D-F737-32B6-23D635A773D1}"/>
              </a:ext>
            </a:extLst>
          </p:cNvPr>
          <p:cNvSpPr>
            <a:spLocks noGrp="1"/>
          </p:cNvSpPr>
          <p:nvPr>
            <p:ph idx="1"/>
          </p:nvPr>
        </p:nvSpPr>
        <p:spPr/>
        <p:txBody>
          <a:bodyPr>
            <a:normAutofit fontScale="92500" lnSpcReduction="10000"/>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poultry industry in Malawi faced significant challenges during the COVID-19 pandemic. Travel restrictions and lockdown measures disrupted the supply chain, affecting both producers and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factors that influenced the demand for poultry products during the pandemic.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supply-side challenges faced by poultry farmers during the COVID-19 crisis.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How did the disruption in demand and supply affect market equilibrium and poultry prices in the region?</a:t>
            </a:r>
            <a:r>
              <a:rPr lang="en-US" kern="100" dirty="0">
                <a:latin typeface="Calibri" panose="020F0502020204030204" pitchFamily="34" charset="0"/>
                <a:ea typeface="Calibri" panose="020F0502020204030204" pitchFamily="34" charset="0"/>
                <a:cs typeface="Times New Roman" panose="02020603050405020304" pitchFamily="18" charset="0"/>
              </a:rPr>
              <a:t> </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13296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0513-D394-D7D4-5F96-68C231EB9E40}"/>
              </a:ext>
            </a:extLst>
          </p:cNvPr>
          <p:cNvSpPr>
            <a:spLocks noGrp="1"/>
          </p:cNvSpPr>
          <p:nvPr>
            <p:ph type="title"/>
          </p:nvPr>
        </p:nvSpPr>
        <p:spPr/>
        <p:txBody>
          <a:bodyPr/>
          <a:lstStyle/>
          <a:p>
            <a:r>
              <a:rPr lang="en-US" b="1" dirty="0">
                <a:latin typeface="Century Gothic" panose="020B0502020202020204" pitchFamily="34" charset="0"/>
                <a:ea typeface="Calibri" panose="020F0502020204030204" pitchFamily="34" charset="0"/>
                <a:cs typeface="Times New Roman" panose="02020603050405020304" pitchFamily="18" charset="0"/>
              </a:rPr>
              <a:t>The Market Equilibrium </a:t>
            </a:r>
            <a:endParaRPr lang="en-US" dirty="0"/>
          </a:p>
        </p:txBody>
      </p:sp>
      <p:sp>
        <p:nvSpPr>
          <p:cNvPr id="3" name="Content Placeholder 2">
            <a:extLst>
              <a:ext uri="{FF2B5EF4-FFF2-40B4-BE49-F238E27FC236}">
                <a16:creationId xmlns:a16="http://schemas.microsoft.com/office/drawing/2014/main" id="{D62FAE3B-4764-CDE1-DA4F-458E965047BB}"/>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this session, we will explore the concept of market equilibrium and its significance in value-chain agriculture.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represents the balance between demand and supply in a market, determining the price and quantity of goods exchanged.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market equilibrium is essential for value chain agriculture </a:t>
            </a:r>
            <a:r>
              <a:rPr lang="en-US" kern="100" dirty="0" err="1">
                <a:latin typeface="Century Gothic" panose="020B0502020202020204" pitchFamily="34" charset="0"/>
                <a:ea typeface="Calibri" panose="020F0502020204030204" pitchFamily="34" charset="0"/>
                <a:cs typeface="Times New Roman" panose="02020603050405020304" pitchFamily="18" charset="0"/>
              </a:rPr>
              <a:t>proffessionals</a:t>
            </a:r>
            <a:r>
              <a:rPr lang="en-US" kern="100" dirty="0">
                <a:latin typeface="Century Gothic" panose="020B0502020202020204" pitchFamily="34" charset="0"/>
                <a:ea typeface="Calibri" panose="020F0502020204030204" pitchFamily="34" charset="0"/>
                <a:cs typeface="Times New Roman" panose="02020603050405020304" pitchFamily="18" charset="0"/>
              </a:rPr>
              <a:t> as it helps in analyzing market dynamics and making informed decisions.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96571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DD1E-D958-0A0C-C2FF-417122795F10}"/>
              </a:ext>
            </a:extLst>
          </p:cNvPr>
          <p:cNvSpPr>
            <a:spLocks noGrp="1"/>
          </p:cNvSpPr>
          <p:nvPr>
            <p:ph type="title"/>
          </p:nvPr>
        </p:nvSpPr>
        <p:spPr>
          <a:xfrm>
            <a:off x="838200" y="365124"/>
            <a:ext cx="10515600" cy="6014893"/>
          </a:xfrm>
        </p:spPr>
        <p:txBody>
          <a:bodyPr/>
          <a:lstStyle/>
          <a:p>
            <a:pPr algn="ctr"/>
            <a:r>
              <a:rPr lang="en-US" sz="8000" b="1" kern="100" dirty="0">
                <a:latin typeface="Century Gothic" panose="020B0502020202020204" pitchFamily="34" charset="0"/>
                <a:ea typeface="Calibri" panose="020F0502020204030204" pitchFamily="34" charset="0"/>
                <a:cs typeface="Times New Roman" panose="02020603050405020304" pitchFamily="18" charset="0"/>
              </a:rPr>
              <a:t>Lecture 3: </a:t>
            </a:r>
            <a:br>
              <a:rPr lang="en-US" sz="8000" b="1" kern="100" dirty="0">
                <a:latin typeface="Century Gothic" panose="020B0502020202020204" pitchFamily="34" charset="0"/>
                <a:ea typeface="Calibri" panose="020F0502020204030204" pitchFamily="34" charset="0"/>
                <a:cs typeface="Times New Roman" panose="02020603050405020304" pitchFamily="18" charset="0"/>
              </a:rPr>
            </a:br>
            <a:r>
              <a:rPr lang="en-US" sz="8000" b="1" kern="100" dirty="0">
                <a:latin typeface="Century Gothic" panose="020B0502020202020204" pitchFamily="34" charset="0"/>
                <a:ea typeface="Calibri" panose="020F0502020204030204" pitchFamily="34" charset="0"/>
                <a:cs typeface="Times New Roman" panose="02020603050405020304" pitchFamily="18" charset="0"/>
              </a:rPr>
              <a:t>Market Equilibrium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1667776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00A4-2561-0B21-B72B-B9E91D494D4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Balance of Demand and Supply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3ED1E9C-3A32-B5AB-6962-6EB830FF89C6}"/>
              </a:ext>
            </a:extLst>
          </p:cNvPr>
          <p:cNvSpPr>
            <a:spLocks noGrp="1"/>
          </p:cNvSpPr>
          <p:nvPr>
            <p:ph idx="1"/>
          </p:nvPr>
        </p:nvSpPr>
        <p:spPr/>
        <p:txBody>
          <a:bodyPr>
            <a:normAutofit fontScale="92500" lnSpcReduction="1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signifies a balance between two opposing forces: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As defined in earlier sessions; </a:t>
            </a: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Demand:</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quantity of goods or services that consumers are willing and able to buy at a given price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Supply: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quantity of goods or services that producers are willing and able to offer for sale at the same price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99322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A3F98-9584-79DA-9599-85CD28C4D0D9}"/>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Excess Demand (Shortage)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78557010-D965-9CA4-3210-7F79B9F92C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3935" y="1825625"/>
            <a:ext cx="5704130" cy="4351338"/>
          </a:xfrm>
          <a:prstGeom prst="rect">
            <a:avLst/>
          </a:prstGeom>
        </p:spPr>
      </p:pic>
    </p:spTree>
    <p:extLst>
      <p:ext uri="{BB962C8B-B14F-4D97-AF65-F5344CB8AC3E}">
        <p14:creationId xmlns:p14="http://schemas.microsoft.com/office/powerpoint/2010/main" val="1387820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8D31F-C2B4-FCEF-7D72-C309E0E2335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Excess Supply (Surplus)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3C2D10B-5311-EC9B-FD2C-584BE486D31C}"/>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Excess supply, also known as a surplus, occurs when the quantity supplied by producers exceeds the quantity demanded by consumers at a specific price. </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In this scenario, there is an oversupply of goods in the market, which can lead to downward pressure on prices.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080996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CDAB4-6DA9-B0F2-15A6-68A161BE350C}"/>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Excess Supply (Surplus)</a:t>
            </a:r>
            <a:endParaRPr lang="en-US" dirty="0"/>
          </a:p>
        </p:txBody>
      </p:sp>
      <p:pic>
        <p:nvPicPr>
          <p:cNvPr id="4" name="Content Placeholder 3">
            <a:extLst>
              <a:ext uri="{FF2B5EF4-FFF2-40B4-BE49-F238E27FC236}">
                <a16:creationId xmlns:a16="http://schemas.microsoft.com/office/drawing/2014/main" id="{3DDECCC4-39D3-AD41-6F81-6E8C6FE95C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5861" y="1825625"/>
            <a:ext cx="5660277" cy="4351338"/>
          </a:xfrm>
          <a:prstGeom prst="rect">
            <a:avLst/>
          </a:prstGeom>
        </p:spPr>
      </p:pic>
    </p:spTree>
    <p:extLst>
      <p:ext uri="{BB962C8B-B14F-4D97-AF65-F5344CB8AC3E}">
        <p14:creationId xmlns:p14="http://schemas.microsoft.com/office/powerpoint/2010/main" val="3818856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EAA9-14D5-8530-9278-02E486AF2054}"/>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Effects of Changes in Demand and Supply on Market Equilibrium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1423AD5-291A-10E5-293D-2935A4359826}"/>
              </a:ext>
            </a:extLst>
          </p:cNvPr>
          <p:cNvSpPr>
            <a:spLocks noGrp="1"/>
          </p:cNvSpPr>
          <p:nvPr>
            <p:ph idx="1"/>
          </p:nvPr>
        </p:nvSpPr>
        <p:spPr/>
        <p:txBody>
          <a:bodyPr>
            <a:noAutofit/>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Changes in demand and supply can shift the market equilibrium, leading to new price and quantity levels. </a:t>
            </a:r>
          </a:p>
          <a:p>
            <a:pPr marL="0" indent="0" algn="just">
              <a:lnSpc>
                <a:spcPct val="107000"/>
              </a:lnSpc>
              <a:spcBef>
                <a:spcPts val="0"/>
              </a:spcBef>
              <a:spcAft>
                <a:spcPts val="800"/>
              </a:spcAft>
              <a:buNone/>
            </a:pPr>
            <a:r>
              <a:rPr lang="en-US" sz="2400" b="1" i="1" kern="100" dirty="0">
                <a:effectLst/>
                <a:latin typeface="Century Gothic" panose="020B0502020202020204" pitchFamily="34" charset="0"/>
                <a:ea typeface="Calibri" panose="020F0502020204030204" pitchFamily="34" charset="0"/>
                <a:cs typeface="Times New Roman" panose="02020603050405020304" pitchFamily="18" charset="0"/>
              </a:rPr>
              <a:t>Increase in Demand:</a:t>
            </a: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If demand increases, the demand curve shifts to the right, causing a new market equilibrium with a higher price and quantity.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2400" b="1" i="1" kern="100" dirty="0">
                <a:effectLst/>
                <a:latin typeface="Century Gothic" panose="020B0502020202020204" pitchFamily="34" charset="0"/>
                <a:ea typeface="Calibri" panose="020F0502020204030204" pitchFamily="34" charset="0"/>
                <a:cs typeface="Times New Roman" panose="02020603050405020304" pitchFamily="18" charset="0"/>
              </a:rPr>
              <a:t>Decrease in Demand:</a:t>
            </a: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If demand decreases, the demand curve shifts to the left, resulting in a new market equilibrium with a lower price and quantity.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492899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C27DF-827F-938A-E12A-62CA5A493679}"/>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Effects of Changes in Demand and Supply on Market Equilibrium</a:t>
            </a:r>
            <a:endParaRPr lang="en-US" dirty="0"/>
          </a:p>
        </p:txBody>
      </p:sp>
      <p:sp>
        <p:nvSpPr>
          <p:cNvPr id="3" name="Content Placeholder 2">
            <a:extLst>
              <a:ext uri="{FF2B5EF4-FFF2-40B4-BE49-F238E27FC236}">
                <a16:creationId xmlns:a16="http://schemas.microsoft.com/office/drawing/2014/main" id="{F24B8E88-96B3-F2BA-CFEB-15ADA6FBA01B}"/>
              </a:ext>
            </a:extLst>
          </p:cNvPr>
          <p:cNvSpPr>
            <a:spLocks noGrp="1"/>
          </p:cNvSpPr>
          <p:nvPr>
            <p:ph idx="1"/>
          </p:nvPr>
        </p:nvSpPr>
        <p:spPr/>
        <p:txBody>
          <a:bodyPr/>
          <a:lstStyle/>
          <a:p>
            <a:pPr marL="0" marR="0" indent="0" algn="just">
              <a:lnSpc>
                <a:spcPct val="107000"/>
              </a:lnSpc>
              <a:spcBef>
                <a:spcPts val="0"/>
              </a:spcBef>
              <a:spcAft>
                <a:spcPts val="800"/>
              </a:spcAft>
              <a:buNone/>
            </a:pPr>
            <a:r>
              <a:rPr lang="en-US" sz="2800" b="1" i="1" kern="100" dirty="0">
                <a:effectLst/>
                <a:latin typeface="Century Gothic" panose="020B0502020202020204" pitchFamily="34" charset="0"/>
                <a:ea typeface="Calibri" panose="020F0502020204030204" pitchFamily="34" charset="0"/>
                <a:cs typeface="Times New Roman" panose="02020603050405020304" pitchFamily="18" charset="0"/>
              </a:rPr>
              <a:t>Increase in Supply</a:t>
            </a:r>
            <a:r>
              <a:rPr lang="en-US" sz="2800" b="1"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If supply increases, the supply curve shifts to the right, leading to a new market equilibrium with a lower price and higher quantity.</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2800" b="1" i="1" kern="100" dirty="0">
                <a:effectLst/>
                <a:latin typeface="Century Gothic" panose="020B0502020202020204" pitchFamily="34" charset="0"/>
                <a:ea typeface="Calibri" panose="020F0502020204030204" pitchFamily="34" charset="0"/>
                <a:cs typeface="Times New Roman" panose="02020603050405020304" pitchFamily="18" charset="0"/>
              </a:rPr>
              <a:t>Decrease in Supply: </a:t>
            </a:r>
            <a:endParaRPr lang="en-US" sz="2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If supply decreases, the supply curve shifts to the left, resulting in a new market equilibrium with a higher price and lower quantity.</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779506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D1152-CFAE-AA9E-666D-973F237DE45C}"/>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Diagrammatic Representation of Market Equilibrium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4AD06D4E-F236-82B5-67C0-3511898593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5222" y="1690688"/>
            <a:ext cx="5121556" cy="4351338"/>
          </a:xfrm>
          <a:prstGeom prst="rect">
            <a:avLst/>
          </a:prstGeom>
        </p:spPr>
      </p:pic>
    </p:spTree>
    <p:extLst>
      <p:ext uri="{BB962C8B-B14F-4D97-AF65-F5344CB8AC3E}">
        <p14:creationId xmlns:p14="http://schemas.microsoft.com/office/powerpoint/2010/main" val="4583092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C6438-BC6D-86F6-CB23-186806A4CE2B}"/>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Importance of Market Equilibrium in VCA</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5D3A39A-B17F-ABB5-766E-4EC256F6DA23}"/>
              </a:ext>
            </a:extLst>
          </p:cNvPr>
          <p:cNvSpPr>
            <a:spLocks noGrp="1"/>
          </p:cNvSpPr>
          <p:nvPr>
            <p:ph idx="1"/>
          </p:nvPr>
        </p:nvSpPr>
        <p:spPr/>
        <p:txBody>
          <a:bodyPr>
            <a:normAutofit fontScale="85000" lnSpcReduction="10000"/>
          </a:bodyPr>
          <a:lstStyle/>
          <a:p>
            <a:pPr marL="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market equilibrium is crucial for value chain agriculture students because 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Determines Prices: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determines the market price at which agricultural goods are bought and sold, impacting the income of producers and affordability for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Helps in Decision Making:</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Analyzing market equilibrium assists value chain actors in making informed decisions regarding production levels and resource allocation.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Balances Supply and Demand:</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ensures that there is no surplus or shortage, fostering stability in the agricultural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490891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774A-C29A-1FA7-F261-C46482784A55}"/>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Market Equilibrium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731DA60-EF62-6623-2FDC-7400A8472563}"/>
              </a:ext>
            </a:extLst>
          </p:cNvPr>
          <p:cNvSpPr>
            <a:spLocks noGrp="1"/>
          </p:cNvSpPr>
          <p:nvPr>
            <p:ph idx="1"/>
          </p:nvPr>
        </p:nvSpPr>
        <p:spPr/>
        <p:txBody>
          <a:bodyPr>
            <a:normAutofit fontScale="62500" lnSpcReduction="20000"/>
          </a:bodyPr>
          <a:lstStyle/>
          <a:p>
            <a:pPr marL="514350" marR="0" indent="-514350" algn="just">
              <a:lnSpc>
                <a:spcPct val="107000"/>
              </a:lnSpc>
              <a:spcBef>
                <a:spcPts val="0"/>
              </a:spcBef>
              <a:spcAft>
                <a:spcPts val="800"/>
              </a:spcAf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the market for tomatoes in Malawi. At a price of MK 200 per kilogram, the quantity demanded is 1,000 kilograms, and the quantity supplied is 800 kilograms. Is there a shortage or surplus in the market? If so, calculate the magnitude of the shortage or surplus.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demand for maize increases due to an increase in population and consumer preferences. Explain how this change in demand would affect the market equilibrium in the maize industry. Draw a diagram to illustrate the new equilibrium price and quantity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government implements a subsidy program to support small-scale dairy farmers. As a result, the supply of milk increases in the market. Describe the impact of this subsidy on the market equilibrium for dairy products. How would the equilibrium price and quantity change?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In the market for fish, the quantity demanded is given by the equation </a:t>
            </a:r>
            <a:r>
              <a:rPr lang="en-US"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i="1" kern="100" dirty="0">
                <a:latin typeface="Century Gothic" panose="020B0502020202020204" pitchFamily="34" charset="0"/>
                <a:ea typeface="Calibri" panose="020F0502020204030204" pitchFamily="34" charset="0"/>
                <a:cs typeface="Times New Roman" panose="02020603050405020304" pitchFamily="18" charset="0"/>
              </a:rPr>
              <a:t> = 500 - 2P, while the quantity supplied is given by the equation Qs = 100 + 3P, where P is the price per kilogram of fish. Determine the market equilibrium price and quantity of fish.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31259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5338-22DE-8B8B-ACD0-EC89F12234EA}"/>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The Market for Organic Vegetables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731AA63-F414-835B-A6EA-88E2238EE56E}"/>
              </a:ext>
            </a:extLst>
          </p:cNvPr>
          <p:cNvSpPr>
            <a:spLocks noGrp="1"/>
          </p:cNvSpPr>
          <p:nvPr>
            <p:ph idx="1"/>
          </p:nvPr>
        </p:nvSpPr>
        <p:spPr/>
        <p:txBody>
          <a:bodyPr>
            <a:normAutofit fontScale="62500" lnSpcReduction="20000"/>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market for organic vegetables in Malawi has been growing steadily due to increasing consumer awareness of health and environmental benefits. Organic vegetable producers face higher production costs due to the use of organic farming methods. At the same time, consumers are willing to pay a premium for organic produce.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market for organic vegetables is initially in equilibrium, with a price of MK 500 per kilogram and a quantity of 2,000 kilograms sold per week. However, due to a surge in demand for organic vegetables, the quantity demanded increases to 2,500 kilograms at the same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impact of this increase in demand on the market equilibrium. Is there a shortage or surplus in the market? Calculate the magnitude of the shortage or surplus.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How might organic vegetable producers respond to this increase in demand? Discuss possible strategies they could adopt to meet the higher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In the long run, if more farmers enter the organic vegetable market, how would this affect the market equilibrium? Consider both supply and demand factors.</a:t>
            </a:r>
            <a:r>
              <a:rPr lang="en-US" kern="100" dirty="0">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2936267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CD7A2-CFD1-8A43-99BB-3D3A5AB1A52A}"/>
              </a:ext>
            </a:extLst>
          </p:cNvPr>
          <p:cNvSpPr>
            <a:spLocks noGrp="1"/>
          </p:cNvSpPr>
          <p:nvPr>
            <p:ph type="title"/>
          </p:nvPr>
        </p:nvSpPr>
        <p:spPr>
          <a:xfrm>
            <a:off x="838200" y="365125"/>
            <a:ext cx="10515600" cy="4664075"/>
          </a:xfrm>
        </p:spPr>
        <p:txBody>
          <a:bodyPr>
            <a:normAutofit/>
          </a:bodyPr>
          <a:lstStyle/>
          <a:p>
            <a:pPr algn="ctr"/>
            <a:r>
              <a:rPr lang="en-US" sz="5400" b="1" kern="100" dirty="0">
                <a:latin typeface="Century Gothic" panose="020B0502020202020204" pitchFamily="34" charset="0"/>
                <a:ea typeface="Calibri" panose="020F0502020204030204" pitchFamily="34" charset="0"/>
                <a:cs typeface="Times New Roman" panose="02020603050405020304" pitchFamily="18" charset="0"/>
              </a:rPr>
              <a:t>Elasticity and Its Applications</a:t>
            </a:r>
            <a:endParaRPr lang="en-US" sz="5400" dirty="0"/>
          </a:p>
        </p:txBody>
      </p:sp>
    </p:spTree>
    <p:extLst>
      <p:ext uri="{BB962C8B-B14F-4D97-AF65-F5344CB8AC3E}">
        <p14:creationId xmlns:p14="http://schemas.microsoft.com/office/powerpoint/2010/main" val="11119004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0044B-34AA-1F2C-BCD9-03B3D0E9A1E0}"/>
              </a:ext>
            </a:extLst>
          </p:cNvPr>
          <p:cNvSpPr>
            <a:spLocks noGrp="1"/>
          </p:cNvSpPr>
          <p:nvPr>
            <p:ph type="title"/>
          </p:nvPr>
        </p:nvSpPr>
        <p:spPr/>
        <p:txBody>
          <a:bodyPr/>
          <a:lstStyle/>
          <a:p>
            <a:pPr algn="ct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AD87299-D8D8-8BCE-73FF-45B16F0B070B}"/>
              </a:ext>
            </a:extLst>
          </p:cNvPr>
          <p:cNvSpPr>
            <a:spLocks noGrp="1"/>
          </p:cNvSpPr>
          <p:nvPr>
            <p:ph idx="1"/>
          </p:nvPr>
        </p:nvSpPr>
        <p:spPr/>
        <p:txBody>
          <a:bodyPr/>
          <a:lstStyle/>
          <a:p>
            <a:pPr algn="just">
              <a:lnSpc>
                <a:spcPct val="107000"/>
              </a:lnSpc>
              <a:spcBef>
                <a:spcPts val="0"/>
              </a:spcBef>
              <a:spcAft>
                <a:spcPts val="800"/>
              </a:spcAft>
            </a:pP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Elasticity measures the responsiveness of quantity demanded and quantity supplied to changes in price, influencing pricing decisions, revenue management, and market dynamics. </a:t>
            </a:r>
          </a:p>
          <a:p>
            <a:pPr marL="0" indent="0">
              <a:buNone/>
            </a:pPr>
            <a:endParaRPr lang="en-US" dirty="0"/>
          </a:p>
        </p:txBody>
      </p:sp>
    </p:spTree>
    <p:extLst>
      <p:ext uri="{BB962C8B-B14F-4D97-AF65-F5344CB8AC3E}">
        <p14:creationId xmlns:p14="http://schemas.microsoft.com/office/powerpoint/2010/main" val="33580162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02C9-5B07-F9B3-4E4C-B9BF6CEF95D8}"/>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Price Elasticity of Demand (PED)</a:t>
            </a:r>
            <a:r>
              <a:rPr lang="en-US" kern="100" dirty="0">
                <a:latin typeface="Century Gothic" panose="020B0502020202020204" pitchFamily="34" charset="0"/>
                <a:ea typeface="Calibri" panose="020F0502020204030204" pitchFamily="34" charset="0"/>
                <a:cs typeface="Times New Roman" panose="02020603050405020304" pitchFamily="18" charset="0"/>
              </a:rPr>
              <a:t>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800835-B23A-CC86-C6FB-7BD655F6E337}"/>
                  </a:ext>
                </a:extLst>
              </p:cNvPr>
              <p:cNvSpPr>
                <a:spLocks noGrp="1"/>
              </p:cNvSpPr>
              <p:nvPr>
                <p:ph idx="1"/>
              </p:nvPr>
            </p:nvSpPr>
            <p:spPr/>
            <p:txBody>
              <a:bodyPr/>
              <a:lstStyle/>
              <a:p>
                <a:pPr marL="0" marR="0"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Price Elasticity of Demand (PED) measures the percentage change in quantity demanded in response to a one percent change in price, all other factors remaining constant.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2514600" lvl="6" indent="0" algn="just">
                  <a:lnSpc>
                    <a:spcPct val="107000"/>
                  </a:lnSpc>
                  <a:spcBef>
                    <a:spcPts val="0"/>
                  </a:spcBef>
                  <a:spcAft>
                    <a:spcPts val="800"/>
                  </a:spcAft>
                  <a:buNone/>
                </a:pPr>
                <a:endParaRPr lang="en-US" kern="100" dirty="0">
                  <a:latin typeface="Cambria Math" panose="02040503050406030204" pitchFamily="18" charset="0"/>
                  <a:ea typeface="Calibri" panose="020F0502020204030204" pitchFamily="34" charset="0"/>
                  <a:cs typeface="Times New Roman" panose="02020603050405020304" pitchFamily="18" charset="0"/>
                </a:endParaRPr>
              </a:p>
              <a:p>
                <a:pPr marL="2514600" lvl="6"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PED</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in</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Quantity</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Demanded</m:t>
                          </m:r>
                        </m:num>
                        <m:den>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in</m:t>
                          </m:r>
                          <m:r>
                            <a:rPr lang="en-US"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kern="100">
                              <a:effectLst/>
                              <a:latin typeface="Cambria Math" panose="02040503050406030204" pitchFamily="18" charset="0"/>
                              <a:ea typeface="Calibri" panose="020F0502020204030204" pitchFamily="34" charset="0"/>
                              <a:cs typeface="Times New Roman" panose="02020603050405020304" pitchFamily="18" charset="0"/>
                            </a:rPr>
                            <m:t>Price</m:t>
                          </m:r>
                        </m:den>
                      </m:f>
                    </m:oMath>
                  </m:oMathPara>
                </a14:m>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5C800835-B23A-CC86-C6FB-7BD655F6E337}"/>
                  </a:ext>
                </a:extLst>
              </p:cNvPr>
              <p:cNvSpPr>
                <a:spLocks noGrp="1" noRot="1" noChangeAspect="1" noMove="1" noResize="1" noEditPoints="1" noAdjustHandles="1" noChangeArrowheads="1" noChangeShapeType="1" noTextEdit="1"/>
              </p:cNvSpPr>
              <p:nvPr>
                <p:ph idx="1"/>
              </p:nvPr>
            </p:nvSpPr>
            <p:spPr>
              <a:blipFill>
                <a:blip r:embed="rId2"/>
                <a:stretch>
                  <a:fillRect l="-1217" t="-1541" r="-1159"/>
                </a:stretch>
              </a:blipFill>
            </p:spPr>
            <p:txBody>
              <a:bodyPr/>
              <a:lstStyle/>
              <a:p>
                <a:r>
                  <a:rPr lang="en-US">
                    <a:noFill/>
                  </a:rPr>
                  <a:t> </a:t>
                </a:r>
              </a:p>
            </p:txBody>
          </p:sp>
        </mc:Fallback>
      </mc:AlternateContent>
    </p:spTree>
    <p:extLst>
      <p:ext uri="{BB962C8B-B14F-4D97-AF65-F5344CB8AC3E}">
        <p14:creationId xmlns:p14="http://schemas.microsoft.com/office/powerpoint/2010/main" val="1342957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A857-6885-4596-BE31-9F74D3FA41D2}"/>
              </a:ext>
            </a:extLst>
          </p:cNvPr>
          <p:cNvSpPr>
            <a:spLocks noGrp="1"/>
          </p:cNvSpPr>
          <p:nvPr>
            <p:ph type="title"/>
          </p:nvPr>
        </p:nvSpPr>
        <p:spPr>
          <a:xfrm>
            <a:off x="838200" y="365125"/>
            <a:ext cx="10515600" cy="5676901"/>
          </a:xfrm>
        </p:spPr>
        <p:txBody>
          <a:bodyPr>
            <a:normAutofit/>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Interpretation of Price Elasticity Coefficients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42732B7-9267-1303-F461-0A35F3840541}"/>
              </a:ext>
            </a:extLst>
          </p:cNvPr>
          <p:cNvSpPr>
            <a:spLocks noGrp="1"/>
          </p:cNvSpPr>
          <p:nvPr>
            <p:ph idx="1"/>
          </p:nvPr>
        </p:nvSpPr>
        <p:spPr>
          <a:xfrm>
            <a:off x="838200" y="1690688"/>
            <a:ext cx="10515600" cy="4351338"/>
          </a:xfrm>
        </p:spPr>
        <p:txBody>
          <a:bodyPr>
            <a:normAutofit/>
          </a:bodyPr>
          <a:lstStyle/>
          <a:p>
            <a:pPr marL="0" marR="0" indent="0" algn="just">
              <a:lnSpc>
                <a:spcPct val="107000"/>
              </a:lnSpc>
              <a:spcBef>
                <a:spcPts val="0"/>
              </a:spcBef>
              <a:spcAft>
                <a:spcPts val="800"/>
              </a:spcAft>
              <a:buNone/>
            </a:pPr>
            <a:endParaRPr lang="en-US" sz="4400" b="1" kern="100" dirty="0">
              <a:latin typeface="Century Gothic" panose="020B050202020202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290491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DC969-A8C4-F8F3-1B5A-1A183EA6FD78}"/>
              </a:ext>
            </a:extLst>
          </p:cNvPr>
          <p:cNvSpPr>
            <a:spLocks noGrp="1"/>
          </p:cNvSpPr>
          <p:nvPr>
            <p:ph type="title"/>
          </p:nvPr>
        </p:nvSpPr>
        <p:spPr/>
        <p:txBody>
          <a:bodyPr/>
          <a:lstStyle/>
          <a:p>
            <a:r>
              <a:rPr lang="en-US" sz="4400" b="1" kern="100" dirty="0">
                <a:latin typeface="Century Gothic" panose="020B0502020202020204" pitchFamily="34" charset="0"/>
                <a:ea typeface="Calibri" panose="020F0502020204030204" pitchFamily="34" charset="0"/>
                <a:cs typeface="Times New Roman" panose="02020603050405020304" pitchFamily="18" charset="0"/>
              </a:rPr>
              <a:t>Elastic Demand: PED &gt; 1</a:t>
            </a:r>
            <a:br>
              <a:rPr lang="en-US" sz="4400" b="1"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0807284-162F-CB9C-E824-89DB8F140CD0}"/>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demanded is greater than the percentage change in price.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Consumers are responsive to price changes.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e.g. Luxury goods</a:t>
            </a:r>
          </a:p>
          <a:p>
            <a:endParaRPr lang="en-US" dirty="0"/>
          </a:p>
        </p:txBody>
      </p:sp>
    </p:spTree>
    <p:extLst>
      <p:ext uri="{BB962C8B-B14F-4D97-AF65-F5344CB8AC3E}">
        <p14:creationId xmlns:p14="http://schemas.microsoft.com/office/powerpoint/2010/main" val="30961836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1A88B-E5CB-3E7E-498D-B84FEF6A9F7E}"/>
              </a:ext>
            </a:extLst>
          </p:cNvPr>
          <p:cNvSpPr>
            <a:spLocks noGrp="1"/>
          </p:cNvSpPr>
          <p:nvPr>
            <p:ph type="title"/>
          </p:nvPr>
        </p:nvSpPr>
        <p:spPr/>
        <p:txBody>
          <a:bodyPr/>
          <a:lstStyle/>
          <a:p>
            <a:r>
              <a:rPr lang="en-US" sz="4400" b="1" kern="100" dirty="0">
                <a:latin typeface="Century Gothic" panose="020B0502020202020204" pitchFamily="34" charset="0"/>
                <a:ea typeface="Calibri" panose="020F0502020204030204" pitchFamily="34" charset="0"/>
                <a:cs typeface="Times New Roman" panose="02020603050405020304" pitchFamily="18" charset="0"/>
              </a:rPr>
              <a:t>Unitary Demand: PED = 1</a:t>
            </a:r>
            <a:br>
              <a:rPr lang="en-US" sz="4400" b="1"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2CA850F-0B64-4383-B262-9654072A507A}"/>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demanded is equal to the percentage change in price.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Total revenue remains constant when price changes.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e.g. Agricultural products with many substitutes.</a:t>
            </a:r>
          </a:p>
          <a:p>
            <a:endParaRPr lang="en-US" dirty="0"/>
          </a:p>
        </p:txBody>
      </p:sp>
    </p:spTree>
    <p:extLst>
      <p:ext uri="{BB962C8B-B14F-4D97-AF65-F5344CB8AC3E}">
        <p14:creationId xmlns:p14="http://schemas.microsoft.com/office/powerpoint/2010/main" val="31444078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C176-4948-0E75-9432-96AB4321BF84}"/>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Inelastic Demand: PED &lt; 1</a:t>
            </a:r>
            <a:br>
              <a:rPr lang="en-US" sz="4400"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27DD096-B7A5-ABB6-BDC7-E01393DE117D}"/>
              </a:ext>
            </a:extLst>
          </p:cNvPr>
          <p:cNvSpPr>
            <a:spLocks noGrp="1"/>
          </p:cNvSpPr>
          <p:nvPr>
            <p:ph idx="1"/>
          </p:nvPr>
        </p:nvSpPr>
        <p:spPr/>
        <p:txBody>
          <a:bodyPr>
            <a:normAutofit/>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demanded is less than the percentage change in price.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Consumers are less responsive to price changes.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e.g. Necessities, essential goods.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620202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03E3-9946-C05C-6A29-97756D52D7F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Calculating of Price Elasticity of Demand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7A67E7-1788-7A8A-960E-7598C58F9A09}"/>
                  </a:ext>
                </a:extLst>
              </p:cNvPr>
              <p:cNvSpPr>
                <a:spLocks noGrp="1"/>
              </p:cNvSpPr>
              <p:nvPr>
                <p:ph idx="1"/>
              </p:nvPr>
            </p:nvSpPr>
            <p:spPr/>
            <p:txBody>
              <a:bodyPr/>
              <a:lstStyle/>
              <a:p>
                <a:pPr marL="0" marR="0"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To calculate PED, </a:t>
                </a: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PED</m:t>
                      </m:r>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in</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Quantity</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Demanded</m:t>
                          </m:r>
                        </m:num>
                        <m:den>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Change</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in</m:t>
                          </m:r>
                          <m:r>
                            <a:rPr lang="en-US" sz="2800" kern="1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800" kern="100">
                              <a:effectLst/>
                              <a:latin typeface="Cambria Math" panose="02040503050406030204" pitchFamily="18" charset="0"/>
                              <a:ea typeface="Calibri" panose="020F0502020204030204" pitchFamily="34" charset="0"/>
                              <a:cs typeface="Times New Roman" panose="02020603050405020304" pitchFamily="18" charset="0"/>
                            </a:rPr>
                            <m:t>Price</m:t>
                          </m:r>
                        </m:den>
                      </m:f>
                    </m:oMath>
                  </m:oMathPara>
                </a14:m>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927A67E7-1788-7A8A-960E-7598C58F9A09}"/>
                  </a:ext>
                </a:extLst>
              </p:cNvPr>
              <p:cNvSpPr>
                <a:spLocks noGrp="1" noRot="1" noChangeAspect="1" noMove="1" noResize="1" noEditPoints="1" noAdjustHandles="1" noChangeArrowheads="1" noChangeShapeType="1" noTextEdit="1"/>
              </p:cNvSpPr>
              <p:nvPr>
                <p:ph idx="1"/>
              </p:nvPr>
            </p:nvSpPr>
            <p:spPr>
              <a:blipFill>
                <a:blip r:embed="rId2"/>
                <a:stretch>
                  <a:fillRect l="-812" t="-140"/>
                </a:stretch>
              </a:blipFill>
            </p:spPr>
            <p:txBody>
              <a:bodyPr/>
              <a:lstStyle/>
              <a:p>
                <a:r>
                  <a:rPr lang="en-US">
                    <a:noFill/>
                  </a:rPr>
                  <a:t> </a:t>
                </a:r>
              </a:p>
            </p:txBody>
          </p:sp>
        </mc:Fallback>
      </mc:AlternateContent>
    </p:spTree>
    <p:extLst>
      <p:ext uri="{BB962C8B-B14F-4D97-AF65-F5344CB8AC3E}">
        <p14:creationId xmlns:p14="http://schemas.microsoft.com/office/powerpoint/2010/main" val="1013731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E1E9-5006-A2DA-E9A4-78A484F053A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Elasticity of Supply (PES)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473230-E167-D351-B219-0E0E1F3A9F6D}"/>
                  </a:ext>
                </a:extLst>
              </p:cNvPr>
              <p:cNvSpPr>
                <a:spLocks noGrp="1"/>
              </p:cNvSpPr>
              <p:nvPr>
                <p:ph idx="1"/>
              </p:nvPr>
            </p:nvSpPr>
            <p:spPr/>
            <p:txBody>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Price Elasticity of Supply (PES) measures the percentage change in quantity supplied in response to a one percent change in price, all other factors remaining constant.</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𝑃𝐸𝑆</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𝑆𝑢𝑝𝑝𝑙𝑖𝑒𝑑</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𝑃𝑟𝑖𝑐𝑒</m:t>
                          </m:r>
                        </m:den>
                      </m:f>
                    </m:oMath>
                  </m:oMathPara>
                </a14:m>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20473230-E167-D351-B219-0E0E1F3A9F6D}"/>
                  </a:ext>
                </a:extLst>
              </p:cNvPr>
              <p:cNvSpPr>
                <a:spLocks noGrp="1" noRot="1" noChangeAspect="1" noMove="1" noResize="1" noEditPoints="1" noAdjustHandles="1" noChangeArrowheads="1" noChangeShapeType="1" noTextEdit="1"/>
              </p:cNvSpPr>
              <p:nvPr>
                <p:ph idx="1"/>
              </p:nvPr>
            </p:nvSpPr>
            <p:spPr>
              <a:blipFill>
                <a:blip r:embed="rId2"/>
                <a:stretch>
                  <a:fillRect l="-812" t="-1261" r="-870"/>
                </a:stretch>
              </a:blipFill>
            </p:spPr>
            <p:txBody>
              <a:bodyPr/>
              <a:lstStyle/>
              <a:p>
                <a:r>
                  <a:rPr lang="en-US">
                    <a:noFill/>
                  </a:rPr>
                  <a:t> </a:t>
                </a:r>
              </a:p>
            </p:txBody>
          </p:sp>
        </mc:Fallback>
      </mc:AlternateContent>
    </p:spTree>
    <p:extLst>
      <p:ext uri="{BB962C8B-B14F-4D97-AF65-F5344CB8AC3E}">
        <p14:creationId xmlns:p14="http://schemas.microsoft.com/office/powerpoint/2010/main" val="28166966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FA62-CA20-2B41-5CD8-6F0CC24885B3}"/>
              </a:ext>
            </a:extLst>
          </p:cNvPr>
          <p:cNvSpPr>
            <a:spLocks noGrp="1"/>
          </p:cNvSpPr>
          <p:nvPr>
            <p:ph type="title"/>
          </p:nvPr>
        </p:nvSpPr>
        <p:spPr>
          <a:xfrm>
            <a:off x="838200" y="365125"/>
            <a:ext cx="10515600" cy="6046066"/>
          </a:xfrm>
        </p:spPr>
        <p:txBody>
          <a:bodyPr>
            <a:normAutofit/>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Interpretation of Price Elasticity of Supply Coefficients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3874645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579C-52E3-2145-4618-6263EAA351ED}"/>
              </a:ext>
            </a:extLst>
          </p:cNvPr>
          <p:cNvSpPr>
            <a:spLocks noGrp="1"/>
          </p:cNvSpPr>
          <p:nvPr>
            <p:ph type="title"/>
          </p:nvPr>
        </p:nvSpPr>
        <p:spPr/>
        <p:txBody>
          <a:bodyPr/>
          <a:lstStyle/>
          <a:p>
            <a:r>
              <a:rPr lang="en-US" b="1" dirty="0">
                <a:latin typeface="Century Gothic" panose="020B0502020202020204" pitchFamily="34" charset="0"/>
              </a:rPr>
              <a:t>Elastic supply: </a:t>
            </a:r>
            <a:r>
              <a:rPr lang="en-US" b="1" kern="100" dirty="0">
                <a:latin typeface="Century Gothic" panose="020B0502020202020204" pitchFamily="34" charset="0"/>
                <a:ea typeface="Calibri" panose="020F0502020204030204" pitchFamily="34" charset="0"/>
                <a:cs typeface="Times New Roman" panose="02020603050405020304" pitchFamily="18" charset="0"/>
              </a:rPr>
              <a:t>PES &gt; 1</a:t>
            </a:r>
            <a:endParaRPr lang="en-US" b="1"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F39EB854-44D1-F1B6-3297-652EA4E6C71D}"/>
              </a:ext>
            </a:extLst>
          </p:cNvPr>
          <p:cNvSpPr>
            <a:spLocks noGrp="1"/>
          </p:cNvSpPr>
          <p:nvPr>
            <p:ph idx="1"/>
          </p:nvPr>
        </p:nvSpPr>
        <p:spPr/>
        <p:txBody>
          <a:bodyPr/>
          <a:lstStyle/>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Producers are responsive to price changes.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supplied is greater than the percentage change in price.</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e.g. Agricultural products with short production periods</a:t>
            </a:r>
            <a:endParaRPr lang="en-US" dirty="0"/>
          </a:p>
        </p:txBody>
      </p:sp>
    </p:spTree>
    <p:extLst>
      <p:ext uri="{BB962C8B-B14F-4D97-AF65-F5344CB8AC3E}">
        <p14:creationId xmlns:p14="http://schemas.microsoft.com/office/powerpoint/2010/main" val="1905391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5F995-3FCE-E1CA-50D0-B3A242D124D5}"/>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Unitary Elastic Supply: PES = 1</a:t>
            </a:r>
            <a:endParaRPr lang="en-US" b="1" dirty="0"/>
          </a:p>
        </p:txBody>
      </p:sp>
      <p:sp>
        <p:nvSpPr>
          <p:cNvPr id="3" name="Content Placeholder 2">
            <a:extLst>
              <a:ext uri="{FF2B5EF4-FFF2-40B4-BE49-F238E27FC236}">
                <a16:creationId xmlns:a16="http://schemas.microsoft.com/office/drawing/2014/main" id="{00D2D433-3AE3-625A-23B5-1A73792FC322}"/>
              </a:ext>
            </a:extLst>
          </p:cNvPr>
          <p:cNvSpPr>
            <a:spLocks noGrp="1"/>
          </p:cNvSpPr>
          <p:nvPr>
            <p:ph idx="1"/>
          </p:nvPr>
        </p:nvSpPr>
        <p:spPr/>
        <p:txBody>
          <a:bodyPr/>
          <a:lstStyle/>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supplied is equal to the percentage change in price.</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e.g. Some raw materials.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844600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197AF-3CB9-5D45-4120-E6347D83FB49}"/>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Inelastic Supply: PES &lt; 1</a:t>
            </a:r>
            <a:endParaRPr lang="en-US" dirty="0"/>
          </a:p>
        </p:txBody>
      </p:sp>
      <p:sp>
        <p:nvSpPr>
          <p:cNvPr id="3" name="Content Placeholder 2">
            <a:extLst>
              <a:ext uri="{FF2B5EF4-FFF2-40B4-BE49-F238E27FC236}">
                <a16:creationId xmlns:a16="http://schemas.microsoft.com/office/drawing/2014/main" id="{EBFC0323-C214-7577-4055-0D391BFAC47B}"/>
              </a:ext>
            </a:extLst>
          </p:cNvPr>
          <p:cNvSpPr>
            <a:spLocks noGrp="1"/>
          </p:cNvSpPr>
          <p:nvPr>
            <p:ph idx="1"/>
          </p:nvPr>
        </p:nvSpPr>
        <p:spPr/>
        <p:txBody>
          <a:bodyPr/>
          <a:lstStyle/>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Producers are less responsive to price changes.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Percentage change in quantity supplied is less than the percentage change in price.</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Agricultural products with long production periods.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758972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A030-EAA6-5A8A-9366-AA1ED78D95D2}"/>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Calculating of Price Elasticity of Supply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978BE4-9360-4874-A30D-EAF572FD47BC}"/>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To calculate PES: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𝑃𝐸𝑆</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𝑆𝑢𝑝𝑝𝑙𝑖𝑒𝑑</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𝑃𝑟𝑖𝑐𝑒</m:t>
                          </m:r>
                        </m:den>
                      </m:f>
                    </m:oMath>
                  </m:oMathPara>
                </a14:m>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0E978BE4-9360-4874-A30D-EAF572FD47BC}"/>
                  </a:ext>
                </a:extLst>
              </p:cNvPr>
              <p:cNvSpPr>
                <a:spLocks noGrp="1" noRot="1" noChangeAspect="1" noMove="1" noResize="1" noEditPoints="1" noAdjustHandles="1" noChangeArrowheads="1" noChangeShapeType="1" noTextEdit="1"/>
              </p:cNvSpPr>
              <p:nvPr>
                <p:ph idx="1"/>
              </p:nvPr>
            </p:nvSpPr>
            <p:spPr>
              <a:blipFill>
                <a:blip r:embed="rId2"/>
                <a:stretch>
                  <a:fillRect l="-1043" t="-1541"/>
                </a:stretch>
              </a:blipFill>
            </p:spPr>
            <p:txBody>
              <a:bodyPr/>
              <a:lstStyle/>
              <a:p>
                <a:r>
                  <a:rPr lang="en-US">
                    <a:noFill/>
                  </a:rPr>
                  <a:t> </a:t>
                </a:r>
              </a:p>
            </p:txBody>
          </p:sp>
        </mc:Fallback>
      </mc:AlternateContent>
    </p:spTree>
    <p:extLst>
      <p:ext uri="{BB962C8B-B14F-4D97-AF65-F5344CB8AC3E}">
        <p14:creationId xmlns:p14="http://schemas.microsoft.com/office/powerpoint/2010/main" val="16181637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FE65-4D66-57D2-5DE6-D7DF78F9166B}"/>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Income Elasticity of Demand (XED)</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B4FE400-4AA9-7EEA-82C9-E8932FB63F37}"/>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Income elasticity of demand (YED) is a crucial concept in economics that measures how the quantity demanded of a product or service changes in response to changes in consumers' income levels.</a:t>
            </a:r>
          </a:p>
          <a:p>
            <a:r>
              <a:rPr lang="en-US" kern="100" dirty="0">
                <a:latin typeface="Century Gothic" panose="020B0502020202020204" pitchFamily="34" charset="0"/>
                <a:ea typeface="Calibri" panose="020F0502020204030204" pitchFamily="34" charset="0"/>
                <a:cs typeface="Times New Roman" panose="02020603050405020304" pitchFamily="18" charset="0"/>
              </a:rPr>
              <a:t> It provides valuable insights into how sensitive consumer demand is to fluctuations in income.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042988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CA483-E052-EFCD-07B6-74F8A7F1CCD6}"/>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Calculating Income Elasticity of Demand:</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60B5D5-6EB2-E1AA-2910-10C53B118673}"/>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income elasticity of demand </a:t>
                </a:r>
                <a:r>
                  <a:rPr lang="en-US" i="1" kern="100" dirty="0">
                    <a:latin typeface="Century Gothic" panose="020B0502020202020204" pitchFamily="34" charset="0"/>
                    <a:ea typeface="Calibri" panose="020F0502020204030204" pitchFamily="34" charset="0"/>
                    <a:cs typeface="Times New Roman" panose="02020603050405020304" pitchFamily="18" charset="0"/>
                  </a:rPr>
                  <a:t>(YED) </a:t>
                </a:r>
                <a:r>
                  <a:rPr lang="en-US" kern="100" dirty="0">
                    <a:latin typeface="Century Gothic" panose="020B0502020202020204" pitchFamily="34" charset="0"/>
                    <a:ea typeface="Calibri" panose="020F0502020204030204" pitchFamily="34" charset="0"/>
                    <a:cs typeface="Times New Roman" panose="02020603050405020304" pitchFamily="18" charset="0"/>
                  </a:rPr>
                  <a:t>is calculated using the following formula: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ea typeface="Calibri" panose="020F0502020204030204" pitchFamily="34" charset="0"/>
                    <a:cs typeface="Times New Roman" panose="02020603050405020304" pitchFamily="18" charset="0"/>
                  </a:rPr>
                  <a:t>		</a:t>
                </a:r>
                <a14:m>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𝑌𝐸𝐷</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𝐷𝑒𝑚𝑎𝑛𝑑𝑒𝑑</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𝐼𝑛𝑐𝑜𝑚𝑒</m:t>
                        </m:r>
                      </m:den>
                    </m:f>
                  </m:oMath>
                </a14:m>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p>
              <a:p>
                <a:pPr marL="0" marR="0" indent="0" algn="just">
                  <a:lnSpc>
                    <a:spcPct val="107000"/>
                  </a:lnSpc>
                  <a:spcBef>
                    <a:spcPts val="0"/>
                  </a:spcBef>
                  <a:spcAft>
                    <a:spcPts val="800"/>
                  </a:spcAft>
                  <a:buNone/>
                </a:pPr>
                <a:r>
                  <a:rPr lang="en-US" sz="1400" i="1" kern="100" dirty="0">
                    <a:latin typeface="Century Gothic" panose="020B0502020202020204" pitchFamily="34" charset="0"/>
                    <a:ea typeface="Calibri" panose="020F0502020204030204" pitchFamily="34" charset="0"/>
                    <a:cs typeface="Times New Roman" panose="02020603050405020304" pitchFamily="18" charset="0"/>
                  </a:rPr>
                  <a:t>			NB: Where Y represents Income </a:t>
                </a:r>
                <a:endParaRPr lang="en-US" sz="1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2260B5D5-6EB2-E1AA-2910-10C53B118673}"/>
                  </a:ext>
                </a:extLst>
              </p:cNvPr>
              <p:cNvSpPr>
                <a:spLocks noGrp="1" noRot="1" noChangeAspect="1" noMove="1" noResize="1" noEditPoints="1" noAdjustHandles="1" noChangeArrowheads="1" noChangeShapeType="1" noTextEdit="1"/>
              </p:cNvSpPr>
              <p:nvPr>
                <p:ph idx="1"/>
              </p:nvPr>
            </p:nvSpPr>
            <p:spPr>
              <a:blipFill>
                <a:blip r:embed="rId2"/>
                <a:stretch>
                  <a:fillRect l="-1043" t="-1541" r="-1159"/>
                </a:stretch>
              </a:blipFill>
            </p:spPr>
            <p:txBody>
              <a:bodyPr/>
              <a:lstStyle/>
              <a:p>
                <a:r>
                  <a:rPr lang="en-US">
                    <a:noFill/>
                  </a:rPr>
                  <a:t> </a:t>
                </a:r>
              </a:p>
            </p:txBody>
          </p:sp>
        </mc:Fallback>
      </mc:AlternateContent>
    </p:spTree>
    <p:extLst>
      <p:ext uri="{BB962C8B-B14F-4D97-AF65-F5344CB8AC3E}">
        <p14:creationId xmlns:p14="http://schemas.microsoft.com/office/powerpoint/2010/main" val="25980641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D09F-BCBD-D463-E0DA-B548835550C7}"/>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Interpreting Income Elasticity of Demand:</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6C53B79-5EFF-FD0C-1CFE-C7817DA5889E}"/>
              </a:ext>
            </a:extLst>
          </p:cNvPr>
          <p:cNvSpPr>
            <a:spLocks noGrp="1"/>
          </p:cNvSpPr>
          <p:nvPr>
            <p:ph idx="1"/>
          </p:nvPr>
        </p:nvSpPr>
        <p:spPr>
          <a:xfrm>
            <a:off x="218209" y="1309255"/>
            <a:ext cx="11658600" cy="5183620"/>
          </a:xfrm>
        </p:spPr>
        <p:txBody>
          <a:bodyPr>
            <a:normAutofit fontScale="92500" lnSpcReduction="20000"/>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Positive Income Elasticity (YED &gt; 0):</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YED &gt; 1:</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Indicates a luxury or superior good. As consumers' income increases, the demand for such products increases at a proportionally higher rate.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VCA need to recognize the importance of these goods in the market and explore opportunities to cater to consumers' changing preferences as income rises.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0&lt;YED&lt;1:</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Represents a necessity. As consumers' income increases, the demand for these goods also increases, but at a proportionally lower rate.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VCA professionals need to be aware of the significance of these goods for different income groups and identify potential shifts in demand patterns.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831463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F0DBC8-F654-C023-7A9A-C3F977A1B03D}"/>
              </a:ext>
            </a:extLst>
          </p:cNvPr>
          <p:cNvSpPr>
            <a:spLocks noGrp="1"/>
          </p:cNvSpPr>
          <p:nvPr>
            <p:ph idx="1"/>
          </p:nvPr>
        </p:nvSpPr>
        <p:spPr>
          <a:xfrm>
            <a:off x="838200" y="561109"/>
            <a:ext cx="10515600" cy="5615854"/>
          </a:xfrm>
        </p:spPr>
        <p:txBody>
          <a:bodyPr/>
          <a:lstStyle/>
          <a:p>
            <a:pPr marL="0" marR="0" lv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2. Negative Income Elasticity (YED &lt; 0):</a:t>
            </a:r>
          </a:p>
          <a:p>
            <a:pPr marL="0" marR="0" lv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Indicates an inferior good. As consumers' income rises, the demand for such products decreases.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VCA students must recognize the impact of income changes on the demand for inferior goods and identify strategies to adapt to evolving consumer preferences.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89021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CFAA4E-D443-E420-1CC5-D2D36C4D2263}"/>
              </a:ext>
            </a:extLst>
          </p:cNvPr>
          <p:cNvSpPr>
            <a:spLocks noGrp="1"/>
          </p:cNvSpPr>
          <p:nvPr>
            <p:ph idx="1"/>
          </p:nvPr>
        </p:nvSpPr>
        <p:spPr>
          <a:xfrm>
            <a:off x="644236" y="509156"/>
            <a:ext cx="10709564" cy="5667808"/>
          </a:xfrm>
        </p:spPr>
        <p:txBody>
          <a:bodyPr/>
          <a:lstStyle/>
          <a:p>
            <a:pPr marL="0" marR="0" lv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3. Zero Income Elasticity (YED = 0):</a:t>
            </a:r>
          </a:p>
          <a:p>
            <a:pPr marL="0" marR="0" lv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Represents income-inelastic goods. The quantity demanded remains constant regardless of changes in income.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Individuals should be aware of the stability of demand for these goods, as it helps in planning and managing supply chains.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441142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F472-2331-B9AD-DB65-2EA31282D18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Cross Elasticity of Demand (XED)</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DB9C0F-63D0-E9FE-40DF-61713031C311}"/>
                  </a:ext>
                </a:extLst>
              </p:cNvPr>
              <p:cNvSpPr>
                <a:spLocks noGrp="1"/>
              </p:cNvSpPr>
              <p:nvPr>
                <p:ph idx="1"/>
              </p:nvPr>
            </p:nvSpPr>
            <p:spPr/>
            <p:txBody>
              <a:bodyPr>
                <a:normAutofit fontScale="92500" lnSpcReduction="2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Cross elasticity of demand measures the responsiveness of the quantity demanded of one good to changes in the price of another related good. </a:t>
                </a: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XED</a:t>
                </a:r>
                <a:r>
                  <a:rPr lang="en-US" kern="100" dirty="0">
                    <a:latin typeface="Century Gothic" panose="020B0502020202020204" pitchFamily="34" charset="0"/>
                    <a:ea typeface="Calibri" panose="020F0502020204030204" pitchFamily="34" charset="0"/>
                    <a:cs typeface="Times New Roman" panose="02020603050405020304" pitchFamily="18" charset="0"/>
                  </a:rPr>
                  <a:t> helps to understand how the demand for a particular good is influenced by the price changes of another good.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Cross elasticity of demand is calculated using the following formula: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𝑋𝐸𝐷</m:t>
                      </m:r>
                      <m:r>
                        <a:rPr lang="en-US" i="1" kern="100">
                          <a:latin typeface="Cambria Math" panose="02040503050406030204" pitchFamily="18" charset="0"/>
                          <a:ea typeface="Calibri" panose="020F0502020204030204" pitchFamily="34" charset="0"/>
                          <a:cs typeface="Times New Roman" panose="02020603050405020304" pitchFamily="18" charset="0"/>
                        </a:rPr>
                        <m:t>=</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𝑄𝑢𝑎𝑛𝑡𝑖𝑡𝑦</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𝐷𝑒𝑚𝑎𝑛𝑑𝑒𝑑</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𝑜𝑓</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𝐺𝑜𝑜𝑑</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𝐴</m:t>
                          </m:r>
                        </m:num>
                        <m:den>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𝐶h𝑎𝑛𝑔𝑒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𝑖𝑛</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𝑃𝑟𝑖𝑐𝑒</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𝑜𝑓</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𝐺𝑜𝑜𝑑</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𝐵</m:t>
                          </m:r>
                        </m:den>
                      </m:f>
                    </m:oMath>
                  </m:oMathPara>
                </a14:m>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7EDB9C0F-63D0-E9FE-40DF-61713031C311}"/>
                  </a:ext>
                </a:extLst>
              </p:cNvPr>
              <p:cNvSpPr>
                <a:spLocks noGrp="1" noRot="1" noChangeAspect="1" noMove="1" noResize="1" noEditPoints="1" noAdjustHandles="1" noChangeArrowheads="1" noChangeShapeType="1" noTextEdit="1"/>
              </p:cNvSpPr>
              <p:nvPr>
                <p:ph idx="1"/>
              </p:nvPr>
            </p:nvSpPr>
            <p:spPr>
              <a:blipFill>
                <a:blip r:embed="rId2"/>
                <a:stretch>
                  <a:fillRect l="-928" t="-2381" r="-986"/>
                </a:stretch>
              </a:blipFill>
            </p:spPr>
            <p:txBody>
              <a:bodyPr/>
              <a:lstStyle/>
              <a:p>
                <a:r>
                  <a:rPr lang="en-US">
                    <a:noFill/>
                  </a:rPr>
                  <a:t> </a:t>
                </a:r>
              </a:p>
            </p:txBody>
          </p:sp>
        </mc:Fallback>
      </mc:AlternateContent>
    </p:spTree>
    <p:extLst>
      <p:ext uri="{BB962C8B-B14F-4D97-AF65-F5344CB8AC3E}">
        <p14:creationId xmlns:p14="http://schemas.microsoft.com/office/powerpoint/2010/main" val="16764821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9747E-8044-53F3-FF62-9CFBE08D767A}"/>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Interpretating cross elasticity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291BB61-609C-55FC-061A-42953B4C9EB5}"/>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The cross elasticity of demand can be classified into three categories based on the sign of the value obtained: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39451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ABD8-99E8-56D2-2610-03EB98CDAF73}"/>
              </a:ext>
            </a:extLst>
          </p:cNvPr>
          <p:cNvSpPr>
            <a:spLocks noGrp="1"/>
          </p:cNvSpPr>
          <p:nvPr>
            <p:ph type="title"/>
          </p:nvPr>
        </p:nvSpPr>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1. Positive Cross Elasticity (Substitutes)</a:t>
            </a:r>
            <a:endParaRPr lang="en-US" dirty="0"/>
          </a:p>
        </p:txBody>
      </p:sp>
      <p:sp>
        <p:nvSpPr>
          <p:cNvPr id="3" name="Content Placeholder 2">
            <a:extLst>
              <a:ext uri="{FF2B5EF4-FFF2-40B4-BE49-F238E27FC236}">
                <a16:creationId xmlns:a16="http://schemas.microsoft.com/office/drawing/2014/main" id="{297F52E6-2CC9-2A9D-4DC8-3206768A37A9}"/>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positive cross elasticity of demand indicates that the two goods are </a:t>
            </a:r>
            <a:r>
              <a:rPr lang="en-US" b="1" i="1" kern="100" dirty="0">
                <a:latin typeface="Century Gothic" panose="020B0502020202020204" pitchFamily="34" charset="0"/>
                <a:ea typeface="Calibri" panose="020F0502020204030204" pitchFamily="34" charset="0"/>
                <a:cs typeface="Times New Roman" panose="02020603050405020304" pitchFamily="18" charset="0"/>
              </a:rPr>
              <a:t>substitutes </a:t>
            </a:r>
            <a:r>
              <a:rPr lang="en-US" kern="100" dirty="0">
                <a:latin typeface="Century Gothic" panose="020B0502020202020204" pitchFamily="34" charset="0"/>
                <a:ea typeface="Calibri" panose="020F0502020204030204" pitchFamily="34" charset="0"/>
                <a:cs typeface="Times New Roman" panose="02020603050405020304" pitchFamily="18" charset="0"/>
              </a:rPr>
              <a:t>for each other.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This implies that an increase in the price of one good leads to an increase in the quantity demanded of the other, and vice versa.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If the price of tea increases, the demand for coffee might also increase, as consumers switch to the cheaper alternative.</a:t>
            </a:r>
            <a:endParaRPr lang="en-US" dirty="0"/>
          </a:p>
        </p:txBody>
      </p:sp>
    </p:spTree>
    <p:extLst>
      <p:ext uri="{BB962C8B-B14F-4D97-AF65-F5344CB8AC3E}">
        <p14:creationId xmlns:p14="http://schemas.microsoft.com/office/powerpoint/2010/main" val="29727490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2DDB-9BB0-36AF-47EF-AB7302F8219D}"/>
              </a:ext>
            </a:extLst>
          </p:cNvPr>
          <p:cNvSpPr>
            <a:spLocks noGrp="1"/>
          </p:cNvSpPr>
          <p:nvPr>
            <p:ph type="title"/>
          </p:nvPr>
        </p:nvSpPr>
        <p:spPr>
          <a:xfrm>
            <a:off x="838200" y="529935"/>
            <a:ext cx="10515600" cy="1631373"/>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2. Negative Cross Elasticity(Complements)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5BC3936-AE30-0C0A-4CD3-A511127723F5}"/>
              </a:ext>
            </a:extLst>
          </p:cNvPr>
          <p:cNvSpPr>
            <a:spLocks noGrp="1"/>
          </p:cNvSpPr>
          <p:nvPr>
            <p:ph idx="1"/>
          </p:nvPr>
        </p:nvSpPr>
        <p:spPr/>
        <p:txBody>
          <a:bodyPr>
            <a:normAutofit fontScale="925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negative cross elasticity of demand suggests that the two goods are </a:t>
            </a:r>
            <a:r>
              <a:rPr lang="en-US" b="1" i="1" kern="100" dirty="0">
                <a:latin typeface="Century Gothic" panose="020B0502020202020204" pitchFamily="34" charset="0"/>
                <a:ea typeface="Calibri" panose="020F0502020204030204" pitchFamily="34" charset="0"/>
                <a:cs typeface="Times New Roman" panose="02020603050405020304" pitchFamily="18" charset="0"/>
              </a:rPr>
              <a:t>complements</a:t>
            </a:r>
            <a:r>
              <a:rPr lang="en-US" kern="100" dirty="0">
                <a:latin typeface="Century Gothic" panose="020B0502020202020204" pitchFamily="34" charset="0"/>
                <a:ea typeface="Calibri" panose="020F0502020204030204" pitchFamily="34" charset="0"/>
                <a:cs typeface="Times New Roman" panose="02020603050405020304" pitchFamily="18" charset="0"/>
              </a:rPr>
              <a:t>, meaning they are consumed together.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negative cross elasticity means that an increase in the price of one good leads to a decrease in the quantity demanded of the other, and vice versa.</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If the price of smartphones increases, the demand for smartphone cases might decrease, as fewer people would be willing to buy smartphones without protective cases.</a:t>
            </a:r>
            <a:endParaRPr lang="en-US" dirty="0"/>
          </a:p>
        </p:txBody>
      </p:sp>
    </p:spTree>
    <p:extLst>
      <p:ext uri="{BB962C8B-B14F-4D97-AF65-F5344CB8AC3E}">
        <p14:creationId xmlns:p14="http://schemas.microsoft.com/office/powerpoint/2010/main" val="36024258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A3F1-454F-C46D-6F63-4ABAD5CE4C0E}"/>
              </a:ext>
            </a:extLst>
          </p:cNvPr>
          <p:cNvSpPr>
            <a:spLocks noGrp="1"/>
          </p:cNvSpPr>
          <p:nvPr>
            <p:ph type="title"/>
          </p:nvPr>
        </p:nvSpPr>
        <p:spPr>
          <a:xfrm>
            <a:off x="838200" y="365125"/>
            <a:ext cx="10515600" cy="1796184"/>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3. Zero Cross Elasticity (Unrelated Goods)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A1318E3-740E-490C-9D30-D5D064E400B5}"/>
              </a:ext>
            </a:extLst>
          </p:cNvPr>
          <p:cNvSpPr>
            <a:spLocks noGrp="1"/>
          </p:cNvSpPr>
          <p:nvPr>
            <p:ph idx="1"/>
          </p:nvPr>
        </p:nvSpPr>
        <p:spPr/>
        <p:txBody>
          <a:bodyPr>
            <a:normAutofit fontScale="925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If the cross elasticity of demand is zero, it indicates that the two goods are unrelated, and changes in the price of one good have no impact on the quantity demanded of the other.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Zero cross elasticity means that the goods are independent of each other, and consumers do not consider the price of one good when making choices about the other.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The demand for pens and ice cream is likely to be unrelated, as changes in the price of pens are unlikely to affect the demand for ice cream.</a:t>
            </a:r>
            <a:endParaRPr lang="en-US" dirty="0"/>
          </a:p>
        </p:txBody>
      </p:sp>
    </p:spTree>
    <p:extLst>
      <p:ext uri="{BB962C8B-B14F-4D97-AF65-F5344CB8AC3E}">
        <p14:creationId xmlns:p14="http://schemas.microsoft.com/office/powerpoint/2010/main" val="34543505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17A93-1863-A2C4-7655-6689642A5971}"/>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Elasticity's Role in Market Responsiveness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5CCC34F-27FF-1091-5EB8-C42B115F45DC}"/>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Elastic markets respond more quickly to price changes.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Inelastic markets are slower to respond, affecting market dynamics and competition.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298422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60A49-CAA6-5975-F3A5-D9FDC62E557C}"/>
              </a:ext>
            </a:extLst>
          </p:cNvPr>
          <p:cNvSpPr>
            <a:spLocks noGrp="1"/>
          </p:cNvSpPr>
          <p:nvPr>
            <p:ph type="title"/>
          </p:nvPr>
        </p:nvSpPr>
        <p:spPr/>
        <p:txBody>
          <a:bodyPr>
            <a:normAutofit fontScale="90000"/>
          </a:bodyPr>
          <a:lstStyle/>
          <a:p>
            <a:pPr marL="0" marR="0" algn="ctr">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sz="4900" b="1" kern="100" dirty="0">
                <a:latin typeface="Century Gothic" panose="020B0502020202020204" pitchFamily="34" charset="0"/>
                <a:ea typeface="Calibri" panose="020F0502020204030204" pitchFamily="34" charset="0"/>
                <a:cs typeface="Times New Roman" panose="02020603050405020304" pitchFamily="18" charset="0"/>
              </a:rPr>
              <a:t>Elasticity’s Role in Understanding Agent Behavior in VCA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4F45B55-00E0-9857-0CA9-1621DB979A84}"/>
              </a:ext>
            </a:extLst>
          </p:cNvPr>
          <p:cNvSpPr>
            <a:spLocks noGrp="1"/>
          </p:cNvSpPr>
          <p:nvPr>
            <p:ph idx="1"/>
          </p:nvPr>
        </p:nvSpPr>
        <p:spPr>
          <a:xfrm>
            <a:off x="838200" y="2285999"/>
            <a:ext cx="10515600" cy="3890963"/>
          </a:xfrm>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Elasticity helps value chain agriculture stakeholders comprehend how changes in prices impact demand for agricultural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Producers can adjust production based on price elasticity to optimize revenue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88328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8823C-7CEF-49D5-3B20-6BEFDA9217D0}"/>
              </a:ext>
            </a:extLst>
          </p:cNvPr>
          <p:cNvSpPr>
            <a:spLocks noGrp="1"/>
          </p:cNvSpPr>
          <p:nvPr>
            <p:ph type="title"/>
          </p:nvPr>
        </p:nvSpPr>
        <p:spPr>
          <a:xfrm>
            <a:off x="838200" y="365125"/>
            <a:ext cx="10515600" cy="5807075"/>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Practical Exercises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3697344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6871-BFB0-FD45-1F6D-74996590E242}"/>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Calculating Price Elasticity of Demand (PED)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0B3204A-9A0E-EF47-674A-1D0CF9E8346E}"/>
              </a:ext>
            </a:extLst>
          </p:cNvPr>
          <p:cNvSpPr>
            <a:spLocks noGrp="1"/>
          </p:cNvSpPr>
          <p:nvPr>
            <p:ph idx="1"/>
          </p:nvPr>
        </p:nvSpPr>
        <p:spPr/>
        <p:txBody>
          <a:bodyPr/>
          <a:lstStyle/>
          <a:p>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demanded for maize in a local market change from 1000 kg to 1200 kg when the price decreases from MK 10 per kg to MK 8 per kg. Calculate the price elasticity of demand (PED) for maize.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632835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7784-7BAC-A928-312B-F531EB9CCE5E}"/>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Calculating Price Elasticity of Supply (PES)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29AA1E-F060-EF8F-7778-D0847695A087}"/>
              </a:ext>
            </a:extLst>
          </p:cNvPr>
          <p:cNvSpPr>
            <a:spLocks noGrp="1"/>
          </p:cNvSpPr>
          <p:nvPr>
            <p:ph idx="1"/>
          </p:nvPr>
        </p:nvSpPr>
        <p:spPr>
          <a:xfrm>
            <a:off x="838200" y="2234045"/>
            <a:ext cx="10515600" cy="3942918"/>
          </a:xfrm>
        </p:spPr>
        <p:txBody>
          <a:bodyPr/>
          <a:lstStyle/>
          <a:p>
            <a:pPr algn="just"/>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supplied for tomatoes in a local market change from 800 kg to 1000 kg when the price increases from MK 12 per kg to MK 15 per kg. Calculate the price elasticity of supply (PES) for tomatoes.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5741614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C06B6-9C67-F834-BB81-4523631E9CD0}"/>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3: Calculating Cross Price Elasticity of Demand (XED)</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38AEA31-E417-AF07-416E-69ACAA6AE8DB}"/>
              </a:ext>
            </a:extLst>
          </p:cNvPr>
          <p:cNvSpPr>
            <a:spLocks noGrp="1"/>
          </p:cNvSpPr>
          <p:nvPr>
            <p:ph idx="1"/>
          </p:nvPr>
        </p:nvSpPr>
        <p:spPr/>
        <p:txBody>
          <a:bodyPr/>
          <a:lstStyle/>
          <a:p>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demanded for oranges (Good A) changes from 1200 units to 1000 units when the price of apples (Good B) increases from MK 150 per unit to MK 200 per unit. Calculate the cross-price elasticity of demand between oranges and apples.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098155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C43B-42BC-1074-E5F2-AEF462A0812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4: Calculating Income Elasticity of Demand (YED)</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456AB29-3C4B-B93D-89F9-79F837441B2F}"/>
              </a:ext>
            </a:extLst>
          </p:cNvPr>
          <p:cNvSpPr>
            <a:spLocks noGrp="1"/>
          </p:cNvSpPr>
          <p:nvPr>
            <p:ph idx="1"/>
          </p:nvPr>
        </p:nvSpPr>
        <p:spPr/>
        <p:txBody>
          <a:bodyPr/>
          <a:lstStyle/>
          <a:p>
            <a:pPr algn="just"/>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quantity demanded for laptops changes from 300 units to 400 units when average income increases from MK 40,000 to MK50,000. Calculate the income elasticity of demand for laptops.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Tree>
    <p:extLst>
      <p:ext uri="{BB962C8B-B14F-4D97-AF65-F5344CB8AC3E}">
        <p14:creationId xmlns:p14="http://schemas.microsoft.com/office/powerpoint/2010/main" val="26823757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68F74-6A3F-5F51-77A1-91FA0EB8F750}"/>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Price Elasticity and Revenue Management in the Banana Market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8A1AC8D-5C5C-A537-E6DE-B676D6E63BD9}"/>
              </a:ext>
            </a:extLst>
          </p:cNvPr>
          <p:cNvSpPr>
            <a:spLocks noGrp="1"/>
          </p:cNvSpPr>
          <p:nvPr>
            <p:ph idx="1"/>
          </p:nvPr>
        </p:nvSpPr>
        <p:spPr/>
        <p:txBody>
          <a:bodyPr/>
          <a:lstStyle/>
          <a:p>
            <a:pPr marL="0" indent="0" algn="jus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a scenario in which the price of bananas in a local market increases by 10% due to a temporary shortage caused by unfavorable weather conditions. As a result, the quantity demanded decreases by 5%. </a:t>
            </a:r>
          </a:p>
          <a:p>
            <a:pPr marL="0" indent="0" algn="just">
              <a:buNone/>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r>
              <a:rPr lang="en-US" i="1" kern="100" dirty="0">
                <a:latin typeface="Century Gothic" panose="020B0502020202020204" pitchFamily="34" charset="0"/>
                <a:ea typeface="Calibri" panose="020F0502020204030204" pitchFamily="34" charset="0"/>
                <a:cs typeface="Times New Roman" panose="02020603050405020304" pitchFamily="18" charset="0"/>
              </a:rPr>
              <a:t>Evaluate the price elasticity of demand for bananas and its implications for revenue management by banana farmers.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590025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34400-0268-6745-1F19-7E83905941B1}"/>
              </a:ext>
            </a:extLst>
          </p:cNvPr>
          <p:cNvSpPr>
            <a:spLocks noGrp="1"/>
          </p:cNvSpPr>
          <p:nvPr>
            <p:ph type="title"/>
          </p:nvPr>
        </p:nvSpPr>
        <p:spPr>
          <a:xfrm>
            <a:off x="838200" y="365125"/>
            <a:ext cx="10515600" cy="4996584"/>
          </a:xfrm>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Lecture 5: Consumer Choice: Individual and Market Demand </a:t>
            </a:r>
            <a:endParaRPr lang="en-US" dirty="0"/>
          </a:p>
        </p:txBody>
      </p:sp>
    </p:spTree>
    <p:extLst>
      <p:ext uri="{BB962C8B-B14F-4D97-AF65-F5344CB8AC3E}">
        <p14:creationId xmlns:p14="http://schemas.microsoft.com/office/powerpoint/2010/main" val="17031350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E685-649F-BAB2-A040-B9FC8B522FB3}"/>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Consumer Choice Theory and Utility Maximization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F59912F-B7FF-DBB9-EFEE-65F0F7BC08F9}"/>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Consumer choice theory explains how consumers make decisions based on their preferences and budget constraints.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Utility maximization is the core principle, where consumers seek to maximize their satisfaction or utility from the goods and services they consume.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923655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7BA64-03B5-8604-4431-428E8D2F21F9}"/>
              </a:ext>
            </a:extLst>
          </p:cNvPr>
          <p:cNvSpPr>
            <a:spLocks noGrp="1"/>
          </p:cNvSpPr>
          <p:nvPr>
            <p:ph type="title"/>
          </p:nvPr>
        </p:nvSpPr>
        <p:spPr>
          <a:xfrm>
            <a:off x="838200" y="365125"/>
            <a:ext cx="10515600" cy="2004002"/>
          </a:xfrm>
        </p:spPr>
        <p:txBody>
          <a:bodyPr>
            <a:normAutofit fontScale="90000"/>
          </a:bodyPr>
          <a:lstStyle/>
          <a:p>
            <a:pPr algn="ctr"/>
            <a:r>
              <a:rPr lang="en-US" sz="4900" b="1" kern="100" dirty="0">
                <a:latin typeface="Century Gothic" panose="020B0502020202020204" pitchFamily="34" charset="0"/>
                <a:ea typeface="Calibri" panose="020F0502020204030204" pitchFamily="34" charset="0"/>
                <a:cs typeface="Times New Roman" panose="02020603050405020304" pitchFamily="18" charset="0"/>
              </a:rPr>
              <a:t>Indifference Curves and Budget Constraints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EF9D024-9F6B-759E-9A38-37C5B8216116}"/>
              </a:ext>
            </a:extLst>
          </p:cNvPr>
          <p:cNvSpPr>
            <a:spLocks noGrp="1"/>
          </p:cNvSpPr>
          <p:nvPr>
            <p:ph idx="1"/>
          </p:nvPr>
        </p:nvSpPr>
        <p:spPr>
          <a:xfrm>
            <a:off x="838200" y="2369127"/>
            <a:ext cx="10515600" cy="3807836"/>
          </a:xfrm>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Indifference curves represent combinations of goods that provide the same level of satisfaction to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Budget constraints depict the limits on consumer choices due to their income and the prices of goods and services.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735823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21B0-DB37-E744-D6B7-9279DF5BCE6D}"/>
              </a:ext>
            </a:extLst>
          </p:cNvPr>
          <p:cNvSpPr>
            <a:spLocks noGrp="1"/>
          </p:cNvSpPr>
          <p:nvPr>
            <p:ph type="title"/>
          </p:nvPr>
        </p:nvSpPr>
        <p:spPr/>
        <p:txBody>
          <a:bodyPr/>
          <a:lstStyle/>
          <a:p>
            <a:pPr algn="ctr"/>
            <a:r>
              <a:rPr lang="en-US" b="1" dirty="0">
                <a:latin typeface="Century Gothic" panose="020B0502020202020204" pitchFamily="34" charset="0"/>
              </a:rPr>
              <a:t>Indifference Map </a:t>
            </a:r>
          </a:p>
        </p:txBody>
      </p:sp>
      <p:pic>
        <p:nvPicPr>
          <p:cNvPr id="4" name="Content Placeholder 3">
            <a:extLst>
              <a:ext uri="{FF2B5EF4-FFF2-40B4-BE49-F238E27FC236}">
                <a16:creationId xmlns:a16="http://schemas.microsoft.com/office/drawing/2014/main" id="{6C133395-F718-0153-AF59-B7D2D41DAEA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57550" y="1690688"/>
            <a:ext cx="5676900" cy="4079018"/>
          </a:xfrm>
          <a:prstGeom prst="rect">
            <a:avLst/>
          </a:prstGeom>
        </p:spPr>
      </p:pic>
    </p:spTree>
    <p:extLst>
      <p:ext uri="{BB962C8B-B14F-4D97-AF65-F5344CB8AC3E}">
        <p14:creationId xmlns:p14="http://schemas.microsoft.com/office/powerpoint/2010/main" val="19737890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968EE-B0A6-E727-AE6E-C061EEFFA4F1}"/>
              </a:ext>
            </a:extLst>
          </p:cNvPr>
          <p:cNvSpPr>
            <a:spLocks noGrp="1"/>
          </p:cNvSpPr>
          <p:nvPr>
            <p:ph type="title"/>
          </p:nvPr>
        </p:nvSpPr>
        <p:spPr/>
        <p:txBody>
          <a:bodyPr/>
          <a:lstStyle/>
          <a:p>
            <a:pPr algn="ctr"/>
            <a:r>
              <a:rPr lang="en-US" b="1" dirty="0">
                <a:latin typeface="Century Gothic" panose="020B0502020202020204" pitchFamily="34" charset="0"/>
              </a:rPr>
              <a:t>Budget constraint </a:t>
            </a:r>
          </a:p>
        </p:txBody>
      </p:sp>
      <p:pic>
        <p:nvPicPr>
          <p:cNvPr id="4" name="Content Placeholder 3">
            <a:extLst>
              <a:ext uri="{FF2B5EF4-FFF2-40B4-BE49-F238E27FC236}">
                <a16:creationId xmlns:a16="http://schemas.microsoft.com/office/drawing/2014/main" id="{B9CC7B43-450E-09DB-B6DD-7C5FD3689D8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916842" y="1690688"/>
            <a:ext cx="6358316" cy="4351338"/>
          </a:xfrm>
          <a:prstGeom prst="rect">
            <a:avLst/>
          </a:prstGeom>
        </p:spPr>
      </p:pic>
    </p:spTree>
    <p:extLst>
      <p:ext uri="{BB962C8B-B14F-4D97-AF65-F5344CB8AC3E}">
        <p14:creationId xmlns:p14="http://schemas.microsoft.com/office/powerpoint/2010/main" val="38025188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19D01-85DC-F3FB-BCB4-C0D6C9A4A966}"/>
              </a:ext>
            </a:extLst>
          </p:cNvPr>
          <p:cNvSpPr>
            <a:spLocks noGrp="1"/>
          </p:cNvSpPr>
          <p:nvPr>
            <p:ph type="title"/>
          </p:nvPr>
        </p:nvSpPr>
        <p:spPr/>
        <p:txBody>
          <a:bodyPr/>
          <a:lstStyle/>
          <a:p>
            <a:pPr algn="ctr"/>
            <a:r>
              <a:rPr lang="en-US" b="1" dirty="0">
                <a:latin typeface="Century Gothic" panose="020B0502020202020204" pitchFamily="34" charset="0"/>
              </a:rPr>
              <a:t>Indifference Map and Budget constraint  </a:t>
            </a:r>
            <a:endParaRPr lang="en-US" dirty="0"/>
          </a:p>
        </p:txBody>
      </p:sp>
      <p:pic>
        <p:nvPicPr>
          <p:cNvPr id="4" name="Content Placeholder 3">
            <a:extLst>
              <a:ext uri="{FF2B5EF4-FFF2-40B4-BE49-F238E27FC236}">
                <a16:creationId xmlns:a16="http://schemas.microsoft.com/office/drawing/2014/main" id="{340B05F3-BF00-7C6F-153E-48C1F5AB52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7891" y="1825625"/>
            <a:ext cx="6376218" cy="4351338"/>
          </a:xfrm>
          <a:prstGeom prst="rect">
            <a:avLst/>
          </a:prstGeom>
        </p:spPr>
      </p:pic>
    </p:spTree>
    <p:extLst>
      <p:ext uri="{BB962C8B-B14F-4D97-AF65-F5344CB8AC3E}">
        <p14:creationId xmlns:p14="http://schemas.microsoft.com/office/powerpoint/2010/main" val="9951530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197D6-B6FA-5EFF-D603-7B34FEC982F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Individual Demand Curve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A056E00-EF88-7394-3759-EC5A728E8972}"/>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Individual demand curves show the quantity of a good a single consumer is willing to buy at different price levels, while keeping other factors constant.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 derive individual demand curves from utility-maximizing choices by analyzing the combinations of goods that maximize satisfaction within the budget constraint.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87479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FC14-3E67-5D7F-3DC8-2066AE2B084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Market Demand Curve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5A8C901-A682-3511-B537-FD5ED4862169}"/>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demand curves represent the total quantity of a good that all consumers in the market are willing to buy at various price levels.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demand curves are obtained by horizontally summing the individual demand curves of all consumers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260491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4B63-533E-6885-F117-F6BFCEFDCAB7}"/>
              </a:ext>
            </a:extLst>
          </p:cNvPr>
          <p:cNvSpPr>
            <a:spLocks noGrp="1"/>
          </p:cNvSpPr>
          <p:nvPr>
            <p:ph type="title"/>
          </p:nvPr>
        </p:nvSpPr>
        <p:spPr/>
        <p:txBody>
          <a:bodyPr>
            <a:normAutofit fontScale="90000"/>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Application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61BC215-86F5-3131-330B-DEEE0BFFD070}"/>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value chain agriculture, consumer choice theory is applied to analyze the demand for different agricultural products.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consumer preferences and their response to price changes helps value chain actors make informed production and marketing decisions.</a:t>
            </a:r>
          </a:p>
          <a:p>
            <a:endParaRPr lang="en-US" dirty="0"/>
          </a:p>
        </p:txBody>
      </p:sp>
    </p:spTree>
    <p:extLst>
      <p:ext uri="{BB962C8B-B14F-4D97-AF65-F5344CB8AC3E}">
        <p14:creationId xmlns:p14="http://schemas.microsoft.com/office/powerpoint/2010/main" val="5475506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0669B-296C-E13F-C7FC-779B028562B8}"/>
              </a:ext>
            </a:extLst>
          </p:cNvPr>
          <p:cNvSpPr>
            <a:spLocks noGrp="1"/>
          </p:cNvSpPr>
          <p:nvPr>
            <p:ph type="title"/>
          </p:nvPr>
        </p:nvSpPr>
        <p:spPr>
          <a:xfrm>
            <a:off x="838200" y="365125"/>
            <a:ext cx="10515600" cy="5142057"/>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Exercises: Drawing Indifference Curves, Deriving Individual Demand Curve, and Deriving Market Demand</a:t>
            </a:r>
            <a:endParaRPr lang="en-US" dirty="0"/>
          </a:p>
        </p:txBody>
      </p:sp>
    </p:spTree>
    <p:extLst>
      <p:ext uri="{BB962C8B-B14F-4D97-AF65-F5344CB8AC3E}">
        <p14:creationId xmlns:p14="http://schemas.microsoft.com/office/powerpoint/2010/main" val="8611877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13AC-FA86-CF31-6FED-2692A423A24D}"/>
              </a:ext>
            </a:extLst>
          </p:cNvPr>
          <p:cNvSpPr>
            <a:spLocks noGrp="1"/>
          </p:cNvSpPr>
          <p:nvPr>
            <p:ph type="title"/>
          </p:nvPr>
        </p:nvSpPr>
        <p:spPr>
          <a:xfrm>
            <a:off x="838200" y="365125"/>
            <a:ext cx="10515600" cy="1900093"/>
          </a:xfrm>
        </p:spPr>
        <p:txBody>
          <a:bodyPr>
            <a:normAutofit fontScale="90000"/>
          </a:bodyPr>
          <a:lstStyle/>
          <a:p>
            <a:br>
              <a:rPr lang="en-US" kern="100" dirty="0">
                <a:latin typeface="Calibri" panose="020F0502020204030204" pitchFamily="34" charset="0"/>
                <a:ea typeface="Calibri" panose="020F0502020204030204" pitchFamily="34" charset="0"/>
                <a:cs typeface="Times New Roman" panose="02020603050405020304" pitchFamily="18" charset="0"/>
              </a:rPr>
            </a:b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3507DC7-2CAD-5A68-699B-EC6495A92AAC}"/>
              </a:ext>
            </a:extLst>
          </p:cNvPr>
          <p:cNvSpPr>
            <a:spLocks noGrp="1"/>
          </p:cNvSpPr>
          <p:nvPr>
            <p:ph idx="1"/>
          </p:nvPr>
        </p:nvSpPr>
        <p:spPr>
          <a:xfrm>
            <a:off x="838200" y="1163782"/>
            <a:ext cx="10515600" cy="5013181"/>
          </a:xfrm>
        </p:spPr>
        <p:txBody>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the following utility function for a consumer, where X represents quantity of good X and Y represents quantity of good Y:</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Utility function: U(X, Y) = X</a:t>
            </a:r>
            <a:r>
              <a:rPr lang="en-US" i="1" kern="100" baseline="30000" dirty="0">
                <a:latin typeface="Century Gothic" panose="020B0502020202020204" pitchFamily="34" charset="0"/>
                <a:ea typeface="Calibri" panose="020F0502020204030204" pitchFamily="34" charset="0"/>
                <a:cs typeface="Times New Roman" panose="02020603050405020304" pitchFamily="18" charset="0"/>
              </a:rPr>
              <a:t>0.5</a:t>
            </a:r>
            <a:r>
              <a:rPr lang="en-US" i="1" kern="100" dirty="0">
                <a:latin typeface="Century Gothic" panose="020B0502020202020204" pitchFamily="34" charset="0"/>
                <a:ea typeface="Calibri" panose="020F0502020204030204" pitchFamily="34" charset="0"/>
                <a:cs typeface="Times New Roman" panose="02020603050405020304" pitchFamily="18" charset="0"/>
              </a:rPr>
              <a:t> * Y</a:t>
            </a:r>
            <a:r>
              <a:rPr lang="en-US" i="1" kern="100" baseline="30000" dirty="0">
                <a:latin typeface="Century Gothic" panose="020B0502020202020204" pitchFamily="34" charset="0"/>
                <a:ea typeface="Calibri" panose="020F0502020204030204" pitchFamily="34" charset="0"/>
                <a:cs typeface="Times New Roman" panose="02020603050405020304" pitchFamily="18" charset="0"/>
              </a:rPr>
              <a:t>0.5</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7193987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9CE1A3-11D9-AEA6-8621-21AA1E8F7C07}"/>
              </a:ext>
            </a:extLst>
          </p:cNvPr>
          <p:cNvSpPr>
            <a:spLocks noGrp="1"/>
          </p:cNvSpPr>
          <p:nvPr>
            <p:ph idx="1"/>
          </p:nvPr>
        </p:nvSpPr>
        <p:spPr>
          <a:xfrm>
            <a:off x="332509" y="249382"/>
            <a:ext cx="11021291" cy="5927581"/>
          </a:xfrm>
        </p:spPr>
        <p:txBody>
          <a:bodyPr>
            <a:normAutofit fontScale="77500" lnSpcReduction="20000"/>
          </a:bodyPr>
          <a:lstStyle/>
          <a:p>
            <a:pPr marL="0" indent="0" algn="just">
              <a:lnSpc>
                <a:spcPct val="120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Drawing Indifference Curves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 Plot the indifference curves for the utility levels U = 1, U = 4, and U = 9 on the same graph.</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Derive Individual Demand Curve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consumer's budget constraint is given by: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X</a:t>
            </a:r>
            <a:r>
              <a:rPr lang="en-US" i="1" kern="100" dirty="0">
                <a:latin typeface="Century Gothic" panose="020B0502020202020204" pitchFamily="34" charset="0"/>
                <a:ea typeface="Calibri" panose="020F0502020204030204" pitchFamily="34" charset="0"/>
                <a:cs typeface="Times New Roman" panose="02020603050405020304" pitchFamily="18" charset="0"/>
              </a:rPr>
              <a:t> * X +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i="1" kern="100" dirty="0">
                <a:latin typeface="Century Gothic" panose="020B0502020202020204" pitchFamily="34" charset="0"/>
                <a:ea typeface="Calibri" panose="020F0502020204030204" pitchFamily="34" charset="0"/>
                <a:cs typeface="Times New Roman" panose="02020603050405020304" pitchFamily="18" charset="0"/>
              </a:rPr>
              <a:t> * Y = M,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r>
              <a:rPr lang="en-US" sz="2600" i="1" kern="100" dirty="0">
                <a:latin typeface="Century Gothic" panose="020B0502020202020204" pitchFamily="34" charset="0"/>
                <a:ea typeface="Calibri" panose="020F0502020204030204" pitchFamily="34" charset="0"/>
                <a:cs typeface="Times New Roman" panose="02020603050405020304" pitchFamily="18" charset="0"/>
              </a:rPr>
              <a:t>where:  P</a:t>
            </a:r>
            <a:r>
              <a:rPr lang="en-US" sz="2600" i="1" kern="100" baseline="-25000" dirty="0">
                <a:latin typeface="Century Gothic" panose="020B0502020202020204" pitchFamily="34" charset="0"/>
                <a:ea typeface="Calibri" panose="020F0502020204030204" pitchFamily="34" charset="0"/>
                <a:cs typeface="Times New Roman" panose="02020603050405020304" pitchFamily="18" charset="0"/>
              </a:rPr>
              <a:t>X</a:t>
            </a: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is the price of good X,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1371600" indent="0" algn="just">
              <a:lnSpc>
                <a:spcPct val="120000"/>
              </a:lnSpc>
              <a:spcBef>
                <a:spcPts val="0"/>
              </a:spcBef>
              <a:spcAft>
                <a:spcPts val="800"/>
              </a:spcAft>
              <a:buNone/>
            </a:pPr>
            <a:r>
              <a:rPr lang="en-US" sz="2600" i="1" kern="100" dirty="0">
                <a:latin typeface="Century Gothic" panose="020B0502020202020204" pitchFamily="34" charset="0"/>
                <a:ea typeface="Calibri" panose="020F0502020204030204" pitchFamily="34" charset="0"/>
                <a:cs typeface="Times New Roman" panose="02020603050405020304" pitchFamily="18" charset="0"/>
              </a:rPr>
              <a:t>P</a:t>
            </a:r>
            <a:r>
              <a:rPr lang="en-US" sz="2600"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is the price of good Y,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1371600" indent="0" algn="just">
              <a:lnSpc>
                <a:spcPct val="120000"/>
              </a:lnSpc>
              <a:spcBef>
                <a:spcPts val="0"/>
              </a:spcBef>
              <a:spcAft>
                <a:spcPts val="800"/>
              </a:spcAft>
              <a:buNone/>
            </a:pP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M is the consumer's income.</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Assume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X </a:t>
            </a:r>
            <a:r>
              <a:rPr lang="en-US" i="1" kern="100" dirty="0">
                <a:latin typeface="Century Gothic" panose="020B0502020202020204" pitchFamily="34" charset="0"/>
                <a:ea typeface="Calibri" panose="020F0502020204030204" pitchFamily="34" charset="0"/>
                <a:cs typeface="Times New Roman" panose="02020603050405020304" pitchFamily="18" charset="0"/>
              </a:rPr>
              <a:t>= 4,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i="1" kern="100" dirty="0">
                <a:latin typeface="Century Gothic" panose="020B0502020202020204" pitchFamily="34" charset="0"/>
                <a:ea typeface="Calibri" panose="020F0502020204030204" pitchFamily="34" charset="0"/>
                <a:cs typeface="Times New Roman" panose="02020603050405020304" pitchFamily="18" charset="0"/>
              </a:rPr>
              <a:t> = 2, and M = 16.</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err="1">
                <a:latin typeface="Century Gothic" panose="020B0502020202020204" pitchFamily="34" charset="0"/>
                <a:ea typeface="Calibri" panose="020F0502020204030204" pitchFamily="34" charset="0"/>
                <a:cs typeface="Times New Roman" panose="02020603050405020304" pitchFamily="18" charset="0"/>
              </a:rPr>
              <a:t>i</a:t>
            </a:r>
            <a:r>
              <a:rPr lang="en-US" i="1" kern="100" dirty="0">
                <a:latin typeface="Century Gothic" panose="020B0502020202020204" pitchFamily="34" charset="0"/>
                <a:ea typeface="Calibri" panose="020F0502020204030204" pitchFamily="34" charset="0"/>
                <a:cs typeface="Times New Roman" panose="02020603050405020304" pitchFamily="18" charset="0"/>
              </a:rPr>
              <a:t>) Calculate the consumer's budget line equation.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ii) Plot the budget line on the graph with indifference curves from Part 1.</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iii) Determine the optimal bundle (X, Y) that maximizes the consumer's utility, given the budget constraint.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532760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59DBC-486B-F87F-F933-5B5A55B8079C}"/>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Deriving Market Demand</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E8CFFCB-0FC9-A925-CF0F-A5439BD0DE96}"/>
              </a:ext>
            </a:extLst>
          </p:cNvPr>
          <p:cNvSpPr>
            <a:spLocks noGrp="1"/>
          </p:cNvSpPr>
          <p:nvPr>
            <p:ph idx="1"/>
          </p:nvPr>
        </p:nvSpPr>
        <p:spPr>
          <a:xfrm>
            <a:off x="838200" y="1825625"/>
            <a:ext cx="10515600" cy="4667250"/>
          </a:xfrm>
        </p:spPr>
        <p:txBody>
          <a:bodyPr>
            <a:normAutofit fontScale="85000" lnSpcReduction="20000"/>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there are two consumers in the market with the following utility functions: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457200" lvl="1" indent="0" algn="just">
              <a:lnSpc>
                <a:spcPct val="107000"/>
              </a:lnSpc>
              <a:spcBef>
                <a:spcPts val="0"/>
              </a:spcBef>
              <a:spcAft>
                <a:spcPts val="800"/>
              </a:spcAft>
              <a:buNone/>
            </a:pPr>
            <a:r>
              <a:rPr lang="en-US" sz="2800" i="1" kern="100" dirty="0">
                <a:latin typeface="Century Gothic" panose="020B0502020202020204" pitchFamily="34" charset="0"/>
                <a:ea typeface="Calibri" panose="020F0502020204030204" pitchFamily="34" charset="0"/>
                <a:cs typeface="Times New Roman" panose="02020603050405020304" pitchFamily="18" charset="0"/>
              </a:rPr>
              <a:t>Consumer 1: U(X, Y) = X</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 * Y</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457200" lvl="1" indent="0" algn="just">
              <a:lnSpc>
                <a:spcPct val="107000"/>
              </a:lnSpc>
              <a:spcBef>
                <a:spcPts val="0"/>
              </a:spcBef>
              <a:spcAft>
                <a:spcPts val="800"/>
              </a:spcAft>
              <a:buNone/>
            </a:pPr>
            <a:r>
              <a:rPr lang="en-US" sz="2800" i="1" kern="100" dirty="0">
                <a:latin typeface="Century Gothic" panose="020B0502020202020204" pitchFamily="34" charset="0"/>
                <a:ea typeface="Calibri" panose="020F0502020204030204" pitchFamily="34" charset="0"/>
                <a:cs typeface="Times New Roman" panose="02020603050405020304" pitchFamily="18" charset="0"/>
              </a:rPr>
              <a:t>Consumer 2: U(X, Y) = 2X</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 * Y</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market prices are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X</a:t>
            </a:r>
            <a:r>
              <a:rPr lang="en-US" i="1" kern="100" dirty="0">
                <a:latin typeface="Century Gothic" panose="020B0502020202020204" pitchFamily="34" charset="0"/>
                <a:ea typeface="Calibri" panose="020F0502020204030204" pitchFamily="34" charset="0"/>
                <a:cs typeface="Times New Roman" panose="02020603050405020304" pitchFamily="18" charset="0"/>
              </a:rPr>
              <a:t> = 4 and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i="1" kern="100" dirty="0">
                <a:latin typeface="Century Gothic" panose="020B0502020202020204" pitchFamily="34" charset="0"/>
                <a:ea typeface="Calibri" panose="020F0502020204030204" pitchFamily="34" charset="0"/>
                <a:cs typeface="Times New Roman" panose="02020603050405020304" pitchFamily="18" charset="0"/>
              </a:rPr>
              <a:t> = 2, and both consumers have an income of M = 16.</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err="1">
                <a:latin typeface="Century Gothic" panose="020B0502020202020204" pitchFamily="34" charset="0"/>
                <a:ea typeface="Calibri" panose="020F0502020204030204" pitchFamily="34" charset="0"/>
                <a:cs typeface="Times New Roman" panose="02020603050405020304" pitchFamily="18" charset="0"/>
              </a:rPr>
              <a:t>i</a:t>
            </a:r>
            <a:r>
              <a:rPr lang="en-US" i="1" kern="100" dirty="0">
                <a:latin typeface="Century Gothic" panose="020B0502020202020204" pitchFamily="34" charset="0"/>
                <a:ea typeface="Calibri" panose="020F0502020204030204" pitchFamily="34" charset="0"/>
                <a:cs typeface="Times New Roman" panose="02020603050405020304" pitchFamily="18" charset="0"/>
              </a:rPr>
              <a:t>) Derive the individual demand for good X and good Y for each consumer.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ii) Calculate the total market demand for good X and good 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470408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EDF6E-CD09-25D9-F6DB-8EC2ED3A25A4}"/>
              </a:ext>
            </a:extLst>
          </p:cNvPr>
          <p:cNvSpPr>
            <a:spLocks noGrp="1"/>
          </p:cNvSpPr>
          <p:nvPr>
            <p:ph idx="1"/>
          </p:nvPr>
        </p:nvSpPr>
        <p:spPr/>
        <p:txBody>
          <a:bodyPr/>
          <a:lstStyle/>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Understanding consumer choice theory and individual and market demand is vital VCA students as it enables them to predict market demand, analyze purchasing behavior, and make informed decisions in the agricultural sector. </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By grasping these concepts, students will be better equipped to contribute to the efficiency and sustainability of value chain agriculture.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332157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74FEE-9FD2-7FB7-BEF1-B2A8EA0CDB46}"/>
              </a:ext>
            </a:extLst>
          </p:cNvPr>
          <p:cNvSpPr>
            <a:spLocks noGrp="1"/>
          </p:cNvSpPr>
          <p:nvPr>
            <p:ph type="title"/>
          </p:nvPr>
        </p:nvSpPr>
        <p:spPr>
          <a:xfrm>
            <a:off x="838200" y="365125"/>
            <a:ext cx="10515600" cy="5692775"/>
          </a:xfrm>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Lecture 6: The Price System: Price Ceilings and Floors, Taxes, and Subsidies </a:t>
            </a:r>
            <a:endParaRPr lang="en-US" dirty="0"/>
          </a:p>
        </p:txBody>
      </p:sp>
    </p:spTree>
    <p:extLst>
      <p:ext uri="{BB962C8B-B14F-4D97-AF65-F5344CB8AC3E}">
        <p14:creationId xmlns:p14="http://schemas.microsoft.com/office/powerpoint/2010/main" val="38974695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F6C158-E671-BF2C-B305-08C8FB37E3C6}"/>
              </a:ext>
            </a:extLst>
          </p:cNvPr>
          <p:cNvSpPr>
            <a:spLocks noGrp="1"/>
          </p:cNvSpPr>
          <p:nvPr>
            <p:ph idx="1"/>
          </p:nvPr>
        </p:nvSpPr>
        <p:spPr>
          <a:xfrm>
            <a:off x="838200" y="1485901"/>
            <a:ext cx="10515600" cy="4691062"/>
          </a:xfrm>
        </p:spPr>
        <p:txBody>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Understanding these price policies and government interventions is crucial for value-chain agriculture students as they can significantly influence market dynamics and welfare.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437486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7136-5431-8083-C1E1-6E837689CC69}"/>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Definition of Price Ceilings and Floors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3C441C0-E31F-83C9-EA0B-F3ACF9C69418}"/>
              </a:ext>
            </a:extLst>
          </p:cNvPr>
          <p:cNvSpPr>
            <a:spLocks noGrp="1"/>
          </p:cNvSpPr>
          <p:nvPr>
            <p:ph idx="1"/>
          </p:nvPr>
        </p:nvSpPr>
        <p:spPr/>
        <p:txBody>
          <a:bodyPr>
            <a:normAutofit fontScale="85000" lnSpcReduction="20000"/>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Ceiling: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price ceiling is a maximum price set by the government or regulatory authorities above which a good or service cannot be sold.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is designed to protect consumers by keeping prices affordable.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Floor: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price floor is a minimum price set by the government or regulatory authorities below which a good or service cannot be sold.</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is intended to support producers by ensuring they receive a certain income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444748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684F-9750-D326-5452-9AF0208685D4}"/>
              </a:ext>
            </a:extLst>
          </p:cNvPr>
          <p:cNvSpPr>
            <a:spLocks noGrp="1"/>
          </p:cNvSpPr>
          <p:nvPr>
            <p:ph type="title"/>
          </p:nvPr>
        </p:nvSpPr>
        <p:spPr/>
        <p:txBody>
          <a:bodyPr>
            <a:normAutofit fontScale="90000"/>
          </a:bodyPr>
          <a:lstStyle/>
          <a:p>
            <a:pPr algn="ctr"/>
            <a:r>
              <a:rPr lang="en-US" sz="4900" b="1" kern="100" dirty="0">
                <a:latin typeface="Century Gothic" panose="020B0502020202020204" pitchFamily="34" charset="0"/>
                <a:ea typeface="Calibri" panose="020F0502020204030204" pitchFamily="34" charset="0"/>
                <a:cs typeface="Times New Roman" panose="02020603050405020304" pitchFamily="18" charset="0"/>
              </a:rPr>
              <a:t>Implications of Price Ceilings and Floors in Agricultural Markets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F8EE5C4-1C3C-16A0-D87F-517ED4D98571}"/>
              </a:ext>
            </a:extLst>
          </p:cNvPr>
          <p:cNvSpPr>
            <a:spLocks noGrp="1"/>
          </p:cNvSpPr>
          <p:nvPr>
            <p:ph idx="1"/>
          </p:nvPr>
        </p:nvSpPr>
        <p:spPr/>
        <p:txBody>
          <a:bodyPr>
            <a:normAutofit fontScale="92500" lnSpcReduction="10000"/>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Ceilings: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Consumers: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ceilings can benefit consumers by making goods more affordable. However, they may lead to shortages if the ceiling is set below the market equilibrium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Producers: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ceilings can negatively affect producers' profitability if the ceiling is set below the production cost, potentially leading to a decrease in supply.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Efficiency: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ceilings can result in inefficient allocation of resources, as the quantity demanded may exceed the quantity supplied.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789118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5EA9C-1CA2-BEF1-CBF6-2B26984CA239}"/>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Implications of Price Ceilings and Floors in Agricultural Markets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6E61D77-9FB8-610D-EBC8-F69DC6A8E1EF}"/>
              </a:ext>
            </a:extLst>
          </p:cNvPr>
          <p:cNvSpPr>
            <a:spLocks noGrp="1"/>
          </p:cNvSpPr>
          <p:nvPr>
            <p:ph idx="1"/>
          </p:nvPr>
        </p:nvSpPr>
        <p:spPr/>
        <p:txBody>
          <a:bodyPr>
            <a:normAutofit fontScale="92500" lnSpcReduction="10000"/>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Floors: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Producers: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floors ensure that producers receive a minimum income, which can be beneficial in the agricultural sector. However, if the floor is set above the market equilibrium price, it may lead to surpluses.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Consumers: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floors can lead to higher prices for consumers, potentially reducing consumer welfare.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Efficiency: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floors can also result in inefficient resource allocation, as the quantity supplied may exceed the quantity demanded.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206877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088F5-AE38-EE7B-6DD9-61AC78F84692}"/>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Understanding Taxes and Subsidies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90C2D9C-6ED6-9E77-65E9-E290018C3D5D}"/>
              </a:ext>
            </a:extLst>
          </p:cNvPr>
          <p:cNvSpPr>
            <a:spLocks noGrp="1"/>
          </p:cNvSpPr>
          <p:nvPr>
            <p:ph idx="1"/>
          </p:nvPr>
        </p:nvSpPr>
        <p:spPr/>
        <p:txBody>
          <a:bodyPr>
            <a:normAutofit fontScale="925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Taxes are government-imposed charges on goods and services.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agriculture, taxes can be levied on agricultural products or inputs.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Subsidies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Subsidies are financial assistance provided by the government to support producers or consumers.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agriculture, subsidies can be given to farmers to promote production or to consumers to make goods more affordable.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1241458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107B8-60C4-EA87-7E28-4AF2C146881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Impact of Taxes and Subsidies on </a:t>
            </a:r>
            <a:r>
              <a:rPr lang="en-US" sz="4900" b="1" kern="100" dirty="0">
                <a:latin typeface="Century Gothic" panose="020B0502020202020204" pitchFamily="34" charset="0"/>
                <a:ea typeface="Calibri" panose="020F0502020204030204" pitchFamily="34" charset="0"/>
                <a:cs typeface="Times New Roman" panose="02020603050405020304" pitchFamily="18" charset="0"/>
              </a:rPr>
              <a:t>Agricultural</a:t>
            </a:r>
            <a:r>
              <a:rPr lang="en-US" b="1" kern="100" dirty="0">
                <a:latin typeface="Century Gothic" panose="020B0502020202020204" pitchFamily="34" charset="0"/>
                <a:ea typeface="Calibri" panose="020F0502020204030204" pitchFamily="34" charset="0"/>
                <a:cs typeface="Times New Roman" panose="02020603050405020304" pitchFamily="18" charset="0"/>
              </a:rPr>
              <a:t> Producers and Consumers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1CC24B4-5378-AFBA-42BD-91CF6A40A55D}"/>
              </a:ext>
            </a:extLst>
          </p:cNvPr>
          <p:cNvSpPr>
            <a:spLocks noGrp="1"/>
          </p:cNvSpPr>
          <p:nvPr>
            <p:ph idx="1"/>
          </p:nvPr>
        </p:nvSpPr>
        <p:spPr/>
        <p:txBody>
          <a:bodyPr>
            <a:normAutofit fontScale="77500" lnSpcReduction="2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 on Producers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Taxes on agricultural producers increase their production costs, leading to a decrease in supply and potentially higher prices for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 on Consumers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Taxes on agricultural products increase the final price paid by consumers, leading to a decrease in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Subsidies to Producers </a:t>
            </a:r>
            <a:endParaRPr lang="en-US" b="1" i="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Subsidies to agricultural producers lower their production costs, leading to an increase in supply and potentially lower prices for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Subsidies to Consumers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Subsidies to consumers reduce the final price paid by consumers, leading to an increase in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65152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A76A-6982-2815-3230-C74A82971BA4}"/>
              </a:ext>
            </a:extLst>
          </p:cNvPr>
          <p:cNvSpPr>
            <a:spLocks noGrp="1"/>
          </p:cNvSpPr>
          <p:nvPr>
            <p:ph type="title"/>
          </p:nvPr>
        </p:nvSpPr>
        <p:spPr>
          <a:xfrm>
            <a:off x="838200" y="396298"/>
            <a:ext cx="10515600" cy="5817466"/>
          </a:xfrm>
        </p:spPr>
        <p:txBody>
          <a:bodyPr>
            <a:normAutofit/>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on Government Interventions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36399040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81C86-6F17-E84F-6CE3-4CF6485BB704}"/>
              </a:ext>
            </a:extLst>
          </p:cNvPr>
          <p:cNvSpPr>
            <a:spLocks noGrp="1"/>
          </p:cNvSpPr>
          <p:nvPr>
            <p:ph type="title"/>
          </p:nvPr>
        </p:nvSpPr>
        <p:spPr/>
        <p:txBody>
          <a:bodyPr/>
          <a:lstStyle/>
          <a:p>
            <a:pPr algn="ctr"/>
            <a:r>
              <a:rPr lang="en-US" b="1" i="1" kern="100" dirty="0">
                <a:latin typeface="Century Gothic" panose="020B0502020202020204" pitchFamily="34" charset="0"/>
                <a:ea typeface="Calibri" panose="020F0502020204030204" pitchFamily="34" charset="0"/>
                <a:cs typeface="Times New Roman" panose="02020603050405020304" pitchFamily="18" charset="0"/>
              </a:rPr>
              <a:t>Case Study 1: </a:t>
            </a:r>
            <a:endParaRPr lang="en-US" dirty="0"/>
          </a:p>
        </p:txBody>
      </p:sp>
      <p:sp>
        <p:nvSpPr>
          <p:cNvPr id="3" name="Content Placeholder 2">
            <a:extLst>
              <a:ext uri="{FF2B5EF4-FFF2-40B4-BE49-F238E27FC236}">
                <a16:creationId xmlns:a16="http://schemas.microsoft.com/office/drawing/2014/main" id="{A61741B4-D121-B264-D3BC-63AD40019FAC}"/>
              </a:ext>
            </a:extLst>
          </p:cNvPr>
          <p:cNvSpPr>
            <a:spLocks noGrp="1"/>
          </p:cNvSpPr>
          <p:nvPr>
            <p:ph idx="1"/>
          </p:nvPr>
        </p:nvSpPr>
        <p:spPr/>
        <p:txBody>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Price Ceiling on Essential Agricultural Commodities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government's intervention to control prices of essential agricultural products to protect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impact on market equilibrium, supply, and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6253011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E1537-D04F-258F-2271-A40B4298C60C}"/>
              </a:ext>
            </a:extLst>
          </p:cNvPr>
          <p:cNvSpPr>
            <a:spLocks noGrp="1"/>
          </p:cNvSpPr>
          <p:nvPr>
            <p:ph type="title"/>
          </p:nvPr>
        </p:nvSpPr>
        <p:spPr/>
        <p:txBody>
          <a:bodyPr>
            <a:normAutofit fontScale="90000"/>
          </a:bodyPr>
          <a:lstStyle/>
          <a:p>
            <a:pPr marL="0" marR="0" algn="ctr">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2: Price Floor on Agricultural Products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6DBEABD-4D34-B8D5-2D7B-3D2269435509}"/>
              </a:ext>
            </a:extLst>
          </p:cNvPr>
          <p:cNvSpPr>
            <a:spLocks noGrp="1"/>
          </p:cNvSpPr>
          <p:nvPr>
            <p:ph idx="1"/>
          </p:nvPr>
        </p:nvSpPr>
        <p:spPr/>
        <p:txBody>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government's intervention to support agricultural producers by setting a price floor on specific crops.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-Examine the implications on producer income, consumer welfare, and market efficiency.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554309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7B52-68CA-EF15-0903-37344467A155}"/>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3: Agricultural Subsidies for Sustainable Farming Practices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D113C90-8388-B4E6-27F3-E4E2425B2D98}"/>
              </a:ext>
            </a:extLst>
          </p:cNvPr>
          <p:cNvSpPr>
            <a:spLocks noGrp="1"/>
          </p:cNvSpPr>
          <p:nvPr>
            <p:ph idx="1"/>
          </p:nvPr>
        </p:nvSpPr>
        <p:spPr/>
        <p:txBody>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-Highlight government initiatives to provide subsidies to farmers adopting sustainable and environmentally friendly farming practices.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-Assess the effects on agricultural production, environmental conservation, and consumer choices.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67580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14AC1-89E9-3882-3D47-42E00B70A301}"/>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Exercises: The Price System: Price Ceilings and Floors, Taxes, and Subsidies</a:t>
            </a:r>
            <a:r>
              <a:rPr lang="en-US" kern="100" dirty="0">
                <a:latin typeface="Century Gothic" panose="020B0502020202020204" pitchFamily="34" charset="0"/>
                <a:ea typeface="Calibri" panose="020F0502020204030204" pitchFamily="34" charset="0"/>
                <a:cs typeface="Times New Roman" panose="02020603050405020304" pitchFamily="18" charset="0"/>
              </a:rPr>
              <a:t>: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1E77B65-800C-FBC5-3926-BF68719A04DC}"/>
              </a:ext>
            </a:extLst>
          </p:cNvPr>
          <p:cNvSpPr>
            <a:spLocks noGrp="1"/>
          </p:cNvSpPr>
          <p:nvPr>
            <p:ph idx="1"/>
          </p:nvPr>
        </p:nvSpPr>
        <p:spPr/>
        <p:txBody>
          <a:bodyPr>
            <a:normAutofit fontScale="70000" lnSpcReduction="20000"/>
          </a:bodyPr>
          <a:lstStyle/>
          <a:p>
            <a:pPr algn="just">
              <a:lnSpc>
                <a:spcPct val="107000"/>
              </a:lnSpc>
              <a:spcBef>
                <a:spcPts val="0"/>
              </a:spcBef>
              <a:spcAft>
                <a:spcPts val="800"/>
              </a:spcAft>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Price Ceiling Analysis: </a:t>
            </a:r>
            <a:r>
              <a:rPr lang="en-US" sz="3600" i="1" kern="100" dirty="0">
                <a:latin typeface="Century Gothic" panose="020B0502020202020204" pitchFamily="34" charset="0"/>
                <a:ea typeface="Calibri" panose="020F0502020204030204" pitchFamily="34" charset="0"/>
                <a:cs typeface="Times New Roman" panose="02020603050405020304" pitchFamily="18" charset="0"/>
              </a:rPr>
              <a:t>The government imposes a price ceiling of MWK5 per kilogram on tomatoes to ensure affordability. The market equilibrium price is MWK6 per kilogram. Calculate the quantity demanded and supplied at the price ceiling, and determine if there will be a shortage or surplus of tomatoes.</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Price Floor Calculation: </a:t>
            </a:r>
            <a:r>
              <a:rPr lang="en-US" sz="3600" i="1" kern="100" dirty="0">
                <a:latin typeface="Century Gothic" panose="020B0502020202020204" pitchFamily="34" charset="0"/>
                <a:ea typeface="Calibri" panose="020F0502020204030204" pitchFamily="34" charset="0"/>
                <a:cs typeface="Times New Roman" panose="02020603050405020304" pitchFamily="18" charset="0"/>
              </a:rPr>
              <a:t>The government sets a price floor of MWK20 per bushel for wheat to support farmers. The market equilibrium price is MWK18 per bushel. Calculate the quantity demanded and supplied at the price floor, and determine if there will be a surplus or shortage of wheat.</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737249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6ED3C8-C24D-FDFD-B89D-0DCB850583EC}"/>
              </a:ext>
            </a:extLst>
          </p:cNvPr>
          <p:cNvSpPr>
            <a:spLocks noGrp="1"/>
          </p:cNvSpPr>
          <p:nvPr>
            <p:ph idx="1"/>
          </p:nvPr>
        </p:nvSpPr>
        <p:spPr>
          <a:xfrm>
            <a:off x="838200" y="1309255"/>
            <a:ext cx="10515600" cy="4867708"/>
          </a:xfrm>
        </p:spPr>
        <p:txBody>
          <a:bodyPr>
            <a:normAutofit fontScale="85000" lnSpcReduction="20000"/>
          </a:bodyPr>
          <a:lstStyle/>
          <a:p>
            <a:pPr algn="just">
              <a:lnSpc>
                <a:spcPct val="107000"/>
              </a:lnSpc>
              <a:spcBef>
                <a:spcPts val="0"/>
              </a:spcBef>
              <a:spcAft>
                <a:spcPts val="800"/>
              </a:spcAft>
            </a:pPr>
            <a:r>
              <a:rPr lang="en-US" sz="2800" b="1" i="1" kern="100" dirty="0">
                <a:latin typeface="Century Gothic" panose="020B0502020202020204" pitchFamily="34" charset="0"/>
                <a:ea typeface="Calibri" panose="020F0502020204030204" pitchFamily="34" charset="0"/>
                <a:cs typeface="Times New Roman" panose="02020603050405020304" pitchFamily="18" charset="0"/>
              </a:rPr>
              <a:t>Taxes on Producers: </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Assume the government levies a MWK2 per unit tax on each sack of potatoes produced by farmers. The market equilibrium price without the tax is MWK12 per sack. Calculate the new equilibrium price with the tax and the effective price received by producers after the tax.</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b="1" i="1" kern="100" dirty="0">
                <a:latin typeface="Century Gothic" panose="020B0502020202020204" pitchFamily="34" charset="0"/>
                <a:ea typeface="Calibri" panose="020F0502020204030204" pitchFamily="34" charset="0"/>
                <a:cs typeface="Times New Roman" panose="02020603050405020304" pitchFamily="18" charset="0"/>
              </a:rPr>
              <a:t>Taxes on Consumers: </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The government imposes a 10% sales tax on dairy products, which originally cost MWK100. Calculate the final price paid by consumers after the tax is applied.</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b="1" i="1" kern="100" dirty="0">
                <a:latin typeface="Century Gothic" panose="020B0502020202020204" pitchFamily="34" charset="0"/>
                <a:ea typeface="Calibri" panose="020F0502020204030204" pitchFamily="34" charset="0"/>
                <a:cs typeface="Times New Roman" panose="02020603050405020304" pitchFamily="18" charset="0"/>
              </a:rPr>
              <a:t>Agricultural Subsidies: </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The government provides a subsidy of MWK3 per unit for each box of strawberries sold by farmers. The market equilibrium price without the subsidy is MWK8 per box. Calculate the new equilibrium price with the subsidy and the effective price received by farmers after the subsidy</a:t>
            </a:r>
            <a:r>
              <a:rPr lang="en-US" sz="2800" kern="100" dirty="0">
                <a:latin typeface="Century Gothic" panose="020B0502020202020204" pitchFamily="34" charset="0"/>
                <a:ea typeface="Calibri" panose="020F0502020204030204" pitchFamily="34" charset="0"/>
                <a:cs typeface="Times New Roman" panose="02020603050405020304" pitchFamily="18" charset="0"/>
              </a:rPr>
              <a:t>.</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5350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9FBF7-37DB-D3B9-BE0C-4B350D54DE4D}"/>
              </a:ext>
            </a:extLst>
          </p:cNvPr>
          <p:cNvSpPr>
            <a:spLocks noGrp="1"/>
          </p:cNvSpPr>
          <p:nvPr>
            <p:ph type="title"/>
          </p:nvPr>
        </p:nvSpPr>
        <p:spPr>
          <a:xfrm>
            <a:off x="838200" y="365125"/>
            <a:ext cx="10515600" cy="6025284"/>
          </a:xfrm>
        </p:spPr>
        <p:txBody>
          <a:bodyPr>
            <a:normAutofit/>
          </a:bodyPr>
          <a:lstStyle/>
          <a:p>
            <a:pPr algn="ctr"/>
            <a:r>
              <a:rPr lang="en-US" sz="5400" b="1" kern="100" dirty="0">
                <a:latin typeface="Century Gothic" panose="020B0502020202020204" pitchFamily="34" charset="0"/>
                <a:ea typeface="Calibri" panose="020F0502020204030204" pitchFamily="34" charset="0"/>
                <a:cs typeface="Times New Roman" panose="02020603050405020304" pitchFamily="18" charset="0"/>
              </a:rPr>
              <a:t>Lecture 7: </a:t>
            </a:r>
            <a:br>
              <a:rPr lang="en-US" sz="5400" b="1" kern="100" dirty="0">
                <a:latin typeface="Century Gothic" panose="020B0502020202020204" pitchFamily="34" charset="0"/>
                <a:ea typeface="Calibri" panose="020F0502020204030204" pitchFamily="34" charset="0"/>
                <a:cs typeface="Times New Roman" panose="02020603050405020304" pitchFamily="18" charset="0"/>
              </a:rPr>
            </a:br>
            <a:r>
              <a:rPr lang="en-US" sz="5400" b="1" kern="100" dirty="0">
                <a:latin typeface="Century Gothic" panose="020B0502020202020204" pitchFamily="34" charset="0"/>
                <a:ea typeface="Calibri" panose="020F0502020204030204" pitchFamily="34" charset="0"/>
                <a:cs typeface="Times New Roman" panose="02020603050405020304" pitchFamily="18" charset="0"/>
              </a:rPr>
              <a:t>Externalities in Value Chain Agriculture</a:t>
            </a:r>
            <a:endParaRPr lang="en-US" sz="5400" dirty="0"/>
          </a:p>
        </p:txBody>
      </p:sp>
    </p:spTree>
    <p:extLst>
      <p:ext uri="{BB962C8B-B14F-4D97-AF65-F5344CB8AC3E}">
        <p14:creationId xmlns:p14="http://schemas.microsoft.com/office/powerpoint/2010/main" val="31113118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E1D71-AEE4-5326-E763-CBCD3AACCB75}"/>
              </a:ext>
            </a:extLst>
          </p:cNvPr>
          <p:cNvSpPr>
            <a:spLocks noGrp="1"/>
          </p:cNvSpPr>
          <p:nvPr>
            <p:ph type="title"/>
          </p:nvPr>
        </p:nvSpPr>
        <p:spPr/>
        <p:txBody>
          <a:bodyPr>
            <a:normAutofit/>
          </a:bodyPr>
          <a:lstStyle/>
          <a:p>
            <a:pPr algn="ct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C13A35A-69F6-E353-7F61-3CD012886360}"/>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externalities is crucial for value chain agriculture students as they play a significant role in market efficiency and resource allocation.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8853927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C138-5199-F999-72BA-96B250A01C03}"/>
              </a:ext>
            </a:extLst>
          </p:cNvPr>
          <p:cNvSpPr>
            <a:spLocks noGrp="1"/>
          </p:cNvSpPr>
          <p:nvPr>
            <p:ph type="title"/>
          </p:nvPr>
        </p:nvSpPr>
        <p:spPr>
          <a:xfrm>
            <a:off x="838200" y="365125"/>
            <a:ext cx="10515600" cy="1796184"/>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Externalities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CABF4F1-947F-E9DC-75EE-4534BE84D057}"/>
              </a:ext>
            </a:extLst>
          </p:cNvPr>
          <p:cNvSpPr>
            <a:spLocks noGrp="1"/>
          </p:cNvSpPr>
          <p:nvPr>
            <p:ph idx="1"/>
          </p:nvPr>
        </p:nvSpPr>
        <p:spPr>
          <a:xfrm>
            <a:off x="838200" y="2161309"/>
            <a:ext cx="10515600" cy="4015654"/>
          </a:xfrm>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Externalities refer to the </a:t>
            </a:r>
            <a:r>
              <a:rPr lang="en-US" b="1" kern="100" dirty="0">
                <a:latin typeface="Century Gothic" panose="020B0502020202020204" pitchFamily="34" charset="0"/>
                <a:ea typeface="Calibri" panose="020F0502020204030204" pitchFamily="34" charset="0"/>
                <a:cs typeface="Times New Roman" panose="02020603050405020304" pitchFamily="18" charset="0"/>
              </a:rPr>
              <a:t>unintended</a:t>
            </a:r>
            <a:r>
              <a:rPr lang="en-US" kern="100" dirty="0">
                <a:latin typeface="Century Gothic" panose="020B0502020202020204" pitchFamily="34" charset="0"/>
                <a:ea typeface="Calibri" panose="020F0502020204030204" pitchFamily="34" charset="0"/>
                <a:cs typeface="Times New Roman" panose="02020603050405020304" pitchFamily="18" charset="0"/>
              </a:rPr>
              <a:t> and </a:t>
            </a:r>
            <a:r>
              <a:rPr lang="en-US" b="1" kern="100" dirty="0">
                <a:latin typeface="Century Gothic" panose="020B0502020202020204" pitchFamily="34" charset="0"/>
                <a:ea typeface="Calibri" panose="020F0502020204030204" pitchFamily="34" charset="0"/>
                <a:cs typeface="Times New Roman" panose="02020603050405020304" pitchFamily="18" charset="0"/>
              </a:rPr>
              <a:t>uncompensated</a:t>
            </a:r>
            <a:r>
              <a:rPr lang="en-US" kern="100" dirty="0">
                <a:latin typeface="Century Gothic" panose="020B0502020202020204" pitchFamily="34" charset="0"/>
                <a:ea typeface="Calibri" panose="020F0502020204030204" pitchFamily="34" charset="0"/>
                <a:cs typeface="Times New Roman" panose="02020603050405020304" pitchFamily="18" charset="0"/>
              </a:rPr>
              <a:t> side effects of economic activities (production and  consumption) on third parties/bystanders who are not involved in the transactions.</a:t>
            </a:r>
          </a:p>
          <a:p>
            <a:r>
              <a:rPr lang="en-US" kern="100" dirty="0">
                <a:latin typeface="Century Gothic" panose="020B0502020202020204" pitchFamily="34" charset="0"/>
                <a:ea typeface="Calibri" panose="020F0502020204030204" pitchFamily="34" charset="0"/>
                <a:cs typeface="Times New Roman" panose="02020603050405020304" pitchFamily="18" charset="0"/>
              </a:rPr>
              <a:t>These effects can either be positive or negative and occur outside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7606655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F488E-2AFA-D4A2-E60A-F2F2A089441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Classification of Externalities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523F280-F6F7-78A9-1D82-6E98EBC70CEA}"/>
              </a:ext>
            </a:extLst>
          </p:cNvPr>
          <p:cNvSpPr>
            <a:spLocks noGrp="1"/>
          </p:cNvSpPr>
          <p:nvPr>
            <p:ph idx="1"/>
          </p:nvPr>
        </p:nvSpPr>
        <p:spPr/>
        <p:txBody>
          <a:bodyPr>
            <a:normAutofit fontScale="85000" lnSpcReduction="20000"/>
          </a:bodyPr>
          <a:lstStyle/>
          <a:p>
            <a:pPr marL="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Externalities can be classified into two main types: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Positive Externality: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Occurs when an activity creates benefits for third parties who are not directly involved in the activity.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the use of organic farming practices can improve soil health and benefit neighboring farms.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Negative Externality: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Occurs when an activity imposes costs on third parties who are not directly involved in the activity.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air pollution from agricultural machinery can harm the health of nearby residents.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3261311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4B985-0F16-66F8-0C86-67B745F8107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Occurrence of Externalities in Agricultural Activities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E6D109A-3CE5-D008-8B20-E692BA07A707}"/>
              </a:ext>
            </a:extLst>
          </p:cNvPr>
          <p:cNvSpPr>
            <a:spLocks noGrp="1"/>
          </p:cNvSpPr>
          <p:nvPr>
            <p:ph idx="1"/>
          </p:nvPr>
        </p:nvSpPr>
        <p:spPr/>
        <p:txBody>
          <a:bodyPr>
            <a:normAutofit fontScale="92500" lnSpcReduction="1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agriculture, externalities are prevalent due to the interconnectedness of various production and consumption activities. </a:t>
            </a: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Externalities in agriculture include:</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Positive Externality: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When a beekeeper sets up beehives for honey production, it leads to increased pollination of nearby crops, benefiting neighboring farmers.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Negative Externality: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Pesticide use by one farmer may lead to chemical runoff into nearby water sources, affecting the quality of water for other farmers downstream.</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1448817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4BE0-3834-E3F8-7DCC-939AC8CB32C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Effects of Externalities on Market Efficiency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12AD85F-0224-E016-061E-1D8D45597840}"/>
              </a:ext>
            </a:extLst>
          </p:cNvPr>
          <p:cNvSpPr>
            <a:spLocks noGrp="1"/>
          </p:cNvSpPr>
          <p:nvPr>
            <p:ph idx="1"/>
          </p:nvPr>
        </p:nvSpPr>
        <p:spPr/>
        <p:txBody>
          <a:bodyPr>
            <a:normAutofit lnSpcReduction="1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Externalities can disrupt the efficiency of the market as prices and quantities do not fully account for the external costs or benefits. This leads to:</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Underproduction of Positive Externalities: If positive externalities exist, the market may produce less than the socially optimal level of output.</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Overproduction of Negative Externalities: If negative externalities exist, the market may produce more than the socially optimal level of output.</a:t>
            </a:r>
          </a:p>
          <a:p>
            <a:endParaRPr lang="en-US" dirty="0"/>
          </a:p>
        </p:txBody>
      </p:sp>
    </p:spTree>
    <p:extLst>
      <p:ext uri="{BB962C8B-B14F-4D97-AF65-F5344CB8AC3E}">
        <p14:creationId xmlns:p14="http://schemas.microsoft.com/office/powerpoint/2010/main" val="29220508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45037-8F45-2296-6F7F-735C17F6012A}"/>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Resource Allocation and Externalities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B0A89E0-4149-DCB7-4141-A3E8A1934B1A}"/>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Externalities also affect the allocation of resources in value chain agriculture. </a:t>
            </a:r>
          </a:p>
          <a:p>
            <a:r>
              <a:rPr lang="en-US" kern="100" dirty="0">
                <a:latin typeface="Century Gothic" panose="020B0502020202020204" pitchFamily="34" charset="0"/>
                <a:ea typeface="Calibri" panose="020F0502020204030204" pitchFamily="34" charset="0"/>
                <a:cs typeface="Times New Roman" panose="02020603050405020304" pitchFamily="18" charset="0"/>
              </a:rPr>
              <a:t>When externalities are present, the private costs and benefits of production or consumption do not reflect the true social costs and benefits.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110199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50AC-1EF8-4694-C19B-ED5D09E03290}"/>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Policy Options to Internalize Externalities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C9C71DB-25D7-2F31-4207-32A3F344C1AF}"/>
              </a:ext>
            </a:extLst>
          </p:cNvPr>
          <p:cNvSpPr>
            <a:spLocks noGrp="1"/>
          </p:cNvSpPr>
          <p:nvPr>
            <p:ph idx="1"/>
          </p:nvPr>
        </p:nvSpPr>
        <p:spPr/>
        <p:txBody>
          <a:bodyPr>
            <a:normAutofit fontScale="92500" lnSpcReduction="2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To address externalities and promote market efficiency, policymakers have several options: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 and Subsidies: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Implementing taxes on activities with negative externalities or providing subsidies for activities with positive externalities can internalize the external effects.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Regulations: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Setting environmental regulations or standards can control the negative externalities, such as emission limits for agricultural machinery.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50479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9BD3C-73CC-F627-31C6-0076DA57BC15}"/>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and Exercises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8FACC8C-A5B7-1FC8-03D8-13099B520502}"/>
              </a:ext>
            </a:extLst>
          </p:cNvPr>
          <p:cNvSpPr>
            <a:spLocks noGrp="1"/>
          </p:cNvSpPr>
          <p:nvPr>
            <p:ph idx="1"/>
          </p:nvPr>
        </p:nvSpPr>
        <p:spPr/>
        <p:txBody>
          <a:bodyPr>
            <a:normAutofit fontScale="92500"/>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Provide real-life case studies or exercises on externalities in value chain agriculture. Students can analyze the scenarios and identify the type of externality, its impact on market efficiency, and propose policy solutions.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Externalities are an essential aspect of value chain agriculture, influencing market efficiency and resource allocation. Understanding the types and impacts of externalities allows students to develop informed solutions and policies that promote sustainable and efficient agricultural practices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5119652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01F41-898F-5C80-1D7B-F15CD1CDC2D0}"/>
              </a:ext>
            </a:extLst>
          </p:cNvPr>
          <p:cNvSpPr>
            <a:spLocks noGrp="1"/>
          </p:cNvSpPr>
          <p:nvPr>
            <p:ph type="title"/>
          </p:nvPr>
        </p:nvSpPr>
        <p:spPr>
          <a:xfrm>
            <a:off x="838200" y="365125"/>
            <a:ext cx="10515600" cy="4965411"/>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Lecture 8: </a:t>
            </a:r>
            <a:br>
              <a:rPr lang="en-US" b="1" kern="100" dirty="0">
                <a:latin typeface="Century Gothic" panose="020B050202020202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Producer Choice: Firm and Market Supply</a:t>
            </a:r>
            <a:endParaRPr lang="en-US" dirty="0"/>
          </a:p>
        </p:txBody>
      </p:sp>
    </p:spTree>
    <p:extLst>
      <p:ext uri="{BB962C8B-B14F-4D97-AF65-F5344CB8AC3E}">
        <p14:creationId xmlns:p14="http://schemas.microsoft.com/office/powerpoint/2010/main" val="107782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243E7-FB5D-681F-A8E4-784D84392D3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Overview of Producer Behavior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825C498-2F0C-368F-7E58-464B35A1EBED}"/>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Producers in value-chain agriculture aim to maximize their profits by optimizing production and cost decisions. </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Profit maximization involves finding the best combination of inputs to produce the desired output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1422380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CEF1-0F07-6A1A-3B09-3A827728D648}"/>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Cost Curves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87C45C7-3A4B-4CAC-DE83-525BF5BB9170}"/>
              </a:ext>
            </a:extLst>
          </p:cNvPr>
          <p:cNvSpPr>
            <a:spLocks noGrp="1"/>
          </p:cNvSpPr>
          <p:nvPr>
            <p:ph idx="1"/>
          </p:nvPr>
        </p:nvSpPr>
        <p:spPr/>
        <p:txBody>
          <a:bodyPr/>
          <a:lstStyle/>
          <a:p>
            <a:pPr marL="0" indent="0">
              <a:buNone/>
            </a:pPr>
            <a:r>
              <a:rPr lang="en-US" dirty="0">
                <a:latin typeface="Century Gothic" panose="020B0502020202020204" pitchFamily="34" charset="0"/>
                <a:ea typeface="Calibri" panose="020F0502020204030204" pitchFamily="34" charset="0"/>
                <a:cs typeface="Times New Roman" panose="02020603050405020304" pitchFamily="18" charset="0"/>
              </a:rPr>
              <a:t>Cost curves illustrate the relationship between output and cost</a:t>
            </a:r>
            <a:endParaRPr lang="en-US" dirty="0"/>
          </a:p>
        </p:txBody>
      </p:sp>
      <p:pic>
        <p:nvPicPr>
          <p:cNvPr id="4" name="Picture 3">
            <a:extLst>
              <a:ext uri="{FF2B5EF4-FFF2-40B4-BE49-F238E27FC236}">
                <a16:creationId xmlns:a16="http://schemas.microsoft.com/office/drawing/2014/main" id="{5C2E202D-E02C-7C7E-9DD6-BD492B766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996694"/>
            <a:ext cx="4263736" cy="3433941"/>
          </a:xfrm>
          <a:prstGeom prst="rect">
            <a:avLst/>
          </a:prstGeom>
        </p:spPr>
      </p:pic>
      <p:pic>
        <p:nvPicPr>
          <p:cNvPr id="5" name="Picture 4">
            <a:extLst>
              <a:ext uri="{FF2B5EF4-FFF2-40B4-BE49-F238E27FC236}">
                <a16:creationId xmlns:a16="http://schemas.microsoft.com/office/drawing/2014/main" id="{BF0C9D6B-32C4-F1DA-7FCA-0FBE7CD0B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8929" y="3052574"/>
            <a:ext cx="4473452" cy="3378061"/>
          </a:xfrm>
          <a:prstGeom prst="rect">
            <a:avLst/>
          </a:prstGeom>
        </p:spPr>
      </p:pic>
    </p:spTree>
    <p:extLst>
      <p:ext uri="{BB962C8B-B14F-4D97-AF65-F5344CB8AC3E}">
        <p14:creationId xmlns:p14="http://schemas.microsoft.com/office/powerpoint/2010/main" val="31088608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904E3-2AFE-1967-745E-4ECC2FC7CB74}"/>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Total Revenue (TR) and Total Cost (TC)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43AE12C-C741-294C-C8B0-D4C165E26EBC}"/>
              </a:ext>
            </a:extLst>
          </p:cNvPr>
          <p:cNvSpPr>
            <a:spLocks noGrp="1"/>
          </p:cNvSpPr>
          <p:nvPr>
            <p:ph idx="1"/>
          </p:nvPr>
        </p:nvSpPr>
        <p:spPr/>
        <p:txBody>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Revenue (TR) </a:t>
            </a:r>
            <a:r>
              <a:rPr lang="en-US" kern="100" dirty="0">
                <a:latin typeface="Century Gothic" panose="020B0502020202020204" pitchFamily="34" charset="0"/>
                <a:ea typeface="Calibri" panose="020F0502020204030204" pitchFamily="34" charset="0"/>
                <a:cs typeface="Times New Roman" panose="02020603050405020304" pitchFamily="18" charset="0"/>
              </a:rPr>
              <a:t>is the total income earned by a firm from selling its products.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is calculated as the product of the price (P) and the quantity sold (Q): TR = PQ.</a:t>
            </a:r>
          </a:p>
          <a:p>
            <a:pPr algn="just">
              <a:lnSpc>
                <a:spcPct val="107000"/>
              </a:lnSpc>
              <a:spcBef>
                <a:spcPts val="0"/>
              </a:spcBef>
              <a:spcAft>
                <a:spcPts val="800"/>
              </a:spcAft>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Cost (TC) </a:t>
            </a:r>
            <a:r>
              <a:rPr lang="en-US" kern="100" dirty="0">
                <a:latin typeface="Century Gothic" panose="020B0502020202020204" pitchFamily="34" charset="0"/>
                <a:ea typeface="Calibri" panose="020F0502020204030204" pitchFamily="34" charset="0"/>
                <a:cs typeface="Times New Roman" panose="02020603050405020304" pitchFamily="18" charset="0"/>
              </a:rPr>
              <a:t>is the total expense incurred by a firm to produce a given quantity of output.</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includes fixed costs and variable costs.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1496234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3DBBD-4C59-6B04-1D9A-5B75001D35A2}"/>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Revenue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6A33467-3417-762B-0C5A-B7525F013D1C}"/>
              </a:ext>
            </a:extLst>
          </p:cNvPr>
          <p:cNvSpPr>
            <a:spLocks noGrp="1"/>
          </p:cNvSpPr>
          <p:nvPr>
            <p:ph idx="1"/>
          </p:nvPr>
        </p:nvSpPr>
        <p:spPr/>
        <p:txBody>
          <a:bodyPr/>
          <a:lstStyle/>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Revenue curves illustrate the relationship between output and revenue.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Average Revenue (AR), </a:t>
            </a:r>
            <a:r>
              <a:rPr lang="en-US" kern="100" dirty="0">
                <a:latin typeface="Century Gothic" panose="020B0502020202020204" pitchFamily="34" charset="0"/>
                <a:ea typeface="Calibri" panose="020F0502020204030204" pitchFamily="34" charset="0"/>
                <a:cs typeface="Times New Roman" panose="02020603050405020304" pitchFamily="18" charset="0"/>
              </a:rPr>
              <a:t>is the revenue per unit of commodity sold. This is the total revenue divided by the output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Marginal Revenue (MR),</a:t>
            </a:r>
            <a:r>
              <a:rPr lang="en-US" kern="100" dirty="0">
                <a:latin typeface="Century Gothic" panose="020B0502020202020204" pitchFamily="34" charset="0"/>
                <a:ea typeface="Calibri" panose="020F0502020204030204" pitchFamily="34" charset="0"/>
                <a:cs typeface="Times New Roman" panose="02020603050405020304" pitchFamily="18" charset="0"/>
              </a:rPr>
              <a:t> Marginal revenue is the net addition to the total revenue when one more unit is sold.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1631152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46B51-A18C-3DB3-C449-9A47CFBDB9A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Cost Curves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821C91E-55D3-6DF3-D75C-189065B2AAC7}"/>
              </a:ext>
            </a:extLst>
          </p:cNvPr>
          <p:cNvSpPr>
            <a:spLocks noGrp="1"/>
          </p:cNvSpPr>
          <p:nvPr>
            <p:ph idx="1"/>
          </p:nvPr>
        </p:nvSpPr>
        <p:spPr/>
        <p:txBody>
          <a:bodyPr>
            <a:normAutofit fontScale="92500" lnSpcReduction="20000"/>
          </a:bodyPr>
          <a:lstStyle/>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Fixed Cost (TFC) </a:t>
            </a:r>
            <a:r>
              <a:rPr lang="en-US" kern="100" dirty="0">
                <a:latin typeface="Century Gothic" panose="020B0502020202020204" pitchFamily="34" charset="0"/>
                <a:ea typeface="Calibri" panose="020F0502020204030204" pitchFamily="34" charset="0"/>
                <a:cs typeface="Times New Roman" panose="02020603050405020304" pitchFamily="18" charset="0"/>
              </a:rPr>
              <a:t>– costs independent of output, paying for factory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Marginal cost (MC) </a:t>
            </a:r>
            <a:r>
              <a:rPr lang="en-US" kern="100" dirty="0">
                <a:latin typeface="Century Gothic" panose="020B0502020202020204" pitchFamily="34" charset="0"/>
                <a:ea typeface="Calibri" panose="020F0502020204030204" pitchFamily="34" charset="0"/>
                <a:cs typeface="Times New Roman" panose="02020603050405020304" pitchFamily="18" charset="0"/>
              </a:rPr>
              <a:t>– the cost of producing an extra unit of output.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variable cost (TVC)</a:t>
            </a:r>
            <a:r>
              <a:rPr lang="en-US" kern="100" dirty="0">
                <a:latin typeface="Century Gothic" panose="020B0502020202020204" pitchFamily="34" charset="0"/>
                <a:ea typeface="Calibri" panose="020F0502020204030204" pitchFamily="34" charset="0"/>
                <a:cs typeface="Times New Roman" panose="02020603050405020304" pitchFamily="18" charset="0"/>
              </a:rPr>
              <a:t> = cost involved in producing more units, which in this case is the cost of employing workers.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Average Variable Cost AVC</a:t>
            </a:r>
            <a:r>
              <a:rPr lang="en-US" kern="100" dirty="0">
                <a:latin typeface="Century Gothic" panose="020B0502020202020204" pitchFamily="34" charset="0"/>
                <a:ea typeface="Calibri" panose="020F0502020204030204" pitchFamily="34" charset="0"/>
                <a:cs typeface="Times New Roman" panose="02020603050405020304" pitchFamily="18" charset="0"/>
              </a:rPr>
              <a:t> = Total variable cost / quantity produced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cost TC </a:t>
            </a:r>
            <a:r>
              <a:rPr lang="en-US" kern="100" dirty="0">
                <a:latin typeface="Century Gothic" panose="020B0502020202020204" pitchFamily="34" charset="0"/>
                <a:ea typeface="Calibri" panose="020F0502020204030204" pitchFamily="34" charset="0"/>
                <a:cs typeface="Times New Roman" panose="02020603050405020304" pitchFamily="18" charset="0"/>
              </a:rPr>
              <a:t>= Total variable cost (VC) + total fixed cost (FC)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Average Total Cost ATC </a:t>
            </a:r>
            <a:r>
              <a:rPr lang="en-US" kern="100" dirty="0">
                <a:latin typeface="Century Gothic" panose="020B0502020202020204" pitchFamily="34" charset="0"/>
                <a:ea typeface="Calibri" panose="020F0502020204030204" pitchFamily="34" charset="0"/>
                <a:cs typeface="Times New Roman" panose="02020603050405020304" pitchFamily="18" charset="0"/>
              </a:rPr>
              <a:t>= Total cost / quantity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2236108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3057B-0448-D758-6FEF-052C202A2DD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Profit Calculation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826F78E-A5FB-A1DD-A79A-7E0F249AB260}"/>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Profit (</a:t>
            </a:r>
            <a:r>
              <a:rPr lang="en-US" i="1" kern="100" dirty="0">
                <a:latin typeface="Century Gothic" panose="020B0502020202020204" pitchFamily="34" charset="0"/>
                <a:ea typeface="Calibri" panose="020F0502020204030204" pitchFamily="34" charset="0"/>
                <a:cs typeface="Times New Roman" panose="02020603050405020304" pitchFamily="18" charset="0"/>
              </a:rPr>
              <a:t>π</a:t>
            </a:r>
            <a:r>
              <a:rPr lang="en-US" kern="100" dirty="0">
                <a:latin typeface="Century Gothic" panose="020B0502020202020204" pitchFamily="34" charset="0"/>
                <a:ea typeface="Calibri" panose="020F0502020204030204" pitchFamily="34" charset="0"/>
                <a:cs typeface="Times New Roman" panose="02020603050405020304" pitchFamily="18" charset="0"/>
              </a:rPr>
              <a:t>) is the difference between total revenue and total cost: </a:t>
            </a:r>
            <a:r>
              <a:rPr lang="en-US" i="1" kern="100" dirty="0">
                <a:latin typeface="Century Gothic" panose="020B0502020202020204" pitchFamily="34" charset="0"/>
                <a:ea typeface="Calibri" panose="020F0502020204030204" pitchFamily="34" charset="0"/>
                <a:cs typeface="Times New Roman" panose="02020603050405020304" pitchFamily="18" charset="0"/>
              </a:rPr>
              <a:t>π </a:t>
            </a:r>
            <a:r>
              <a:rPr lang="en-US" kern="100" dirty="0">
                <a:latin typeface="Century Gothic" panose="020B0502020202020204" pitchFamily="34" charset="0"/>
                <a:ea typeface="Calibri" panose="020F0502020204030204" pitchFamily="34" charset="0"/>
                <a:cs typeface="Times New Roman" panose="02020603050405020304" pitchFamily="18" charset="0"/>
              </a:rPr>
              <a:t>= TR - TC.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Positive profit (π &gt; 0) indicates that the firm is making a profit.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Negative profit (π &lt; 0) means the firm is facing losses which is also a ‘Loss’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1678663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633A-E83B-0A3A-B9D1-05923170F1F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Profit Maximization and Optimization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E368146-296A-9D21-E9C1-D4D377E86584}"/>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Producers determine the output level where marginal revenue (MR) equals marginal cost (MC) to maximize profit.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-If MR &gt; MC, increasing output leads to higher profits.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-If MR &lt; MC, reducing output increases profits.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205542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65A4-777F-70C9-449A-CEEEDDC3208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Production Functions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F1D9295-F16A-5A06-0AEC-896AFD42050E}"/>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Production functions describe the relationship between inputs and outputs.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value-chain agriculture, inputs can include labor, land, and capital.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production function is represented as Q = f(L, K), where Q is the quantity of output, L is labor, and K is capital.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6139131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A147E-2FC6-51C6-19E2-0B44B27BF85B}"/>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Derivation of Firm and Market Supply Curves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901CBE0-6766-6FCC-DC24-42284720BDE4}"/>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Firm Supply Curve: The firm's supply curve shows the quantity of output a firm is willing to produce and sell at different price levels.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Supply Curve: The market supply curve is the horizontal summation of individual firm supply curves.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shows the total quantity of a good supplied by all producers in the market at various prices.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305484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B532-0DAC-8F7D-AFEC-963BEA8E9C60}"/>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Relationship with Input and Output Prices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743D492-B6DF-5969-0ED9-42DA62D4D6B3}"/>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firm's supply decisions are influenced by input prices (e.g., labor, land, and capital) and output prices (the price at which the firm can sell its product).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If output price increases, firms are motivated to produce more as profit opportunities expand.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If input prices increase, firms may reduce production to control costs.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789927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F99B4-F599-D19C-C5D1-8D48A093EBC4}"/>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4D0844E-6D82-DD2B-3289-BEBCB403DC13}"/>
              </a:ext>
            </a:extLst>
          </p:cNvPr>
          <p:cNvSpPr>
            <a:spLocks noGrp="1"/>
          </p:cNvSpPr>
          <p:nvPr>
            <p:ph idx="1"/>
          </p:nvPr>
        </p:nvSpPr>
        <p:spPr/>
        <p:txBody>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a firm in the value chain agriculture sector that produces strawberries. The production function for strawberries is given as follows: Q = 20√L, where Q is the quantity of strawberries produced and L is the amount of labor input.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quantity of strawberries produced when the firm employs 25 units of labor.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743866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84E9-D757-42F6-319C-3EAD783CEB90}"/>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BA5FCB7-64E3-FC4B-0696-DA73B2BFCA0C}"/>
              </a:ext>
            </a:extLst>
          </p:cNvPr>
          <p:cNvSpPr>
            <a:spLocks noGrp="1"/>
          </p:cNvSpPr>
          <p:nvPr>
            <p:ph idx="1"/>
          </p:nvPr>
        </p:nvSpPr>
        <p:spPr/>
        <p:txBody>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total cost (TC) function for the strawberry firm is given by: TC = 5L + 100, where L is the amount of labor input.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total cost of producing strawberries when the firm employs 30 units of labor.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7891600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36A9-D2F2-7406-2E6E-3F184456329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3: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A4D5012-1619-37E3-E2EA-348C8A41C24F}"/>
              </a:ext>
            </a:extLst>
          </p:cNvPr>
          <p:cNvSpPr>
            <a:spLocks noGrp="1"/>
          </p:cNvSpPr>
          <p:nvPr>
            <p:ph idx="1"/>
          </p:nvPr>
        </p:nvSpPr>
        <p:spPr/>
        <p:txBody>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price of strawberries is MWK8 per unit, and the firm's total revenue (TR) function is given by: TR = 8Q, where Q is the quantity of strawberries produced.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total revenue when the firm produces 50 units of strawberries.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8968258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7B859-A7C4-F2F8-C408-3E16C07507A6}"/>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4: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284E4FE-D185-573B-DE47-28BE9DFCFBFD}"/>
              </a:ext>
            </a:extLst>
          </p:cNvPr>
          <p:cNvSpPr>
            <a:spLocks noGrp="1"/>
          </p:cNvSpPr>
          <p:nvPr>
            <p:ph idx="1"/>
          </p:nvPr>
        </p:nvSpPr>
        <p:spPr/>
        <p:txBody>
          <a:bodyPr/>
          <a:lstStyle/>
          <a:p>
            <a:pPr marL="0" indent="0">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Using the information from Exercises 2 and 3, calculate the profit (π) earned by the firm when it employs 30 units of labor and produces 50 units of strawberries.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22852614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98553-FE34-387E-C964-9A922191536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5: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5CEE2E3-BDC5-AB78-6523-ACD0EDE43478}"/>
              </a:ext>
            </a:extLst>
          </p:cNvPr>
          <p:cNvSpPr>
            <a:spLocks noGrp="1"/>
          </p:cNvSpPr>
          <p:nvPr>
            <p:ph idx="1"/>
          </p:nvPr>
        </p:nvSpPr>
        <p:spPr>
          <a:xfrm>
            <a:off x="838200" y="1789999"/>
            <a:ext cx="10515600" cy="4351338"/>
          </a:xfrm>
        </p:spPr>
        <p:txBody>
          <a:bodyPr>
            <a:normAutofit fontScale="92500" lnSpcReduction="20000"/>
          </a:bodyPr>
          <a:lstStyle/>
          <a:p>
            <a:pPr marL="0" indent="0">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 strawberry producer faces the following cost schedule:</a:t>
            </a:r>
          </a:p>
          <a:p>
            <a:pPr marL="0" indent="0">
              <a:buNone/>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firm's average cost (AC) at each quantity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firm's marginal cost (MC) at each quantity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graphicFrame>
        <p:nvGraphicFramePr>
          <p:cNvPr id="6" name="Table 5">
            <a:extLst>
              <a:ext uri="{FF2B5EF4-FFF2-40B4-BE49-F238E27FC236}">
                <a16:creationId xmlns:a16="http://schemas.microsoft.com/office/drawing/2014/main" id="{4010C00D-1C6F-1B16-77DB-E0E6C3E0C155}"/>
              </a:ext>
            </a:extLst>
          </p:cNvPr>
          <p:cNvGraphicFramePr>
            <a:graphicFrameLocks noGrp="1"/>
          </p:cNvGraphicFramePr>
          <p:nvPr>
            <p:extLst>
              <p:ext uri="{D42A27DB-BD31-4B8C-83A1-F6EECF244321}">
                <p14:modId xmlns:p14="http://schemas.microsoft.com/office/powerpoint/2010/main" val="1620339897"/>
              </p:ext>
            </p:extLst>
          </p:nvPr>
        </p:nvGraphicFramePr>
        <p:xfrm>
          <a:off x="1318161" y="2660073"/>
          <a:ext cx="8802584" cy="1745672"/>
        </p:xfrm>
        <a:graphic>
          <a:graphicData uri="http://schemas.openxmlformats.org/drawingml/2006/table">
            <a:tbl>
              <a:tblPr firstRow="1" firstCol="1" bandRow="1"/>
              <a:tblGrid>
                <a:gridCol w="4401292">
                  <a:extLst>
                    <a:ext uri="{9D8B030D-6E8A-4147-A177-3AD203B41FA5}">
                      <a16:colId xmlns:a16="http://schemas.microsoft.com/office/drawing/2014/main" val="397098466"/>
                    </a:ext>
                  </a:extLst>
                </a:gridCol>
                <a:gridCol w="4401292">
                  <a:extLst>
                    <a:ext uri="{9D8B030D-6E8A-4147-A177-3AD203B41FA5}">
                      <a16:colId xmlns:a16="http://schemas.microsoft.com/office/drawing/2014/main" val="2612755086"/>
                    </a:ext>
                  </a:extLst>
                </a:gridCol>
              </a:tblGrid>
              <a:tr h="249116">
                <a:tc>
                  <a:txBody>
                    <a:bodyPr/>
                    <a:lstStyle/>
                    <a:p>
                      <a:pPr marL="0" marR="0" algn="just">
                        <a:lnSpc>
                          <a:spcPct val="107000"/>
                        </a:lnSpc>
                        <a:spcBef>
                          <a:spcPts val="0"/>
                        </a:spcBef>
                        <a:spcAft>
                          <a:spcPts val="800"/>
                        </a:spcAft>
                      </a:pPr>
                      <a:r>
                        <a:rPr lang="en-US" sz="1200" b="1"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Quantity (Q)</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b="1"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Total Cost (TC)(MWK)</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1259286045"/>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50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1051246234"/>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10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120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3293166354"/>
                  </a:ext>
                </a:extLst>
              </a:tr>
              <a:tr h="249426">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20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190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2800086750"/>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30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260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4222990356"/>
                  </a:ext>
                </a:extLst>
              </a:tr>
              <a:tr h="249426">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40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330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2659773910"/>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50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400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3580996580"/>
                  </a:ext>
                </a:extLst>
              </a:tr>
            </a:tbl>
          </a:graphicData>
        </a:graphic>
      </p:graphicFrame>
    </p:spTree>
    <p:extLst>
      <p:ext uri="{BB962C8B-B14F-4D97-AF65-F5344CB8AC3E}">
        <p14:creationId xmlns:p14="http://schemas.microsoft.com/office/powerpoint/2010/main" val="169226246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11AE5-CB24-ED45-3F66-9B4E73ABB6B8}"/>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The Tomato Industry in Malawi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4AE1D77-D8AF-43CF-3104-E52E31B48B04}"/>
              </a:ext>
            </a:extLst>
          </p:cNvPr>
          <p:cNvSpPr>
            <a:spLocks noGrp="1"/>
          </p:cNvSpPr>
          <p:nvPr>
            <p:ph idx="1"/>
          </p:nvPr>
        </p:nvSpPr>
        <p:spPr/>
        <p:txBody>
          <a:bodyPr>
            <a:normAutofit fontScale="77500" lnSpcReduction="20000"/>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tomato industry in Malawi consists of small-scale farmers who grow tomatoes for both local consumption and export. The market for tomatoes is competitive, with many farmers producing similar quality tomatoes. However, some farmers face higher production costs due to limited access to resources like irrigation and fertilizers.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market structure of the tomato industry in Malawi. What are the characteristics of a competitive market, and how do they apply to this industry?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factors that influence the supply decisions of tomato farmers. How do input prices and output prices affect their production choices?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How can farmers optimize their profits in the tomato industry? Explain the concept of profit maximization and how it is applied in the context of tomato production.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0404063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1A70E-69A5-107C-234C-0308E379CC22}"/>
              </a:ext>
            </a:extLst>
          </p:cNvPr>
          <p:cNvSpPr>
            <a:spLocks noGrp="1"/>
          </p:cNvSpPr>
          <p:nvPr>
            <p:ph type="title"/>
          </p:nvPr>
        </p:nvSpPr>
        <p:spPr>
          <a:xfrm>
            <a:off x="838200" y="365125"/>
            <a:ext cx="10515600" cy="5661602"/>
          </a:xfrm>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Lecture 12: Market Structures in Value Chain Agriculture</a:t>
            </a:r>
            <a:endParaRPr lang="en-US" dirty="0"/>
          </a:p>
        </p:txBody>
      </p:sp>
    </p:spTree>
    <p:extLst>
      <p:ext uri="{BB962C8B-B14F-4D97-AF65-F5344CB8AC3E}">
        <p14:creationId xmlns:p14="http://schemas.microsoft.com/office/powerpoint/2010/main" val="273739656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1D726-5B1B-4F27-CD73-CF3642F8ED35}"/>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Market Structures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AD81B57-CB06-EC84-3AA9-2F316449E0E8}"/>
              </a:ext>
            </a:extLst>
          </p:cNvPr>
          <p:cNvSpPr>
            <a:spLocks noGrp="1"/>
          </p:cNvSpPr>
          <p:nvPr>
            <p:ph idx="1"/>
          </p:nvPr>
        </p:nvSpPr>
        <p:spPr>
          <a:xfrm>
            <a:off x="838200" y="1330036"/>
            <a:ext cx="10515600" cy="5162839"/>
          </a:xfrm>
        </p:spPr>
        <p:txBody>
          <a:bodyPr>
            <a:normAutofit fontScale="92500" lnSpcReduction="2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structures refer to the organizational characteristics of a market, including the number of sellers and buyers, the level of product differentiation, and the entry barriers.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Four main market structures exist: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Perfect Competition: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with many small firms selling homogeneous products and facing no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Oligopoly: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dominated by a few large firms selling either homogeneous or differentiated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Monopolistic Competition: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with many firms selling </a:t>
            </a:r>
            <a:r>
              <a:rPr lang="en-US" b="1" kern="100" dirty="0">
                <a:latin typeface="Century Gothic" panose="020B0502020202020204" pitchFamily="34" charset="0"/>
                <a:ea typeface="Calibri" panose="020F0502020204030204" pitchFamily="34" charset="0"/>
                <a:cs typeface="Times New Roman" panose="02020603050405020304" pitchFamily="18" charset="0"/>
              </a:rPr>
              <a:t>differentiated</a:t>
            </a:r>
            <a:r>
              <a:rPr lang="en-US" kern="100" dirty="0">
                <a:latin typeface="Century Gothic" panose="020B0502020202020204" pitchFamily="34" charset="0"/>
                <a:ea typeface="Calibri" panose="020F0502020204030204" pitchFamily="34" charset="0"/>
                <a:cs typeface="Times New Roman" panose="02020603050405020304" pitchFamily="18" charset="0"/>
              </a:rPr>
              <a:t>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Monopoly: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 market with a single seller and no close substitutes.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3717929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B53BC-2A5E-5A94-5802-FD85CE2CACAD}"/>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Perfect Competition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D1512C6A-1FD6-A5EF-7216-078890D532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0054" y="1825625"/>
            <a:ext cx="7871891" cy="4351338"/>
          </a:xfrm>
          <a:prstGeom prst="rect">
            <a:avLst/>
          </a:prstGeom>
        </p:spPr>
      </p:pic>
    </p:spTree>
    <p:extLst>
      <p:ext uri="{BB962C8B-B14F-4D97-AF65-F5344CB8AC3E}">
        <p14:creationId xmlns:p14="http://schemas.microsoft.com/office/powerpoint/2010/main" val="261881405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5D7C-7E36-CBE3-29A5-9E651A72712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Perfect competition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EEA041F-C233-8CA3-21A7-3588F1D206F1}"/>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Many small firms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Homogeneous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No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Price takers (firms accept the market price as given)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6036296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FF15-4E43-270A-2BEC-FB33325400FD}"/>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Perfect Competition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2C08419-0176-98DC-AB8B-093FF2193C02}"/>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perfect competition, firms are price takers, so they cannot influence market price.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market determines price and output through the interaction of demand and supply.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Individual firms produce at the level where marginal cost equals the market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9609885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69553-513A-BB58-F618-5139C5CD01B1}"/>
              </a:ext>
            </a:extLst>
          </p:cNvPr>
          <p:cNvSpPr>
            <a:spLocks noGrp="1"/>
          </p:cNvSpPr>
          <p:nvPr>
            <p:ph type="title"/>
          </p:nvPr>
        </p:nvSpPr>
        <p:spPr>
          <a:xfrm>
            <a:off x="838200" y="1"/>
            <a:ext cx="10515600" cy="1153390"/>
          </a:xfrm>
        </p:spPr>
        <p:txBody>
          <a:bodyPr/>
          <a:lstStyle/>
          <a:p>
            <a:pPr algn="ctr"/>
            <a:r>
              <a:rPr lang="en-US" b="1" dirty="0">
                <a:latin typeface="Century Gothic" panose="020B0502020202020204" pitchFamily="34" charset="0"/>
              </a:rPr>
              <a:t>Oligopoly </a:t>
            </a:r>
          </a:p>
        </p:txBody>
      </p:sp>
      <p:pic>
        <p:nvPicPr>
          <p:cNvPr id="4" name="Content Placeholder 3">
            <a:extLst>
              <a:ext uri="{FF2B5EF4-FFF2-40B4-BE49-F238E27FC236}">
                <a16:creationId xmlns:a16="http://schemas.microsoft.com/office/drawing/2014/main" id="{B8BF647E-B5F8-0383-93BD-CD17EE3D19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4275" y="1825625"/>
            <a:ext cx="5723449" cy="4351338"/>
          </a:xfrm>
          <a:prstGeom prst="rect">
            <a:avLst/>
          </a:prstGeom>
        </p:spPr>
      </p:pic>
    </p:spTree>
    <p:extLst>
      <p:ext uri="{BB962C8B-B14F-4D97-AF65-F5344CB8AC3E}">
        <p14:creationId xmlns:p14="http://schemas.microsoft.com/office/powerpoint/2010/main" val="325836944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73A9-25D5-AF6F-0AD6-F4453D7C7BEC}"/>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Oligopoly</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F2F11BE-152C-2615-F1D3-1F5B24E6C28E}"/>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Few large firms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Homogeneous or differentiated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Significant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Mutual interdependence (firms consider rivals' actions)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3604664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EB33-DE74-1092-1467-2C48FF83DF5E}"/>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Oligopoly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E034349-35AC-13E9-B98B-3A201A16BFE5}"/>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 an oligopoly, price and output determination are complex due to interdependence.</a:t>
            </a:r>
          </a:p>
          <a:p>
            <a:pPr marL="0" indent="0">
              <a:buNone/>
            </a:pPr>
            <a:endParaRPr lang="en-US" kern="100" dirty="0">
              <a:latin typeface="Century Gothic" panose="020B0502020202020204" pitchFamily="34" charset="0"/>
              <a:ea typeface="Calibri" panose="020F0502020204030204" pitchFamily="34" charset="0"/>
              <a:cs typeface="Times New Roman" panose="02020603050405020304" pitchFamily="18" charset="0"/>
            </a:endParaRPr>
          </a:p>
          <a:p>
            <a:r>
              <a:rPr lang="en-US" kern="100" dirty="0">
                <a:latin typeface="Century Gothic" panose="020B0502020202020204" pitchFamily="34" charset="0"/>
                <a:ea typeface="Calibri" panose="020F0502020204030204" pitchFamily="34" charset="0"/>
                <a:cs typeface="Times New Roman" panose="02020603050405020304" pitchFamily="18" charset="0"/>
              </a:rPr>
              <a:t>Firms may engage in non-price competition (e.g., advertising) and strategic decision-making to gain a competitive advantage.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9858666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0F70-44C3-D395-2FBA-2444754CB823}"/>
              </a:ext>
            </a:extLst>
          </p:cNvPr>
          <p:cNvSpPr>
            <a:spLocks noGrp="1"/>
          </p:cNvSpPr>
          <p:nvPr>
            <p:ph type="title"/>
          </p:nvPr>
        </p:nvSpPr>
        <p:spPr>
          <a:xfrm>
            <a:off x="838200" y="0"/>
            <a:ext cx="10515600" cy="1101436"/>
          </a:xfrm>
        </p:spPr>
        <p:txBody>
          <a:bodyPr>
            <a:normAutofit/>
          </a:bodyPr>
          <a:lstStyle/>
          <a:p>
            <a:pPr marL="0" marR="0" algn="ctr">
              <a:lnSpc>
                <a:spcPct val="107000"/>
              </a:lnSpc>
              <a:spcBef>
                <a:spcPts val="0"/>
              </a:spcBef>
              <a:spcAft>
                <a:spcPts val="800"/>
              </a:spcAft>
            </a:pPr>
            <a:r>
              <a:rPr lang="en-US" b="1" dirty="0">
                <a:latin typeface="Century Gothic" panose="020B0502020202020204" pitchFamily="34" charset="0"/>
              </a:rPr>
              <a:t>Monopolistic Competition </a:t>
            </a:r>
          </a:p>
        </p:txBody>
      </p:sp>
      <p:pic>
        <p:nvPicPr>
          <p:cNvPr id="4" name="Content Placeholder 3">
            <a:extLst>
              <a:ext uri="{FF2B5EF4-FFF2-40B4-BE49-F238E27FC236}">
                <a16:creationId xmlns:a16="http://schemas.microsoft.com/office/drawing/2014/main" id="{D18105CC-BDE3-FC70-925E-A9B5DEA66F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66086" y="1825625"/>
            <a:ext cx="4859827" cy="4351338"/>
          </a:xfrm>
          <a:prstGeom prst="rect">
            <a:avLst/>
          </a:prstGeom>
        </p:spPr>
      </p:pic>
    </p:spTree>
    <p:extLst>
      <p:ext uri="{BB962C8B-B14F-4D97-AF65-F5344CB8AC3E}">
        <p14:creationId xmlns:p14="http://schemas.microsoft.com/office/powerpoint/2010/main" val="46273458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8059-34AB-9531-8F10-3579CF93309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Monopolistic Competition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BC05550-4DB5-12B4-2BCF-367690753F09}"/>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Presence of Many firms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Differentiated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Low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certain degree of control over product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83006346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922C-A644-648B-F2E0-42C264CE3C52}"/>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Monopolistic Competition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8292D1B-B16C-21A5-EFFE-6BE246D00A68}"/>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 monopolistic competition, firms have some control over product pricing. </a:t>
            </a:r>
          </a:p>
          <a:p>
            <a:r>
              <a:rPr lang="en-US" kern="100" dirty="0">
                <a:latin typeface="Century Gothic" panose="020B0502020202020204" pitchFamily="34" charset="0"/>
                <a:ea typeface="Calibri" panose="020F0502020204030204" pitchFamily="34" charset="0"/>
                <a:cs typeface="Times New Roman" panose="02020603050405020304" pitchFamily="18" charset="0"/>
              </a:rPr>
              <a:t>They produce where marginal cost equals marginal revenue but charge a price higher than marginal cost, resulting in excess profits in the short run.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1249034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E5EA-228A-1A1F-A501-D0713E6E9737}"/>
              </a:ext>
            </a:extLst>
          </p:cNvPr>
          <p:cNvSpPr>
            <a:spLocks noGrp="1"/>
          </p:cNvSpPr>
          <p:nvPr>
            <p:ph type="title"/>
          </p:nvPr>
        </p:nvSpPr>
        <p:spPr>
          <a:xfrm>
            <a:off x="838200" y="-93517"/>
            <a:ext cx="10515600" cy="1278081"/>
          </a:xfrm>
        </p:spPr>
        <p:txBody>
          <a:bodyPr/>
          <a:lstStyle/>
          <a:p>
            <a:pPr algn="ctr"/>
            <a:r>
              <a:rPr lang="en-US" b="1" dirty="0">
                <a:latin typeface="Century Gothic" panose="020B0502020202020204" pitchFamily="34" charset="0"/>
              </a:rPr>
              <a:t>Monopoly </a:t>
            </a:r>
          </a:p>
        </p:txBody>
      </p:sp>
      <p:pic>
        <p:nvPicPr>
          <p:cNvPr id="4" name="Content Placeholder 3">
            <a:extLst>
              <a:ext uri="{FF2B5EF4-FFF2-40B4-BE49-F238E27FC236}">
                <a16:creationId xmlns:a16="http://schemas.microsoft.com/office/drawing/2014/main" id="{B3B9B084-5CC3-3EE9-0BB6-CC0533A5DE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00891" y="1825625"/>
            <a:ext cx="5590218" cy="4351338"/>
          </a:xfrm>
          <a:prstGeom prst="rect">
            <a:avLst/>
          </a:prstGeom>
        </p:spPr>
      </p:pic>
    </p:spTree>
    <p:extLst>
      <p:ext uri="{BB962C8B-B14F-4D97-AF65-F5344CB8AC3E}">
        <p14:creationId xmlns:p14="http://schemas.microsoft.com/office/powerpoint/2010/main" val="259976273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1EED-9E8B-62D5-3A38-DFAD35C37FFB}"/>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Characteristics of Monopoly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A1D3E45-67DE-218B-478D-962368B5077B}"/>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Single seller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No close substitutes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High barriers to entry or exit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Significant market power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4337518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55AF0-B363-1F9E-4889-5F312AD735F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Price and Output Determination in Monopoly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CD8E70E-A5DA-6F2D-8DD0-278F087130B4}"/>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 a monopoly, the firm is a price maker, having the power to set the price. </a:t>
            </a:r>
          </a:p>
          <a:p>
            <a:r>
              <a:rPr lang="en-US" kern="100" dirty="0">
                <a:latin typeface="Century Gothic" panose="020B0502020202020204" pitchFamily="34" charset="0"/>
                <a:ea typeface="Calibri" panose="020F0502020204030204" pitchFamily="34" charset="0"/>
                <a:cs typeface="Times New Roman" panose="02020603050405020304" pitchFamily="18" charset="0"/>
              </a:rPr>
              <a:t>The firm maximizes profits by equating marginal cost to marginal revenue, and the price charged is higher than marginal cost.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886050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378D-5FA8-1A43-D0F3-CDDB51869A18}"/>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Efficiency and Performance Implications of Market Structures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4DA39AB-1053-DF1B-4176-99EDC0690B57}"/>
              </a:ext>
            </a:extLst>
          </p:cNvPr>
          <p:cNvSpPr>
            <a:spLocks noGrp="1"/>
          </p:cNvSpPr>
          <p:nvPr>
            <p:ph idx="1"/>
          </p:nvPr>
        </p:nvSpPr>
        <p:spPr/>
        <p:txBody>
          <a:bodyPr>
            <a:normAutofit fontScale="850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Perfect Competition: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Allocative efficiency: Price is equal to marginal cost(P=MC)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Productive efficiency: Firms produce at the minimum average cost(Lowest point on the AC curve)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Oligopoly and Monopolistic Competition: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Less allocative and productive efficiency compared to perfect competition.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Monopoly:</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Lower output and higher price compared to perfect competition.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Lower overall welfare due to deadweight loss.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1055676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8A34-6A76-F6DF-8C04-0F4C71BCFA45}"/>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Welfare Economics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3D7D174-478C-34DC-EA01-AA739053398B}"/>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is a branch of economics that focuses on the study of how the allocation of resources and the distribution of goods and services affect the well-being and welfare of individuals and society as a whole.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aims at analyzing and evaluating the efficiency and equity of economic outcomes and guide policymakers in designing effective and socially beneficial policies.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6570794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F90F7-30C4-63D9-DED8-90663645FADD}"/>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Welfare Economics</a:t>
            </a:r>
            <a:endParaRPr lang="en-US" dirty="0"/>
          </a:p>
        </p:txBody>
      </p:sp>
      <p:sp>
        <p:nvSpPr>
          <p:cNvPr id="3" name="Content Placeholder 2">
            <a:extLst>
              <a:ext uri="{FF2B5EF4-FFF2-40B4-BE49-F238E27FC236}">
                <a16:creationId xmlns:a16="http://schemas.microsoft.com/office/drawing/2014/main" id="{DA11C59D-4071-115C-C019-122A8F5F8B47}"/>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plays a significant role in value chain agriculture by focusing on optimizing resource allocation, improving efficiency, and promoting equitable distribution of benefits throughout the agricultural supply chain.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This branch of economics evaluates the impact of value chain activities on the well-being of stakeholders, including farmers, consumers, and the broader community.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2986788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353D-692E-681E-54E2-F1439352AED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Efficiency and Equity in Value Chain Agriculture:</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FAE253D-621E-5580-6D64-2FD7EF695746}"/>
              </a:ext>
            </a:extLst>
          </p:cNvPr>
          <p:cNvSpPr>
            <a:spLocks noGrp="1"/>
          </p:cNvSpPr>
          <p:nvPr>
            <p:ph idx="1"/>
          </p:nvPr>
        </p:nvSpPr>
        <p:spPr/>
        <p:txBody>
          <a:bodyPr>
            <a:normAutofit fontScale="77500" lnSpcReduction="20000"/>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Efficiency</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Efficiency refers to maximizing output with minimal input, achieving higher productivity, reducing waste, and improving resource allocation.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guides stakeholders to identify opportunities for efficiency gains and implement best practices throughout the value chain.</a:t>
            </a: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Equity</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Equity entails ensuring fair distribution of benefits among different actors e.g. smallholder farmers, laborers, and processors.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assesses income distribution and recommends policies to address disparities and create a more inclusive and equitable value chain.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8206905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EED9F-CD6D-CF93-AA91-3989163FC98D}"/>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Externalities and Market Failures: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813C069-95D8-F233-C99C-25B9086C53BD}"/>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Value chain agriculture may generate positive or negative externalities that affect the broader society.</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Positive externalities, such as sustainable farming practices that improve soil health, benefit the community.</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Conversely, negative externalities, like environmental pollution from chemical usage, can harm the environment and public health.</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identifies externalities and suggests interventions to internalize them in value chain decisions.</a:t>
            </a:r>
            <a:endParaRPr lang="en-US" dirty="0"/>
          </a:p>
        </p:txBody>
      </p:sp>
    </p:spTree>
    <p:extLst>
      <p:ext uri="{BB962C8B-B14F-4D97-AF65-F5344CB8AC3E}">
        <p14:creationId xmlns:p14="http://schemas.microsoft.com/office/powerpoint/2010/main" val="240703966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065B-FBA2-3211-4224-A090E39BAFD6}"/>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Policy Interventions for Social Welfare Maximization:</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318E6E4-9273-AA2F-BAD6-D79FE5CCF122}"/>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provides valuable insights into the impact of policy interventions on the well-being of stakeholders. </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Policymakers can use cost-benefit analysis to evaluate different agricultural policies, such as subsidies, price controls, and trade regulations, to ensure that they maximize overall social welfare while considering efficiency and equity objectives.</a:t>
            </a:r>
            <a:endParaRPr lang="en-US" dirty="0"/>
          </a:p>
        </p:txBody>
      </p:sp>
    </p:spTree>
    <p:extLst>
      <p:ext uri="{BB962C8B-B14F-4D97-AF65-F5344CB8AC3E}">
        <p14:creationId xmlns:p14="http://schemas.microsoft.com/office/powerpoint/2010/main" val="19962015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2EBD9-FC8E-D7AB-9D50-EF5F6F9EA219}"/>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Sustainable Value Chain Management:</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CC36485-5EED-1FD4-5698-C0C18D0D8E6E}"/>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Value chain agriculture is closely linked to sustainability and responsible resource management.</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Welfare economics helps value chain actors identify practices that promote sustainable agriculture, reduce environmental degradation, and foster long-term economic viability while supporting the welfare of communities.</a:t>
            </a:r>
            <a:endParaRPr lang="en-US" dirty="0"/>
          </a:p>
        </p:txBody>
      </p:sp>
    </p:spTree>
    <p:extLst>
      <p:ext uri="{BB962C8B-B14F-4D97-AF65-F5344CB8AC3E}">
        <p14:creationId xmlns:p14="http://schemas.microsoft.com/office/powerpoint/2010/main" val="405196554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BE93-A788-A2A1-3255-5FEC31C8FA6C}"/>
              </a:ext>
            </a:extLst>
          </p:cNvPr>
          <p:cNvSpPr>
            <a:spLocks noGrp="1"/>
          </p:cNvSpPr>
          <p:nvPr>
            <p:ph type="title"/>
          </p:nvPr>
        </p:nvSpPr>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Examples of Welfare Economics in Value Chain Agriculture</a:t>
            </a:r>
            <a:endParaRPr lang="en-US" dirty="0"/>
          </a:p>
        </p:txBody>
      </p:sp>
      <p:sp>
        <p:nvSpPr>
          <p:cNvPr id="3" name="Content Placeholder 2">
            <a:extLst>
              <a:ext uri="{FF2B5EF4-FFF2-40B4-BE49-F238E27FC236}">
                <a16:creationId xmlns:a16="http://schemas.microsoft.com/office/drawing/2014/main" id="{035E4F7B-9AA9-FE11-CA0F-AFD8CFC31F4D}"/>
              </a:ext>
            </a:extLst>
          </p:cNvPr>
          <p:cNvSpPr>
            <a:spLocks noGrp="1"/>
          </p:cNvSpPr>
          <p:nvPr>
            <p:ph idx="1"/>
          </p:nvPr>
        </p:nvSpPr>
        <p:spPr/>
        <p:txBody>
          <a:bodyPr>
            <a:normAutofit fontScale="70000" lnSpcReduction="2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Fair Trade Certification: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Fair trade certification ensures that farmers receive a fair price for their produce, promoting equitable income distribution and social welfare improvement for smallholder farmers</a:t>
            </a: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Environmental Conservation Programs:</a:t>
            </a: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Programs that incentivize sustainable agricultural practices, such as organic farming or water conservation, aim to balance economic growth with environmental protection, leading to positive externalities for the community.</a:t>
            </a: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Access Initiatives: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Policies that improve market access for small-scale farmers, such as building infrastructure or providing market information, can enhance efficiency and increase the welfare of rural communities.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9302055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E5EDA-4832-C5CD-A0D6-59E685757A21}"/>
              </a:ext>
            </a:extLst>
          </p:cNvPr>
          <p:cNvSpPr>
            <a:spLocks noGrp="1"/>
          </p:cNvSpPr>
          <p:nvPr>
            <p:ph idx="1"/>
          </p:nvPr>
        </p:nvSpPr>
        <p:spPr>
          <a:xfrm>
            <a:off x="838200" y="384464"/>
            <a:ext cx="10515600" cy="5792499"/>
          </a:xfrm>
        </p:spPr>
        <p:txBody>
          <a:bodyPr>
            <a:normAutofit/>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Welfare economics is a valuable tool for value chain agriculture students and stakeholders as it fosters a deeper understanding of the interplay between economic decisions, social well-being, and sustainability. </a:t>
            </a: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By applying welfare economics principles, value chain agriculture can achieve better resource allocation, inclusive growth, and environmentally sustainable practices, ultimately contributing to the overall welfare and prosperity of communities and society as a whole.</a:t>
            </a:r>
            <a:endParaRPr lang="en-US" kern="100" dirty="0">
              <a:latin typeface="Century Gothic" panose="020B050202020202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391122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C7A8F-C8F4-1790-D65C-AAC28AA29166}"/>
              </a:ext>
            </a:extLst>
          </p:cNvPr>
          <p:cNvSpPr>
            <a:spLocks noGrp="1"/>
          </p:cNvSpPr>
          <p:nvPr>
            <p:ph type="title"/>
          </p:nvPr>
        </p:nvSpPr>
        <p:spPr>
          <a:xfrm>
            <a:off x="838200" y="365125"/>
            <a:ext cx="10515600" cy="6170757"/>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and Exercises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69D6CA8-98D4-85C8-962C-5A30B67BCCD7}"/>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5902153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56482-E885-CF70-FA3F-4BEA2B429E28}"/>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Perfect Competition: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918D192-FB14-2D5D-8435-9673F0C13A1A}"/>
              </a:ext>
            </a:extLst>
          </p:cNvPr>
          <p:cNvSpPr>
            <a:spLocks noGrp="1"/>
          </p:cNvSpPr>
          <p:nvPr>
            <p:ph idx="1"/>
          </p:nvPr>
        </p:nvSpPr>
        <p:spPr>
          <a:xfrm>
            <a:off x="561109" y="1236518"/>
            <a:ext cx="10792691" cy="4940445"/>
          </a:xfrm>
        </p:spPr>
        <p:txBody>
          <a:bodyPr>
            <a:normAutofit/>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there are ten firms in a perfectly competitive </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market, each producing identical widgets. The market demand for widgets is given by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1000 - 10P,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The firms' cost function is given by TC = 50Q, where TC is the total cost and Q is the quantity produced by each firm.</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Determine the market price and quantity supplied by each firm in the long run.</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8413590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EA8A-9E3A-DFB9-2BCD-32DA5093871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Oligopoly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89C2ABA-6A9E-1FFF-0B80-05F2081CF38E}"/>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Consider an oligopoly market with three major firms producing smartphones. The market demand for smartphones is given by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2000 - 5P,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Each firm's cost function is given by TC = 200Q, where TC is the total cost and Q is the quantity produced by each firm. </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Determine the Nash equilibrium price and quantity produced by each firm.</a:t>
            </a:r>
            <a:endParaRPr lang="en-US" sz="2400" dirty="0"/>
          </a:p>
        </p:txBody>
      </p:sp>
    </p:spTree>
    <p:extLst>
      <p:ext uri="{BB962C8B-B14F-4D97-AF65-F5344CB8AC3E}">
        <p14:creationId xmlns:p14="http://schemas.microsoft.com/office/powerpoint/2010/main" val="228595078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8821B-ADB7-7ED9-6A26-EB2E4816AEA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3: Monopolistic Competition</a:t>
            </a:r>
            <a:br>
              <a:rPr lang="en-US" b="1" kern="100" dirty="0">
                <a:latin typeface="Calibri" panose="020F0502020204030204" pitchFamily="34" charset="0"/>
                <a:ea typeface="Calibri" panose="020F0502020204030204" pitchFamily="34" charset="0"/>
                <a:cs typeface="Times New Roman" panose="02020603050405020304" pitchFamily="18" charset="0"/>
              </a:rPr>
            </a:br>
            <a:endParaRPr lang="en-US" b="1" dirty="0"/>
          </a:p>
        </p:txBody>
      </p:sp>
      <p:sp>
        <p:nvSpPr>
          <p:cNvPr id="3" name="Content Placeholder 2">
            <a:extLst>
              <a:ext uri="{FF2B5EF4-FFF2-40B4-BE49-F238E27FC236}">
                <a16:creationId xmlns:a16="http://schemas.microsoft.com/office/drawing/2014/main" id="{40CBF4AC-FD2B-D343-6BE6-83B8DEDF9D22}"/>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In a monopolistic competition market, there are six firms producing similar but differentiated products. The market demand for the products is given by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800 - 2P,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Each firm's cost function is given by     TC = 100Q, where TC is the total cost and Q is the quantity produced by each firm. </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Calculate the price, output, and profit for each firm in the short run.</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5597782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8C6A3-CE75-2F89-E0B8-047B5D7E838A}"/>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4: Monopoly</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C6BD1DC-1AB2-BCE5-329D-A9DA9A14A03A}"/>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Suppose a monopolist faces the market demand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500 - P, where </a:t>
            </a:r>
            <a:r>
              <a:rPr lang="en-US" sz="2400"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sz="2400" i="1" kern="100" dirty="0">
                <a:latin typeface="Century Gothic" panose="020B0502020202020204" pitchFamily="34" charset="0"/>
                <a:ea typeface="Calibri" panose="020F0502020204030204" pitchFamily="34" charset="0"/>
                <a:cs typeface="Times New Roman" panose="02020603050405020304" pitchFamily="18" charset="0"/>
              </a:rPr>
              <a:t> is the quantity demanded and P is the price. The monopolist's cost function is given by TC = 100Q, where TC is the total cost and Q is the quantity produced. </a:t>
            </a:r>
          </a:p>
          <a:p>
            <a:pPr marL="0" marR="0" indent="0" algn="just">
              <a:lnSpc>
                <a:spcPct val="107000"/>
              </a:lnSpc>
              <a:spcBef>
                <a:spcPts val="0"/>
              </a:spcBef>
              <a:spcAft>
                <a:spcPts val="800"/>
              </a:spcAft>
              <a:buNone/>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Determine the profit-maximizing price and quantity produced by the monopolist.</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402241860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CF76A-AC0A-89EB-DF83-7A3EA89E28F6}"/>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335C0F0-8D1F-01A5-2DC5-2A7E93C1D32D}"/>
              </a:ext>
            </a:extLst>
          </p:cNvPr>
          <p:cNvSpPr>
            <a:spLocks noGrp="1"/>
          </p:cNvSpPr>
          <p:nvPr>
            <p:ph idx="1"/>
          </p:nvPr>
        </p:nvSpPr>
        <p:spPr>
          <a:xfrm>
            <a:off x="415636" y="1215736"/>
            <a:ext cx="11222182" cy="5403273"/>
          </a:xfrm>
        </p:spPr>
        <p:txBody>
          <a:bodyPr>
            <a:normAutofit fontScale="625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1. Perfect Competition: Agricultural Commodities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In a hypothetical perfect competition market for maize in Malawi, there are numerous small farmers producing and selling maize. Each farmer sells their harvest at the prevailing market price. Analyze how market forces of demand and supply determine the price and quantity of maize sold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2. Oligopoly: Pesticide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The pesticide market in Malawi is dominated by three major firms. Each firm produces a different type of pesticide. Analyze how these firms' pricing decisions and product differentiation strategies impact the market's overall performance and competition.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3. Monopolistic Competition: Fertilizer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The fertilizer market in Malawi consists of six firms producing different types of fertilizers. Each firm engages in advertising and branding to differentiate their products. Analyze the implications of product differentiation and the firms' pricing decisions on consumer choices and market outcomes.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4. Monopoly: Seed Market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 A single firm holds a monopoly in the seed market in Malawi. Analyze the monopolist's ability to set the price and its impact on consumer welfare and market efficiency. Consider potential regulatory interventions to promote competition and consumer welfare.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2321295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BF242-2D23-D8C9-EBA3-21DC80FFE970}"/>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Key Concepts in Game Theory:</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E8C634C-D6FA-9357-9C51-D3F51053296A}"/>
              </a:ext>
            </a:extLst>
          </p:cNvPr>
          <p:cNvSpPr>
            <a:spLocks noGrp="1"/>
          </p:cNvSpPr>
          <p:nvPr>
            <p:ph idx="1"/>
          </p:nvPr>
        </p:nvSpPr>
        <p:spPr/>
        <p:txBody>
          <a:bodyPr>
            <a:normAutofit fontScale="775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Players: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Players in value chain agriculture can be individuals, firms, or groups involved in the value chain, each pursuing their own objectives.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Strategies: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Strategies represent the different options or courses of action available to each player in a game. Players choose strategies to maximize their outcomes based on their preferences and beliefs about other players' decisions.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Payoffs: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Payoffs in value chain agriculture refer to the outcomes or rewards associated with different combinations of players' strategies. These payoffs could be profits, market share, or other relevant metrics.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55639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9495-2337-2FD6-9885-3D384DEA80B1}"/>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Types of Games: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457FC5E-2F11-F68E-4230-352667AE3D9B}"/>
              </a:ext>
            </a:extLst>
          </p:cNvPr>
          <p:cNvSpPr>
            <a:spLocks noGrp="1"/>
          </p:cNvSpPr>
          <p:nvPr>
            <p:ph idx="1"/>
          </p:nvPr>
        </p:nvSpPr>
        <p:spPr/>
        <p:txBody>
          <a:bodyPr>
            <a:normAutofit fontScale="775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Cooperative Games</a:t>
            </a:r>
            <a:r>
              <a:rPr lang="en-US" b="1" kern="100" dirty="0">
                <a:latin typeface="Century Gothic" panose="020B0502020202020204" pitchFamily="34" charset="0"/>
                <a:ea typeface="Calibri" panose="020F0502020204030204" pitchFamily="34" charset="0"/>
                <a:cs typeface="Times New Roman" panose="02020603050405020304" pitchFamily="18" charset="0"/>
              </a:rPr>
              <a:t>:</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cooperative games, players can form coalitions and work together to achieve mutual benefits.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farmers in a cooperative may collaborate to collectively negotiate better prices with processors, leading to a win-win situation.</a:t>
            </a: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Non-Cooperative Games:</a:t>
            </a:r>
            <a:endParaRPr lang="en-US" b="1" kern="100" dirty="0">
              <a:latin typeface="Century Gothic" panose="020B050202020202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Non-cooperative games involve players making decisions independently, without forming alliances or agreements.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Each player seeks to maximize their individual payoff. Value chain agriculture often involves non-cooperative games due to the presence of multiple independent players.</a:t>
            </a:r>
          </a:p>
          <a:p>
            <a:endParaRPr lang="en-US" dirty="0"/>
          </a:p>
        </p:txBody>
      </p:sp>
    </p:spTree>
    <p:extLst>
      <p:ext uri="{BB962C8B-B14F-4D97-AF65-F5344CB8AC3E}">
        <p14:creationId xmlns:p14="http://schemas.microsoft.com/office/powerpoint/2010/main" val="126228304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88C26-A1C5-7F72-0244-45D93831D1D4}"/>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Examples of Game Theory:</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441B188-64D8-738D-5135-B8AFD5A30FE4}"/>
              </a:ext>
            </a:extLst>
          </p:cNvPr>
          <p:cNvSpPr>
            <a:spLocks noGrp="1"/>
          </p:cNvSpPr>
          <p:nvPr>
            <p:ph idx="1"/>
          </p:nvPr>
        </p:nvSpPr>
        <p:spPr/>
        <p:txBody>
          <a:bodyPr>
            <a:normAutofit fontScale="62500" lnSpcReduction="2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Pricing Strategies: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Players in the value chain, such as farmers and processors, may engage in price-setting decisions. Game theory can analyze how price competition or cooperation affects profits and market share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Supply Chain Coordination: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Game theory can help analyze coordination efforts between actors in the supply chain to improve efficiency, reduce costs, and enhance overall value chain performance.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Strategic Alliances: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Players in the value chain may form strategic alliances to leverage each other's strengths. Game theory can evaluate the benefits and risks of such collaborations.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Negotiations and Contracts: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Game theory aids in analyzing negotiations and contracts between different value chain participants to ensure fair terms and prevent opportunistic behavior.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9107918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CBBE0-4D91-B9ED-6895-91773979DFC7}"/>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Nash Equilibrium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F8F0D3D-F0F3-24CF-EC5E-9BE19A65D315}"/>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Nash equilibrium is a key concept in game theory.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represents a situation where no player has an incentive to change their strategy, given the strategies of others.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value chain agriculture, this equilibrium helps identify stable outcomes where all participants maximize their payoffs based on the actions of others.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9926886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BF9A-BA7B-319A-6365-D1B5571B292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Prisoner's Dilemma:</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5E0014F-B038-909D-BAE8-16D6D8EF4D69}"/>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prisoner's dilemma is a classic game theory example that illustrates how individuals pursuing their self-interest can lead to suboptimal outcomes for all players.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value chain agriculture, the prisoner's dilemma can arise when players prioritize short-term gains over long-term cooperation, leading to inefficient resource allocation.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6212687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0890-0864-1F9F-4900-E6E17D509879}"/>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Analysis of Competitive and Cooperative Strategies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4B94E0B-128E-AE00-3F24-80D2BE5CD5BE}"/>
              </a:ext>
            </a:extLst>
          </p:cNvPr>
          <p:cNvSpPr>
            <a:spLocks noGrp="1"/>
          </p:cNvSpPr>
          <p:nvPr>
            <p:ph idx="1"/>
          </p:nvPr>
        </p:nvSpPr>
        <p:spPr/>
        <p:txBody>
          <a:bodyPr>
            <a:normAutofit lnSpcReduction="100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Game theory allows us to analyze both competitive and cooperative strategies in agricultural markets.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competitive scenarios, participants aim to maximize their own profits, leading to intense competition and potentially suboptimal outcomes for the entire value chain.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On the other hand, cooperative strategies involve players working together to achieve mutual benefits and enhance overall efficiency in the value chain.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3219653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7A78-6976-BC87-5505-4580847FE478}"/>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Practical Examples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3B3F8C3-E08B-4B15-4675-16711B19AFB2}"/>
              </a:ext>
            </a:extLst>
          </p:cNvPr>
          <p:cNvSpPr>
            <a:spLocks noGrp="1"/>
          </p:cNvSpPr>
          <p:nvPr>
            <p:ph idx="1"/>
          </p:nvPr>
        </p:nvSpPr>
        <p:spPr>
          <a:xfrm>
            <a:off x="685800" y="1839191"/>
            <a:ext cx="10668000" cy="4337772"/>
          </a:xfrm>
        </p:spPr>
        <p:txBody>
          <a:bodyPr>
            <a:normAutofit fontScale="47500" lnSpcReduction="20000"/>
          </a:bodyPr>
          <a:lstStyle/>
          <a:p>
            <a:pPr marL="0" marR="0" indent="0" algn="just">
              <a:lnSpc>
                <a:spcPct val="107000"/>
              </a:lnSpc>
              <a:spcBef>
                <a:spcPts val="0"/>
              </a:spcBef>
              <a:spcAft>
                <a:spcPts val="800"/>
              </a:spcAft>
              <a:buNone/>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Price Wars among Farmers: </a:t>
            </a:r>
          </a:p>
          <a:p>
            <a:pPr algn="just">
              <a:lnSpc>
                <a:spcPct val="107000"/>
              </a:lnSpc>
              <a:spcBef>
                <a:spcPts val="0"/>
              </a:spcBef>
              <a:spcAft>
                <a:spcPts val="800"/>
              </a:spcAft>
            </a:pPr>
            <a:r>
              <a:rPr lang="en-US" sz="3600" i="1" kern="100" dirty="0">
                <a:latin typeface="Century Gothic" panose="020B0502020202020204" pitchFamily="34" charset="0"/>
                <a:ea typeface="Calibri" panose="020F0502020204030204" pitchFamily="34" charset="0"/>
                <a:cs typeface="Times New Roman" panose="02020603050405020304" pitchFamily="18" charset="0"/>
              </a:rPr>
              <a:t>Farmers in a value chain may engage in a price war, trying to undercut each other's prices to gain a larger market share. </a:t>
            </a:r>
          </a:p>
          <a:p>
            <a:pPr algn="just">
              <a:lnSpc>
                <a:spcPct val="107000"/>
              </a:lnSpc>
              <a:spcBef>
                <a:spcPts val="0"/>
              </a:spcBef>
              <a:spcAft>
                <a:spcPts val="800"/>
              </a:spcAft>
            </a:pPr>
            <a:r>
              <a:rPr lang="en-US" sz="3600" i="1" kern="100" dirty="0">
                <a:latin typeface="Century Gothic" panose="020B0502020202020204" pitchFamily="34" charset="0"/>
                <a:ea typeface="Calibri" panose="020F0502020204030204" pitchFamily="34" charset="0"/>
                <a:cs typeface="Times New Roman" panose="02020603050405020304" pitchFamily="18" charset="0"/>
              </a:rPr>
              <a:t>This can lead to lower profits for all farmers involved and create instability in the market.</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Cooperative Marketing: </a:t>
            </a:r>
          </a:p>
          <a:p>
            <a:pPr algn="just">
              <a:lnSpc>
                <a:spcPct val="107000"/>
              </a:lnSpc>
              <a:spcBef>
                <a:spcPts val="0"/>
              </a:spcBef>
              <a:spcAft>
                <a:spcPts val="800"/>
              </a:spcAft>
            </a:pPr>
            <a:r>
              <a:rPr lang="en-US" sz="3600" i="1" kern="100" dirty="0">
                <a:latin typeface="Century Gothic" panose="020B0502020202020204" pitchFamily="34" charset="0"/>
                <a:ea typeface="Calibri" panose="020F0502020204030204" pitchFamily="34" charset="0"/>
                <a:cs typeface="Times New Roman" panose="02020603050405020304" pitchFamily="18" charset="0"/>
              </a:rPr>
              <a:t>Agricultural producers may form cooperatives to jointly market and sell their products, enabling them to negotiate better prices with buyers and reduce marketing costs</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Contract Farming:</a:t>
            </a:r>
          </a:p>
          <a:p>
            <a:pPr algn="just">
              <a:lnSpc>
                <a:spcPct val="107000"/>
              </a:lnSpc>
              <a:spcBef>
                <a:spcPts val="0"/>
              </a:spcBef>
              <a:spcAft>
                <a:spcPts val="800"/>
              </a:spcAft>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 </a:t>
            </a:r>
            <a:r>
              <a:rPr lang="en-US" sz="3600" i="1" kern="100" dirty="0">
                <a:latin typeface="Century Gothic" panose="020B0502020202020204" pitchFamily="34" charset="0"/>
                <a:ea typeface="Calibri" panose="020F0502020204030204" pitchFamily="34" charset="0"/>
                <a:cs typeface="Times New Roman" panose="02020603050405020304" pitchFamily="18" charset="0"/>
              </a:rPr>
              <a:t>In contract farming, agribusinesses and farmers enter into agreements where the agribusiness provides inputs and technical support, and the farmers supply the produce.</a:t>
            </a:r>
          </a:p>
          <a:p>
            <a:pPr algn="just">
              <a:lnSpc>
                <a:spcPct val="107000"/>
              </a:lnSpc>
              <a:spcBef>
                <a:spcPts val="0"/>
              </a:spcBef>
              <a:spcAft>
                <a:spcPts val="800"/>
              </a:spcAft>
            </a:pPr>
            <a:r>
              <a:rPr lang="en-US" sz="3600" i="1" kern="100" dirty="0">
                <a:latin typeface="Century Gothic" panose="020B0502020202020204" pitchFamily="34" charset="0"/>
                <a:ea typeface="Calibri" panose="020F0502020204030204" pitchFamily="34" charset="0"/>
                <a:cs typeface="Times New Roman" panose="02020603050405020304" pitchFamily="18" charset="0"/>
              </a:rPr>
              <a:t>Game theory can analyze the strategic decisions involved in negotiating these contracts.</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Environmental Stewardship: </a:t>
            </a:r>
          </a:p>
          <a:p>
            <a:pPr algn="just">
              <a:lnSpc>
                <a:spcPct val="107000"/>
              </a:lnSpc>
              <a:spcBef>
                <a:spcPts val="0"/>
              </a:spcBef>
              <a:spcAft>
                <a:spcPts val="800"/>
              </a:spcAft>
            </a:pPr>
            <a:r>
              <a:rPr lang="en-US" sz="3600" i="1" kern="100" dirty="0">
                <a:latin typeface="Century Gothic" panose="020B0502020202020204" pitchFamily="34" charset="0"/>
                <a:ea typeface="Calibri" panose="020F0502020204030204" pitchFamily="34" charset="0"/>
                <a:cs typeface="Times New Roman" panose="02020603050405020304" pitchFamily="18" charset="0"/>
              </a:rPr>
              <a:t>When farmers collectively adopt sustainable practices to protect the environment and promote long-term productivity, it benefits the entire value chain.</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0509837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65A8-22E6-D2B4-DEA0-F40971ACCFDE}"/>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0B02D73-19C9-E4F9-1F45-DAE23AA5A0B6}"/>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1. Consider a scenario where two competing farmers decide whether to adopt a new technology. </a:t>
            </a:r>
          </a:p>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Use the concept of Nash equilibrium to determine the stable outcome and discuss the implications for the value chain.</a:t>
            </a:r>
          </a:p>
          <a:p>
            <a:pPr marL="0" marR="0" indent="0" algn="just">
              <a:lnSpc>
                <a:spcPct val="107000"/>
              </a:lnSpc>
              <a:spcBef>
                <a:spcPts val="0"/>
              </a:spcBef>
              <a:spcAft>
                <a:spcPts val="800"/>
              </a:spcAft>
              <a:buNone/>
            </a:pP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2. Analyze a case study of a cooperative marketing initiative in the Malawian agricultural sector. </a:t>
            </a:r>
          </a:p>
          <a:p>
            <a:pPr marL="0" marR="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Identify the benefits of cooperation and how it contributes to the value chain's overall success.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9706192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8073-C849-E46A-5A3A-F14287B565A7}"/>
              </a:ext>
            </a:extLst>
          </p:cNvPr>
          <p:cNvSpPr>
            <a:spLocks noGrp="1"/>
          </p:cNvSpPr>
          <p:nvPr>
            <p:ph type="title"/>
          </p:nvPr>
        </p:nvSpPr>
        <p:spPr>
          <a:xfrm>
            <a:off x="838200" y="365125"/>
            <a:ext cx="10515600" cy="5869420"/>
          </a:xfrm>
        </p:spPr>
        <p:txBody>
          <a:bodyPr>
            <a:normAutofit/>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Lecture 13: </a:t>
            </a:r>
            <a:r>
              <a:rPr lang="en-US" b="1" kern="100" dirty="0" err="1">
                <a:latin typeface="Century Gothic" panose="020B0502020202020204" pitchFamily="34" charset="0"/>
                <a:ea typeface="Calibri" panose="020F0502020204030204" pitchFamily="34" charset="0"/>
                <a:cs typeface="Times New Roman" panose="02020603050405020304" pitchFamily="18" charset="0"/>
              </a:rPr>
              <a:t>Labour</a:t>
            </a:r>
            <a:r>
              <a:rPr lang="en-US" b="1" kern="100" dirty="0">
                <a:latin typeface="Century Gothic" panose="020B0502020202020204" pitchFamily="34" charset="0"/>
                <a:ea typeface="Calibri" panose="020F0502020204030204" pitchFamily="34" charset="0"/>
                <a:cs typeface="Times New Roman" panose="02020603050405020304" pitchFamily="18" charset="0"/>
              </a:rPr>
              <a:t> Markets and Incentive Structures in Value Chain Agriculture</a:t>
            </a:r>
            <a:endParaRPr lang="en-US" dirty="0"/>
          </a:p>
        </p:txBody>
      </p:sp>
    </p:spTree>
    <p:extLst>
      <p:ext uri="{BB962C8B-B14F-4D97-AF65-F5344CB8AC3E}">
        <p14:creationId xmlns:p14="http://schemas.microsoft.com/office/powerpoint/2010/main" val="135041022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D4C90-2F82-122D-6470-124804E62982}"/>
              </a:ext>
            </a:extLst>
          </p:cNvPr>
          <p:cNvSpPr>
            <a:spLocks noGrp="1"/>
          </p:cNvSpPr>
          <p:nvPr>
            <p:ph type="title"/>
          </p:nvPr>
        </p:nvSpPr>
        <p:spPr/>
        <p:txBody>
          <a:bodyPr>
            <a:normAutofit/>
          </a:bodyPr>
          <a:lstStyle/>
          <a:p>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32FA53F-67B2-3ACB-15CD-810D65BAF200}"/>
              </a:ext>
            </a:extLst>
          </p:cNvPr>
          <p:cNvSpPr>
            <a:spLocks noGrp="1"/>
          </p:cNvSpPr>
          <p:nvPr>
            <p:ph idx="1"/>
          </p:nvPr>
        </p:nvSpPr>
        <p:spPr>
          <a:xfrm>
            <a:off x="838200" y="1153391"/>
            <a:ext cx="10515600" cy="5023572"/>
          </a:xfrm>
        </p:spPr>
        <p:txBody>
          <a:bodyPr>
            <a:normAutofit fontScale="92500"/>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Labor markets in value chain agriculture refer to the interactions between farmers, agribusinesses, and laborers seeking employment in the agricultural sector.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These markets facilitate the exchange of labor services needed for various stages of the agricultural value chain.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The role of wages in attracting labor: </a:t>
            </a:r>
            <a:r>
              <a:rPr lang="en-US" kern="100" dirty="0">
                <a:latin typeface="Century Gothic" panose="020B0502020202020204" pitchFamily="34" charset="0"/>
                <a:ea typeface="Calibri" panose="020F0502020204030204" pitchFamily="34" charset="0"/>
                <a:cs typeface="Times New Roman" panose="02020603050405020304" pitchFamily="18" charset="0"/>
              </a:rPr>
              <a:t>Wages play a crucial role in labor decisions, as potential workers consider the pay before engaging in agricultural activities.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Attractive wages can encourage more laborers to participate in farming, while lower wages may lead to labor shortages.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7059654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8C6C8-6B43-C45C-7FD4-937333FF4304}"/>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Factors Affecting Wage Determination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48414CB-7D05-F7DA-0725-F00187B38BE9}"/>
              </a:ext>
            </a:extLst>
          </p:cNvPr>
          <p:cNvSpPr>
            <a:spLocks noGrp="1"/>
          </p:cNvSpPr>
          <p:nvPr>
            <p:ph idx="1"/>
          </p:nvPr>
        </p:nvSpPr>
        <p:spPr/>
        <p:txBody>
          <a:bodyPr>
            <a:normAutofit fontScale="77500" lnSpcReduction="2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Labor supply factors: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availability of labor in value chain agriculture is influenced by factors such as the size of the rural population, demographics, education levels, and skills of the workforce.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Areas with a larger pool of skilled labor may have more abundant labor supply.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Labor demand factors: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demand for labor in agriculture is affected by technological advancements, agricultural productivity, and market conditions.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Modern farming techniques and improved productivity may increase the demand for skilled labor in specific segments of the value chain.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3773057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39D64-BA8F-8328-656E-89F0BBF1ABEE}"/>
              </a:ext>
            </a:extLst>
          </p:cNvPr>
          <p:cNvSpPr>
            <a:spLocks noGrp="1"/>
          </p:cNvSpPr>
          <p:nvPr>
            <p:ph type="title"/>
          </p:nvPr>
        </p:nvSpPr>
        <p:spPr/>
        <p:txBody>
          <a:bodyPr>
            <a:normAutofit fontScale="90000"/>
          </a:bodyPr>
          <a:lstStyle/>
          <a:p>
            <a:pPr marL="0" marR="0" algn="ctr">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Incentive Structures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703725D-BA47-AB75-9BE9-9CAAD8C5133C}"/>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Incentives are rewards or punishments "The carrot or the stick”</a:t>
            </a:r>
          </a:p>
          <a:p>
            <a:r>
              <a:rPr lang="en-US" kern="100" dirty="0">
                <a:latin typeface="Century Gothic" panose="020B0502020202020204" pitchFamily="34" charset="0"/>
                <a:ea typeface="Calibri" panose="020F0502020204030204" pitchFamily="34" charset="0"/>
                <a:cs typeface="Times New Roman" panose="02020603050405020304" pitchFamily="18" charset="0"/>
              </a:rPr>
              <a:t>Incentives are rewards or benefits designed to motivate agricultural producers and laborers to improve their productivity and performance.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3071574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36DC1-EF3C-BF81-9D18-380E07055E65}"/>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Types of incentives in value chain agriculture:</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9CB202A-A126-C7DA-0AAA-C26099C7957E}"/>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Incentive structures can be monetary, such as bonuses or profit-sharing arrangements, or non-monetary, such as training opportunities and capacity-building programs.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560461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F81A0-AC6F-1813-0B4E-FBE91CE35D1C}"/>
              </a:ext>
            </a:extLst>
          </p:cNvPr>
          <p:cNvSpPr>
            <a:spLocks noGrp="1"/>
          </p:cNvSpPr>
          <p:nvPr>
            <p:ph type="title"/>
          </p:nvPr>
        </p:nvSpPr>
        <p:spPr>
          <a:xfrm>
            <a:off x="838200" y="365125"/>
            <a:ext cx="10515600" cy="5817466"/>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Lecture 14: Public Goods</a:t>
            </a:r>
            <a:endParaRPr lang="en-US" dirty="0"/>
          </a:p>
        </p:txBody>
      </p:sp>
    </p:spTree>
    <p:extLst>
      <p:ext uri="{BB962C8B-B14F-4D97-AF65-F5344CB8AC3E}">
        <p14:creationId xmlns:p14="http://schemas.microsoft.com/office/powerpoint/2010/main" val="9287384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9AE82-41B5-9B03-49B6-EB9CD98C8EB8}"/>
              </a:ext>
            </a:extLst>
          </p:cNvPr>
          <p:cNvSpPr>
            <a:spLocks noGrp="1"/>
          </p:cNvSpPr>
          <p:nvPr>
            <p:ph type="title"/>
          </p:nvPr>
        </p:nvSpPr>
        <p:spPr/>
        <p:txBody>
          <a:bodyPr/>
          <a:lstStyle/>
          <a:p>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BCE774E-4EC4-A84A-1D74-ADD0828B3B09}"/>
              </a:ext>
            </a:extLst>
          </p:cNvPr>
          <p:cNvSpPr>
            <a:spLocks noGrp="1"/>
          </p:cNvSpPr>
          <p:nvPr>
            <p:ph idx="1"/>
          </p:nvPr>
        </p:nvSpPr>
        <p:spPr/>
        <p:txBody>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Public goods are goods that are non-excludable and non-rivalrous.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Non-excludability means that individuals cannot be excluded from consuming the good, regardless of whether they have paid for it or not.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Non-rivalry means that one person's consumption of the good does not diminish the quantity available for others.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Examples of public goods in value chain agriculture include certain types of agricultural research, knowledge sharing, and information dissemination.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6639990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D1216-1E94-2591-D027-111CF00AAC10}"/>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TAXONOMY OF GOODS</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5" name="Content Placeholder 4">
            <a:extLst>
              <a:ext uri="{FF2B5EF4-FFF2-40B4-BE49-F238E27FC236}">
                <a16:creationId xmlns:a16="http://schemas.microsoft.com/office/drawing/2014/main" id="{3F33770F-AFEE-C7FD-80CB-5995F327F92E}"/>
              </a:ext>
            </a:extLst>
          </p:cNvPr>
          <p:cNvGraphicFramePr>
            <a:graphicFrameLocks noGrp="1"/>
          </p:cNvGraphicFramePr>
          <p:nvPr>
            <p:ph idx="1"/>
            <p:extLst>
              <p:ext uri="{D42A27DB-BD31-4B8C-83A1-F6EECF244321}">
                <p14:modId xmlns:p14="http://schemas.microsoft.com/office/powerpoint/2010/main" val="4050243840"/>
              </p:ext>
            </p:extLst>
          </p:nvPr>
        </p:nvGraphicFramePr>
        <p:xfrm>
          <a:off x="1389412" y="2018805"/>
          <a:ext cx="9132126" cy="3265713"/>
        </p:xfrm>
        <a:graphic>
          <a:graphicData uri="http://schemas.openxmlformats.org/drawingml/2006/table">
            <a:tbl>
              <a:tblPr firstRow="1" firstCol="1" bandRow="1"/>
              <a:tblGrid>
                <a:gridCol w="3044042">
                  <a:extLst>
                    <a:ext uri="{9D8B030D-6E8A-4147-A177-3AD203B41FA5}">
                      <a16:colId xmlns:a16="http://schemas.microsoft.com/office/drawing/2014/main" val="350716445"/>
                    </a:ext>
                  </a:extLst>
                </a:gridCol>
                <a:gridCol w="3044042">
                  <a:extLst>
                    <a:ext uri="{9D8B030D-6E8A-4147-A177-3AD203B41FA5}">
                      <a16:colId xmlns:a16="http://schemas.microsoft.com/office/drawing/2014/main" val="2768489473"/>
                    </a:ext>
                  </a:extLst>
                </a:gridCol>
                <a:gridCol w="3044042">
                  <a:extLst>
                    <a:ext uri="{9D8B030D-6E8A-4147-A177-3AD203B41FA5}">
                      <a16:colId xmlns:a16="http://schemas.microsoft.com/office/drawing/2014/main" val="774038662"/>
                    </a:ext>
                  </a:extLst>
                </a:gridCol>
              </a:tblGrid>
              <a:tr h="1088571">
                <a:tc>
                  <a:txBody>
                    <a:bodyPr/>
                    <a:lstStyle/>
                    <a:p>
                      <a:pPr marL="0" marR="0" algn="just">
                        <a:lnSpc>
                          <a:spcPct val="107000"/>
                        </a:lnSpc>
                        <a:spcBef>
                          <a:spcPts val="0"/>
                        </a:spcBef>
                        <a:spcAft>
                          <a:spcPts val="800"/>
                        </a:spcAft>
                      </a:pPr>
                      <a:r>
                        <a:rPr lang="en-US" sz="1200" kern="10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800"/>
                        </a:spcAft>
                      </a:pPr>
                      <a:r>
                        <a:rPr lang="en-US" sz="1200" kern="100">
                          <a:effectLst/>
                          <a:latin typeface="Century Gothic" panose="020B0502020202020204" pitchFamily="34" charset="0"/>
                          <a:ea typeface="Calibri" panose="020F0502020204030204" pitchFamily="34" charset="0"/>
                          <a:cs typeface="Times New Roman" panose="02020603050405020304" pitchFamily="18" charset="0"/>
                        </a:rPr>
                        <a:t>RIVALROUS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800"/>
                        </a:spcAft>
                      </a:pPr>
                      <a:r>
                        <a:rPr lang="en-US" sz="1200" kern="100">
                          <a:effectLst/>
                          <a:latin typeface="Century Gothic" panose="020B0502020202020204" pitchFamily="34" charset="0"/>
                          <a:ea typeface="Calibri" panose="020F0502020204030204" pitchFamily="34" charset="0"/>
                          <a:cs typeface="Times New Roman" panose="02020603050405020304" pitchFamily="18" charset="0"/>
                        </a:rPr>
                        <a:t>NON-RIVALROUS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0737759"/>
                  </a:ext>
                </a:extLst>
              </a:tr>
              <a:tr h="1088571">
                <a:tc>
                  <a:txBody>
                    <a:bodyPr/>
                    <a:lstStyle/>
                    <a:p>
                      <a:pPr marL="0" marR="0" algn="just">
                        <a:lnSpc>
                          <a:spcPct val="107000"/>
                        </a:lnSpc>
                        <a:spcBef>
                          <a:spcPts val="0"/>
                        </a:spcBef>
                        <a:spcAft>
                          <a:spcPts val="800"/>
                        </a:spcAft>
                      </a:pPr>
                      <a:r>
                        <a:rPr lang="en-US" sz="1200" kern="100">
                          <a:effectLst/>
                          <a:latin typeface="Century Gothic" panose="020B0502020202020204" pitchFamily="34" charset="0"/>
                          <a:ea typeface="Calibri" panose="020F0502020204030204" pitchFamily="34" charset="0"/>
                          <a:cs typeface="Times New Roman" panose="02020603050405020304" pitchFamily="18" charset="0"/>
                        </a:rPr>
                        <a:t>EXCLUDABLE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800"/>
                        </a:spcAft>
                      </a:pPr>
                      <a:r>
                        <a:rPr lang="en-US" sz="1200" kern="100">
                          <a:effectLst/>
                          <a:latin typeface="Century Gothic" panose="020B0502020202020204" pitchFamily="34" charset="0"/>
                          <a:ea typeface="Calibri" panose="020F0502020204030204" pitchFamily="34" charset="0"/>
                          <a:cs typeface="Times New Roman" panose="02020603050405020304" pitchFamily="18" charset="0"/>
                        </a:rPr>
                        <a:t>Pure Private Good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800"/>
                        </a:spcAft>
                      </a:pPr>
                      <a:r>
                        <a:rPr lang="en-US" sz="1200" kern="100">
                          <a:effectLst/>
                          <a:latin typeface="Century Gothic" panose="020B0502020202020204" pitchFamily="34" charset="0"/>
                          <a:ea typeface="Calibri" panose="020F0502020204030204" pitchFamily="34" charset="0"/>
                          <a:cs typeface="Times New Roman" panose="02020603050405020304" pitchFamily="18" charset="0"/>
                        </a:rPr>
                        <a:t>Toll Good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7096087"/>
                  </a:ext>
                </a:extLst>
              </a:tr>
              <a:tr h="1088571">
                <a:tc>
                  <a:txBody>
                    <a:bodyPr/>
                    <a:lstStyle/>
                    <a:p>
                      <a:pPr marL="0" marR="0" algn="just">
                        <a:lnSpc>
                          <a:spcPct val="107000"/>
                        </a:lnSpc>
                        <a:spcBef>
                          <a:spcPts val="0"/>
                        </a:spcBef>
                        <a:spcAft>
                          <a:spcPts val="800"/>
                        </a:spcAft>
                      </a:pPr>
                      <a:r>
                        <a:rPr lang="en-US" sz="1200" kern="100" dirty="0">
                          <a:effectLst/>
                          <a:latin typeface="Century Gothic" panose="020B0502020202020204" pitchFamily="34" charset="0"/>
                          <a:ea typeface="Calibri" panose="020F0502020204030204" pitchFamily="34" charset="0"/>
                          <a:cs typeface="Times New Roman" panose="02020603050405020304" pitchFamily="18" charset="0"/>
                        </a:rPr>
                        <a:t>NON-EXCLUDABLE </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800"/>
                        </a:spcAft>
                      </a:pPr>
                      <a:r>
                        <a:rPr lang="en-US" sz="1200" kern="100">
                          <a:effectLst/>
                          <a:latin typeface="Century Gothic" panose="020B0502020202020204" pitchFamily="34" charset="0"/>
                          <a:ea typeface="Calibri" panose="020F0502020204030204" pitchFamily="34" charset="0"/>
                          <a:cs typeface="Times New Roman" panose="02020603050405020304" pitchFamily="18" charset="0"/>
                        </a:rPr>
                        <a:t>Common good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800"/>
                        </a:spcAft>
                      </a:pPr>
                      <a:r>
                        <a:rPr lang="en-US" sz="1200" kern="100" dirty="0">
                          <a:effectLst/>
                          <a:highlight>
                            <a:srgbClr val="FFFF00"/>
                          </a:highlight>
                          <a:latin typeface="Century Gothic" panose="020B0502020202020204" pitchFamily="34" charset="0"/>
                          <a:ea typeface="Calibri" panose="020F0502020204030204" pitchFamily="34" charset="0"/>
                          <a:cs typeface="Times New Roman" panose="02020603050405020304" pitchFamily="18" charset="0"/>
                        </a:rPr>
                        <a:t>Pure Public Good</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5380047"/>
                  </a:ext>
                </a:extLst>
              </a:tr>
            </a:tbl>
          </a:graphicData>
        </a:graphic>
      </p:graphicFrame>
    </p:spTree>
    <p:extLst>
      <p:ext uri="{BB962C8B-B14F-4D97-AF65-F5344CB8AC3E}">
        <p14:creationId xmlns:p14="http://schemas.microsoft.com/office/powerpoint/2010/main" val="281717071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255B0-315F-C4CE-C5E1-14EBF6FAFF01}"/>
              </a:ext>
            </a:extLst>
          </p:cNvPr>
          <p:cNvSpPr>
            <a:spLocks noGrp="1"/>
          </p:cNvSpPr>
          <p:nvPr>
            <p:ph type="title"/>
          </p:nvPr>
        </p:nvSpPr>
        <p:spPr/>
        <p:txBody>
          <a:bodyPr/>
          <a:lstStyle/>
          <a:p>
            <a:r>
              <a:rPr lang="en-US" b="1" dirty="0">
                <a:latin typeface="Century Gothic" panose="020B0502020202020204" pitchFamily="34" charset="0"/>
                <a:ea typeface="Calibri" panose="020F0502020204030204" pitchFamily="34" charset="0"/>
                <a:cs typeface="Times New Roman" panose="02020603050405020304" pitchFamily="18" charset="0"/>
              </a:rPr>
              <a:t>Characteristics of Public Goods</a:t>
            </a:r>
            <a:endParaRPr lang="en-US" dirty="0"/>
          </a:p>
        </p:txBody>
      </p:sp>
      <p:sp>
        <p:nvSpPr>
          <p:cNvPr id="3" name="Content Placeholder 2">
            <a:extLst>
              <a:ext uri="{FF2B5EF4-FFF2-40B4-BE49-F238E27FC236}">
                <a16:creationId xmlns:a16="http://schemas.microsoft.com/office/drawing/2014/main" id="{E3F7F8BF-65FA-5BDC-A89B-AD9AB2969394}"/>
              </a:ext>
            </a:extLst>
          </p:cNvPr>
          <p:cNvSpPr>
            <a:spLocks noGrp="1"/>
          </p:cNvSpPr>
          <p:nvPr>
            <p:ph idx="1"/>
          </p:nvPr>
        </p:nvSpPr>
        <p:spPr/>
        <p:txBody>
          <a:bodyPr/>
          <a:lstStyle/>
          <a:p>
            <a:pPr marL="0" marR="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Non-Excludability: </a:t>
            </a:r>
            <a:r>
              <a:rPr lang="en-US" kern="100" dirty="0">
                <a:latin typeface="Century Gothic" panose="020B0502020202020204" pitchFamily="34" charset="0"/>
                <a:ea typeface="Calibri" panose="020F0502020204030204" pitchFamily="34" charset="0"/>
                <a:cs typeface="Times New Roman" panose="02020603050405020304" pitchFamily="18" charset="0"/>
              </a:rPr>
              <a:t>Once the good is provided, it is available to all, and individuals cannot be prevented from using 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Non-Rivalry: </a:t>
            </a:r>
            <a:r>
              <a:rPr lang="en-US" kern="100" dirty="0">
                <a:latin typeface="Century Gothic" panose="020B0502020202020204" pitchFamily="34" charset="0"/>
                <a:ea typeface="Calibri" panose="020F0502020204030204" pitchFamily="34" charset="0"/>
                <a:cs typeface="Times New Roman" panose="02020603050405020304" pitchFamily="18" charset="0"/>
              </a:rPr>
              <a:t>Consumption by one individual does not reduce the amount available for others.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Non-Competitiveness: </a:t>
            </a:r>
            <a:r>
              <a:rPr lang="en-US" kern="100" dirty="0">
                <a:latin typeface="Century Gothic" panose="020B0502020202020204" pitchFamily="34" charset="0"/>
                <a:ea typeface="Calibri" panose="020F0502020204030204" pitchFamily="34" charset="0"/>
                <a:cs typeface="Times New Roman" panose="02020603050405020304" pitchFamily="18" charset="0"/>
              </a:rPr>
              <a:t>The consumption of one individual does not reduce the benefits available to others.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142450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7CEE6-68CB-962A-9827-6C8008AC57F8}"/>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Challenges in Providing Public Goods in Value Chain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95E8D53-5048-A92C-09BC-69BD228ECA4C}"/>
              </a:ext>
            </a:extLst>
          </p:cNvPr>
          <p:cNvSpPr>
            <a:spLocks noGrp="1"/>
          </p:cNvSpPr>
          <p:nvPr>
            <p:ph idx="1"/>
          </p:nvPr>
        </p:nvSpPr>
        <p:spPr/>
        <p:txBody>
          <a:bodyPr>
            <a:normAutofit fontScale="62500" lnSpcReduction="20000"/>
          </a:bodyPr>
          <a:lstStyle/>
          <a:p>
            <a:pPr marL="0" marR="0" indent="0" algn="just">
              <a:lnSpc>
                <a:spcPct val="107000"/>
              </a:lnSpc>
              <a:spcBef>
                <a:spcPts val="0"/>
              </a:spcBef>
              <a:spcAft>
                <a:spcPts val="800"/>
              </a:spcAft>
              <a:buNone/>
            </a:pPr>
            <a:r>
              <a:rPr lang="en-US" sz="3400" b="1" i="1" kern="100" dirty="0">
                <a:latin typeface="Century Gothic" panose="020B0502020202020204" pitchFamily="34" charset="0"/>
                <a:ea typeface="Calibri" panose="020F0502020204030204" pitchFamily="34" charset="0"/>
                <a:cs typeface="Times New Roman" panose="02020603050405020304" pitchFamily="18" charset="0"/>
              </a:rPr>
              <a:t>Free-Rider Problem:</a:t>
            </a:r>
            <a:r>
              <a:rPr lang="en-US" sz="3400"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sz="34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3400" kern="100" dirty="0">
                <a:latin typeface="Century Gothic" panose="020B0502020202020204" pitchFamily="34" charset="0"/>
                <a:ea typeface="Calibri" panose="020F0502020204030204" pitchFamily="34" charset="0"/>
                <a:cs typeface="Times New Roman" panose="02020603050405020304" pitchFamily="18" charset="0"/>
              </a:rPr>
              <a:t>Since public goods are non-excludable, individuals may be tempted to "free-ride," benefiting from the public good without contributing to its provision. </a:t>
            </a:r>
          </a:p>
          <a:p>
            <a:pPr algn="just">
              <a:lnSpc>
                <a:spcPct val="107000"/>
              </a:lnSpc>
              <a:spcBef>
                <a:spcPts val="0"/>
              </a:spcBef>
              <a:spcAft>
                <a:spcPts val="800"/>
              </a:spcAft>
            </a:pPr>
            <a:r>
              <a:rPr lang="en-US" sz="3400" kern="100" dirty="0">
                <a:latin typeface="Century Gothic" panose="020B0502020202020204" pitchFamily="34" charset="0"/>
                <a:ea typeface="Calibri" panose="020F0502020204030204" pitchFamily="34" charset="0"/>
                <a:cs typeface="Times New Roman" panose="02020603050405020304" pitchFamily="18" charset="0"/>
              </a:rPr>
              <a:t>This behavior can lead to underinvestment in public goods.</a:t>
            </a:r>
            <a:endParaRPr lang="en-US" sz="34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3400" b="1" i="1" kern="100" dirty="0">
                <a:latin typeface="Century Gothic" panose="020B0502020202020204" pitchFamily="34" charset="0"/>
                <a:ea typeface="Calibri" panose="020F0502020204030204" pitchFamily="34" charset="0"/>
                <a:cs typeface="Times New Roman" panose="02020603050405020304" pitchFamily="18" charset="0"/>
              </a:rPr>
              <a:t>Difficulty in Pricing: </a:t>
            </a:r>
            <a:endParaRPr lang="en-US" sz="34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3400" kern="100" dirty="0">
                <a:latin typeface="Century Gothic" panose="020B0502020202020204" pitchFamily="34" charset="0"/>
                <a:ea typeface="Calibri" panose="020F0502020204030204" pitchFamily="34" charset="0"/>
                <a:cs typeface="Times New Roman" panose="02020603050405020304" pitchFamily="18" charset="0"/>
              </a:rPr>
              <a:t>Public goods lack a clear market price because they are not traded in the traditional sense. </a:t>
            </a:r>
          </a:p>
          <a:p>
            <a:pPr algn="just">
              <a:lnSpc>
                <a:spcPct val="107000"/>
              </a:lnSpc>
              <a:spcBef>
                <a:spcPts val="0"/>
              </a:spcBef>
              <a:spcAft>
                <a:spcPts val="800"/>
              </a:spcAft>
            </a:pPr>
            <a:r>
              <a:rPr lang="en-US" sz="3400" kern="100" dirty="0">
                <a:latin typeface="Century Gothic" panose="020B0502020202020204" pitchFamily="34" charset="0"/>
                <a:ea typeface="Calibri" panose="020F0502020204030204" pitchFamily="34" charset="0"/>
                <a:cs typeface="Times New Roman" panose="02020603050405020304" pitchFamily="18" charset="0"/>
              </a:rPr>
              <a:t>This makes it challenging to determine the value and allocate resources for their provision.</a:t>
            </a:r>
            <a:endParaRPr lang="en-US" sz="34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3400" b="1" i="1" kern="100" dirty="0">
                <a:latin typeface="Century Gothic" panose="020B0502020202020204" pitchFamily="34" charset="0"/>
                <a:ea typeface="Calibri" panose="020F0502020204030204" pitchFamily="34" charset="0"/>
                <a:cs typeface="Times New Roman" panose="02020603050405020304" pitchFamily="18" charset="0"/>
              </a:rPr>
              <a:t>Financial Constraints: </a:t>
            </a:r>
            <a:endParaRPr lang="en-US" sz="34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3400" kern="100" dirty="0">
                <a:latin typeface="Century Gothic" panose="020B0502020202020204" pitchFamily="34" charset="0"/>
                <a:ea typeface="Calibri" panose="020F0502020204030204" pitchFamily="34" charset="0"/>
                <a:cs typeface="Times New Roman" panose="02020603050405020304" pitchFamily="18" charset="0"/>
              </a:rPr>
              <a:t>Funding public goods projects can be a challenge due to limited financial resources and competing priorities in the agricultural sector.</a:t>
            </a:r>
            <a:endParaRPr lang="en-US" sz="3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7588698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B27AE-BF28-4168-4E4B-960F332F550E}"/>
              </a:ext>
            </a:extLst>
          </p:cNvPr>
          <p:cNvSpPr>
            <a:spLocks noGrp="1"/>
          </p:cNvSpPr>
          <p:nvPr>
            <p:ph type="title"/>
          </p:nvPr>
        </p:nvSpPr>
        <p:spPr>
          <a:xfrm>
            <a:off x="838200" y="365125"/>
            <a:ext cx="10515600" cy="1931266"/>
          </a:xfrm>
        </p:spPr>
        <p:txBody>
          <a:bodyPr>
            <a:normAutofit/>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Solutions to Free-Rider Problems through Government Intervention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66A3476-7F6B-9759-146A-9427D0A3ACB3}"/>
              </a:ext>
            </a:extLst>
          </p:cNvPr>
          <p:cNvSpPr>
            <a:spLocks noGrp="1"/>
          </p:cNvSpPr>
          <p:nvPr>
            <p:ph idx="1"/>
          </p:nvPr>
        </p:nvSpPr>
        <p:spPr/>
        <p:txBody>
          <a:bodyPr>
            <a:normAutofit fontScale="70000" lnSpcReduction="20000"/>
          </a:bodyPr>
          <a:lstStyle/>
          <a:p>
            <a:pPr marL="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Government intervention is often necessary to address the free-rider problem and ensure the provision of public goods in value chain agriculture.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Taxation:</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Governments can finance public goods through taxation. By collecting taxes from individuals and businesses, the government can pool resources to provide public goods for the entire community.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Subsidies and Grants: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Governments can offer subsidies or grants to encourage private organizations or research institutions to invest in public goods projects related to agriculture.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Public-Private Partnerships (PPPs):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Collaborations between the government and private sector entities can help mobilize resources and expertise for the provision of public goods.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9969632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B531-773F-E9FB-B63C-CFE51F52544C}"/>
              </a:ext>
            </a:extLst>
          </p:cNvPr>
          <p:cNvSpPr>
            <a:spLocks noGrp="1"/>
          </p:cNvSpPr>
          <p:nvPr>
            <p:ph type="title"/>
          </p:nvPr>
        </p:nvSpPr>
        <p:spPr>
          <a:xfrm>
            <a:off x="838200" y="365125"/>
            <a:ext cx="10515600" cy="1868920"/>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Relevance of Public Goods to Sustainability and Community Development in Agriculture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8188E95-EE14-E809-19CB-EB7AC857C332}"/>
              </a:ext>
            </a:extLst>
          </p:cNvPr>
          <p:cNvSpPr>
            <a:spLocks noGrp="1"/>
          </p:cNvSpPr>
          <p:nvPr>
            <p:ph idx="1"/>
          </p:nvPr>
        </p:nvSpPr>
        <p:spPr/>
        <p:txBody>
          <a:bodyPr>
            <a:normAutofit fontScale="70000" lnSpcReduction="2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Knowledge Sharing:</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Public goods such as agricultural research and knowledge sharing contribute to sustainable farming practices, leading to improved crop yields and reduced environmental impact.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Information Dissemination: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Public goods that provide valuable information about market trends, weather forecasts, and best practices empower farmers to make informed decisions, leading to better resource management and higher profitability.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Long-Term Benefits: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Investing in public goods may not yield immediate returns, but they can have significant long-term benefits for the agriculture sector, leading to improved food security, economic development, and community well-being.</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3543433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3477C-D3B7-B160-5C74-1380FA96E8D5}"/>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Exercises and Case Studies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B40B89C-A04A-7336-96CF-23BD3533897A}"/>
              </a:ext>
            </a:extLst>
          </p:cNvPr>
          <p:cNvSpPr>
            <a:spLocks noGrp="1"/>
          </p:cNvSpPr>
          <p:nvPr>
            <p:ph idx="1"/>
          </p:nvPr>
        </p:nvSpPr>
        <p:spPr/>
        <p:txBody>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Identify three examples of public goods in value chain agriculture and explain why they meet the criteria of non-excludability and non-rivalry.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08495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17498</TotalTime>
  <Words>11430</Words>
  <Application>Microsoft Office PowerPoint</Application>
  <PresentationFormat>Widescreen</PresentationFormat>
  <Paragraphs>768</Paragraphs>
  <Slides>187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187</vt:i4>
      </vt:variant>
    </vt:vector>
  </HeadingPairs>
  <TitlesOfParts>
    <vt:vector size="193" baseType="lpstr">
      <vt:lpstr>Arial</vt:lpstr>
      <vt:lpstr>Calibri</vt:lpstr>
      <vt:lpstr>Calibri Light</vt:lpstr>
      <vt:lpstr>Cambria Math</vt:lpstr>
      <vt:lpstr>Century Gothic</vt:lpstr>
      <vt:lpstr>Office Theme</vt:lpstr>
      <vt:lpstr>Lecture 1: Introduction to Economics </vt:lpstr>
      <vt:lpstr>Economics and its Importance in Value Chain Agriculture  </vt:lpstr>
      <vt:lpstr>Economics and its Importance in Value Chain Agriculture</vt:lpstr>
      <vt:lpstr>The distinction between Microeconomics and Macroeconomics  </vt:lpstr>
      <vt:lpstr>The distinction between Microeconomics and Macroeconomics</vt:lpstr>
      <vt:lpstr>Overview of Economic Principles</vt:lpstr>
      <vt:lpstr>People Face Tradeoffs  </vt:lpstr>
      <vt:lpstr>The Cost of Something Is What You Give Up to Get It (Opportunity cost) </vt:lpstr>
      <vt:lpstr>Rational People Think at the Margin: </vt:lpstr>
      <vt:lpstr>People Respond to Incentives: </vt:lpstr>
      <vt:lpstr>Trade Can Make Everyone Better Off: </vt:lpstr>
      <vt:lpstr>Markets Are Usually a Good Way to Organize Economic Activity:  </vt:lpstr>
      <vt:lpstr>Governments Can Sometimes Improve Market Outcomes: </vt:lpstr>
      <vt:lpstr>A Country’s Standard of Living Depends on Its Ability to Produce Goods and Services </vt:lpstr>
      <vt:lpstr>Prices Rise When the Government Prints Too Much Money: </vt:lpstr>
      <vt:lpstr>Society Faces a Short Run Tradeoff between Inflation and Unemployment: </vt:lpstr>
      <vt:lpstr>PowerPoint Presentation</vt:lpstr>
      <vt:lpstr>Application of Economic Thinking in Real-World Agricultural Challenges  </vt:lpstr>
      <vt:lpstr>PowerPoint Presentation</vt:lpstr>
      <vt:lpstr>Lecture 2:  Market Forces:  Demand and Supply </vt:lpstr>
      <vt:lpstr>Demand and Supply in Value Chain Agriculture  </vt:lpstr>
      <vt:lpstr>Demand  </vt:lpstr>
      <vt:lpstr>Supply </vt:lpstr>
      <vt:lpstr>Diagram showing supply and demand schedule </vt:lpstr>
      <vt:lpstr>Factors Influencing Demand  </vt:lpstr>
      <vt:lpstr>PowerPoint Presentation</vt:lpstr>
      <vt:lpstr>Factors Influencing Supply </vt:lpstr>
      <vt:lpstr>Understanding Market Equilibrium  </vt:lpstr>
      <vt:lpstr>PowerPoint Presentation</vt:lpstr>
      <vt:lpstr>  Consumer Surplus and Producer Surplus  </vt:lpstr>
      <vt:lpstr>Graph showing Consumer and Producer Surplus </vt:lpstr>
      <vt:lpstr>Consumer Surplus in Agriculture </vt:lpstr>
      <vt:lpstr>Producer Surplus in Agriculture: </vt:lpstr>
      <vt:lpstr>PowerPoint Presentation</vt:lpstr>
      <vt:lpstr>Practical Examples of Demand and Supply in Agricultural Markets  </vt:lpstr>
      <vt:lpstr>Implications of Demand and Supply in Agriculture </vt:lpstr>
      <vt:lpstr>PowerPoint Presentation</vt:lpstr>
      <vt:lpstr>Exercise 1: Demand and Supply Analysis  </vt:lpstr>
      <vt:lpstr>Exercise 2: Factors Influencing Supply  </vt:lpstr>
      <vt:lpstr>Case Study: The Impact of COVID-19 on the Poultry Industry  </vt:lpstr>
      <vt:lpstr>The Market Equilibrium </vt:lpstr>
      <vt:lpstr>Lecture 3:  Market Equilibrium  </vt:lpstr>
      <vt:lpstr>Balance of Demand and Supply  </vt:lpstr>
      <vt:lpstr>Excess Demand (Shortage)  </vt:lpstr>
      <vt:lpstr>Excess Supply (Surplus)  </vt:lpstr>
      <vt:lpstr>Excess Supply (Surplus)</vt:lpstr>
      <vt:lpstr>Effects of Changes in Demand and Supply on Market Equilibrium  </vt:lpstr>
      <vt:lpstr>Effects of Changes in Demand and Supply on Market Equilibrium</vt:lpstr>
      <vt:lpstr>Diagrammatic Representation of Market Equilibrium  </vt:lpstr>
      <vt:lpstr>Importance of Market Equilibrium in VCA </vt:lpstr>
      <vt:lpstr>Exercise: Market Equilibrium  </vt:lpstr>
      <vt:lpstr>Case Study: The Market for Organic Vegetables  </vt:lpstr>
      <vt:lpstr>Elasticity and Its Applications</vt:lpstr>
      <vt:lpstr> </vt:lpstr>
      <vt:lpstr>Price Elasticity of Demand (PED)  </vt:lpstr>
      <vt:lpstr>Interpretation of Price Elasticity Coefficients  </vt:lpstr>
      <vt:lpstr>Elastic Demand: PED &gt; 1 </vt:lpstr>
      <vt:lpstr>Unitary Demand: PED = 1 </vt:lpstr>
      <vt:lpstr>Inelastic Demand: PED &lt; 1 </vt:lpstr>
      <vt:lpstr>Calculating of Price Elasticity of Demand  </vt:lpstr>
      <vt:lpstr>Price Elasticity of Supply (PES) </vt:lpstr>
      <vt:lpstr>Interpretation of Price Elasticity of Supply Coefficients  </vt:lpstr>
      <vt:lpstr>Elastic supply: PES &gt; 1</vt:lpstr>
      <vt:lpstr>Unitary Elastic Supply: PES = 1</vt:lpstr>
      <vt:lpstr>Inelastic Supply: PES &lt; 1</vt:lpstr>
      <vt:lpstr>Calculating of Price Elasticity of Supply  </vt:lpstr>
      <vt:lpstr>Income Elasticity of Demand (XED) </vt:lpstr>
      <vt:lpstr>Calculating Income Elasticity of Demand: </vt:lpstr>
      <vt:lpstr>Interpreting Income Elasticity of Demand: </vt:lpstr>
      <vt:lpstr>PowerPoint Presentation</vt:lpstr>
      <vt:lpstr>PowerPoint Presentation</vt:lpstr>
      <vt:lpstr>Cross Elasticity of Demand (XED) </vt:lpstr>
      <vt:lpstr>Interpretating cross elasticity  </vt:lpstr>
      <vt:lpstr>1. Positive Cross Elasticity (Substitutes)</vt:lpstr>
      <vt:lpstr>2. Negative Cross Elasticity(Complements)  </vt:lpstr>
      <vt:lpstr>3. Zero Cross Elasticity (Unrelated Goods) </vt:lpstr>
      <vt:lpstr>Elasticity's Role in Market Responsiveness  </vt:lpstr>
      <vt:lpstr>  Elasticity’s Role in Understanding Agent Behavior in VCA  </vt:lpstr>
      <vt:lpstr>Practical Exercises  </vt:lpstr>
      <vt:lpstr>Exercise 1: Calculating Price Elasticity of Demand (PED)  </vt:lpstr>
      <vt:lpstr>Exercise 2: Calculating Price Elasticity of Supply (PES) </vt:lpstr>
      <vt:lpstr>Exercise 3: Calculating Cross Price Elasticity of Demand (XED) </vt:lpstr>
      <vt:lpstr>Exercise 4: Calculating Income Elasticity of Demand (YED) </vt:lpstr>
      <vt:lpstr>Case Study: Price Elasticity and Revenue Management in the Banana Market  </vt:lpstr>
      <vt:lpstr>Lecture 5: Consumer Choice: Individual and Market Demand </vt:lpstr>
      <vt:lpstr>Consumer Choice Theory and Utility Maximization  </vt:lpstr>
      <vt:lpstr>Indifference Curves and Budget Constraints  </vt:lpstr>
      <vt:lpstr>Indifference Map </vt:lpstr>
      <vt:lpstr>Budget constraint </vt:lpstr>
      <vt:lpstr>Indifference Map and Budget constraint  </vt:lpstr>
      <vt:lpstr>Individual Demand Curve  </vt:lpstr>
      <vt:lpstr>Market Demand Curve  </vt:lpstr>
      <vt:lpstr>  Application in Value Chain Agriculture  </vt:lpstr>
      <vt:lpstr>Exercises: Drawing Indifference Curves, Deriving Individual Demand Curve, and Deriving Market Demand</vt:lpstr>
      <vt:lpstr>  </vt:lpstr>
      <vt:lpstr>PowerPoint Presentation</vt:lpstr>
      <vt:lpstr>Deriving Market Demand </vt:lpstr>
      <vt:lpstr>PowerPoint Presentation</vt:lpstr>
      <vt:lpstr>Lecture 6: The Price System: Price Ceilings and Floors, Taxes, and Subsidies </vt:lpstr>
      <vt:lpstr>PowerPoint Presentation</vt:lpstr>
      <vt:lpstr>Definition of Price Ceilings and Floors  </vt:lpstr>
      <vt:lpstr>Implications of Price Ceilings and Floors in Agricultural Markets  </vt:lpstr>
      <vt:lpstr>Implications of Price Ceilings and Floors in Agricultural Markets  </vt:lpstr>
      <vt:lpstr>Understanding Taxes and Subsidies  </vt:lpstr>
      <vt:lpstr>Impact of Taxes and Subsidies on Agricultural Producers and Consumers  </vt:lpstr>
      <vt:lpstr>Case Studies on Government Interventions in Value Chain Agriculture  </vt:lpstr>
      <vt:lpstr>Case Study 1: </vt:lpstr>
      <vt:lpstr>  Case study 2: Price Floor on Agricultural Products </vt:lpstr>
      <vt:lpstr>Case study 3: Agricultural Subsidies for Sustainable Farming Practices </vt:lpstr>
      <vt:lpstr>Exercises: The Price System: Price Ceilings and Floors, Taxes, and Subsidies:  </vt:lpstr>
      <vt:lpstr>PowerPoint Presentation</vt:lpstr>
      <vt:lpstr>Lecture 7:  Externalities in Value Chain Agriculture</vt:lpstr>
      <vt:lpstr> </vt:lpstr>
      <vt:lpstr>Externalities </vt:lpstr>
      <vt:lpstr>Classification of Externalities </vt:lpstr>
      <vt:lpstr>Occurrence of Externalities in Agricultural Activities  </vt:lpstr>
      <vt:lpstr>Effects of Externalities on Market Efficiency  </vt:lpstr>
      <vt:lpstr>Resource Allocation and Externalities  </vt:lpstr>
      <vt:lpstr>Policy Options to Internalize Externalities  </vt:lpstr>
      <vt:lpstr>Case Studies and Exercises  </vt:lpstr>
      <vt:lpstr>Lecture 8:  Producer Choice: Firm and Market Supply</vt:lpstr>
      <vt:lpstr>Overview of Producer Behavior  </vt:lpstr>
      <vt:lpstr>Cost Curves  </vt:lpstr>
      <vt:lpstr>Total Revenue (TR) and Total Cost (TC)  </vt:lpstr>
      <vt:lpstr>Revenue  </vt:lpstr>
      <vt:lpstr>Cost Curves  </vt:lpstr>
      <vt:lpstr>Profit Calculation  </vt:lpstr>
      <vt:lpstr>Profit Maximization and Optimization  </vt:lpstr>
      <vt:lpstr>Production Functions  </vt:lpstr>
      <vt:lpstr>Derivation of Firm and Market Supply Curves  </vt:lpstr>
      <vt:lpstr>Relationship with Input and Output Prices  </vt:lpstr>
      <vt:lpstr>Exercise 1:  </vt:lpstr>
      <vt:lpstr>Exercise 2:  </vt:lpstr>
      <vt:lpstr>Exercise 3:  </vt:lpstr>
      <vt:lpstr>Exercise 4:  </vt:lpstr>
      <vt:lpstr>Exercise 5:  </vt:lpstr>
      <vt:lpstr>Case Study: The Tomato Industry in Malawi  </vt:lpstr>
      <vt:lpstr>Lecture 12: Market Structures in Value Chain Agriculture</vt:lpstr>
      <vt:lpstr>Market Structures  </vt:lpstr>
      <vt:lpstr>Perfect Competition  </vt:lpstr>
      <vt:lpstr>Characteristics of Perfect competition  </vt:lpstr>
      <vt:lpstr>Price and Output Determination in Perfect Competition  </vt:lpstr>
      <vt:lpstr>Oligopoly </vt:lpstr>
      <vt:lpstr>Characteristics of Oligopoly </vt:lpstr>
      <vt:lpstr>Price and Output Determination in Oligopoly  </vt:lpstr>
      <vt:lpstr>Monopolistic Competition </vt:lpstr>
      <vt:lpstr>Characteristics of Monopolistic Competition  </vt:lpstr>
      <vt:lpstr>Price and Output Determination in Monopolistic Competition  </vt:lpstr>
      <vt:lpstr>Monopoly </vt:lpstr>
      <vt:lpstr>Characteristics of Monopoly  </vt:lpstr>
      <vt:lpstr>Price and Output Determination in Monopoly  </vt:lpstr>
      <vt:lpstr>Efficiency and Performance Implications of Market Structures  </vt:lpstr>
      <vt:lpstr>Welfare Economics  </vt:lpstr>
      <vt:lpstr>Welfare Economics</vt:lpstr>
      <vt:lpstr>Efficiency and Equity in Value Chain Agriculture: </vt:lpstr>
      <vt:lpstr>Externalities and Market Failures: </vt:lpstr>
      <vt:lpstr>Policy Interventions for Social Welfare Maximization: </vt:lpstr>
      <vt:lpstr>Sustainable Value Chain Management: </vt:lpstr>
      <vt:lpstr>Examples of Welfare Economics in Value Chain Agriculture</vt:lpstr>
      <vt:lpstr>PowerPoint Presentation</vt:lpstr>
      <vt:lpstr>Case Studies and Exercises  </vt:lpstr>
      <vt:lpstr>Exercise 1: Perfect Competition:  </vt:lpstr>
      <vt:lpstr>Exercise 2: Oligopoly  </vt:lpstr>
      <vt:lpstr>Exercise 3: Monopolistic Competition </vt:lpstr>
      <vt:lpstr>Exercise 4: Monopoly </vt:lpstr>
      <vt:lpstr>Case Studies:  </vt:lpstr>
      <vt:lpstr>Key Concepts in Game Theory: </vt:lpstr>
      <vt:lpstr>Types of Games: </vt:lpstr>
      <vt:lpstr>Examples of Game Theory: </vt:lpstr>
      <vt:lpstr>Nash Equilibrium in Value Chain Agriculture  </vt:lpstr>
      <vt:lpstr>Prisoner's Dilemma: </vt:lpstr>
      <vt:lpstr>Analysis of Competitive and Cooperative Strategies  </vt:lpstr>
      <vt:lpstr>Practical Examples in Value Chain Agriculture  </vt:lpstr>
      <vt:lpstr>Exercises  </vt:lpstr>
      <vt:lpstr>Lecture 13: Labour Markets and Incentive Structures in Value Chain Agriculture</vt:lpstr>
      <vt:lpstr> </vt:lpstr>
      <vt:lpstr>Factors Affecting Wage Determination in Value Chain Agriculture  </vt:lpstr>
      <vt:lpstr>  Incentive Structures in Value Chain Agriculture  </vt:lpstr>
      <vt:lpstr>Types of incentives in value chain agriculture: </vt:lpstr>
      <vt:lpstr>Lecture 14: Public Goods</vt:lpstr>
      <vt:lpstr> </vt:lpstr>
      <vt:lpstr>TAXONOMY OF GOODS </vt:lpstr>
      <vt:lpstr>Characteristics of Public Goods</vt:lpstr>
      <vt:lpstr>Challenges in Providing Public Goods in Value Chain Agriculture  </vt:lpstr>
      <vt:lpstr>Solutions to Free-Rider Problems through Government Intervention  </vt:lpstr>
      <vt:lpstr>Relevance of Public Goods to Sustainability and Community Development in Agriculture  </vt:lpstr>
      <vt:lpstr>Exercises and Case Studies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dc:title>
  <dc:creator>Kizito Chawinga</dc:creator>
  <cp:keywords>Lessons</cp:keywords>
  <cp:lastModifiedBy>Kizito</cp:lastModifiedBy>
  <cp:revision>12</cp:revision>
  <dcterms:created xsi:type="dcterms:W3CDTF">2023-08-14T19:31:39Z</dcterms:created>
  <dcterms:modified xsi:type="dcterms:W3CDTF">2023-12-24T16:17:27Z</dcterms:modified>
</cp:coreProperties>
</file>