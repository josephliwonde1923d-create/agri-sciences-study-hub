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4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2981214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1617900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2472284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AD9735D-6866-4DAD-9AEC-0C8E28EBE2C7}"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2038383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AD9735D-6866-4DAD-9AEC-0C8E28EBE2C7}"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1938851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3709145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252773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3776239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AD9735D-6866-4DAD-9AEC-0C8E28EBE2C7}"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2025841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AD9735D-6866-4DAD-9AEC-0C8E28EBE2C7}"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82755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739605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662781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1802939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3238354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12447745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884835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D9735D-6866-4DAD-9AEC-0C8E28EBE2C7}"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0A5DF3-DBD1-41AA-9D26-4C40F01514F0}" type="slidenum">
              <a:rPr lang="en-US" smtClean="0"/>
              <a:t>‹#›</a:t>
            </a:fld>
            <a:endParaRPr lang="en-US"/>
          </a:p>
        </p:txBody>
      </p:sp>
    </p:spTree>
    <p:extLst>
      <p:ext uri="{BB962C8B-B14F-4D97-AF65-F5344CB8AC3E}">
        <p14:creationId xmlns:p14="http://schemas.microsoft.com/office/powerpoint/2010/main" val="1614815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AD9735D-6866-4DAD-9AEC-0C8E28EBE2C7}" type="datetimeFigureOut">
              <a:rPr lang="en-US" smtClean="0"/>
              <a:t>1/24/2025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10A5DF3-DBD1-41AA-9D26-4C40F01514F0}" type="slidenum">
              <a:rPr lang="en-US" smtClean="0"/>
              <a:t>‹#›</a:t>
            </a:fld>
            <a:endParaRPr lang="en-US"/>
          </a:p>
        </p:txBody>
      </p:sp>
    </p:spTree>
    <p:extLst>
      <p:ext uri="{BB962C8B-B14F-4D97-AF65-F5344CB8AC3E}">
        <p14:creationId xmlns:p14="http://schemas.microsoft.com/office/powerpoint/2010/main" val="283755009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96153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01F41-898F-5C80-1D7B-F15CD1CDC2D0}"/>
              </a:ext>
            </a:extLst>
          </p:cNvPr>
          <p:cNvSpPr>
            <a:spLocks noGrp="1"/>
          </p:cNvSpPr>
          <p:nvPr>
            <p:ph type="title"/>
          </p:nvPr>
        </p:nvSpPr>
        <p:spPr>
          <a:xfrm>
            <a:off x="838200" y="365125"/>
            <a:ext cx="10515600" cy="4965411"/>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Lecture 8: </a:t>
            </a:r>
            <a:r>
              <a:rPr lang="en-US" b="1" kern="100" dirty="0" smtClean="0">
                <a:latin typeface="Century Gothic" panose="020B0502020202020204" pitchFamily="34" charset="0"/>
                <a:ea typeface="Calibri" panose="020F0502020204030204" pitchFamily="34" charset="0"/>
                <a:cs typeface="Times New Roman" panose="02020603050405020304" pitchFamily="18" charset="0"/>
              </a:rPr>
              <a:t/>
            </a:r>
            <a:br>
              <a:rPr lang="en-US" b="1" kern="100" dirty="0" smtClean="0">
                <a:latin typeface="Century Gothic" panose="020B050202020202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
            </a:r>
            <a:br>
              <a:rPr lang="en-US" b="1" kern="100" dirty="0">
                <a:latin typeface="Century Gothic" panose="020B050202020202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Producer Choice: Firm and Market Supply</a:t>
            </a:r>
            <a:endParaRPr lang="en-US" dirty="0"/>
          </a:p>
        </p:txBody>
      </p:sp>
    </p:spTree>
    <p:extLst>
      <p:ext uri="{BB962C8B-B14F-4D97-AF65-F5344CB8AC3E}">
        <p14:creationId xmlns:p14="http://schemas.microsoft.com/office/powerpoint/2010/main" val="2404663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243E7-FB5D-681F-A8E4-784D84392D3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Overview of Producer Behavior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825C498-2F0C-368F-7E58-464B35A1EBED}"/>
              </a:ext>
            </a:extLst>
          </p:cNvPr>
          <p:cNvSpPr>
            <a:spLocks noGrp="1"/>
          </p:cNvSpPr>
          <p:nvPr>
            <p:ph idx="1"/>
          </p:nvPr>
        </p:nvSpPr>
        <p:spPr/>
        <p:txBody>
          <a:bodyPr/>
          <a:lstStyle/>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Producers in value-chain agriculture aim to maximize their profits by optimizing production and cost decisions. </a:t>
            </a:r>
          </a:p>
          <a:p>
            <a:pPr algn="just"/>
            <a:r>
              <a:rPr lang="en-US" kern="100" dirty="0">
                <a:latin typeface="Century Gothic" panose="020B0502020202020204" pitchFamily="34" charset="0"/>
                <a:ea typeface="Calibri" panose="020F0502020204030204" pitchFamily="34" charset="0"/>
                <a:cs typeface="Times New Roman" panose="02020603050405020304" pitchFamily="18" charset="0"/>
              </a:rPr>
              <a:t>Profit maximization involves finding the best combination of inputs to produce the desired output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3787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CEF1-0F07-6A1A-3B09-3A827728D648}"/>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Cost Curves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87C45C7-3A4B-4CAC-DE83-525BF5BB9170}"/>
              </a:ext>
            </a:extLst>
          </p:cNvPr>
          <p:cNvSpPr>
            <a:spLocks noGrp="1"/>
          </p:cNvSpPr>
          <p:nvPr>
            <p:ph idx="1"/>
          </p:nvPr>
        </p:nvSpPr>
        <p:spPr/>
        <p:txBody>
          <a:bodyPr/>
          <a:lstStyle/>
          <a:p>
            <a:pPr marL="0" indent="0">
              <a:buNone/>
            </a:pPr>
            <a:r>
              <a:rPr lang="en-US" dirty="0">
                <a:latin typeface="Century Gothic" panose="020B0502020202020204" pitchFamily="34" charset="0"/>
                <a:ea typeface="Calibri" panose="020F0502020204030204" pitchFamily="34" charset="0"/>
                <a:cs typeface="Times New Roman" panose="02020603050405020304" pitchFamily="18" charset="0"/>
              </a:rPr>
              <a:t>Cost curves illustrate the relationship between output and cost</a:t>
            </a:r>
            <a:endParaRPr lang="en-US" dirty="0"/>
          </a:p>
        </p:txBody>
      </p:sp>
      <p:pic>
        <p:nvPicPr>
          <p:cNvPr id="4" name="Picture 3">
            <a:extLst>
              <a:ext uri="{FF2B5EF4-FFF2-40B4-BE49-F238E27FC236}">
                <a16:creationId xmlns:a16="http://schemas.microsoft.com/office/drawing/2014/main" id="{5C2E202D-E02C-7C7E-9DD6-BD492B766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996694"/>
            <a:ext cx="4263736" cy="3433941"/>
          </a:xfrm>
          <a:prstGeom prst="rect">
            <a:avLst/>
          </a:prstGeom>
        </p:spPr>
      </p:pic>
      <p:pic>
        <p:nvPicPr>
          <p:cNvPr id="5" name="Picture 4">
            <a:extLst>
              <a:ext uri="{FF2B5EF4-FFF2-40B4-BE49-F238E27FC236}">
                <a16:creationId xmlns:a16="http://schemas.microsoft.com/office/drawing/2014/main" id="{BF0C9D6B-32C4-F1DA-7FCA-0FBE7CD0B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8929" y="3052574"/>
            <a:ext cx="4473452" cy="3378061"/>
          </a:xfrm>
          <a:prstGeom prst="rect">
            <a:avLst/>
          </a:prstGeom>
        </p:spPr>
      </p:pic>
    </p:spTree>
    <p:extLst>
      <p:ext uri="{BB962C8B-B14F-4D97-AF65-F5344CB8AC3E}">
        <p14:creationId xmlns:p14="http://schemas.microsoft.com/office/powerpoint/2010/main" val="3860280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904E3-2AFE-1967-745E-4ECC2FC7CB74}"/>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Total Revenue (TR) and Total Cost (TC)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43AE12C-C741-294C-C8B0-D4C165E26EBC}"/>
              </a:ext>
            </a:extLst>
          </p:cNvPr>
          <p:cNvSpPr>
            <a:spLocks noGrp="1"/>
          </p:cNvSpPr>
          <p:nvPr>
            <p:ph idx="1"/>
          </p:nvPr>
        </p:nvSpPr>
        <p:spPr/>
        <p:txBody>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Revenue (TR) </a:t>
            </a:r>
            <a:r>
              <a:rPr lang="en-US" kern="100" dirty="0">
                <a:latin typeface="Century Gothic" panose="020B0502020202020204" pitchFamily="34" charset="0"/>
                <a:ea typeface="Calibri" panose="020F0502020204030204" pitchFamily="34" charset="0"/>
                <a:cs typeface="Times New Roman" panose="02020603050405020304" pitchFamily="18" charset="0"/>
              </a:rPr>
              <a:t>is the total income earned by a firm from selling its products.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is calculated as the product of the price (P) and the quantity sold (Q): TR = PQ.</a:t>
            </a:r>
          </a:p>
          <a:p>
            <a:pPr algn="just">
              <a:lnSpc>
                <a:spcPct val="107000"/>
              </a:lnSpc>
              <a:spcBef>
                <a:spcPts val="0"/>
              </a:spcBef>
              <a:spcAft>
                <a:spcPts val="800"/>
              </a:spcAft>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Cost (TC) </a:t>
            </a:r>
            <a:r>
              <a:rPr lang="en-US" kern="100" dirty="0">
                <a:latin typeface="Century Gothic" panose="020B0502020202020204" pitchFamily="34" charset="0"/>
                <a:ea typeface="Calibri" panose="020F0502020204030204" pitchFamily="34" charset="0"/>
                <a:cs typeface="Times New Roman" panose="02020603050405020304" pitchFamily="18" charset="0"/>
              </a:rPr>
              <a:t>is the total expense incurred by a firm to produce a given quantity of output.</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includes fixed costs and variable costs.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591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3DBBD-4C59-6B04-1D9A-5B75001D35A2}"/>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Revenue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6A33467-3417-762B-0C5A-B7525F013D1C}"/>
              </a:ext>
            </a:extLst>
          </p:cNvPr>
          <p:cNvSpPr>
            <a:spLocks noGrp="1"/>
          </p:cNvSpPr>
          <p:nvPr>
            <p:ph idx="1"/>
          </p:nvPr>
        </p:nvSpPr>
        <p:spPr/>
        <p:txBody>
          <a:bodyPr/>
          <a:lstStyle/>
          <a:p>
            <a:pPr marL="0" marR="0" indent="0" algn="just">
              <a:lnSpc>
                <a:spcPct val="107000"/>
              </a:lnSpc>
              <a:spcBef>
                <a:spcPts val="0"/>
              </a:spcBef>
              <a:spcAft>
                <a:spcPts val="800"/>
              </a:spcAft>
              <a:buNone/>
            </a:pPr>
            <a:r>
              <a:rPr lang="en-US" kern="100" dirty="0">
                <a:latin typeface="Century Gothic" panose="020B0502020202020204" pitchFamily="34" charset="0"/>
                <a:ea typeface="Calibri" panose="020F0502020204030204" pitchFamily="34" charset="0"/>
                <a:cs typeface="Times New Roman" panose="02020603050405020304" pitchFamily="18" charset="0"/>
              </a:rPr>
              <a:t>Revenue curves illustrate the relationship between output and revenue.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Average Revenue (AR), </a:t>
            </a:r>
            <a:r>
              <a:rPr lang="en-US" kern="100" dirty="0">
                <a:latin typeface="Century Gothic" panose="020B0502020202020204" pitchFamily="34" charset="0"/>
                <a:ea typeface="Calibri" panose="020F0502020204030204" pitchFamily="34" charset="0"/>
                <a:cs typeface="Times New Roman" panose="02020603050405020304" pitchFamily="18" charset="0"/>
              </a:rPr>
              <a:t>is the revenue per unit of commodity sold. This is the total revenue divided by the output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Marginal Revenue (MR),</a:t>
            </a:r>
            <a:r>
              <a:rPr lang="en-US" kern="100" dirty="0">
                <a:latin typeface="Century Gothic" panose="020B0502020202020204" pitchFamily="34" charset="0"/>
                <a:ea typeface="Calibri" panose="020F0502020204030204" pitchFamily="34" charset="0"/>
                <a:cs typeface="Times New Roman" panose="02020603050405020304" pitchFamily="18" charset="0"/>
              </a:rPr>
              <a:t> Marginal revenue is the net addition to the total revenue when one more unit is sold.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19957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46B51-A18C-3DB3-C449-9A47CFBDB9A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Cost Curves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821C91E-55D3-6DF3-D75C-189065B2AAC7}"/>
              </a:ext>
            </a:extLst>
          </p:cNvPr>
          <p:cNvSpPr>
            <a:spLocks noGrp="1"/>
          </p:cNvSpPr>
          <p:nvPr>
            <p:ph idx="1"/>
          </p:nvPr>
        </p:nvSpPr>
        <p:spPr/>
        <p:txBody>
          <a:bodyPr>
            <a:normAutofit/>
          </a:bodyPr>
          <a:lstStyle/>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Fixed Cost (TFC) </a:t>
            </a:r>
            <a:r>
              <a:rPr lang="en-US" kern="100" dirty="0">
                <a:latin typeface="Century Gothic" panose="020B0502020202020204" pitchFamily="34" charset="0"/>
                <a:ea typeface="Calibri" panose="020F0502020204030204" pitchFamily="34" charset="0"/>
                <a:cs typeface="Times New Roman" panose="02020603050405020304" pitchFamily="18" charset="0"/>
              </a:rPr>
              <a:t>– costs independent of output, paying for factory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Marginal cost (MC) </a:t>
            </a:r>
            <a:r>
              <a:rPr lang="en-US" kern="100" dirty="0">
                <a:latin typeface="Century Gothic" panose="020B0502020202020204" pitchFamily="34" charset="0"/>
                <a:ea typeface="Calibri" panose="020F0502020204030204" pitchFamily="34" charset="0"/>
                <a:cs typeface="Times New Roman" panose="02020603050405020304" pitchFamily="18" charset="0"/>
              </a:rPr>
              <a:t>– the cost of producing an extra unit of output.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variable cost (TVC)</a:t>
            </a:r>
            <a:r>
              <a:rPr lang="en-US" kern="100" dirty="0">
                <a:latin typeface="Century Gothic" panose="020B0502020202020204" pitchFamily="34" charset="0"/>
                <a:ea typeface="Calibri" panose="020F0502020204030204" pitchFamily="34" charset="0"/>
                <a:cs typeface="Times New Roman" panose="02020603050405020304" pitchFamily="18" charset="0"/>
              </a:rPr>
              <a:t> = cost involved in producing more units, which in this case is the cost of employing workers.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Average Variable Cost AVC</a:t>
            </a:r>
            <a:r>
              <a:rPr lang="en-US" kern="100" dirty="0">
                <a:latin typeface="Century Gothic" panose="020B0502020202020204" pitchFamily="34" charset="0"/>
                <a:ea typeface="Calibri" panose="020F0502020204030204" pitchFamily="34" charset="0"/>
                <a:cs typeface="Times New Roman" panose="02020603050405020304" pitchFamily="18" charset="0"/>
              </a:rPr>
              <a:t> = Total variable cost / quantity produced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Total cost TC </a:t>
            </a:r>
            <a:r>
              <a:rPr lang="en-US" kern="100" dirty="0">
                <a:latin typeface="Century Gothic" panose="020B0502020202020204" pitchFamily="34" charset="0"/>
                <a:ea typeface="Calibri" panose="020F0502020204030204" pitchFamily="34" charset="0"/>
                <a:cs typeface="Times New Roman" panose="02020603050405020304" pitchFamily="18" charset="0"/>
              </a:rPr>
              <a:t>= Total variable cost (VC) + total fixed cost (FC)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kern="100" dirty="0">
                <a:latin typeface="Century Gothic" panose="020B0502020202020204" pitchFamily="34" charset="0"/>
                <a:ea typeface="Calibri" panose="020F0502020204030204" pitchFamily="34" charset="0"/>
                <a:cs typeface="Times New Roman" panose="02020603050405020304" pitchFamily="18" charset="0"/>
              </a:rPr>
              <a:t>Average Total Cost ATC </a:t>
            </a:r>
            <a:r>
              <a:rPr lang="en-US" kern="100" dirty="0">
                <a:latin typeface="Century Gothic" panose="020B0502020202020204" pitchFamily="34" charset="0"/>
                <a:ea typeface="Calibri" panose="020F0502020204030204" pitchFamily="34" charset="0"/>
                <a:cs typeface="Times New Roman" panose="02020603050405020304" pitchFamily="18" charset="0"/>
              </a:rPr>
              <a:t>= Total cost / quantity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14111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3057B-0448-D758-6FEF-052C202A2DD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Profit Calculation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826F78E-A5FB-A1DD-A79A-7E0F249AB260}"/>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Profit (</a:t>
            </a:r>
            <a:r>
              <a:rPr lang="en-US" i="1" kern="100" dirty="0">
                <a:latin typeface="Century Gothic" panose="020B0502020202020204" pitchFamily="34" charset="0"/>
                <a:ea typeface="Calibri" panose="020F0502020204030204" pitchFamily="34" charset="0"/>
                <a:cs typeface="Times New Roman" panose="02020603050405020304" pitchFamily="18" charset="0"/>
              </a:rPr>
              <a:t>π</a:t>
            </a:r>
            <a:r>
              <a:rPr lang="en-US" kern="100" dirty="0">
                <a:latin typeface="Century Gothic" panose="020B0502020202020204" pitchFamily="34" charset="0"/>
                <a:ea typeface="Calibri" panose="020F0502020204030204" pitchFamily="34" charset="0"/>
                <a:cs typeface="Times New Roman" panose="02020603050405020304" pitchFamily="18" charset="0"/>
              </a:rPr>
              <a:t>) is the difference between total revenue and total cost: </a:t>
            </a:r>
            <a:r>
              <a:rPr lang="en-US" i="1" kern="100" dirty="0">
                <a:latin typeface="Century Gothic" panose="020B0502020202020204" pitchFamily="34" charset="0"/>
                <a:ea typeface="Calibri" panose="020F0502020204030204" pitchFamily="34" charset="0"/>
                <a:cs typeface="Times New Roman" panose="02020603050405020304" pitchFamily="18" charset="0"/>
              </a:rPr>
              <a:t>π </a:t>
            </a:r>
            <a:r>
              <a:rPr lang="en-US" kern="100" dirty="0">
                <a:latin typeface="Century Gothic" panose="020B0502020202020204" pitchFamily="34" charset="0"/>
                <a:ea typeface="Calibri" panose="020F0502020204030204" pitchFamily="34" charset="0"/>
                <a:cs typeface="Times New Roman" panose="02020603050405020304" pitchFamily="18" charset="0"/>
              </a:rPr>
              <a:t>= TR - TC.</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Positive profit (π &gt; 0) indicates that the firm is making a profit.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Negative profit (π &lt; 0) means the firm is facing losses which is also a ‘Loss’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7062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633A-E83B-0A3A-B9D1-05923170F1F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Profit Maximization and Optimization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E368146-296A-9D21-E9C1-D4D377E86584}"/>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Producers determine the output level where marginal revenue (MR) equals marginal cost (MC) to maximize profit.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-If MR &gt; MC, increasing output leads to higher profits.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-If MR &lt; MC, reducing output increases profits.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25132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65A4-777F-70C9-449A-CEEEDDC32087}"/>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Production Functions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F1D9295-F16A-5A06-0AEC-896AFD42050E}"/>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Production functions describe the relationship between inputs and outputs.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value-chain agriculture, inputs can include labor, land, and capital.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production function is represented as Q = f(L, K), where Q is the quantity of output, L is labor, and K is capital.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60075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A147E-2FC6-51C6-19E2-0B44B27BF85B}"/>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Derivation of Firm and Market Supply Curves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901CBE0-6766-6FCC-DC24-42284720BDE4}"/>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Firm Supply Curve: The firm's supply curve shows the quantity of output a firm is willing to produce and sell at different price levels.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Supply Curve: The market supply curve is the horizontal summation of individual firm supply curves.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shows the total quantity of a good supplied by all producers in the market at various prices.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4898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B532-0DAC-8F7D-AFEC-963BEA8E9C60}"/>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Relationship with Input and Output Prices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743D492-B6DF-5969-0ED9-42DA62D4D6B3}"/>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The firm's supply decisions are influenced by input prices (e.g., labor, land, and capital) and output prices (the price at which the firm can sell its product).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If output price increases, firms are motivated to produce more as profit opportunities expand.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If input prices increase, firms may reduce production to control costs.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87241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F99B4-F599-D19C-C5D1-8D48A093EBC4}"/>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1: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4D0844E-6D82-DD2B-3289-BEBCB403DC13}"/>
              </a:ext>
            </a:extLst>
          </p:cNvPr>
          <p:cNvSpPr>
            <a:spLocks noGrp="1"/>
          </p:cNvSpPr>
          <p:nvPr>
            <p:ph idx="1"/>
          </p:nvPr>
        </p:nvSpPr>
        <p:spPr/>
        <p:txBody>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a firm in the value chain agriculture sector that produces strawberries. The production function for strawberries is given as follows: Q = 20√L, where Q is the quantity of strawberries produced and L is the amount of labor input.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quantity of strawberries produced when the firm employs 25 units of labor.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3087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84E9-D757-42F6-319C-3EAD783CEB90}"/>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2: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BA5FCB7-64E3-FC4B-0696-DA73B2BFCA0C}"/>
              </a:ext>
            </a:extLst>
          </p:cNvPr>
          <p:cNvSpPr>
            <a:spLocks noGrp="1"/>
          </p:cNvSpPr>
          <p:nvPr>
            <p:ph idx="1"/>
          </p:nvPr>
        </p:nvSpPr>
        <p:spPr/>
        <p:txBody>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total cost (TC) function for the strawberry firm is given by: TC = 5L + 100, where L is the amount of labor input.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total cost of producing strawberries when the firm employs 30 units of labor.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06221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36A9-D2F2-7406-2E6E-3F1844563293}"/>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3: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A4D5012-1619-37E3-E2EA-348C8A41C24F}"/>
              </a:ext>
            </a:extLst>
          </p:cNvPr>
          <p:cNvSpPr>
            <a:spLocks noGrp="1"/>
          </p:cNvSpPr>
          <p:nvPr>
            <p:ph idx="1"/>
          </p:nvPr>
        </p:nvSpPr>
        <p:spPr/>
        <p:txBody>
          <a:bodyPr/>
          <a:lstStyle/>
          <a:p>
            <a:pPr marL="0" marR="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price of strawberries is MWK8 per unit, and the firm's total revenue (TR) function is given by: TR = 8Q, where Q is the quantity of strawberries produced.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total revenue when the firm produces 50 units of strawberries.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29476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7B859-A7C4-F2F8-C408-3E16C07507A6}"/>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4: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284E4FE-D185-573B-DE47-28BE9DFCFBFD}"/>
              </a:ext>
            </a:extLst>
          </p:cNvPr>
          <p:cNvSpPr>
            <a:spLocks noGrp="1"/>
          </p:cNvSpPr>
          <p:nvPr>
            <p:ph idx="1"/>
          </p:nvPr>
        </p:nvSpPr>
        <p:spPr/>
        <p:txBody>
          <a:bodyPr/>
          <a:lstStyle/>
          <a:p>
            <a:pPr marL="0" indent="0">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Using the information from Exercises 2 and 3, calculate the profit (π) earned by the firm when it employs 30 units of labor and produces 50 units of strawberries.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842279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98553-FE34-387E-C964-9A922191536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5: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5CEE2E3-BDC5-AB78-6523-ACD0EDE43478}"/>
              </a:ext>
            </a:extLst>
          </p:cNvPr>
          <p:cNvSpPr>
            <a:spLocks noGrp="1"/>
          </p:cNvSpPr>
          <p:nvPr>
            <p:ph idx="1"/>
          </p:nvPr>
        </p:nvSpPr>
        <p:spPr>
          <a:xfrm>
            <a:off x="838200" y="1789999"/>
            <a:ext cx="10515600" cy="4351338"/>
          </a:xfrm>
        </p:spPr>
        <p:txBody>
          <a:bodyPr>
            <a:normAutofit/>
          </a:bodyPr>
          <a:lstStyle/>
          <a:p>
            <a:pPr marL="0" indent="0">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 strawberry producer faces the following cost schedule:</a:t>
            </a:r>
          </a:p>
          <a:p>
            <a:pPr marL="0" indent="0">
              <a:buNone/>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i="1" kern="100" dirty="0">
              <a:latin typeface="Century Gothic" panose="020B050202020202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firm's average cost (AC) at each quantity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marR="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Calculate the firm's marginal cost (MC) at each quantity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graphicFrame>
        <p:nvGraphicFramePr>
          <p:cNvPr id="6" name="Table 5">
            <a:extLst>
              <a:ext uri="{FF2B5EF4-FFF2-40B4-BE49-F238E27FC236}">
                <a16:creationId xmlns:a16="http://schemas.microsoft.com/office/drawing/2014/main" id="{4010C00D-1C6F-1B16-77DB-E0E6C3E0C155}"/>
              </a:ext>
            </a:extLst>
          </p:cNvPr>
          <p:cNvGraphicFramePr>
            <a:graphicFrameLocks noGrp="1"/>
          </p:cNvGraphicFramePr>
          <p:nvPr>
            <p:extLst/>
          </p:nvPr>
        </p:nvGraphicFramePr>
        <p:xfrm>
          <a:off x="1318161" y="2660073"/>
          <a:ext cx="8802584" cy="1745672"/>
        </p:xfrm>
        <a:graphic>
          <a:graphicData uri="http://schemas.openxmlformats.org/drawingml/2006/table">
            <a:tbl>
              <a:tblPr firstRow="1" firstCol="1" bandRow="1"/>
              <a:tblGrid>
                <a:gridCol w="4401292">
                  <a:extLst>
                    <a:ext uri="{9D8B030D-6E8A-4147-A177-3AD203B41FA5}">
                      <a16:colId xmlns:a16="http://schemas.microsoft.com/office/drawing/2014/main" val="397098466"/>
                    </a:ext>
                  </a:extLst>
                </a:gridCol>
                <a:gridCol w="4401292">
                  <a:extLst>
                    <a:ext uri="{9D8B030D-6E8A-4147-A177-3AD203B41FA5}">
                      <a16:colId xmlns:a16="http://schemas.microsoft.com/office/drawing/2014/main" val="2612755086"/>
                    </a:ext>
                  </a:extLst>
                </a:gridCol>
              </a:tblGrid>
              <a:tr h="249116">
                <a:tc>
                  <a:txBody>
                    <a:bodyPr/>
                    <a:lstStyle/>
                    <a:p>
                      <a:pPr marL="0" marR="0" algn="just">
                        <a:lnSpc>
                          <a:spcPct val="107000"/>
                        </a:lnSpc>
                        <a:spcBef>
                          <a:spcPts val="0"/>
                        </a:spcBef>
                        <a:spcAft>
                          <a:spcPts val="800"/>
                        </a:spcAft>
                      </a:pPr>
                      <a:r>
                        <a:rPr lang="en-US" sz="1200" b="1"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Quantity (Q)</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b="1"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Total Cost (TC)(MWK)</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1259286045"/>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50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1051246234"/>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10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120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3293166354"/>
                  </a:ext>
                </a:extLst>
              </a:tr>
              <a:tr h="249426">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20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190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2800086750"/>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30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260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4222990356"/>
                  </a:ext>
                </a:extLst>
              </a:tr>
              <a:tr h="249426">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40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330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2659773910"/>
                  </a:ext>
                </a:extLst>
              </a:tr>
              <a:tr h="249426">
                <a:tc>
                  <a:txBody>
                    <a:bodyPr/>
                    <a:lstStyle/>
                    <a:p>
                      <a:pPr marL="0" marR="0" algn="just">
                        <a:lnSpc>
                          <a:spcPct val="107000"/>
                        </a:lnSpc>
                        <a:spcBef>
                          <a:spcPts val="0"/>
                        </a:spcBef>
                        <a:spcAft>
                          <a:spcPts val="800"/>
                        </a:spcAft>
                      </a:pPr>
                      <a:r>
                        <a:rPr lang="en-US" sz="1200" i="1" kern="10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50</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800"/>
                        </a:spcAft>
                      </a:pPr>
                      <a:r>
                        <a:rPr lang="en-US" sz="1200" i="1" kern="100" dirty="0">
                          <a:solidFill>
                            <a:srgbClr val="000000"/>
                          </a:solidFill>
                          <a:effectLst/>
                          <a:latin typeface="Century Gothic" panose="020B0502020202020204" pitchFamily="34" charset="0"/>
                          <a:ea typeface="Calibri" panose="020F0502020204030204" pitchFamily="34" charset="0"/>
                          <a:cs typeface="Times New Roman" panose="02020603050405020304" pitchFamily="18" charset="0"/>
                        </a:rPr>
                        <a:t>400</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3580996580"/>
                  </a:ext>
                </a:extLst>
              </a:tr>
            </a:tbl>
          </a:graphicData>
        </a:graphic>
      </p:graphicFrame>
    </p:spTree>
    <p:extLst>
      <p:ext uri="{BB962C8B-B14F-4D97-AF65-F5344CB8AC3E}">
        <p14:creationId xmlns:p14="http://schemas.microsoft.com/office/powerpoint/2010/main" val="2811431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11AE5-CB24-ED45-3F66-9B4E73ABB6B8}"/>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The Tomato Industry in Malawi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4AE1D77-D8AF-43CF-3104-E52E31B48B04}"/>
              </a:ext>
            </a:extLst>
          </p:cNvPr>
          <p:cNvSpPr>
            <a:spLocks noGrp="1"/>
          </p:cNvSpPr>
          <p:nvPr>
            <p:ph idx="1"/>
          </p:nvPr>
        </p:nvSpPr>
        <p:spPr/>
        <p:txBody>
          <a:bodyPr>
            <a:normAutofit fontScale="92500" lnSpcReduction="20000"/>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tomato industry in Malawi consists of small-scale farmers who grow tomatoes for both local consumption and export. The market for tomatoes is competitive, with many farmers producing similar quality tomatoes. However, some farmers face higher production costs due to limited access to resources like irrigation and fertilizers.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market structure of the tomato industry in Malawi. What are the characteristics of a competitive market, and how do they apply to this industry?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factors that influence the supply decisions of tomato farmers. How do input prices and output prices affect their production choices?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514350" indent="-514350" algn="just">
              <a:lnSpc>
                <a:spcPct val="107000"/>
              </a:lnSpc>
              <a:spcBef>
                <a:spcPts val="0"/>
              </a:spcBef>
              <a:spcAft>
                <a:spcPts val="800"/>
              </a:spcAft>
              <a:buFont typeface="+mj-lt"/>
              <a:buAutoNum type="arabicPeriod"/>
            </a:pPr>
            <a:r>
              <a:rPr lang="en-US" i="1" kern="100" dirty="0">
                <a:latin typeface="Century Gothic" panose="020B0502020202020204" pitchFamily="34" charset="0"/>
                <a:ea typeface="Calibri" panose="020F0502020204030204" pitchFamily="34" charset="0"/>
                <a:cs typeface="Times New Roman" panose="02020603050405020304" pitchFamily="18" charset="0"/>
              </a:rPr>
              <a:t>How can farmers optimize their profits in the tomato industry? Explain the concept of profit maximization and how it is applied in the context of tomato production.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561267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0</TotalTime>
  <Words>794</Words>
  <Application>Microsoft Office PowerPoint</Application>
  <PresentationFormat>Widescreen</PresentationFormat>
  <Paragraphs>84</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Times New Roman</vt:lpstr>
      <vt:lpstr>Wingdings 3</vt:lpstr>
      <vt:lpstr>Ion</vt:lpstr>
      <vt:lpstr>PowerPoint Presentation</vt:lpstr>
      <vt:lpstr>Lecture 8:   Producer Choice: Firm and Market Supply</vt:lpstr>
      <vt:lpstr>Overview of Producer Behavior  </vt:lpstr>
      <vt:lpstr>Cost Curves  </vt:lpstr>
      <vt:lpstr>Total Revenue (TR) and Total Cost (TC)  </vt:lpstr>
      <vt:lpstr>Revenue  </vt:lpstr>
      <vt:lpstr>Cost Curves  </vt:lpstr>
      <vt:lpstr>Profit Calculation  </vt:lpstr>
      <vt:lpstr>Profit Maximization and Optimization  </vt:lpstr>
      <vt:lpstr>Production Functions  </vt:lpstr>
      <vt:lpstr>Derivation of Firm and Market Supply Curves  </vt:lpstr>
      <vt:lpstr>Relationship with Input and Output Prices  </vt:lpstr>
      <vt:lpstr>Exercise 1:  </vt:lpstr>
      <vt:lpstr>Exercise 2:  </vt:lpstr>
      <vt:lpstr>Exercise 3:  </vt:lpstr>
      <vt:lpstr>Exercise 4:  </vt:lpstr>
      <vt:lpstr>Exercise 5:  </vt:lpstr>
      <vt:lpstr>Case Study: The Tomato Industry in Malawi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cp:revision>
  <dcterms:created xsi:type="dcterms:W3CDTF">2025-01-24T02:18:59Z</dcterms:created>
  <dcterms:modified xsi:type="dcterms:W3CDTF">2025-01-24T02:19:51Z</dcterms:modified>
</cp:coreProperties>
</file>