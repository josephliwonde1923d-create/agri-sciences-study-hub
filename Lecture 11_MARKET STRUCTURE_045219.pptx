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307" r:id="rId3"/>
    <p:sldId id="308" r:id="rId4"/>
    <p:sldId id="311" r:id="rId5"/>
    <p:sldId id="309" r:id="rId6"/>
    <p:sldId id="315" r:id="rId7"/>
    <p:sldId id="310" r:id="rId8"/>
    <p:sldId id="314" r:id="rId9"/>
    <p:sldId id="318" r:id="rId10"/>
    <p:sldId id="316" r:id="rId11"/>
    <p:sldId id="319" r:id="rId12"/>
    <p:sldId id="320" r:id="rId13"/>
    <p:sldId id="313" r:id="rId14"/>
    <p:sldId id="321" r:id="rId15"/>
    <p:sldId id="322" r:id="rId16"/>
    <p:sldId id="324" r:id="rId17"/>
    <p:sldId id="325" r:id="rId18"/>
    <p:sldId id="323" r:id="rId19"/>
    <p:sldId id="312" r:id="rId20"/>
    <p:sldId id="326" r:id="rId21"/>
    <p:sldId id="329" r:id="rId22"/>
    <p:sldId id="330" r:id="rId23"/>
    <p:sldId id="327" r:id="rId24"/>
    <p:sldId id="328" r:id="rId25"/>
    <p:sldId id="334" r:id="rId26"/>
    <p:sldId id="333" r:id="rId27"/>
    <p:sldId id="332" r:id="rId28"/>
    <p:sldId id="336" r:id="rId29"/>
    <p:sldId id="331" r:id="rId30"/>
    <p:sldId id="335" r:id="rId31"/>
    <p:sldId id="27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607" autoAdjust="0"/>
  </p:normalViewPr>
  <p:slideViewPr>
    <p:cSldViewPr snapToGrid="0">
      <p:cViewPr varScale="1">
        <p:scale>
          <a:sx n="68" d="100"/>
          <a:sy n="68" d="100"/>
        </p:scale>
        <p:origin x="804" y="60"/>
      </p:cViewPr>
      <p:guideLst/>
    </p:cSldViewPr>
  </p:slideViewPr>
  <p:notesTextViewPr>
    <p:cViewPr>
      <p:scale>
        <a:sx n="1" d="1"/>
        <a:sy n="1" d="1"/>
      </p:scale>
      <p:origin x="0" y="0"/>
    </p:cViewPr>
  </p:notesTextViewPr>
  <p:sorterViewPr>
    <p:cViewPr>
      <p:scale>
        <a:sx n="100" d="100"/>
        <a:sy n="100" d="100"/>
      </p:scale>
      <p:origin x="0" y="-562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62A97F-DA71-4A4D-9C28-C587DE5473D0}" type="datetimeFigureOut">
              <a:rPr lang="en-GB" smtClean="0"/>
              <a:t>19/02/2025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FDD0A3-F596-48D5-B070-5C73AD221693}" type="slidenum">
              <a:rPr lang="en-GB" smtClean="0"/>
              <a:t>‹#›</a:t>
            </a:fld>
            <a:endParaRPr lang="en-GB"/>
          </a:p>
        </p:txBody>
      </p:sp>
    </p:spTree>
    <p:extLst>
      <p:ext uri="{BB962C8B-B14F-4D97-AF65-F5344CB8AC3E}">
        <p14:creationId xmlns:p14="http://schemas.microsoft.com/office/powerpoint/2010/main" val="2405603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1</a:t>
            </a:fld>
            <a:endParaRPr lang="en-GB"/>
          </a:p>
        </p:txBody>
      </p:sp>
    </p:spTree>
    <p:extLst>
      <p:ext uri="{BB962C8B-B14F-4D97-AF65-F5344CB8AC3E}">
        <p14:creationId xmlns:p14="http://schemas.microsoft.com/office/powerpoint/2010/main" val="562867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Thus, a market place is thought to be a place consisting of a number of big and small shops, stalls and even hawkers selling various types of goods.</a:t>
            </a:r>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3</a:t>
            </a:fld>
            <a:endParaRPr lang="en-GB"/>
          </a:p>
        </p:txBody>
      </p:sp>
    </p:spTree>
    <p:extLst>
      <p:ext uri="{BB962C8B-B14F-4D97-AF65-F5344CB8AC3E}">
        <p14:creationId xmlns:p14="http://schemas.microsoft.com/office/powerpoint/2010/main" val="2727683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254BD-CC47-64D6-4C6D-3A850FBFB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B097C-51F7-BB82-11D7-BC14226D7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A785C-DA0F-D4C7-DC50-9846BA46736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F79ADC5-D4A1-57C8-63CD-A00C44532C78}"/>
              </a:ext>
            </a:extLst>
          </p:cNvPr>
          <p:cNvSpPr>
            <a:spLocks noGrp="1"/>
          </p:cNvSpPr>
          <p:nvPr>
            <p:ph type="sldNum" sz="quarter" idx="5"/>
          </p:nvPr>
        </p:nvSpPr>
        <p:spPr/>
        <p:txBody>
          <a:bodyPr/>
          <a:lstStyle/>
          <a:p>
            <a:fld id="{7CFDD0A3-F596-48D5-B070-5C73AD221693}" type="slidenum">
              <a:rPr lang="en-GB" smtClean="0"/>
              <a:t>4</a:t>
            </a:fld>
            <a:endParaRPr lang="en-GB"/>
          </a:p>
        </p:txBody>
      </p:sp>
    </p:spTree>
    <p:extLst>
      <p:ext uri="{BB962C8B-B14F-4D97-AF65-F5344CB8AC3E}">
        <p14:creationId xmlns:p14="http://schemas.microsoft.com/office/powerpoint/2010/main" val="3052346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Homogenous products: Products that identical in all respects, with no distinguishable differences in quality, features, or appearances.</a:t>
            </a:r>
          </a:p>
          <a:p>
            <a:endParaRPr lang="en-US" dirty="0"/>
          </a:p>
          <a:p>
            <a:r>
              <a:rPr lang="en-US" dirty="0"/>
              <a:t>Characteristics of homogenous products:</a:t>
            </a:r>
          </a:p>
          <a:p>
            <a:pPr marL="228600" indent="-228600">
              <a:buFont typeface="+mj-lt"/>
              <a:buAutoNum type="arabicPeriod"/>
            </a:pPr>
            <a:r>
              <a:rPr lang="en-US" dirty="0"/>
              <a:t>Perfect substitutes for one another.</a:t>
            </a:r>
          </a:p>
          <a:p>
            <a:pPr marL="228600" indent="-228600">
              <a:buFont typeface="+mj-lt"/>
              <a:buAutoNum type="arabicPeriod"/>
            </a:pPr>
            <a:r>
              <a:rPr lang="en-US" dirty="0"/>
              <a:t>Price is the only determining factor for buyers</a:t>
            </a:r>
          </a:p>
          <a:p>
            <a:pPr marL="228600" indent="-228600">
              <a:buFont typeface="+mj-lt"/>
              <a:buAutoNum type="arabicPeriod"/>
            </a:pPr>
            <a:r>
              <a:rPr lang="en-US" dirty="0"/>
              <a:t>Producers compete mainly on prices</a:t>
            </a:r>
          </a:p>
          <a:p>
            <a:pPr marL="0" indent="0">
              <a:buFont typeface="+mj-lt"/>
              <a:buNone/>
            </a:pPr>
            <a:endParaRPr lang="en-US" dirty="0"/>
          </a:p>
          <a:p>
            <a:pPr marL="0" indent="0">
              <a:buFont typeface="+mj-lt"/>
              <a:buNone/>
            </a:pPr>
            <a:r>
              <a:rPr lang="en-US" dirty="0"/>
              <a:t>Examples: Basic commodities (sugar, salt), Raw materials (wheat, maize, )</a:t>
            </a:r>
          </a:p>
          <a:p>
            <a:pPr marL="0" indent="0">
              <a:buFont typeface="+mj-lt"/>
              <a:buNone/>
            </a:pPr>
            <a:endParaRPr lang="en-US" dirty="0"/>
          </a:p>
          <a:p>
            <a:pPr marL="0" indent="0">
              <a:buFont typeface="+mj-lt"/>
              <a:buNone/>
            </a:pPr>
            <a:r>
              <a:rPr lang="en-US" dirty="0"/>
              <a:t>*</a:t>
            </a:r>
            <a:r>
              <a:rPr lang="en-US" b="1" dirty="0"/>
              <a:t>Differentiated Products</a:t>
            </a:r>
            <a:r>
              <a:rPr lang="en-US" dirty="0"/>
              <a:t>: Products that are similar but have variations in quality, features, design, branding, or customer experience.</a:t>
            </a:r>
          </a:p>
          <a:p>
            <a:pPr marL="0" indent="0">
              <a:buFont typeface="+mj-lt"/>
              <a:buNone/>
            </a:pPr>
            <a:endParaRPr lang="en-US" dirty="0"/>
          </a:p>
          <a:p>
            <a:pPr marL="0" indent="0">
              <a:buFont typeface="+mj-lt"/>
              <a:buNone/>
            </a:pPr>
            <a:r>
              <a:rPr lang="en-US" dirty="0"/>
              <a:t>Characteristics</a:t>
            </a:r>
          </a:p>
          <a:p>
            <a:pPr marL="171450" indent="-171450">
              <a:buFont typeface="Arial" panose="020B0604020202020204" pitchFamily="34" charset="0"/>
              <a:buChar char="•"/>
            </a:pPr>
            <a:r>
              <a:rPr lang="en-US" dirty="0"/>
              <a:t>Not perfect substitutes</a:t>
            </a:r>
          </a:p>
          <a:p>
            <a:pPr marL="171450" indent="-171450">
              <a:buFont typeface="Arial" panose="020B0604020202020204" pitchFamily="34" charset="0"/>
              <a:buChar char="•"/>
            </a:pPr>
            <a:r>
              <a:rPr lang="en-US" dirty="0"/>
              <a:t>Producers compete for both price and non-price factors (advertising, packaging..)</a:t>
            </a:r>
          </a:p>
          <a:p>
            <a:pPr marL="171450" indent="-171450">
              <a:buFont typeface="Arial" panose="020B0604020202020204" pitchFamily="34" charset="0"/>
              <a:buChar char="•"/>
            </a:pPr>
            <a:r>
              <a:rPr lang="en-US" dirty="0"/>
              <a:t>Consumers may prefer one product over another based on attributes beyond price.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Examples: Smartphones, Cars, Soft drinks</a:t>
            </a:r>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6</a:t>
            </a:fld>
            <a:endParaRPr lang="en-GB"/>
          </a:p>
        </p:txBody>
      </p:sp>
    </p:spTree>
    <p:extLst>
      <p:ext uri="{BB962C8B-B14F-4D97-AF65-F5344CB8AC3E}">
        <p14:creationId xmlns:p14="http://schemas.microsoft.com/office/powerpoint/2010/main" val="1536078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Closest Example: Agricultural markets/Stock exchange market</a:t>
            </a:r>
          </a:p>
          <a:p>
            <a:r>
              <a:rPr lang="en-US" dirty="0"/>
              <a:t>But, Perfect Competition cannot be found in the real world.</a:t>
            </a:r>
          </a:p>
          <a:p>
            <a:endParaRPr lang="en-US" dirty="0"/>
          </a:p>
          <a:p>
            <a:r>
              <a:rPr lang="en-US" dirty="0"/>
              <a:t>The firm’s objective is to produce the level of output that will maximize profit</a:t>
            </a:r>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8</a:t>
            </a:fld>
            <a:endParaRPr lang="en-GB"/>
          </a:p>
        </p:txBody>
      </p:sp>
    </p:spTree>
    <p:extLst>
      <p:ext uri="{BB962C8B-B14F-4D97-AF65-F5344CB8AC3E}">
        <p14:creationId xmlns:p14="http://schemas.microsoft.com/office/powerpoint/2010/main" val="2301178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4A80-C52A-292D-B18F-CCB2E0AAF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FC7A5-1987-5F1E-A451-7BCFB7E9C3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3C927-99EA-2A03-016F-43DC1D0B41D1}"/>
              </a:ext>
            </a:extLst>
          </p:cNvPr>
          <p:cNvSpPr>
            <a:spLocks noGrp="1"/>
          </p:cNvSpPr>
          <p:nvPr>
            <p:ph type="body" idx="1"/>
          </p:nvPr>
        </p:nvSpPr>
        <p:spPr/>
        <p:txBody>
          <a:bodyPr/>
          <a:lstStyle/>
          <a:p>
            <a:r>
              <a:rPr lang="en-US" dirty="0"/>
              <a:t>There are no barriers to enter the market</a:t>
            </a:r>
          </a:p>
          <a:p>
            <a:r>
              <a:rPr lang="en-US" dirty="0"/>
              <a:t>Entry Barriers: Obstacles that make it difficult to enter an industry and compete with existing firms.</a:t>
            </a:r>
          </a:p>
          <a:p>
            <a:pPr marL="228600" indent="-228600">
              <a:buFont typeface="+mj-lt"/>
              <a:buAutoNum type="arabicPeriod"/>
            </a:pPr>
            <a:r>
              <a:rPr lang="en-US" dirty="0"/>
              <a:t>Economic barriers (High startup costs, economies of scale)</a:t>
            </a:r>
          </a:p>
          <a:p>
            <a:pPr marL="228600" indent="-228600">
              <a:buFont typeface="+mj-lt"/>
              <a:buAutoNum type="arabicPeriod"/>
            </a:pPr>
            <a:r>
              <a:rPr lang="en-US" dirty="0"/>
              <a:t>Legal and Regulatory barriers (Licensing requirements, patents and intellectual property)</a:t>
            </a:r>
          </a:p>
          <a:p>
            <a:pPr marL="228600" indent="-228600">
              <a:buFont typeface="+mj-lt"/>
              <a:buAutoNum type="arabicPeriod"/>
            </a:pPr>
            <a:r>
              <a:rPr lang="en-US" dirty="0"/>
              <a:t>Technological barriers (Access to advanced technology, Brand loyalty, network effects)</a:t>
            </a:r>
          </a:p>
          <a:p>
            <a:pPr marL="228600" indent="-228600">
              <a:buFont typeface="+mj-lt"/>
              <a:buAutoNum type="arabicPeriod"/>
            </a:pPr>
            <a:endParaRPr lang="en-US" dirty="0"/>
          </a:p>
          <a:p>
            <a:pPr marL="0" indent="0">
              <a:buFont typeface="+mj-lt"/>
              <a:buNone/>
            </a:pPr>
            <a:r>
              <a:rPr lang="en-US" dirty="0"/>
              <a:t>Exit Barriers: Challenges or costs that </a:t>
            </a:r>
            <a:r>
              <a:rPr lang="en-US" dirty="0" err="1"/>
              <a:t>frims</a:t>
            </a:r>
            <a:r>
              <a:rPr lang="en-US" dirty="0"/>
              <a:t> face when attempting to leave a market.</a:t>
            </a:r>
          </a:p>
          <a:p>
            <a:pPr marL="228600" indent="-228600">
              <a:buFont typeface="+mj-lt"/>
              <a:buAutoNum type="arabicPeriod"/>
            </a:pPr>
            <a:r>
              <a:rPr lang="en-US" dirty="0"/>
              <a:t>Sunk Costs: Irrecoverable investments in equipment, infrastructure, or research and </a:t>
            </a:r>
            <a:r>
              <a:rPr lang="en-US" dirty="0" err="1"/>
              <a:t>edevelopment</a:t>
            </a:r>
            <a:endParaRPr lang="en-US" dirty="0"/>
          </a:p>
          <a:p>
            <a:pPr marL="228600" indent="-228600">
              <a:buFont typeface="+mj-lt"/>
              <a:buAutoNum type="arabicPeriod"/>
            </a:pPr>
            <a:r>
              <a:rPr lang="en-US" dirty="0"/>
              <a:t>Contractual obligations</a:t>
            </a:r>
          </a:p>
          <a:p>
            <a:pPr marL="228600" indent="-228600">
              <a:buFont typeface="+mj-lt"/>
              <a:buAutoNum type="arabicPeriod"/>
            </a:pPr>
            <a:r>
              <a:rPr lang="en-US" dirty="0"/>
              <a:t>Legal and regulatory restrictions</a:t>
            </a:r>
          </a:p>
          <a:p>
            <a:pPr marL="228600" indent="-228600">
              <a:buFont typeface="+mj-lt"/>
              <a:buAutoNum type="arabicPeriod"/>
            </a:pPr>
            <a:r>
              <a:rPr lang="en-US" dirty="0"/>
              <a:t>Asset disposal issue</a:t>
            </a:r>
          </a:p>
          <a:p>
            <a:pPr marL="228600" indent="-228600">
              <a:buFont typeface="+mj-lt"/>
              <a:buAutoNum type="arabicPeriod"/>
            </a:pPr>
            <a:endParaRPr lang="en-GB" dirty="0"/>
          </a:p>
        </p:txBody>
      </p:sp>
      <p:sp>
        <p:nvSpPr>
          <p:cNvPr id="4" name="Slide Number Placeholder 3">
            <a:extLst>
              <a:ext uri="{FF2B5EF4-FFF2-40B4-BE49-F238E27FC236}">
                <a16:creationId xmlns:a16="http://schemas.microsoft.com/office/drawing/2014/main" id="{F4436362-C34B-23CA-C912-C4E2EBE6A4B7}"/>
              </a:ext>
            </a:extLst>
          </p:cNvPr>
          <p:cNvSpPr>
            <a:spLocks noGrp="1"/>
          </p:cNvSpPr>
          <p:nvPr>
            <p:ph type="sldNum" sz="quarter" idx="5"/>
          </p:nvPr>
        </p:nvSpPr>
        <p:spPr/>
        <p:txBody>
          <a:bodyPr/>
          <a:lstStyle/>
          <a:p>
            <a:fld id="{7CFDD0A3-F596-48D5-B070-5C73AD221693}" type="slidenum">
              <a:rPr lang="en-GB" smtClean="0"/>
              <a:t>9</a:t>
            </a:fld>
            <a:endParaRPr lang="en-GB"/>
          </a:p>
        </p:txBody>
      </p:sp>
    </p:spTree>
    <p:extLst>
      <p:ext uri="{BB962C8B-B14F-4D97-AF65-F5344CB8AC3E}">
        <p14:creationId xmlns:p14="http://schemas.microsoft.com/office/powerpoint/2010/main" val="1417570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4A9AE-1517-E3DC-215E-F992BD287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A2888-55A1-7F8F-0FAA-AADC15C65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5EF31-1CC5-3BED-A92E-77675A1916D9}"/>
              </a:ext>
            </a:extLst>
          </p:cNvPr>
          <p:cNvSpPr>
            <a:spLocks noGrp="1"/>
          </p:cNvSpPr>
          <p:nvPr>
            <p:ph type="body" idx="1"/>
          </p:nvPr>
        </p:nvSpPr>
        <p:spPr/>
        <p:txBody>
          <a:bodyPr/>
          <a:lstStyle/>
          <a:p>
            <a:r>
              <a:rPr lang="en-US" dirty="0"/>
              <a:t>Entry Barriers: Obstacles that make it difficult to enter an industry and compete with existing firms.</a:t>
            </a:r>
          </a:p>
          <a:p>
            <a:pPr marL="228600" indent="-228600">
              <a:buFont typeface="+mj-lt"/>
              <a:buAutoNum type="arabicPeriod"/>
            </a:pPr>
            <a:r>
              <a:rPr lang="en-US" dirty="0"/>
              <a:t>Economic barriers (High startup costs, economies of scale)</a:t>
            </a:r>
          </a:p>
          <a:p>
            <a:pPr marL="228600" indent="-228600">
              <a:buFont typeface="+mj-lt"/>
              <a:buAutoNum type="arabicPeriod"/>
            </a:pPr>
            <a:r>
              <a:rPr lang="en-US" dirty="0"/>
              <a:t>Legal and Regulatory barriers (Licensing requirements, patents and intellectual property)</a:t>
            </a:r>
          </a:p>
          <a:p>
            <a:pPr marL="228600" indent="-228600">
              <a:buFont typeface="+mj-lt"/>
              <a:buAutoNum type="arabicPeriod"/>
            </a:pPr>
            <a:r>
              <a:rPr lang="en-US" dirty="0"/>
              <a:t>Technological barriers (Access to advanced technology, Brand loyalty, network effects)</a:t>
            </a:r>
          </a:p>
          <a:p>
            <a:pPr marL="228600" indent="-228600">
              <a:buFont typeface="+mj-lt"/>
              <a:buAutoNum type="arabicPeriod"/>
            </a:pPr>
            <a:endParaRPr lang="en-US" dirty="0"/>
          </a:p>
          <a:p>
            <a:pPr marL="0" indent="0">
              <a:buFont typeface="+mj-lt"/>
              <a:buNone/>
            </a:pPr>
            <a:r>
              <a:rPr lang="en-US" dirty="0"/>
              <a:t>Exit Barriers: Challenges or costs that </a:t>
            </a:r>
            <a:r>
              <a:rPr lang="en-US" dirty="0" err="1"/>
              <a:t>frims</a:t>
            </a:r>
            <a:r>
              <a:rPr lang="en-US" dirty="0"/>
              <a:t> face when attempting to leave a market.</a:t>
            </a:r>
          </a:p>
          <a:p>
            <a:pPr marL="228600" indent="-228600">
              <a:buFont typeface="+mj-lt"/>
              <a:buAutoNum type="arabicPeriod"/>
            </a:pPr>
            <a:r>
              <a:rPr lang="en-US" dirty="0"/>
              <a:t>Sunk Costs: Irrecoverable investments in equipment, infrastructure, or research and </a:t>
            </a:r>
            <a:r>
              <a:rPr lang="en-US" dirty="0" err="1"/>
              <a:t>edevelopment</a:t>
            </a:r>
            <a:endParaRPr lang="en-US" dirty="0"/>
          </a:p>
          <a:p>
            <a:pPr marL="228600" indent="-228600">
              <a:buFont typeface="+mj-lt"/>
              <a:buAutoNum type="arabicPeriod"/>
            </a:pPr>
            <a:r>
              <a:rPr lang="en-US" dirty="0"/>
              <a:t>Contractual obligations</a:t>
            </a:r>
          </a:p>
          <a:p>
            <a:pPr marL="228600" indent="-228600">
              <a:buFont typeface="+mj-lt"/>
              <a:buAutoNum type="arabicPeriod"/>
            </a:pPr>
            <a:r>
              <a:rPr lang="en-US" dirty="0"/>
              <a:t>Legal and regulatory restrictions</a:t>
            </a:r>
          </a:p>
          <a:p>
            <a:pPr marL="228600" indent="-228600">
              <a:buFont typeface="+mj-lt"/>
              <a:buAutoNum type="arabicPeriod"/>
            </a:pPr>
            <a:r>
              <a:rPr lang="en-US" dirty="0"/>
              <a:t>Asset disposal issue</a:t>
            </a:r>
          </a:p>
          <a:p>
            <a:pPr marL="228600" indent="-228600">
              <a:buFont typeface="+mj-lt"/>
              <a:buAutoNum type="arabicPeriod"/>
            </a:pPr>
            <a:endParaRPr lang="en-GB" dirty="0"/>
          </a:p>
        </p:txBody>
      </p:sp>
      <p:sp>
        <p:nvSpPr>
          <p:cNvPr id="4" name="Slide Number Placeholder 3">
            <a:extLst>
              <a:ext uri="{FF2B5EF4-FFF2-40B4-BE49-F238E27FC236}">
                <a16:creationId xmlns:a16="http://schemas.microsoft.com/office/drawing/2014/main" id="{E809C36A-4218-FA98-D54E-CCB218539246}"/>
              </a:ext>
            </a:extLst>
          </p:cNvPr>
          <p:cNvSpPr>
            <a:spLocks noGrp="1"/>
          </p:cNvSpPr>
          <p:nvPr>
            <p:ph type="sldNum" sz="quarter" idx="5"/>
          </p:nvPr>
        </p:nvSpPr>
        <p:spPr/>
        <p:txBody>
          <a:bodyPr/>
          <a:lstStyle/>
          <a:p>
            <a:fld id="{7CFDD0A3-F596-48D5-B070-5C73AD221693}" type="slidenum">
              <a:rPr lang="en-GB" smtClean="0"/>
              <a:t>10</a:t>
            </a:fld>
            <a:endParaRPr lang="en-GB"/>
          </a:p>
        </p:txBody>
      </p:sp>
    </p:spTree>
    <p:extLst>
      <p:ext uri="{BB962C8B-B14F-4D97-AF65-F5344CB8AC3E}">
        <p14:creationId xmlns:p14="http://schemas.microsoft.com/office/powerpoint/2010/main" val="2283153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demand curve facing the individual firm in a perfectly competitive market is horizontal at the level of market price set by the industry and the firms have the freedom of choosing the level of output which yields maximum profit. </a:t>
            </a:r>
          </a:p>
          <a:p>
            <a:pPr marL="171450" indent="-171450">
              <a:buFont typeface="Arial" panose="020B0604020202020204" pitchFamily="34" charset="0"/>
              <a:buChar char="•"/>
            </a:pPr>
            <a:r>
              <a:rPr lang="en-US" dirty="0"/>
              <a:t>Normal supply and demand</a:t>
            </a:r>
          </a:p>
          <a:p>
            <a:pPr marL="171450" indent="-171450">
              <a:buFont typeface="Arial" panose="020B0604020202020204" pitchFamily="34" charset="0"/>
              <a:buChar char="•"/>
            </a:pPr>
            <a:r>
              <a:rPr lang="en-US" dirty="0"/>
              <a:t>More supply at higher price</a:t>
            </a:r>
          </a:p>
          <a:p>
            <a:pPr marL="171450" indent="-171450">
              <a:buFont typeface="Arial" panose="020B0604020202020204" pitchFamily="34" charset="0"/>
              <a:buChar char="•"/>
            </a:pPr>
            <a:r>
              <a:rPr lang="en-US" dirty="0"/>
              <a:t>Firms are price takers</a:t>
            </a:r>
          </a:p>
          <a:p>
            <a:pPr marL="0" indent="0">
              <a:buFont typeface="Arial" panose="020B0604020202020204" pitchFamily="34" charset="0"/>
              <a:buNone/>
            </a:pPr>
            <a:endParaRPr lang="en-US" dirty="0"/>
          </a:p>
          <a:p>
            <a:pPr marL="0" indent="0">
              <a:buFont typeface="Arial" panose="020B0604020202020204" pitchFamily="34" charset="0"/>
              <a:buNone/>
            </a:pPr>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11</a:t>
            </a:fld>
            <a:endParaRPr lang="en-GB"/>
          </a:p>
        </p:txBody>
      </p:sp>
    </p:spTree>
    <p:extLst>
      <p:ext uri="{BB962C8B-B14F-4D97-AF65-F5344CB8AC3E}">
        <p14:creationId xmlns:p14="http://schemas.microsoft.com/office/powerpoint/2010/main" val="726927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Economies of scale</a:t>
            </a:r>
          </a:p>
          <a:p>
            <a:pPr marL="171450" indent="-171450">
              <a:buFont typeface="Arial" panose="020B0604020202020204" pitchFamily="34" charset="0"/>
              <a:buChar char="•"/>
            </a:pPr>
            <a:r>
              <a:rPr lang="en-US" dirty="0"/>
              <a:t>Refer to the cost advantages that a business experiences as it increases production.</a:t>
            </a:r>
          </a:p>
          <a:p>
            <a:pPr marL="171450" indent="-171450">
              <a:buFont typeface="Arial" panose="020B0604020202020204" pitchFamily="34" charset="0"/>
              <a:buChar char="•"/>
            </a:pPr>
            <a:r>
              <a:rPr lang="en-US" dirty="0"/>
              <a:t>As the scale of production grows, the average cost per unit of output decreases.</a:t>
            </a:r>
          </a:p>
          <a:p>
            <a:pPr marL="171450" indent="-171450">
              <a:buFont typeface="Arial" panose="020B0604020202020204" pitchFamily="34" charset="0"/>
              <a:buChar char="•"/>
            </a:pPr>
            <a:r>
              <a:rPr lang="en-US" dirty="0"/>
              <a:t>This happens because fixed costs are spread over more units, operational efficiencies improve, and bulk purchasing reduces input costs.</a:t>
            </a:r>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14</a:t>
            </a:fld>
            <a:endParaRPr lang="en-GB"/>
          </a:p>
        </p:txBody>
      </p:sp>
    </p:spTree>
    <p:extLst>
      <p:ext uri="{BB962C8B-B14F-4D97-AF65-F5344CB8AC3E}">
        <p14:creationId xmlns:p14="http://schemas.microsoft.com/office/powerpoint/2010/main" val="3551823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Monopolies are classified according to circumstances they arise from, that is, cost structure of the industry, possibly the result of law, or by other means</a:t>
            </a:r>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15</a:t>
            </a:fld>
            <a:endParaRPr lang="en-GB"/>
          </a:p>
        </p:txBody>
      </p:sp>
    </p:spTree>
    <p:extLst>
      <p:ext uri="{BB962C8B-B14F-4D97-AF65-F5344CB8AC3E}">
        <p14:creationId xmlns:p14="http://schemas.microsoft.com/office/powerpoint/2010/main" val="2435691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substitutes?: Goods that serve a similar purpose and can replace each other, but they are not identical.</a:t>
            </a:r>
          </a:p>
          <a:p>
            <a:endParaRPr lang="en-US" dirty="0"/>
          </a:p>
          <a:p>
            <a:r>
              <a:rPr lang="en-US" dirty="0"/>
              <a:t>Consumers may switch between them based on price, quality, brand preference </a:t>
            </a:r>
            <a:r>
              <a:rPr lang="en-US" dirty="0" err="1"/>
              <a:t>etc</a:t>
            </a:r>
            <a:r>
              <a:rPr lang="en-US" dirty="0"/>
              <a:t>……EXAMPLE: Tea &amp; Coffee, </a:t>
            </a:r>
            <a:r>
              <a:rPr lang="en-US" dirty="0" err="1"/>
              <a:t>Cocacola</a:t>
            </a:r>
            <a:r>
              <a:rPr lang="en-US" dirty="0"/>
              <a:t> &amp; Pepsi, </a:t>
            </a:r>
          </a:p>
          <a:p>
            <a:endParaRPr lang="en-US" dirty="0"/>
          </a:p>
          <a:p>
            <a:r>
              <a:rPr lang="en-US" dirty="0"/>
              <a:t>Perfect substitutes: Goods/ services that can be used in place of each other with no difference in consumer preference….EXAMPLE: Bottled water of identical price and quality, Different brands of Salt/</a:t>
            </a:r>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16</a:t>
            </a:fld>
            <a:endParaRPr lang="en-GB"/>
          </a:p>
        </p:txBody>
      </p:sp>
    </p:spTree>
    <p:extLst>
      <p:ext uri="{BB962C8B-B14F-4D97-AF65-F5344CB8AC3E}">
        <p14:creationId xmlns:p14="http://schemas.microsoft.com/office/powerpoint/2010/main" val="3181548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MR is the marginal revenue curve.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MC-: Refers to thee additional costs incurred when producing one more unit of a good/service…..calculated as MC=Change in TC/Change in quantity produced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MR-: The additional revenue earned from selling one more unit of a good or service……calculated </a:t>
            </a:r>
            <a:r>
              <a:rPr lang="en-US" dirty="0" err="1"/>
              <a:t>ast</a:t>
            </a:r>
            <a:r>
              <a:rPr lang="en-US" dirty="0"/>
              <a:t> change in TC/Change in quantity sold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 revenue curve of the monopolist is a downward sloping curve if a monopolist wants to sell more he has to reduce the price of his product.</a:t>
            </a:r>
          </a:p>
          <a:p>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17</a:t>
            </a:fld>
            <a:endParaRPr lang="en-GB"/>
          </a:p>
        </p:txBody>
      </p:sp>
    </p:spTree>
    <p:extLst>
      <p:ext uri="{BB962C8B-B14F-4D97-AF65-F5344CB8AC3E}">
        <p14:creationId xmlns:p14="http://schemas.microsoft.com/office/powerpoint/2010/main" val="302122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23</a:t>
            </a:fld>
            <a:endParaRPr lang="en-GB"/>
          </a:p>
        </p:txBody>
      </p:sp>
    </p:spTree>
    <p:extLst>
      <p:ext uri="{BB962C8B-B14F-4D97-AF65-F5344CB8AC3E}">
        <p14:creationId xmlns:p14="http://schemas.microsoft.com/office/powerpoint/2010/main" val="3247000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FDD0A3-F596-48D5-B070-5C73AD221693}" type="slidenum">
              <a:rPr lang="en-GB" smtClean="0"/>
              <a:t>27</a:t>
            </a:fld>
            <a:endParaRPr lang="en-GB"/>
          </a:p>
        </p:txBody>
      </p:sp>
    </p:spTree>
    <p:extLst>
      <p:ext uri="{BB962C8B-B14F-4D97-AF65-F5344CB8AC3E}">
        <p14:creationId xmlns:p14="http://schemas.microsoft.com/office/powerpoint/2010/main" val="2492120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3530-7D23-BEEA-BA2F-04BEE6D32316}"/>
              </a:ext>
            </a:extLst>
          </p:cNvPr>
          <p:cNvSpPr>
            <a:spLocks noGrp="1"/>
          </p:cNvSpPr>
          <p:nvPr>
            <p:ph type="ctrTitle"/>
          </p:nvPr>
        </p:nvSpPr>
        <p:spPr>
          <a:xfrm>
            <a:off x="1524000" y="1122363"/>
            <a:ext cx="9144000" cy="2387600"/>
          </a:xfrm>
        </p:spPr>
        <p:txBody>
          <a:bodyPr anchor="b"/>
          <a:lstStyle>
            <a:lvl1pPr algn="ctr">
              <a:defRPr sz="6000"/>
            </a:lvl1pPr>
          </a:lstStyle>
          <a:p>
            <a:r>
              <a:rPr lang="en-GB" dirty="0"/>
              <a:t>Click to edit Master title style</a:t>
            </a:r>
          </a:p>
        </p:txBody>
      </p:sp>
      <p:sp>
        <p:nvSpPr>
          <p:cNvPr id="3" name="Subtitle 2">
            <a:extLst>
              <a:ext uri="{FF2B5EF4-FFF2-40B4-BE49-F238E27FC236}">
                <a16:creationId xmlns:a16="http://schemas.microsoft.com/office/drawing/2014/main" id="{272B56E5-9B19-076D-0C25-07DF1DE39C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p>
        </p:txBody>
      </p:sp>
      <p:sp>
        <p:nvSpPr>
          <p:cNvPr id="4" name="Date Placeholder 3">
            <a:extLst>
              <a:ext uri="{FF2B5EF4-FFF2-40B4-BE49-F238E27FC236}">
                <a16:creationId xmlns:a16="http://schemas.microsoft.com/office/drawing/2014/main" id="{B7FD2858-CA06-1A50-4231-3FB6BB58C2B8}"/>
              </a:ext>
            </a:extLst>
          </p:cNvPr>
          <p:cNvSpPr>
            <a:spLocks noGrp="1"/>
          </p:cNvSpPr>
          <p:nvPr>
            <p:ph type="dt" sz="half" idx="10"/>
          </p:nvPr>
        </p:nvSpPr>
        <p:spPr/>
        <p:txBody>
          <a:bodyPr/>
          <a:lstStyle/>
          <a:p>
            <a:fld id="{74B65634-E7F2-4B79-ADE3-54B65D151AE2}" type="datetimeFigureOut">
              <a:rPr lang="en-GB" smtClean="0"/>
              <a:t>19/02/2025</a:t>
            </a:fld>
            <a:endParaRPr lang="en-GB" dirty="0"/>
          </a:p>
        </p:txBody>
      </p:sp>
      <p:sp>
        <p:nvSpPr>
          <p:cNvPr id="5" name="Footer Placeholder 4">
            <a:extLst>
              <a:ext uri="{FF2B5EF4-FFF2-40B4-BE49-F238E27FC236}">
                <a16:creationId xmlns:a16="http://schemas.microsoft.com/office/drawing/2014/main" id="{50552A09-E5DA-79BB-521F-3576381333F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C3CF3B6-3998-4341-1596-0628CF1951F5}"/>
              </a:ext>
            </a:extLst>
          </p:cNvPr>
          <p:cNvSpPr>
            <a:spLocks noGrp="1"/>
          </p:cNvSpPr>
          <p:nvPr>
            <p:ph type="sldNum" sz="quarter" idx="12"/>
          </p:nvPr>
        </p:nvSpPr>
        <p:spPr/>
        <p:txBody>
          <a:bodyPr/>
          <a:lstStyle/>
          <a:p>
            <a:fld id="{A8887EB9-1380-49EB-B092-90CE7A44B704}" type="slidenum">
              <a:rPr lang="en-GB" smtClean="0"/>
              <a:t>‹#›</a:t>
            </a:fld>
            <a:endParaRPr lang="en-GB" dirty="0"/>
          </a:p>
        </p:txBody>
      </p:sp>
    </p:spTree>
    <p:extLst>
      <p:ext uri="{BB962C8B-B14F-4D97-AF65-F5344CB8AC3E}">
        <p14:creationId xmlns:p14="http://schemas.microsoft.com/office/powerpoint/2010/main" val="1784985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9FD0E-0F14-B887-E53C-4129616D9B6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1127298-3E99-A17A-A7B8-F9AF166CA74F}"/>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4" name="Footer Placeholder 3">
            <a:extLst>
              <a:ext uri="{FF2B5EF4-FFF2-40B4-BE49-F238E27FC236}">
                <a16:creationId xmlns:a16="http://schemas.microsoft.com/office/drawing/2014/main" id="{826176FE-7044-7C49-7953-A3BDD32DC12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3D003F2-4F19-ABF5-5B8F-911EB7070E80}"/>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1941678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58915-99AB-87DC-4FD5-3B4770DB84F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FA812E0-885C-E943-2369-F4DF5AB85542}"/>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4" name="Footer Placeholder 3">
            <a:extLst>
              <a:ext uri="{FF2B5EF4-FFF2-40B4-BE49-F238E27FC236}">
                <a16:creationId xmlns:a16="http://schemas.microsoft.com/office/drawing/2014/main" id="{D65B9AD0-41DA-C20C-390C-E9D96E5F5DB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996EE8E-2A9E-9B77-8267-2C45318781F7}"/>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201202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597E6-1338-1BA7-15D3-9998D11653F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9578BB8-90EA-7781-A412-0D56D504282E}"/>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4" name="Footer Placeholder 3">
            <a:extLst>
              <a:ext uri="{FF2B5EF4-FFF2-40B4-BE49-F238E27FC236}">
                <a16:creationId xmlns:a16="http://schemas.microsoft.com/office/drawing/2014/main" id="{6AE158FB-33EE-15A3-B138-87130D6CA9F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BBD52A9-E1B0-B143-BF0C-1D364687077A}"/>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120705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9EB56-E07B-EC87-FE53-A3170644D56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92ED72C-9742-CFA0-7BFB-FF8ED1E3C52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EEC8FAA-014C-BF9B-4A0C-78DA4E588139}"/>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5" name="Footer Placeholder 4">
            <a:extLst>
              <a:ext uri="{FF2B5EF4-FFF2-40B4-BE49-F238E27FC236}">
                <a16:creationId xmlns:a16="http://schemas.microsoft.com/office/drawing/2014/main" id="{C60C9A2F-A7DF-9A37-32E2-AFBFBDDD1F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74E6C4-47B4-28FB-758B-19307DB4923A}"/>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3724603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E5EF-7F3D-C1F4-6A45-87D432E40A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3C147C82-C0D1-6D5F-7EA8-F165EC990F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64C5FDF-8B35-4475-0D29-9F96ED87D73B}"/>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5" name="Footer Placeholder 4">
            <a:extLst>
              <a:ext uri="{FF2B5EF4-FFF2-40B4-BE49-F238E27FC236}">
                <a16:creationId xmlns:a16="http://schemas.microsoft.com/office/drawing/2014/main" id="{E70458A4-3892-94F0-CEA6-4C6F5000C0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3C86A5-EB7A-DAF7-BF7E-31A5465C409F}"/>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4197412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9B431-A545-F306-B991-91E4AE1B850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F603208-394D-D5BA-596C-13B03C57C13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F279550-4603-49B3-F0E8-5F4C37461A2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10CE125-6EB1-461B-E785-5507A0046F83}"/>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6" name="Footer Placeholder 5">
            <a:extLst>
              <a:ext uri="{FF2B5EF4-FFF2-40B4-BE49-F238E27FC236}">
                <a16:creationId xmlns:a16="http://schemas.microsoft.com/office/drawing/2014/main" id="{6D9D807B-151F-D2D1-2BF8-5CBFAFFBFE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76F2E77-06E9-8055-5DF5-57840F7C9EF6}"/>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960572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0DA45-141E-67BF-A5A3-34B78CEAFD9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B3E49E1A-599F-71D8-B6DF-7344B8DF56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9F51D54-1E26-6A3E-60D7-1A347387C27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4316B683-311D-48DB-FC90-BD5CBB1C7C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3EBD36D-E764-5531-86CE-970BBF1EC31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520D255F-F18B-E71C-18FF-E44258F96CFD}"/>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8" name="Footer Placeholder 7">
            <a:extLst>
              <a:ext uri="{FF2B5EF4-FFF2-40B4-BE49-F238E27FC236}">
                <a16:creationId xmlns:a16="http://schemas.microsoft.com/office/drawing/2014/main" id="{86593BA3-8C6F-3B4C-A6EB-28FCCFA4F89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0898BA9-DBA1-FF50-F58D-6D81E45B2B11}"/>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2545360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BD997-A492-C790-77A8-9B78F887A2F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2D22A75-BEDA-64FA-62A0-12B8FED2EFB9}"/>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4" name="Footer Placeholder 3">
            <a:extLst>
              <a:ext uri="{FF2B5EF4-FFF2-40B4-BE49-F238E27FC236}">
                <a16:creationId xmlns:a16="http://schemas.microsoft.com/office/drawing/2014/main" id="{27ADC91F-0BFB-DF22-6EC8-3A4F8169287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73B2370-0751-2603-5BE8-E2961EE347AE}"/>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1833098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47083E-CE04-2808-2B8A-16FBACA4751E}"/>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3" name="Footer Placeholder 2">
            <a:extLst>
              <a:ext uri="{FF2B5EF4-FFF2-40B4-BE49-F238E27FC236}">
                <a16:creationId xmlns:a16="http://schemas.microsoft.com/office/drawing/2014/main" id="{6CCAEA34-DF82-6031-83A4-CC89DB0821D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B9EDCB1-4561-C6F5-B171-73B2A60B33B2}"/>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2746162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2ADE3-7AD7-F85E-ED8B-84F4976E725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6425DA2-DD3A-B265-C43B-E51C9CB8A3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A95F599-5BAA-1DED-D6E5-F485F041E8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1D0049A-EADE-A12B-D53B-8535FB3A2825}"/>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6" name="Footer Placeholder 5">
            <a:extLst>
              <a:ext uri="{FF2B5EF4-FFF2-40B4-BE49-F238E27FC236}">
                <a16:creationId xmlns:a16="http://schemas.microsoft.com/office/drawing/2014/main" id="{32D9A1A7-37F2-2D1C-4B8C-232004BEC7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9062544-9B10-08C2-E8BF-31D6102D2685}"/>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1263969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33B37-95F3-BBD8-CB70-88B53695231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7BA0F1C9-1BA0-D53C-218A-8914301A3F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531396B-6F9A-2BA5-CDF5-556E1CE66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D2C4B53-B0F1-4EDF-2EE6-5F96F70FE0B5}"/>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6" name="Footer Placeholder 5">
            <a:extLst>
              <a:ext uri="{FF2B5EF4-FFF2-40B4-BE49-F238E27FC236}">
                <a16:creationId xmlns:a16="http://schemas.microsoft.com/office/drawing/2014/main" id="{48CBF567-C3DA-E921-C13A-3DA2A780FFF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B519FF9-3A8E-15D1-8F4D-F8AB773B7103}"/>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1191049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AF147-0067-EA6C-C197-39A937128B2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7098436-A9DE-AA58-058F-278617BA065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5AC73AB-94E0-9AAD-4976-44825AD94DB3}"/>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5" name="Footer Placeholder 4">
            <a:extLst>
              <a:ext uri="{FF2B5EF4-FFF2-40B4-BE49-F238E27FC236}">
                <a16:creationId xmlns:a16="http://schemas.microsoft.com/office/drawing/2014/main" id="{D6D1A3C5-0A76-8B8A-365C-32BA3BCB6F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AC5FF7-EB84-7DC1-10BC-618D3BC2CAE2}"/>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1883830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49176F-E206-64E2-88AE-36B303F844B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472C57A3-59C8-6A31-67AB-8B537D7A709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B58A3BA-86F5-6FB4-6206-45723B69E457}"/>
              </a:ext>
            </a:extLst>
          </p:cNvPr>
          <p:cNvSpPr>
            <a:spLocks noGrp="1"/>
          </p:cNvSpPr>
          <p:nvPr>
            <p:ph type="dt" sz="half" idx="10"/>
          </p:nvPr>
        </p:nvSpPr>
        <p:spPr/>
        <p:txBody>
          <a:bodyPr/>
          <a:lstStyle/>
          <a:p>
            <a:fld id="{74B65634-E7F2-4B79-ADE3-54B65D151AE2}" type="datetimeFigureOut">
              <a:rPr lang="en-GB" smtClean="0"/>
              <a:t>19/02/2025</a:t>
            </a:fld>
            <a:endParaRPr lang="en-GB"/>
          </a:p>
        </p:txBody>
      </p:sp>
      <p:sp>
        <p:nvSpPr>
          <p:cNvPr id="5" name="Footer Placeholder 4">
            <a:extLst>
              <a:ext uri="{FF2B5EF4-FFF2-40B4-BE49-F238E27FC236}">
                <a16:creationId xmlns:a16="http://schemas.microsoft.com/office/drawing/2014/main" id="{CDCE3C8D-E452-201D-E3E3-9D35BADC89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01D3E6-DB97-F305-979F-03BDB904FA56}"/>
              </a:ext>
            </a:extLst>
          </p:cNvPr>
          <p:cNvSpPr>
            <a:spLocks noGrp="1"/>
          </p:cNvSpPr>
          <p:nvPr>
            <p:ph type="sldNum" sz="quarter" idx="12"/>
          </p:nvPr>
        </p:nvSpPr>
        <p:spPr/>
        <p:txBody>
          <a:bodyPr/>
          <a:lstStyle/>
          <a:p>
            <a:fld id="{A8887EB9-1380-49EB-B092-90CE7A44B704}" type="slidenum">
              <a:rPr lang="en-GB" smtClean="0"/>
              <a:t>‹#›</a:t>
            </a:fld>
            <a:endParaRPr lang="en-GB"/>
          </a:p>
        </p:txBody>
      </p:sp>
    </p:spTree>
    <p:extLst>
      <p:ext uri="{BB962C8B-B14F-4D97-AF65-F5344CB8AC3E}">
        <p14:creationId xmlns:p14="http://schemas.microsoft.com/office/powerpoint/2010/main" val="2281050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EB6E5-F498-8746-AE2A-6FCA4BAB1B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FA5DC69-4E87-EDF2-2704-B273E2031B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844F06FD-F491-4A98-BCC0-D51C939461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B65634-E7F2-4B79-ADE3-54B65D151AE2}" type="datetimeFigureOut">
              <a:rPr lang="en-GB" smtClean="0"/>
              <a:t>19/02/2025</a:t>
            </a:fld>
            <a:endParaRPr lang="en-GB"/>
          </a:p>
        </p:txBody>
      </p:sp>
      <p:sp>
        <p:nvSpPr>
          <p:cNvPr id="5" name="Footer Placeholder 4">
            <a:extLst>
              <a:ext uri="{FF2B5EF4-FFF2-40B4-BE49-F238E27FC236}">
                <a16:creationId xmlns:a16="http://schemas.microsoft.com/office/drawing/2014/main" id="{F2B27A5F-B7B2-EA58-9768-45D8FD117A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ABB6AD6-00D9-7601-2C17-A815D358DB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887EB9-1380-49EB-B092-90CE7A44B704}" type="slidenum">
              <a:rPr lang="en-GB" smtClean="0"/>
              <a:t>‹#›</a:t>
            </a:fld>
            <a:endParaRPr lang="en-GB"/>
          </a:p>
        </p:txBody>
      </p:sp>
      <p:sp>
        <p:nvSpPr>
          <p:cNvPr id="9" name="Rectangle 8">
            <a:extLst>
              <a:ext uri="{FF2B5EF4-FFF2-40B4-BE49-F238E27FC236}">
                <a16:creationId xmlns:a16="http://schemas.microsoft.com/office/drawing/2014/main" id="{11BF17F1-21CB-4F48-FED3-5C0CED173222}"/>
              </a:ext>
            </a:extLst>
          </p:cNvPr>
          <p:cNvSpPr/>
          <p:nvPr userDrawn="1"/>
        </p:nvSpPr>
        <p:spPr>
          <a:xfrm>
            <a:off x="3066757" y="2286000"/>
            <a:ext cx="5841715" cy="3214255"/>
          </a:xfrm>
          <a:prstGeom prst="rect">
            <a:avLst/>
          </a:prstGeom>
          <a:blipFill dpi="0" rotWithShape="1">
            <a:blip r:embed="rId16">
              <a:alphaModFix amt="12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24D8B868-96EC-310A-C562-46E8BF3EA4DE}"/>
              </a:ext>
            </a:extLst>
          </p:cNvPr>
          <p:cNvSpPr txBox="1"/>
          <p:nvPr userDrawn="1"/>
        </p:nvSpPr>
        <p:spPr>
          <a:xfrm>
            <a:off x="4876800" y="3629891"/>
            <a:ext cx="193964" cy="369332"/>
          </a:xfrm>
          <a:prstGeom prst="rect">
            <a:avLst/>
          </a:prstGeom>
          <a:noFill/>
        </p:spPr>
        <p:txBody>
          <a:bodyPr wrap="square" rtlCol="0">
            <a:spAutoFit/>
          </a:bodyPr>
          <a:lstStyle/>
          <a:p>
            <a:endParaRPr lang="en-GB" dirty="0"/>
          </a:p>
        </p:txBody>
      </p:sp>
    </p:spTree>
    <p:extLst>
      <p:ext uri="{BB962C8B-B14F-4D97-AF65-F5344CB8AC3E}">
        <p14:creationId xmlns:p14="http://schemas.microsoft.com/office/powerpoint/2010/main" val="2523971911"/>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1" r:id="rId3"/>
    <p:sldLayoutId id="2147483660"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1BDE3-232E-76AF-3F0D-37B21060D407}"/>
              </a:ext>
            </a:extLst>
          </p:cNvPr>
          <p:cNvSpPr>
            <a:spLocks noGrp="1"/>
          </p:cNvSpPr>
          <p:nvPr>
            <p:ph type="ctrTitle"/>
          </p:nvPr>
        </p:nvSpPr>
        <p:spPr>
          <a:xfrm>
            <a:off x="539647" y="529457"/>
            <a:ext cx="11362544" cy="2913611"/>
          </a:xfrm>
        </p:spPr>
        <p:txBody>
          <a:bodyPr>
            <a:normAutofit fontScale="90000"/>
          </a:bodyPr>
          <a:lstStyle/>
          <a:p>
            <a:r>
              <a:rPr lang="en-US" sz="5400" b="1" dirty="0">
                <a:latin typeface="Book Antiqua" panose="02040602050305030304" pitchFamily="18" charset="0"/>
              </a:rPr>
              <a:t/>
            </a:r>
            <a:br>
              <a:rPr lang="en-US" sz="5400" b="1" dirty="0">
                <a:latin typeface="Book Antiqua" panose="02040602050305030304" pitchFamily="18" charset="0"/>
              </a:rPr>
            </a:br>
            <a:r>
              <a:rPr lang="en-US" sz="5400" b="1" dirty="0">
                <a:latin typeface="Book Antiqua" panose="02040602050305030304" pitchFamily="18" charset="0"/>
              </a:rPr>
              <a:t/>
            </a:r>
            <a:br>
              <a:rPr lang="en-US" sz="5400" b="1" dirty="0">
                <a:latin typeface="Book Antiqua" panose="02040602050305030304" pitchFamily="18" charset="0"/>
              </a:rPr>
            </a:br>
            <a:r>
              <a:rPr lang="en-US" sz="5400" b="1" dirty="0">
                <a:latin typeface="Book Antiqua" panose="02040602050305030304" pitchFamily="18" charset="0"/>
              </a:rPr>
              <a:t>MARKET STRUCTURE</a:t>
            </a:r>
            <a:br>
              <a:rPr lang="en-US" sz="5400" b="1" dirty="0">
                <a:latin typeface="Book Antiqua" panose="02040602050305030304" pitchFamily="18" charset="0"/>
              </a:rPr>
            </a:br>
            <a:endParaRPr lang="en-GB" sz="5400" b="1" dirty="0">
              <a:latin typeface="Book Antiqua" panose="02040602050305030304" pitchFamily="18" charset="0"/>
            </a:endParaRPr>
          </a:p>
        </p:txBody>
      </p:sp>
      <p:sp>
        <p:nvSpPr>
          <p:cNvPr id="3" name="Subtitle 2">
            <a:extLst>
              <a:ext uri="{FF2B5EF4-FFF2-40B4-BE49-F238E27FC236}">
                <a16:creationId xmlns:a16="http://schemas.microsoft.com/office/drawing/2014/main" id="{CA5E85C0-11CB-9C58-37ED-E3C1CB36D9E9}"/>
              </a:ext>
            </a:extLst>
          </p:cNvPr>
          <p:cNvSpPr>
            <a:spLocks noGrp="1"/>
          </p:cNvSpPr>
          <p:nvPr>
            <p:ph type="subTitle" idx="1"/>
          </p:nvPr>
        </p:nvSpPr>
        <p:spPr>
          <a:xfrm>
            <a:off x="1524000" y="4738255"/>
            <a:ext cx="9144000" cy="1280160"/>
          </a:xfrm>
        </p:spPr>
        <p:txBody>
          <a:bodyPr>
            <a:normAutofit lnSpcReduction="10000"/>
          </a:bodyPr>
          <a:lstStyle/>
          <a:p>
            <a:endParaRPr lang="en-US" dirty="0">
              <a:latin typeface="Book Antiqua" panose="02040602050305030304" pitchFamily="18" charset="0"/>
            </a:endParaRPr>
          </a:p>
          <a:p>
            <a:r>
              <a:rPr lang="en-US" sz="2800" b="1" dirty="0">
                <a:latin typeface="Book Antiqua" panose="02040602050305030304" pitchFamily="18" charset="0"/>
              </a:rPr>
              <a:t>Kumbukani Tembo</a:t>
            </a:r>
          </a:p>
          <a:p>
            <a:r>
              <a:rPr lang="en-US" sz="2000" b="1" dirty="0">
                <a:solidFill>
                  <a:srgbClr val="00B050"/>
                </a:solidFill>
                <a:latin typeface="Book Antiqua" panose="02040602050305030304" pitchFamily="18" charset="0"/>
              </a:rPr>
              <a:t>Department of Agri-Sciences</a:t>
            </a:r>
          </a:p>
        </p:txBody>
      </p:sp>
    </p:spTree>
    <p:extLst>
      <p:ext uri="{BB962C8B-B14F-4D97-AF65-F5344CB8AC3E}">
        <p14:creationId xmlns:p14="http://schemas.microsoft.com/office/powerpoint/2010/main" val="6575672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0980A4-0919-9942-E87C-F36326DCAAAD}"/>
              </a:ext>
            </a:extLst>
          </p:cNvPr>
          <p:cNvSpPr>
            <a:spLocks noGrp="1"/>
          </p:cNvSpPr>
          <p:nvPr>
            <p:ph type="title"/>
          </p:nvPr>
        </p:nvSpPr>
        <p:spPr>
          <a:xfrm>
            <a:off x="838200" y="365125"/>
            <a:ext cx="10515600" cy="1097915"/>
          </a:xfrm>
        </p:spPr>
        <p:txBody>
          <a:bodyPr/>
          <a:lstStyle/>
          <a:p>
            <a:r>
              <a:rPr lang="en-US" dirty="0">
                <a:latin typeface="Book Antiqua" panose="02040602050305030304" pitchFamily="18" charset="0"/>
              </a:rPr>
              <a:t>TOPICS</a:t>
            </a:r>
            <a:endParaRPr lang="en-GB" dirty="0">
              <a:latin typeface="Book Antiqua" panose="02040602050305030304" pitchFamily="18" charset="0"/>
            </a:endParaRPr>
          </a:p>
        </p:txBody>
      </p:sp>
      <p:sp>
        <p:nvSpPr>
          <p:cNvPr id="4" name="Content Placeholder 3">
            <a:extLst>
              <a:ext uri="{FF2B5EF4-FFF2-40B4-BE49-F238E27FC236}">
                <a16:creationId xmlns:a16="http://schemas.microsoft.com/office/drawing/2014/main" id="{FB91BD75-5112-6794-71A5-617D16EC098C}"/>
              </a:ext>
            </a:extLst>
          </p:cNvPr>
          <p:cNvSpPr>
            <a:spLocks noGrp="1"/>
          </p:cNvSpPr>
          <p:nvPr>
            <p:ph idx="1"/>
          </p:nvPr>
        </p:nvSpPr>
        <p:spPr>
          <a:xfrm>
            <a:off x="838200" y="1463040"/>
            <a:ext cx="10515600" cy="4713923"/>
          </a:xfrm>
        </p:spPr>
        <p:txBody>
          <a:bodyPr/>
          <a:lstStyle/>
          <a:p>
            <a:pPr marL="514350" indent="-514350" algn="just">
              <a:buFont typeface="+mj-lt"/>
              <a:buAutoNum type="arabicPeriod"/>
            </a:pPr>
            <a:r>
              <a:rPr lang="en-US" b="1" dirty="0">
                <a:solidFill>
                  <a:srgbClr val="C00000"/>
                </a:solidFill>
                <a:latin typeface="Book Antiqua" panose="02040602050305030304" pitchFamily="18" charset="0"/>
              </a:rPr>
              <a:t>Externalities</a:t>
            </a:r>
          </a:p>
          <a:p>
            <a:pPr marL="514350" indent="-514350" algn="just">
              <a:buFont typeface="+mj-lt"/>
              <a:buAutoNum type="arabicPeriod"/>
            </a:pPr>
            <a:r>
              <a:rPr lang="en-US" b="1" dirty="0">
                <a:solidFill>
                  <a:srgbClr val="C00000"/>
                </a:solidFill>
                <a:latin typeface="Book Antiqua" panose="02040602050305030304" pitchFamily="18" charset="0"/>
              </a:rPr>
              <a:t>Public Goods</a:t>
            </a:r>
          </a:p>
          <a:p>
            <a:pPr marL="514350" indent="-514350" algn="just">
              <a:buFont typeface="+mj-lt"/>
              <a:buAutoNum type="arabicPeriod"/>
            </a:pPr>
            <a:r>
              <a:rPr lang="en-US" b="1" dirty="0">
                <a:solidFill>
                  <a:srgbClr val="C00000"/>
                </a:solidFill>
                <a:latin typeface="Book Antiqua" panose="02040602050305030304" pitchFamily="18" charset="0"/>
              </a:rPr>
              <a:t>Market Structure (Perfect competition, oligopoly, monopolistic competition and monopoly)</a:t>
            </a:r>
          </a:p>
          <a:p>
            <a:pPr marL="514350" indent="-514350" algn="just">
              <a:buFont typeface="+mj-lt"/>
              <a:buAutoNum type="arabicPeriod"/>
            </a:pPr>
            <a:r>
              <a:rPr lang="en-US" dirty="0">
                <a:latin typeface="Book Antiqua" panose="02040602050305030304" pitchFamily="18" charset="0"/>
              </a:rPr>
              <a:t>Elasticity and its application</a:t>
            </a:r>
          </a:p>
          <a:p>
            <a:pPr marL="514350" indent="-514350" algn="just">
              <a:buFont typeface="+mj-lt"/>
              <a:buAutoNum type="arabicPeriod"/>
            </a:pPr>
            <a:r>
              <a:rPr lang="en-US" dirty="0">
                <a:latin typeface="Book Antiqua" panose="02040602050305030304" pitchFamily="18" charset="0"/>
              </a:rPr>
              <a:t>Labour Markets</a:t>
            </a:r>
          </a:p>
          <a:p>
            <a:pPr marL="514350" indent="-514350" algn="just">
              <a:buFont typeface="+mj-lt"/>
              <a:buAutoNum type="arabicPeriod"/>
            </a:pPr>
            <a:r>
              <a:rPr lang="en-US" dirty="0">
                <a:latin typeface="Book Antiqua" panose="02040602050305030304" pitchFamily="18" charset="0"/>
              </a:rPr>
              <a:t>Game Theory</a:t>
            </a:r>
          </a:p>
          <a:p>
            <a:pPr marL="514350" indent="-514350" algn="just">
              <a:buFont typeface="+mj-lt"/>
              <a:buAutoNum type="arabicPeriod"/>
            </a:pPr>
            <a:r>
              <a:rPr lang="en-US" dirty="0">
                <a:latin typeface="Book Antiqua" panose="02040602050305030304" pitchFamily="18" charset="0"/>
              </a:rPr>
              <a:t>General Equilibrium</a:t>
            </a:r>
          </a:p>
          <a:p>
            <a:pPr marL="514350" indent="-514350" algn="just">
              <a:buFont typeface="+mj-lt"/>
              <a:buAutoNum type="arabicPeriod"/>
            </a:pPr>
            <a:r>
              <a:rPr lang="en-US" b="1" dirty="0">
                <a:solidFill>
                  <a:srgbClr val="00B050"/>
                </a:solidFill>
                <a:latin typeface="Book Antiqua" panose="02040602050305030304" pitchFamily="18" charset="0"/>
              </a:rPr>
              <a:t>Consumer Theory</a:t>
            </a:r>
          </a:p>
          <a:p>
            <a:pPr marL="514350" indent="-514350">
              <a:buFont typeface="+mj-lt"/>
              <a:buAutoNum type="arabicPeriod"/>
            </a:pPr>
            <a:endParaRPr lang="en-US" dirty="0">
              <a:latin typeface="Book Antiqua" panose="02040602050305030304" pitchFamily="18" charset="0"/>
            </a:endParaRPr>
          </a:p>
          <a:p>
            <a:pPr marL="0" indent="0">
              <a:buNone/>
            </a:pPr>
            <a:endParaRPr lang="en-US" dirty="0">
              <a:latin typeface="Book Antiqua" panose="02040602050305030304" pitchFamily="18" charset="0"/>
            </a:endParaRPr>
          </a:p>
          <a:p>
            <a:pPr marL="514350" indent="-514350">
              <a:buFont typeface="+mj-lt"/>
              <a:buAutoNum type="arabicPeriod"/>
            </a:pPr>
            <a:endParaRPr lang="en-US" dirty="0"/>
          </a:p>
          <a:p>
            <a:pPr marL="0" indent="0">
              <a:buNone/>
            </a:pPr>
            <a:endParaRPr lang="en-US" dirty="0"/>
          </a:p>
          <a:p>
            <a:pPr marL="514350" indent="-514350">
              <a:buFont typeface="+mj-lt"/>
              <a:buAutoNum type="arabicPeriod"/>
            </a:pPr>
            <a:endParaRPr lang="en-GB" dirty="0"/>
          </a:p>
        </p:txBody>
      </p:sp>
    </p:spTree>
    <p:extLst>
      <p:ext uri="{BB962C8B-B14F-4D97-AF65-F5344CB8AC3E}">
        <p14:creationId xmlns:p14="http://schemas.microsoft.com/office/powerpoint/2010/main" val="33023293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4CE6A-743F-774E-9FB6-4A048F2BAA05}"/>
              </a:ext>
            </a:extLst>
          </p:cNvPr>
          <p:cNvSpPr>
            <a:spLocks noGrp="1"/>
          </p:cNvSpPr>
          <p:nvPr>
            <p:ph type="title"/>
          </p:nvPr>
        </p:nvSpPr>
        <p:spPr>
          <a:xfrm>
            <a:off x="838200" y="365125"/>
            <a:ext cx="10515600" cy="1158875"/>
          </a:xfrm>
        </p:spPr>
        <p:txBody>
          <a:bodyPr/>
          <a:lstStyle/>
          <a:p>
            <a:pPr algn="ctr"/>
            <a:r>
              <a:rPr lang="en-US" b="1" dirty="0">
                <a:latin typeface="Book Antiqua" panose="02040602050305030304" pitchFamily="18" charset="0"/>
              </a:rPr>
              <a:t>Market in Economics?</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F3259567-92D2-8F3F-17B8-87380E92BA63}"/>
              </a:ext>
            </a:extLst>
          </p:cNvPr>
          <p:cNvSpPr>
            <a:spLocks noGrp="1"/>
          </p:cNvSpPr>
          <p:nvPr>
            <p:ph idx="1"/>
          </p:nvPr>
        </p:nvSpPr>
        <p:spPr>
          <a:xfrm>
            <a:off x="838200" y="1524000"/>
            <a:ext cx="10515600" cy="4652963"/>
          </a:xfrm>
        </p:spPr>
        <p:txBody>
          <a:bodyPr/>
          <a:lstStyle/>
          <a:p>
            <a:pPr algn="just"/>
            <a:r>
              <a:rPr lang="en-US" dirty="0">
                <a:latin typeface="Book Antiqua" panose="02040602050305030304" pitchFamily="18" charset="0"/>
              </a:rPr>
              <a:t>In common usage, by market, we mean a place where commodities are bought and sold.</a:t>
            </a:r>
          </a:p>
          <a:p>
            <a:pPr algn="just"/>
            <a:endParaRPr lang="en-US" dirty="0">
              <a:latin typeface="Book Antiqua" panose="02040602050305030304" pitchFamily="18" charset="0"/>
            </a:endParaRPr>
          </a:p>
          <a:p>
            <a:pPr algn="just"/>
            <a:r>
              <a:rPr lang="en-US" dirty="0">
                <a:latin typeface="Book Antiqua" panose="02040602050305030304" pitchFamily="18" charset="0"/>
              </a:rPr>
              <a:t>In Economics however, the term “Market” does not refer to a particular place as such but it refers to a market for a commodity or commodities.</a:t>
            </a:r>
          </a:p>
          <a:p>
            <a:pPr algn="just"/>
            <a:endParaRPr lang="en-US" dirty="0">
              <a:latin typeface="Book Antiqua" panose="02040602050305030304" pitchFamily="18" charset="0"/>
            </a:endParaRPr>
          </a:p>
          <a:p>
            <a:pPr algn="just"/>
            <a:r>
              <a:rPr lang="en-US" dirty="0">
                <a:latin typeface="Book Antiqua" panose="02040602050305030304" pitchFamily="18" charset="0"/>
              </a:rPr>
              <a:t>It refers to an arrangement whereby buyers and sellers come in close contact with each other directly or indirectly to sell and buy goods .</a:t>
            </a:r>
          </a:p>
          <a:p>
            <a:pPr algn="just"/>
            <a:endParaRPr lang="en-GB" dirty="0">
              <a:latin typeface="Book Antiqua" panose="02040602050305030304" pitchFamily="18" charset="0"/>
            </a:endParaRPr>
          </a:p>
        </p:txBody>
      </p:sp>
    </p:spTree>
    <p:extLst>
      <p:ext uri="{BB962C8B-B14F-4D97-AF65-F5344CB8AC3E}">
        <p14:creationId xmlns:p14="http://schemas.microsoft.com/office/powerpoint/2010/main" val="14292715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5010F-F0D5-4215-5699-3607C5B58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F6E9A-C5FD-A432-FC7C-213C6502C415}"/>
              </a:ext>
            </a:extLst>
          </p:cNvPr>
          <p:cNvSpPr>
            <a:spLocks noGrp="1"/>
          </p:cNvSpPr>
          <p:nvPr>
            <p:ph type="title"/>
          </p:nvPr>
        </p:nvSpPr>
        <p:spPr>
          <a:xfrm>
            <a:off x="838200" y="365125"/>
            <a:ext cx="10515600" cy="1158875"/>
          </a:xfrm>
        </p:spPr>
        <p:txBody>
          <a:bodyPr/>
          <a:lstStyle/>
          <a:p>
            <a:pPr algn="ctr"/>
            <a:r>
              <a:rPr lang="en-US" b="1" dirty="0">
                <a:latin typeface="Book Antiqua" panose="02040602050305030304" pitchFamily="18" charset="0"/>
              </a:rPr>
              <a:t>Market in Economics?..</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35F30DC9-65BA-C290-1021-83CC385DA1C8}"/>
              </a:ext>
            </a:extLst>
          </p:cNvPr>
          <p:cNvSpPr>
            <a:spLocks noGrp="1"/>
          </p:cNvSpPr>
          <p:nvPr>
            <p:ph idx="1"/>
          </p:nvPr>
        </p:nvSpPr>
        <p:spPr>
          <a:xfrm>
            <a:off x="838200" y="1524000"/>
            <a:ext cx="10515600" cy="4652963"/>
          </a:xfrm>
        </p:spPr>
        <p:txBody>
          <a:bodyPr/>
          <a:lstStyle/>
          <a:p>
            <a:pPr algn="just"/>
            <a:r>
              <a:rPr lang="en-US" dirty="0">
                <a:latin typeface="Book Antiqua" panose="02040602050305030304" pitchFamily="18" charset="0"/>
              </a:rPr>
              <a:t>For the existence of a market, buyers and sellers need not to personally meet each other at a particular place.</a:t>
            </a:r>
          </a:p>
          <a:p>
            <a:pPr algn="just"/>
            <a:r>
              <a:rPr lang="en-US" dirty="0">
                <a:latin typeface="Book Antiqua" panose="02040602050305030304" pitchFamily="18" charset="0"/>
              </a:rPr>
              <a:t>They may contact each other by any means (phone, email, etc.)</a:t>
            </a:r>
          </a:p>
          <a:p>
            <a:pPr algn="just"/>
            <a:r>
              <a:rPr lang="en-US" dirty="0">
                <a:latin typeface="Book Antiqua" panose="02040602050305030304" pitchFamily="18" charset="0"/>
              </a:rPr>
              <a:t>Thus, the term “Market” is used in economics in a typical specialized sense. It does not refer only to a fixed location.</a:t>
            </a:r>
          </a:p>
          <a:p>
            <a:pPr algn="just"/>
            <a:r>
              <a:rPr lang="en-US" dirty="0">
                <a:latin typeface="Book Antiqua" panose="02040602050305030304" pitchFamily="18" charset="0"/>
              </a:rPr>
              <a:t>A market signifies any arrangement in which the sale and purchase of goods take place.</a:t>
            </a:r>
          </a:p>
          <a:p>
            <a:pPr algn="just"/>
            <a:r>
              <a:rPr lang="en-US" dirty="0">
                <a:latin typeface="Book Antiqua" panose="02040602050305030304" pitchFamily="18" charset="0"/>
              </a:rPr>
              <a:t>Contact and contactless as in online buying and selling.</a:t>
            </a:r>
            <a:endParaRPr lang="en-GB" dirty="0">
              <a:latin typeface="Book Antiqua" panose="02040602050305030304" pitchFamily="18" charset="0"/>
            </a:endParaRPr>
          </a:p>
        </p:txBody>
      </p:sp>
    </p:spTree>
    <p:extLst>
      <p:ext uri="{BB962C8B-B14F-4D97-AF65-F5344CB8AC3E}">
        <p14:creationId xmlns:p14="http://schemas.microsoft.com/office/powerpoint/2010/main" val="38327831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F7EE5-B0CA-0E81-0AB7-F49A71D54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6A053-CB89-8B9B-6C45-970C8024773F}"/>
              </a:ext>
            </a:extLst>
          </p:cNvPr>
          <p:cNvSpPr>
            <a:spLocks noGrp="1"/>
          </p:cNvSpPr>
          <p:nvPr>
            <p:ph type="title"/>
          </p:nvPr>
        </p:nvSpPr>
        <p:spPr>
          <a:xfrm>
            <a:off x="838200" y="365125"/>
            <a:ext cx="10515600" cy="1052195"/>
          </a:xfrm>
        </p:spPr>
        <p:txBody>
          <a:bodyPr/>
          <a:lstStyle/>
          <a:p>
            <a:pPr algn="ctr"/>
            <a:r>
              <a:rPr lang="en-US" b="1" dirty="0">
                <a:latin typeface="Book Antiqua" panose="02040602050305030304" pitchFamily="18" charset="0"/>
              </a:rPr>
              <a:t>Market Structure..</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1E4B359B-1350-1557-795E-FFA8DD8A06ED}"/>
              </a:ext>
            </a:extLst>
          </p:cNvPr>
          <p:cNvSpPr>
            <a:spLocks noGrp="1"/>
          </p:cNvSpPr>
          <p:nvPr>
            <p:ph idx="1"/>
          </p:nvPr>
        </p:nvSpPr>
        <p:spPr>
          <a:xfrm>
            <a:off x="838200" y="1417320"/>
            <a:ext cx="10515600" cy="4759643"/>
          </a:xfrm>
        </p:spPr>
        <p:txBody>
          <a:bodyPr/>
          <a:lstStyle/>
          <a:p>
            <a:r>
              <a:rPr lang="en-US" dirty="0">
                <a:latin typeface="Book Antiqua" panose="02040602050305030304" pitchFamily="18" charset="0"/>
              </a:rPr>
              <a:t>The characteristics and organization of market that influence the behavior of firms and determine the nature of competition and pricing strategies.</a:t>
            </a:r>
          </a:p>
          <a:p>
            <a:endParaRPr lang="en-US" dirty="0">
              <a:latin typeface="Book Antiqua" panose="02040602050305030304" pitchFamily="18" charset="0"/>
            </a:endParaRPr>
          </a:p>
          <a:p>
            <a:r>
              <a:rPr lang="en-US" b="1" dirty="0">
                <a:latin typeface="Book Antiqua" panose="02040602050305030304" pitchFamily="18" charset="0"/>
              </a:rPr>
              <a:t>Key features of market structures</a:t>
            </a:r>
          </a:p>
          <a:p>
            <a:pPr lvl="1">
              <a:buFont typeface="Wingdings" panose="05000000000000000000" pitchFamily="2" charset="2"/>
              <a:buChar char="ü"/>
            </a:pPr>
            <a:r>
              <a:rPr lang="en-US" dirty="0">
                <a:latin typeface="Book Antiqua" panose="02040602050305030304" pitchFamily="18" charset="0"/>
              </a:rPr>
              <a:t>Number of sellers and buyers </a:t>
            </a:r>
          </a:p>
          <a:p>
            <a:pPr lvl="1">
              <a:buFont typeface="Wingdings" panose="05000000000000000000" pitchFamily="2" charset="2"/>
              <a:buChar char="ü"/>
            </a:pPr>
            <a:r>
              <a:rPr lang="en-US" dirty="0">
                <a:latin typeface="Book Antiqua" panose="02040602050305030304" pitchFamily="18" charset="0"/>
              </a:rPr>
              <a:t>Nature the product</a:t>
            </a:r>
          </a:p>
          <a:p>
            <a:pPr lvl="1">
              <a:buFont typeface="Wingdings" panose="05000000000000000000" pitchFamily="2" charset="2"/>
              <a:buChar char="ü"/>
            </a:pPr>
            <a:r>
              <a:rPr lang="en-US" dirty="0">
                <a:latin typeface="Book Antiqua" panose="02040602050305030304" pitchFamily="18" charset="0"/>
              </a:rPr>
              <a:t>Entry and exit barriers</a:t>
            </a:r>
          </a:p>
          <a:p>
            <a:pPr lvl="1">
              <a:buFont typeface="Wingdings" panose="05000000000000000000" pitchFamily="2" charset="2"/>
              <a:buChar char="ü"/>
            </a:pPr>
            <a:r>
              <a:rPr lang="en-US" dirty="0">
                <a:latin typeface="Book Antiqua" panose="02040602050305030304" pitchFamily="18" charset="0"/>
              </a:rPr>
              <a:t>Level of information symmetry</a:t>
            </a:r>
          </a:p>
          <a:p>
            <a:pPr lvl="1">
              <a:buFont typeface="Wingdings" panose="05000000000000000000" pitchFamily="2" charset="2"/>
              <a:buChar char="ü"/>
            </a:pPr>
            <a:r>
              <a:rPr lang="en-US" dirty="0">
                <a:latin typeface="Book Antiqua" panose="02040602050305030304" pitchFamily="18" charset="0"/>
              </a:rPr>
              <a:t>Market power</a:t>
            </a:r>
          </a:p>
          <a:p>
            <a:endParaRPr lang="en-GB" dirty="0">
              <a:latin typeface="Book Antiqua" panose="02040602050305030304" pitchFamily="18" charset="0"/>
            </a:endParaRPr>
          </a:p>
        </p:txBody>
      </p:sp>
    </p:spTree>
    <p:extLst>
      <p:ext uri="{BB962C8B-B14F-4D97-AF65-F5344CB8AC3E}">
        <p14:creationId xmlns:p14="http://schemas.microsoft.com/office/powerpoint/2010/main" val="41694442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449D1-709D-728E-F78B-87B1B98FD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104BE-D0E4-3037-AF1C-2B03A9855265}"/>
              </a:ext>
            </a:extLst>
          </p:cNvPr>
          <p:cNvSpPr>
            <a:spLocks noGrp="1"/>
          </p:cNvSpPr>
          <p:nvPr>
            <p:ph type="title"/>
          </p:nvPr>
        </p:nvSpPr>
        <p:spPr>
          <a:xfrm>
            <a:off x="838200" y="365125"/>
            <a:ext cx="10515600" cy="640715"/>
          </a:xfrm>
        </p:spPr>
        <p:txBody>
          <a:bodyPr>
            <a:normAutofit fontScale="90000"/>
          </a:bodyPr>
          <a:lstStyle/>
          <a:p>
            <a:pPr algn="ctr"/>
            <a:r>
              <a:rPr lang="en-US" b="1" dirty="0">
                <a:latin typeface="Book Antiqua" panose="02040602050305030304" pitchFamily="18" charset="0"/>
              </a:rPr>
              <a:t>Features of market structure</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671BB80C-EE3F-243B-3083-726C622B88E4}"/>
              </a:ext>
            </a:extLst>
          </p:cNvPr>
          <p:cNvSpPr>
            <a:spLocks noGrp="1"/>
          </p:cNvSpPr>
          <p:nvPr>
            <p:ph idx="1"/>
          </p:nvPr>
        </p:nvSpPr>
        <p:spPr>
          <a:xfrm>
            <a:off x="838200" y="1005840"/>
            <a:ext cx="10515600" cy="5349240"/>
          </a:xfrm>
        </p:spPr>
        <p:txBody>
          <a:bodyPr>
            <a:normAutofit/>
          </a:bodyPr>
          <a:lstStyle/>
          <a:p>
            <a:pPr>
              <a:buFont typeface="Wingdings" panose="05000000000000000000" pitchFamily="2" charset="2"/>
              <a:buChar char="v"/>
            </a:pPr>
            <a:r>
              <a:rPr lang="en-US" b="1" dirty="0">
                <a:latin typeface="Book Antiqua" panose="02040602050305030304" pitchFamily="18" charset="0"/>
              </a:rPr>
              <a:t>Number of seller and buyer</a:t>
            </a:r>
            <a:r>
              <a:rPr lang="en-US" dirty="0">
                <a:latin typeface="Book Antiqua" panose="02040602050305030304" pitchFamily="18" charset="0"/>
              </a:rPr>
              <a:t> </a:t>
            </a:r>
          </a:p>
          <a:p>
            <a:pPr lvl="1"/>
            <a:r>
              <a:rPr lang="en-US" dirty="0">
                <a:latin typeface="Book Antiqua" panose="02040602050305030304" pitchFamily="18" charset="0"/>
              </a:rPr>
              <a:t>The extent of competition depends on how many participants are in the market.</a:t>
            </a:r>
          </a:p>
          <a:p>
            <a:pPr>
              <a:buFont typeface="Wingdings" panose="05000000000000000000" pitchFamily="2" charset="2"/>
              <a:buChar char="v"/>
            </a:pPr>
            <a:r>
              <a:rPr lang="en-US" b="1" dirty="0">
                <a:latin typeface="Book Antiqua" panose="02040602050305030304" pitchFamily="18" charset="0"/>
              </a:rPr>
              <a:t>Nature of the product</a:t>
            </a:r>
          </a:p>
          <a:p>
            <a:pPr lvl="1"/>
            <a:r>
              <a:rPr lang="en-US" dirty="0">
                <a:latin typeface="Book Antiqua" panose="02040602050305030304" pitchFamily="18" charset="0"/>
              </a:rPr>
              <a:t>Whether the products are homogenous or differentiated</a:t>
            </a:r>
          </a:p>
          <a:p>
            <a:pPr>
              <a:buFont typeface="Wingdings" panose="05000000000000000000" pitchFamily="2" charset="2"/>
              <a:buChar char="v"/>
            </a:pPr>
            <a:r>
              <a:rPr lang="en-US" b="1" dirty="0">
                <a:latin typeface="Book Antiqua" panose="02040602050305030304" pitchFamily="18" charset="0"/>
              </a:rPr>
              <a:t>Entry and exit barrier</a:t>
            </a:r>
          </a:p>
          <a:p>
            <a:pPr lvl="1"/>
            <a:r>
              <a:rPr lang="en-US" dirty="0">
                <a:latin typeface="Book Antiqua" panose="02040602050305030304" pitchFamily="18" charset="0"/>
              </a:rPr>
              <a:t>The ease or difficulty for firms to enter or leave the market</a:t>
            </a:r>
          </a:p>
          <a:p>
            <a:pPr>
              <a:buFont typeface="Wingdings" panose="05000000000000000000" pitchFamily="2" charset="2"/>
              <a:buChar char="v"/>
            </a:pPr>
            <a:r>
              <a:rPr lang="en-US" b="1" dirty="0">
                <a:latin typeface="Book Antiqua" panose="02040602050305030304" pitchFamily="18" charset="0"/>
              </a:rPr>
              <a:t>Level of information symmetry</a:t>
            </a:r>
          </a:p>
          <a:p>
            <a:pPr lvl="1"/>
            <a:r>
              <a:rPr lang="en-US" dirty="0">
                <a:latin typeface="Book Antiqua" panose="02040602050305030304" pitchFamily="18" charset="0"/>
              </a:rPr>
              <a:t>Availability and transparency of information for buyers and sellers.</a:t>
            </a:r>
          </a:p>
          <a:p>
            <a:pPr>
              <a:buFont typeface="Wingdings" panose="05000000000000000000" pitchFamily="2" charset="2"/>
              <a:buChar char="v"/>
            </a:pPr>
            <a:r>
              <a:rPr lang="en-US" b="1" dirty="0">
                <a:latin typeface="Book Antiqua" panose="02040602050305030304" pitchFamily="18" charset="0"/>
              </a:rPr>
              <a:t>Market power</a:t>
            </a:r>
          </a:p>
          <a:p>
            <a:pPr lvl="1"/>
            <a:r>
              <a:rPr lang="en-US" dirty="0">
                <a:latin typeface="Book Antiqua" panose="02040602050305030304" pitchFamily="18" charset="0"/>
              </a:rPr>
              <a:t> The ability of firms to influence market prices.</a:t>
            </a:r>
            <a:endParaRPr lang="en-GB" dirty="0">
              <a:latin typeface="Book Antiqua" panose="02040602050305030304" pitchFamily="18" charset="0"/>
            </a:endParaRPr>
          </a:p>
        </p:txBody>
      </p:sp>
    </p:spTree>
    <p:extLst>
      <p:ext uri="{BB962C8B-B14F-4D97-AF65-F5344CB8AC3E}">
        <p14:creationId xmlns:p14="http://schemas.microsoft.com/office/powerpoint/2010/main" val="6075421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A3973-E4AC-42A6-C04C-3D3B63627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4289C-C706-A622-9B30-778DBDABC6AC}"/>
              </a:ext>
            </a:extLst>
          </p:cNvPr>
          <p:cNvSpPr>
            <a:spLocks noGrp="1"/>
          </p:cNvSpPr>
          <p:nvPr>
            <p:ph type="title"/>
          </p:nvPr>
        </p:nvSpPr>
        <p:spPr>
          <a:xfrm>
            <a:off x="838200" y="365125"/>
            <a:ext cx="10515600" cy="1067435"/>
          </a:xfrm>
        </p:spPr>
        <p:txBody>
          <a:bodyPr/>
          <a:lstStyle/>
          <a:p>
            <a:pPr algn="ctr"/>
            <a:r>
              <a:rPr lang="en-US" b="1" dirty="0">
                <a:latin typeface="Book Antiqua" panose="02040602050305030304" pitchFamily="18" charset="0"/>
              </a:rPr>
              <a:t>Type of Market structures</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05A7D058-E29A-7F0C-244B-8F190752A2CE}"/>
              </a:ext>
            </a:extLst>
          </p:cNvPr>
          <p:cNvSpPr>
            <a:spLocks noGrp="1"/>
          </p:cNvSpPr>
          <p:nvPr>
            <p:ph idx="1"/>
          </p:nvPr>
        </p:nvSpPr>
        <p:spPr>
          <a:xfrm>
            <a:off x="838200" y="1594884"/>
            <a:ext cx="10515600" cy="4582079"/>
          </a:xfrm>
        </p:spPr>
        <p:txBody>
          <a:bodyPr/>
          <a:lstStyle/>
          <a:p>
            <a:pPr marL="514350" indent="-514350">
              <a:buFont typeface="+mj-lt"/>
              <a:buAutoNum type="arabicPeriod"/>
            </a:pPr>
            <a:r>
              <a:rPr lang="en-US" dirty="0">
                <a:latin typeface="Book Antiqua" panose="02040602050305030304" pitchFamily="18" charset="0"/>
              </a:rPr>
              <a:t>Perfect competition</a:t>
            </a:r>
          </a:p>
          <a:p>
            <a:pPr marL="514350" indent="-514350">
              <a:buFont typeface="+mj-lt"/>
              <a:buAutoNum type="arabicPeriod"/>
            </a:pPr>
            <a:endParaRPr lang="en-US" dirty="0">
              <a:latin typeface="Book Antiqua" panose="02040602050305030304" pitchFamily="18" charset="0"/>
            </a:endParaRPr>
          </a:p>
          <a:p>
            <a:pPr marL="514350" indent="-514350">
              <a:buFont typeface="+mj-lt"/>
              <a:buAutoNum type="arabicPeriod"/>
            </a:pPr>
            <a:r>
              <a:rPr lang="en-US" dirty="0">
                <a:latin typeface="Book Antiqua" panose="02040602050305030304" pitchFamily="18" charset="0"/>
              </a:rPr>
              <a:t>Monopoly</a:t>
            </a:r>
          </a:p>
          <a:p>
            <a:pPr marL="514350" indent="-514350">
              <a:buFont typeface="+mj-lt"/>
              <a:buAutoNum type="arabicPeriod"/>
            </a:pPr>
            <a:endParaRPr lang="en-US" dirty="0">
              <a:latin typeface="Book Antiqua" panose="02040602050305030304" pitchFamily="18" charset="0"/>
            </a:endParaRPr>
          </a:p>
          <a:p>
            <a:pPr marL="514350" indent="-514350">
              <a:buFont typeface="+mj-lt"/>
              <a:buAutoNum type="arabicPeriod"/>
            </a:pPr>
            <a:r>
              <a:rPr lang="en-US" dirty="0">
                <a:latin typeface="Book Antiqua" panose="02040602050305030304" pitchFamily="18" charset="0"/>
              </a:rPr>
              <a:t>Monopolistic competition</a:t>
            </a:r>
          </a:p>
          <a:p>
            <a:pPr marL="514350" indent="-514350">
              <a:buFont typeface="+mj-lt"/>
              <a:buAutoNum type="arabicPeriod"/>
            </a:pPr>
            <a:endParaRPr lang="en-US" dirty="0">
              <a:latin typeface="Book Antiqua" panose="02040602050305030304" pitchFamily="18" charset="0"/>
            </a:endParaRPr>
          </a:p>
          <a:p>
            <a:pPr marL="514350" indent="-514350">
              <a:buFont typeface="+mj-lt"/>
              <a:buAutoNum type="arabicPeriod"/>
            </a:pPr>
            <a:r>
              <a:rPr lang="en-US" dirty="0">
                <a:latin typeface="Book Antiqua" panose="02040602050305030304" pitchFamily="18" charset="0"/>
              </a:rPr>
              <a:t>Oligopoly</a:t>
            </a:r>
            <a:endParaRPr lang="en-GB" dirty="0">
              <a:latin typeface="Book Antiqua" panose="02040602050305030304" pitchFamily="18" charset="0"/>
            </a:endParaRPr>
          </a:p>
        </p:txBody>
      </p:sp>
    </p:spTree>
    <p:extLst>
      <p:ext uri="{BB962C8B-B14F-4D97-AF65-F5344CB8AC3E}">
        <p14:creationId xmlns:p14="http://schemas.microsoft.com/office/powerpoint/2010/main" val="13107879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ED2E4-6484-2A75-D349-4C296609B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84382-318D-EF47-2713-295F2A0520D4}"/>
              </a:ext>
            </a:extLst>
          </p:cNvPr>
          <p:cNvSpPr>
            <a:spLocks noGrp="1"/>
          </p:cNvSpPr>
          <p:nvPr>
            <p:ph type="title"/>
          </p:nvPr>
        </p:nvSpPr>
        <p:spPr>
          <a:xfrm>
            <a:off x="838200" y="365125"/>
            <a:ext cx="10515600" cy="1250315"/>
          </a:xfrm>
        </p:spPr>
        <p:txBody>
          <a:bodyPr/>
          <a:lstStyle/>
          <a:p>
            <a:pPr marL="742950" indent="-742950" algn="ctr">
              <a:buFont typeface="+mj-lt"/>
              <a:buAutoNum type="arabicPeriod"/>
            </a:pPr>
            <a:r>
              <a:rPr lang="en-US" b="1" dirty="0">
                <a:solidFill>
                  <a:srgbClr val="C00000"/>
                </a:solidFill>
                <a:latin typeface="Book Antiqua" panose="02040602050305030304" pitchFamily="18" charset="0"/>
              </a:rPr>
              <a:t>Perfect Competition</a:t>
            </a:r>
            <a:endParaRPr lang="en-GB" b="1"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57C9D480-C8B9-79B5-6F70-EBE33E9B8FEA}"/>
              </a:ext>
            </a:extLst>
          </p:cNvPr>
          <p:cNvSpPr>
            <a:spLocks noGrp="1"/>
          </p:cNvSpPr>
          <p:nvPr>
            <p:ph idx="1"/>
          </p:nvPr>
        </p:nvSpPr>
        <p:spPr>
          <a:xfrm>
            <a:off x="838200" y="1386840"/>
            <a:ext cx="10515600" cy="4968240"/>
          </a:xfrm>
        </p:spPr>
        <p:txBody>
          <a:bodyPr>
            <a:normAutofit/>
          </a:bodyPr>
          <a:lstStyle/>
          <a:p>
            <a:pPr algn="just"/>
            <a:r>
              <a:rPr lang="en-US" dirty="0">
                <a:latin typeface="Book Antiqua" panose="02040602050305030304" pitchFamily="18" charset="0"/>
              </a:rPr>
              <a:t>Perfect Market is a market situation which consists of a very large number of buyers and sellers offering a homogeneous product.</a:t>
            </a:r>
          </a:p>
          <a:p>
            <a:pPr algn="just"/>
            <a:r>
              <a:rPr lang="en-US" dirty="0">
                <a:latin typeface="Book Antiqua" panose="02040602050305030304" pitchFamily="18" charset="0"/>
              </a:rPr>
              <a:t>In practice businessmen use the word competition as synonymous to rivalry. </a:t>
            </a:r>
          </a:p>
          <a:p>
            <a:pPr algn="just"/>
            <a:r>
              <a:rPr lang="en-US" dirty="0">
                <a:latin typeface="Book Antiqua" panose="02040602050305030304" pitchFamily="18" charset="0"/>
              </a:rPr>
              <a:t>In theory, perfect competition implies no rivalry among firms. </a:t>
            </a:r>
          </a:p>
          <a:p>
            <a:pPr algn="just"/>
            <a:r>
              <a:rPr lang="en-US" dirty="0">
                <a:latin typeface="Book Antiqua" panose="02040602050305030304" pitchFamily="18" charset="0"/>
              </a:rPr>
              <a:t>Under such condition, no firm can affect the market price. </a:t>
            </a:r>
          </a:p>
          <a:p>
            <a:pPr algn="just"/>
            <a:r>
              <a:rPr lang="en-US" dirty="0">
                <a:latin typeface="Book Antiqua" panose="02040602050305030304" pitchFamily="18" charset="0"/>
              </a:rPr>
              <a:t>Price is determined through the market demand and supply of the particular product, since no single buyer or seller has any control over the price. </a:t>
            </a:r>
          </a:p>
          <a:p>
            <a:pPr marL="457200" lvl="1" indent="0">
              <a:buNone/>
            </a:pPr>
            <a:endParaRPr lang="en-GB" dirty="0">
              <a:latin typeface="Book Antiqua" panose="02040602050305030304" pitchFamily="18" charset="0"/>
            </a:endParaRPr>
          </a:p>
        </p:txBody>
      </p:sp>
    </p:spTree>
    <p:extLst>
      <p:ext uri="{BB962C8B-B14F-4D97-AF65-F5344CB8AC3E}">
        <p14:creationId xmlns:p14="http://schemas.microsoft.com/office/powerpoint/2010/main" val="25766582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E26CC-5AA4-09F3-D390-EE3C82619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6011E-95EC-334E-0C93-A24F7BA39FF9}"/>
              </a:ext>
            </a:extLst>
          </p:cNvPr>
          <p:cNvSpPr>
            <a:spLocks noGrp="1"/>
          </p:cNvSpPr>
          <p:nvPr>
            <p:ph type="title"/>
          </p:nvPr>
        </p:nvSpPr>
        <p:spPr>
          <a:xfrm>
            <a:off x="838200" y="365126"/>
            <a:ext cx="10515600" cy="528010"/>
          </a:xfrm>
        </p:spPr>
        <p:txBody>
          <a:bodyPr>
            <a:normAutofit fontScale="90000"/>
          </a:bodyPr>
          <a:lstStyle/>
          <a:p>
            <a:pPr algn="ctr"/>
            <a:r>
              <a:rPr lang="en-US" b="1" dirty="0">
                <a:solidFill>
                  <a:srgbClr val="C00000"/>
                </a:solidFill>
                <a:latin typeface="Book Antiqua" panose="02040602050305030304" pitchFamily="18" charset="0"/>
              </a:rPr>
              <a:t>Characteristics of a Perfect Competition</a:t>
            </a:r>
            <a:endParaRPr lang="en-GB" b="1"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0EE17B96-3524-3892-9DAC-80CBAFA06084}"/>
              </a:ext>
            </a:extLst>
          </p:cNvPr>
          <p:cNvSpPr>
            <a:spLocks noGrp="1"/>
          </p:cNvSpPr>
          <p:nvPr>
            <p:ph idx="1"/>
          </p:nvPr>
        </p:nvSpPr>
        <p:spPr>
          <a:xfrm>
            <a:off x="838200" y="1125415"/>
            <a:ext cx="10515600" cy="5229665"/>
          </a:xfrm>
        </p:spPr>
        <p:txBody>
          <a:bodyPr>
            <a:normAutofit fontScale="92500" lnSpcReduction="20000"/>
          </a:bodyPr>
          <a:lstStyle/>
          <a:p>
            <a:pPr marL="514350" indent="-514350" algn="just">
              <a:buFont typeface="+mj-lt"/>
              <a:buAutoNum type="arabicPeriod"/>
            </a:pPr>
            <a:r>
              <a:rPr lang="en-US" dirty="0">
                <a:latin typeface="Book Antiqua" panose="02040602050305030304" pitchFamily="18" charset="0"/>
              </a:rPr>
              <a:t>Large number of buyers and sellers</a:t>
            </a:r>
          </a:p>
          <a:p>
            <a:pPr marL="514350" indent="-514350" algn="just">
              <a:buFont typeface="+mj-lt"/>
              <a:buAutoNum type="arabicPeriod"/>
            </a:pPr>
            <a:endParaRPr lang="en-US" dirty="0">
              <a:latin typeface="Book Antiqua" panose="02040602050305030304" pitchFamily="18" charset="0"/>
            </a:endParaRPr>
          </a:p>
          <a:p>
            <a:pPr marL="514350" indent="-514350" algn="just">
              <a:buFont typeface="+mj-lt"/>
              <a:buAutoNum type="arabicPeriod"/>
            </a:pPr>
            <a:r>
              <a:rPr lang="en-US" dirty="0">
                <a:latin typeface="Book Antiqua" panose="02040602050305030304" pitchFamily="18" charset="0"/>
              </a:rPr>
              <a:t>All producers sell the same product (homogenous )</a:t>
            </a:r>
          </a:p>
          <a:p>
            <a:pPr marL="514350" indent="-514350" algn="just">
              <a:buFont typeface="+mj-lt"/>
              <a:buAutoNum type="arabicPeriod"/>
            </a:pPr>
            <a:endParaRPr lang="en-US" dirty="0">
              <a:latin typeface="Book Antiqua" panose="02040602050305030304" pitchFamily="18" charset="0"/>
            </a:endParaRPr>
          </a:p>
          <a:p>
            <a:pPr marL="514350" indent="-514350" algn="just">
              <a:buFont typeface="+mj-lt"/>
              <a:buAutoNum type="arabicPeriod"/>
            </a:pPr>
            <a:r>
              <a:rPr lang="en-US" dirty="0">
                <a:latin typeface="Book Antiqua" panose="02040602050305030304" pitchFamily="18" charset="0"/>
              </a:rPr>
              <a:t>Free entry or exit </a:t>
            </a:r>
          </a:p>
          <a:p>
            <a:pPr marL="514350" indent="-514350" algn="just">
              <a:buFont typeface="+mj-lt"/>
              <a:buAutoNum type="arabicPeriod"/>
            </a:pPr>
            <a:endParaRPr lang="en-US" dirty="0">
              <a:latin typeface="Book Antiqua" panose="02040602050305030304" pitchFamily="18" charset="0"/>
            </a:endParaRPr>
          </a:p>
          <a:p>
            <a:pPr marL="514350" indent="-514350" algn="just">
              <a:buFont typeface="+mj-lt"/>
              <a:buAutoNum type="arabicPeriod"/>
            </a:pPr>
            <a:r>
              <a:rPr lang="en-US" dirty="0">
                <a:latin typeface="Book Antiqua" panose="02040602050305030304" pitchFamily="18" charset="0"/>
              </a:rPr>
              <a:t>Perfect knowledge of the market (</a:t>
            </a:r>
          </a:p>
          <a:p>
            <a:pPr marL="514350" indent="-514350" algn="just">
              <a:buFont typeface="+mj-lt"/>
              <a:buAutoNum type="arabicPeriod"/>
            </a:pPr>
            <a:endParaRPr lang="en-US" dirty="0">
              <a:latin typeface="Book Antiqua" panose="02040602050305030304" pitchFamily="18" charset="0"/>
            </a:endParaRPr>
          </a:p>
          <a:p>
            <a:pPr marL="514350" indent="-514350" algn="just">
              <a:buFont typeface="+mj-lt"/>
              <a:buAutoNum type="arabicPeriod"/>
            </a:pPr>
            <a:r>
              <a:rPr lang="en-US" dirty="0">
                <a:latin typeface="Book Antiqua" panose="02040602050305030304" pitchFamily="18" charset="0"/>
              </a:rPr>
              <a:t>Existence of a single and uniform price</a:t>
            </a:r>
          </a:p>
          <a:p>
            <a:pPr marL="514350" indent="-514350" algn="just">
              <a:buFont typeface="+mj-lt"/>
              <a:buAutoNum type="arabicPeriod"/>
            </a:pPr>
            <a:endParaRPr lang="en-US" dirty="0">
              <a:latin typeface="Book Antiqua" panose="02040602050305030304" pitchFamily="18" charset="0"/>
            </a:endParaRPr>
          </a:p>
          <a:p>
            <a:pPr marL="514350" indent="-514350" algn="just">
              <a:buFont typeface="+mj-lt"/>
              <a:buAutoNum type="arabicPeriod"/>
            </a:pPr>
            <a:r>
              <a:rPr lang="en-US" dirty="0">
                <a:latin typeface="Book Antiqua" panose="02040602050305030304" pitchFamily="18" charset="0"/>
              </a:rPr>
              <a:t>Firms are price takers</a:t>
            </a:r>
          </a:p>
          <a:p>
            <a:pPr marL="514350" indent="-514350" algn="just">
              <a:buFont typeface="+mj-lt"/>
              <a:buAutoNum type="arabicPeriod"/>
            </a:pPr>
            <a:endParaRPr lang="en-US" dirty="0">
              <a:latin typeface="Book Antiqua" panose="02040602050305030304" pitchFamily="18" charset="0"/>
            </a:endParaRPr>
          </a:p>
          <a:p>
            <a:pPr marL="514350" indent="-514350" algn="just">
              <a:buFont typeface="+mj-lt"/>
              <a:buAutoNum type="arabicPeriod"/>
            </a:pPr>
            <a:r>
              <a:rPr lang="en-US" dirty="0">
                <a:latin typeface="Book Antiqua" panose="02040602050305030304" pitchFamily="18" charset="0"/>
              </a:rPr>
              <a:t>Government non-intervention</a:t>
            </a:r>
          </a:p>
        </p:txBody>
      </p:sp>
    </p:spTree>
    <p:extLst>
      <p:ext uri="{BB962C8B-B14F-4D97-AF65-F5344CB8AC3E}">
        <p14:creationId xmlns:p14="http://schemas.microsoft.com/office/powerpoint/2010/main" val="34575974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78D30-0FD5-249F-96BB-A8E5E6E1C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0EB2E3-5FAD-4F0C-8BB6-B2E9B924FD60}"/>
              </a:ext>
            </a:extLst>
          </p:cNvPr>
          <p:cNvSpPr>
            <a:spLocks noGrp="1"/>
          </p:cNvSpPr>
          <p:nvPr>
            <p:ph type="title"/>
          </p:nvPr>
        </p:nvSpPr>
        <p:spPr>
          <a:xfrm>
            <a:off x="838200" y="365125"/>
            <a:ext cx="10515600" cy="762635"/>
          </a:xfrm>
        </p:spPr>
        <p:txBody>
          <a:bodyPr/>
          <a:lstStyle/>
          <a:p>
            <a:pPr algn="ctr"/>
            <a:r>
              <a:rPr lang="en-US" b="1" dirty="0">
                <a:solidFill>
                  <a:srgbClr val="C00000"/>
                </a:solidFill>
                <a:latin typeface="Book Antiqua" panose="02040602050305030304" pitchFamily="18" charset="0"/>
              </a:rPr>
              <a:t>Perfect Competition..</a:t>
            </a:r>
            <a:endParaRPr lang="en-GB" b="1"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7A6F9A7E-EEAD-1EE0-8876-25FEE2F4537F}"/>
              </a:ext>
            </a:extLst>
          </p:cNvPr>
          <p:cNvSpPr>
            <a:spLocks noGrp="1"/>
          </p:cNvSpPr>
          <p:nvPr>
            <p:ph idx="1"/>
          </p:nvPr>
        </p:nvSpPr>
        <p:spPr>
          <a:xfrm>
            <a:off x="838200" y="1127760"/>
            <a:ext cx="10515600" cy="5227320"/>
          </a:xfrm>
        </p:spPr>
        <p:txBody>
          <a:bodyPr>
            <a:normAutofit fontScale="92500"/>
          </a:bodyPr>
          <a:lstStyle/>
          <a:p>
            <a:pPr algn="just"/>
            <a:r>
              <a:rPr lang="en-US" dirty="0">
                <a:latin typeface="Book Antiqua" panose="02040602050305030304" pitchFamily="18" charset="0"/>
              </a:rPr>
              <a:t>The industry is defined as a group of firms producing a homogeneous product. </a:t>
            </a:r>
          </a:p>
          <a:p>
            <a:pPr algn="just"/>
            <a:r>
              <a:rPr lang="en-US" dirty="0">
                <a:latin typeface="Book Antiqua" panose="02040602050305030304" pitchFamily="18" charset="0"/>
              </a:rPr>
              <a:t>The assumptions of large numbers of sellers and of product homogeneity imply that the individual firm in pure competition is a price-taker: its demand curve is infinitely elastic, indicating that the firm can sell any amount of output at the prevailing market price.</a:t>
            </a:r>
          </a:p>
          <a:p>
            <a:pPr algn="just"/>
            <a:r>
              <a:rPr lang="en-US" dirty="0">
                <a:latin typeface="Book Antiqua" panose="02040602050305030304" pitchFamily="18" charset="0"/>
              </a:rPr>
              <a:t>It is assumed that all sellers and buyers have complete knowledge of the conditions of the market.</a:t>
            </a:r>
          </a:p>
          <a:p>
            <a:pPr algn="just"/>
            <a:r>
              <a:rPr lang="en-US" dirty="0">
                <a:latin typeface="Book Antiqua" panose="02040602050305030304" pitchFamily="18" charset="0"/>
              </a:rPr>
              <a:t>Entry or exit may take time, but firms have freedom of movement in and out of the industry.</a:t>
            </a:r>
          </a:p>
          <a:p>
            <a:pPr algn="just"/>
            <a:r>
              <a:rPr lang="en-US" dirty="0">
                <a:latin typeface="Book Antiqua" panose="02040602050305030304" pitchFamily="18" charset="0"/>
              </a:rPr>
              <a:t>There is no government intervention in the market (tariffs, subsidies, rationing of production or demand and so on are ruled out). </a:t>
            </a:r>
          </a:p>
        </p:txBody>
      </p:sp>
    </p:spTree>
    <p:extLst>
      <p:ext uri="{BB962C8B-B14F-4D97-AF65-F5344CB8AC3E}">
        <p14:creationId xmlns:p14="http://schemas.microsoft.com/office/powerpoint/2010/main" val="2631282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3158-4461-603E-80BD-DD14034091CB}"/>
              </a:ext>
            </a:extLst>
          </p:cNvPr>
          <p:cNvSpPr>
            <a:spLocks noGrp="1"/>
          </p:cNvSpPr>
          <p:nvPr>
            <p:ph type="title"/>
          </p:nvPr>
        </p:nvSpPr>
        <p:spPr>
          <a:xfrm>
            <a:off x="838200" y="365125"/>
            <a:ext cx="10515600" cy="838835"/>
          </a:xfrm>
        </p:spPr>
        <p:txBody>
          <a:bodyPr>
            <a:normAutofit fontScale="90000"/>
          </a:bodyPr>
          <a:lstStyle/>
          <a:p>
            <a:r>
              <a:rPr lang="en-US" sz="3200" b="1" dirty="0">
                <a:latin typeface="Book Antiqua" panose="02040602050305030304" pitchFamily="18" charset="0"/>
              </a:rPr>
              <a:t>Fig 1: The firms` demand curve under perfect competition</a:t>
            </a:r>
            <a:endParaRPr lang="en-GB" sz="3200" b="1" dirty="0">
              <a:latin typeface="Book Antiqua" panose="02040602050305030304" pitchFamily="18" charset="0"/>
            </a:endParaRPr>
          </a:p>
        </p:txBody>
      </p:sp>
      <p:pic>
        <p:nvPicPr>
          <p:cNvPr id="5" name="Content Placeholder 4">
            <a:extLst>
              <a:ext uri="{FF2B5EF4-FFF2-40B4-BE49-F238E27FC236}">
                <a16:creationId xmlns:a16="http://schemas.microsoft.com/office/drawing/2014/main" id="{076C118A-5D25-B7A9-CC32-076244F11723}"/>
              </a:ext>
            </a:extLst>
          </p:cNvPr>
          <p:cNvPicPr>
            <a:picLocks noGrp="1" noChangeAspect="1"/>
          </p:cNvPicPr>
          <p:nvPr>
            <p:ph idx="1"/>
          </p:nvPr>
        </p:nvPicPr>
        <p:blipFill>
          <a:blip r:embed="rId3"/>
          <a:srcRect l="1293" t="2790" r="969" b="2720"/>
          <a:stretch/>
        </p:blipFill>
        <p:spPr>
          <a:xfrm>
            <a:off x="1173480" y="1447800"/>
            <a:ext cx="9220200" cy="4358640"/>
          </a:xfrm>
        </p:spPr>
      </p:pic>
    </p:spTree>
    <p:extLst>
      <p:ext uri="{BB962C8B-B14F-4D97-AF65-F5344CB8AC3E}">
        <p14:creationId xmlns:p14="http://schemas.microsoft.com/office/powerpoint/2010/main" val="1157892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E5794-2A92-FA6E-2B8F-38069C8700E0}"/>
              </a:ext>
            </a:extLst>
          </p:cNvPr>
          <p:cNvSpPr>
            <a:spLocks noGrp="1"/>
          </p:cNvSpPr>
          <p:nvPr>
            <p:ph type="title"/>
          </p:nvPr>
        </p:nvSpPr>
        <p:spPr/>
        <p:txBody>
          <a:bodyPr/>
          <a:lstStyle/>
          <a:p>
            <a:r>
              <a:rPr lang="en-US" dirty="0">
                <a:latin typeface="Book Antiqua" panose="02040602050305030304" pitchFamily="18" charset="0"/>
              </a:rPr>
              <a:t>Imperfect markets</a:t>
            </a:r>
            <a:endParaRPr lang="en-GB"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6DA52FE7-2E0D-A8D0-49FD-3809BFC7AE76}"/>
              </a:ext>
            </a:extLst>
          </p:cNvPr>
          <p:cNvSpPr>
            <a:spLocks noGrp="1"/>
          </p:cNvSpPr>
          <p:nvPr>
            <p:ph idx="1"/>
          </p:nvPr>
        </p:nvSpPr>
        <p:spPr/>
        <p:txBody>
          <a:bodyPr/>
          <a:lstStyle/>
          <a:p>
            <a:r>
              <a:rPr lang="en-US" dirty="0">
                <a:latin typeface="Book Antiqua" panose="02040602050305030304" pitchFamily="18" charset="0"/>
              </a:rPr>
              <a:t>In economic theory, imperfect competition is a type of market structure showing some but not all features of competitive markets.</a:t>
            </a:r>
          </a:p>
          <a:p>
            <a:r>
              <a:rPr lang="en-US" dirty="0">
                <a:latin typeface="Book Antiqua" panose="02040602050305030304" pitchFamily="18" charset="0"/>
              </a:rPr>
              <a:t> </a:t>
            </a:r>
          </a:p>
          <a:p>
            <a:r>
              <a:rPr lang="en-US" dirty="0">
                <a:latin typeface="Book Antiqua" panose="02040602050305030304" pitchFamily="18" charset="0"/>
              </a:rPr>
              <a:t>Forms of imperfect competition include:</a:t>
            </a:r>
          </a:p>
          <a:p>
            <a:pPr lvl="1">
              <a:buFont typeface="Wingdings" panose="05000000000000000000" pitchFamily="2" charset="2"/>
              <a:buChar char="Ø"/>
            </a:pPr>
            <a:r>
              <a:rPr lang="en-GB" dirty="0">
                <a:latin typeface="Book Antiqua" panose="02040602050305030304" pitchFamily="18" charset="0"/>
              </a:rPr>
              <a:t>Monopoly</a:t>
            </a:r>
          </a:p>
          <a:p>
            <a:pPr lvl="1">
              <a:buFont typeface="Wingdings" panose="05000000000000000000" pitchFamily="2" charset="2"/>
              <a:buChar char="Ø"/>
            </a:pPr>
            <a:r>
              <a:rPr lang="en-GB" dirty="0">
                <a:latin typeface="Book Antiqua" panose="02040602050305030304" pitchFamily="18" charset="0"/>
              </a:rPr>
              <a:t>Oligopoly</a:t>
            </a:r>
          </a:p>
          <a:p>
            <a:pPr lvl="1">
              <a:buFont typeface="Wingdings" panose="05000000000000000000" pitchFamily="2" charset="2"/>
              <a:buChar char="Ø"/>
            </a:pPr>
            <a:r>
              <a:rPr lang="en-GB" dirty="0">
                <a:latin typeface="Book Antiqua" panose="02040602050305030304" pitchFamily="18" charset="0"/>
              </a:rPr>
              <a:t>Monopolistic competition</a:t>
            </a:r>
          </a:p>
        </p:txBody>
      </p:sp>
    </p:spTree>
    <p:extLst>
      <p:ext uri="{BB962C8B-B14F-4D97-AF65-F5344CB8AC3E}">
        <p14:creationId xmlns:p14="http://schemas.microsoft.com/office/powerpoint/2010/main" val="3703250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2CA84-198A-A872-BF51-3B0630F9C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CE939-724C-B3B7-0B05-FB00E990DD31}"/>
              </a:ext>
            </a:extLst>
          </p:cNvPr>
          <p:cNvSpPr>
            <a:spLocks noGrp="1"/>
          </p:cNvSpPr>
          <p:nvPr>
            <p:ph type="title"/>
          </p:nvPr>
        </p:nvSpPr>
        <p:spPr>
          <a:xfrm>
            <a:off x="838200" y="365125"/>
            <a:ext cx="10515600" cy="1128395"/>
          </a:xfrm>
        </p:spPr>
        <p:txBody>
          <a:bodyPr/>
          <a:lstStyle/>
          <a:p>
            <a:pPr marL="742950" indent="-742950" algn="ctr">
              <a:buFont typeface="+mj-lt"/>
              <a:buAutoNum type="arabicPeriod" startAt="2"/>
            </a:pPr>
            <a:r>
              <a:rPr lang="en-US" b="1" dirty="0">
                <a:solidFill>
                  <a:srgbClr val="C00000"/>
                </a:solidFill>
                <a:latin typeface="Book Antiqua" panose="02040602050305030304" pitchFamily="18" charset="0"/>
              </a:rPr>
              <a:t>Monopoly </a:t>
            </a:r>
            <a:endParaRPr lang="en-GB" b="1"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94B2888A-492C-6221-659C-3F8F3234097A}"/>
              </a:ext>
            </a:extLst>
          </p:cNvPr>
          <p:cNvSpPr>
            <a:spLocks noGrp="1"/>
          </p:cNvSpPr>
          <p:nvPr>
            <p:ph idx="1"/>
          </p:nvPr>
        </p:nvSpPr>
        <p:spPr>
          <a:xfrm>
            <a:off x="838200" y="1493520"/>
            <a:ext cx="10515600" cy="4683443"/>
          </a:xfrm>
        </p:spPr>
        <p:txBody>
          <a:bodyPr/>
          <a:lstStyle/>
          <a:p>
            <a:r>
              <a:rPr lang="en-US" dirty="0"/>
              <a:t>comes from a Greek word ‘</a:t>
            </a:r>
            <a:r>
              <a:rPr lang="en-US" dirty="0" err="1"/>
              <a:t>monos</a:t>
            </a:r>
            <a:r>
              <a:rPr lang="en-US" dirty="0"/>
              <a:t>’ which means ‘one’ and ‘</a:t>
            </a:r>
            <a:r>
              <a:rPr lang="en-US" dirty="0" err="1"/>
              <a:t>polein</a:t>
            </a:r>
            <a:r>
              <a:rPr lang="en-US" dirty="0"/>
              <a:t>’ means to ‘sell’.</a:t>
            </a:r>
          </a:p>
          <a:p>
            <a:r>
              <a:rPr lang="en-US" dirty="0"/>
              <a:t>There is only one seller of goods or services</a:t>
            </a:r>
          </a:p>
          <a:p>
            <a:endParaRPr lang="en-US" dirty="0"/>
          </a:p>
          <a:p>
            <a:r>
              <a:rPr lang="en-US" dirty="0"/>
              <a:t>A monopoly should be distinguished from a cartel. </a:t>
            </a:r>
          </a:p>
          <a:p>
            <a:endParaRPr lang="en-US" dirty="0"/>
          </a:p>
          <a:p>
            <a:r>
              <a:rPr lang="en-US" dirty="0"/>
              <a:t>Cartel refers to a market situation in which firms agree to cooperate with one another to behave as if they were a single firm and thus eliminate competitive behavior among them.) </a:t>
            </a:r>
            <a:endParaRPr lang="en-GB" dirty="0">
              <a:latin typeface="Book Antiqua" panose="02040602050305030304" pitchFamily="18" charset="0"/>
            </a:endParaRPr>
          </a:p>
        </p:txBody>
      </p:sp>
    </p:spTree>
    <p:extLst>
      <p:ext uri="{BB962C8B-B14F-4D97-AF65-F5344CB8AC3E}">
        <p14:creationId xmlns:p14="http://schemas.microsoft.com/office/powerpoint/2010/main" val="3985150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881F6-7AC0-1CC5-12AD-73F79E19B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94088-D497-27C9-9FCB-6DFC295CBED9}"/>
              </a:ext>
            </a:extLst>
          </p:cNvPr>
          <p:cNvSpPr>
            <a:spLocks noGrp="1"/>
          </p:cNvSpPr>
          <p:nvPr>
            <p:ph type="title"/>
          </p:nvPr>
        </p:nvSpPr>
        <p:spPr>
          <a:xfrm>
            <a:off x="838200" y="365125"/>
            <a:ext cx="10515600" cy="1128395"/>
          </a:xfrm>
        </p:spPr>
        <p:txBody>
          <a:bodyPr/>
          <a:lstStyle/>
          <a:p>
            <a:pPr marL="742950" indent="-742950" algn="ctr">
              <a:buFont typeface="+mj-lt"/>
              <a:buAutoNum type="arabicPeriod" startAt="2"/>
            </a:pPr>
            <a:r>
              <a:rPr lang="en-US" b="1" dirty="0">
                <a:solidFill>
                  <a:srgbClr val="C00000"/>
                </a:solidFill>
                <a:latin typeface="Book Antiqua" panose="02040602050305030304" pitchFamily="18" charset="0"/>
              </a:rPr>
              <a:t>Monopoly… </a:t>
            </a:r>
            <a:endParaRPr lang="en-GB" b="1"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41275D49-AACA-41B0-8EBE-78A5BD551E59}"/>
              </a:ext>
            </a:extLst>
          </p:cNvPr>
          <p:cNvSpPr>
            <a:spLocks noGrp="1"/>
          </p:cNvSpPr>
          <p:nvPr>
            <p:ph idx="1"/>
          </p:nvPr>
        </p:nvSpPr>
        <p:spPr>
          <a:xfrm>
            <a:off x="838200" y="1493520"/>
            <a:ext cx="10515600" cy="4683443"/>
          </a:xfrm>
        </p:spPr>
        <p:txBody>
          <a:bodyPr/>
          <a:lstStyle/>
          <a:p>
            <a:r>
              <a:rPr lang="en-US" dirty="0"/>
              <a:t>There is only one producer or seller of goods and only one provider of services in the market.</a:t>
            </a:r>
          </a:p>
          <a:p>
            <a:r>
              <a:rPr lang="en-US" dirty="0"/>
              <a:t> New firms find extreme difficulty in entering the market. The existing monopolist is considered giant in its field or industry.</a:t>
            </a:r>
          </a:p>
          <a:p>
            <a:r>
              <a:rPr lang="en-US" dirty="0"/>
              <a:t>There are no available substitute goods or services so that it is considered unique.</a:t>
            </a:r>
          </a:p>
          <a:p>
            <a:r>
              <a:rPr lang="en-US" dirty="0"/>
              <a:t>It controls the total supply of raw materials in the industry and has no control over price. </a:t>
            </a:r>
          </a:p>
          <a:p>
            <a:r>
              <a:rPr lang="en-US" dirty="0"/>
              <a:t>Its operations are under </a:t>
            </a:r>
            <a:r>
              <a:rPr lang="en-US" b="1" i="1" dirty="0">
                <a:solidFill>
                  <a:srgbClr val="C00000"/>
                </a:solidFill>
              </a:rPr>
              <a:t>economies of scale</a:t>
            </a:r>
            <a:r>
              <a:rPr lang="en-US" dirty="0"/>
              <a:t>. </a:t>
            </a:r>
            <a:endParaRPr lang="en-GB" dirty="0">
              <a:latin typeface="Book Antiqua" panose="02040602050305030304" pitchFamily="18" charset="0"/>
            </a:endParaRPr>
          </a:p>
        </p:txBody>
      </p:sp>
    </p:spTree>
    <p:extLst>
      <p:ext uri="{BB962C8B-B14F-4D97-AF65-F5344CB8AC3E}">
        <p14:creationId xmlns:p14="http://schemas.microsoft.com/office/powerpoint/2010/main" val="577555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F877D-9925-6C6B-81A2-6D06A14275FF}"/>
              </a:ext>
            </a:extLst>
          </p:cNvPr>
          <p:cNvSpPr>
            <a:spLocks noGrp="1"/>
          </p:cNvSpPr>
          <p:nvPr>
            <p:ph type="title"/>
          </p:nvPr>
        </p:nvSpPr>
        <p:spPr/>
        <p:txBody>
          <a:bodyPr/>
          <a:lstStyle/>
          <a:p>
            <a:r>
              <a:rPr lang="en-US" dirty="0">
                <a:latin typeface="Book Antiqua" panose="02040602050305030304" pitchFamily="18" charset="0"/>
              </a:rPr>
              <a:t>Classifications of monopoly </a:t>
            </a:r>
            <a:endParaRPr lang="en-GB"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8D4DB7BF-24B9-36F3-B8D5-196F1A8DF05A}"/>
              </a:ext>
            </a:extLst>
          </p:cNvPr>
          <p:cNvSpPr>
            <a:spLocks noGrp="1"/>
          </p:cNvSpPr>
          <p:nvPr>
            <p:ph idx="1"/>
          </p:nvPr>
        </p:nvSpPr>
        <p:spPr/>
        <p:txBody>
          <a:bodyPr>
            <a:normAutofit lnSpcReduction="10000"/>
          </a:bodyPr>
          <a:lstStyle/>
          <a:p>
            <a:pPr algn="just">
              <a:buFont typeface="Wingdings" panose="05000000000000000000" pitchFamily="2" charset="2"/>
              <a:buChar char="v"/>
            </a:pPr>
            <a:r>
              <a:rPr lang="en-US" b="1" dirty="0">
                <a:latin typeface="Book Antiqua" panose="02040602050305030304" pitchFamily="18" charset="0"/>
              </a:rPr>
              <a:t>Natural monopoly</a:t>
            </a:r>
          </a:p>
          <a:p>
            <a:pPr lvl="1" algn="just"/>
            <a:r>
              <a:rPr lang="en-US" dirty="0">
                <a:latin typeface="Book Antiqua" panose="02040602050305030304" pitchFamily="18" charset="0"/>
              </a:rPr>
              <a:t>is a market situation where is a single firm can supply the entire market due to the fundamental cost structure of the industry.</a:t>
            </a:r>
          </a:p>
          <a:p>
            <a:pPr algn="just">
              <a:buFont typeface="Wingdings" panose="05000000000000000000" pitchFamily="2" charset="2"/>
              <a:buChar char="v"/>
            </a:pPr>
            <a:r>
              <a:rPr lang="en-US" b="1" dirty="0">
                <a:latin typeface="Book Antiqua" panose="02040602050305030304" pitchFamily="18" charset="0"/>
              </a:rPr>
              <a:t>Legal monopoly</a:t>
            </a:r>
          </a:p>
          <a:p>
            <a:pPr lvl="1" algn="just"/>
            <a:r>
              <a:rPr lang="en-US" dirty="0">
                <a:latin typeface="Book Antiqua" panose="02040602050305030304" pitchFamily="18" charset="0"/>
              </a:rPr>
              <a:t>is sometimes called as de jure monopoly, a form of monopoly which the government grants to a private individual or firm over the product or services.</a:t>
            </a:r>
          </a:p>
          <a:p>
            <a:pPr algn="just">
              <a:buFont typeface="Wingdings" panose="05000000000000000000" pitchFamily="2" charset="2"/>
              <a:buChar char="v"/>
            </a:pPr>
            <a:r>
              <a:rPr lang="en-US" b="1" dirty="0">
                <a:latin typeface="Book Antiqua" panose="02040602050305030304" pitchFamily="18" charset="0"/>
              </a:rPr>
              <a:t>Coercive monopoly</a:t>
            </a:r>
          </a:p>
          <a:p>
            <a:pPr lvl="1" algn="just"/>
            <a:r>
              <a:rPr lang="en-US" dirty="0">
                <a:latin typeface="Book Antiqua" panose="02040602050305030304" pitchFamily="18" charset="0"/>
              </a:rPr>
              <a:t>is a form of monopoly whose existence as the sole producer and distributor of goods and services is by means of coercion (legal or illegal), so that most of the time it violates the principle of free market just to avoid competition.</a:t>
            </a:r>
          </a:p>
          <a:p>
            <a:pPr marL="0" indent="0">
              <a:buNone/>
            </a:pPr>
            <a:endParaRPr lang="en-GB" dirty="0">
              <a:latin typeface="Book Antiqua" panose="02040602050305030304" pitchFamily="18" charset="0"/>
            </a:endParaRPr>
          </a:p>
        </p:txBody>
      </p:sp>
    </p:spTree>
    <p:extLst>
      <p:ext uri="{BB962C8B-B14F-4D97-AF65-F5344CB8AC3E}">
        <p14:creationId xmlns:p14="http://schemas.microsoft.com/office/powerpoint/2010/main" val="580146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8ACA7-F532-52E8-0721-28BB5C29B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EB8E2-F3FC-33B9-9F58-99343C0FCD2D}"/>
              </a:ext>
            </a:extLst>
          </p:cNvPr>
          <p:cNvSpPr>
            <a:spLocks noGrp="1"/>
          </p:cNvSpPr>
          <p:nvPr>
            <p:ph type="title"/>
          </p:nvPr>
        </p:nvSpPr>
        <p:spPr>
          <a:xfrm>
            <a:off x="838200" y="365125"/>
            <a:ext cx="10515600" cy="1219835"/>
          </a:xfrm>
        </p:spPr>
        <p:txBody>
          <a:bodyPr/>
          <a:lstStyle/>
          <a:p>
            <a:pPr algn="ctr"/>
            <a:r>
              <a:rPr lang="en-US" b="1" dirty="0">
                <a:latin typeface="Book Antiqua" panose="02040602050305030304" pitchFamily="18" charset="0"/>
              </a:rPr>
              <a:t>Characteristics of a monopoly</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0F028C08-1D0A-2CD7-2D37-85656FD1A22A}"/>
              </a:ext>
            </a:extLst>
          </p:cNvPr>
          <p:cNvSpPr>
            <a:spLocks noGrp="1"/>
          </p:cNvSpPr>
          <p:nvPr>
            <p:ph idx="1"/>
          </p:nvPr>
        </p:nvSpPr>
        <p:spPr>
          <a:xfrm>
            <a:off x="838200" y="1584960"/>
            <a:ext cx="10515600" cy="4592003"/>
          </a:xfrm>
        </p:spPr>
        <p:txBody>
          <a:bodyPr>
            <a:normAutofit fontScale="92500" lnSpcReduction="20000"/>
          </a:bodyPr>
          <a:lstStyle/>
          <a:p>
            <a:pPr marL="514350" indent="-514350">
              <a:buFont typeface="+mj-lt"/>
              <a:buAutoNum type="arabicPeriod"/>
            </a:pPr>
            <a:r>
              <a:rPr lang="en-US" dirty="0">
                <a:latin typeface="Book Antiqua" panose="02040602050305030304" pitchFamily="18" charset="0"/>
              </a:rPr>
              <a:t>Single seller in the market</a:t>
            </a:r>
          </a:p>
          <a:p>
            <a:pPr marL="514350" indent="-514350">
              <a:buFont typeface="+mj-lt"/>
              <a:buAutoNum type="arabicPeriod"/>
            </a:pPr>
            <a:endParaRPr lang="en-US" dirty="0">
              <a:latin typeface="Book Antiqua" panose="02040602050305030304" pitchFamily="18" charset="0"/>
            </a:endParaRPr>
          </a:p>
          <a:p>
            <a:pPr marL="514350" indent="-514350">
              <a:buFont typeface="+mj-lt"/>
              <a:buAutoNum type="arabicPeriod"/>
            </a:pPr>
            <a:r>
              <a:rPr lang="en-US" dirty="0">
                <a:latin typeface="Book Antiqua" panose="02040602050305030304" pitchFamily="18" charset="0"/>
              </a:rPr>
              <a:t>No close substitutes</a:t>
            </a:r>
          </a:p>
          <a:p>
            <a:pPr marL="514350" indent="-514350">
              <a:buFont typeface="+mj-lt"/>
              <a:buAutoNum type="arabicPeriod"/>
            </a:pPr>
            <a:endParaRPr lang="en-US" dirty="0">
              <a:latin typeface="Book Antiqua" panose="02040602050305030304" pitchFamily="18" charset="0"/>
            </a:endParaRPr>
          </a:p>
          <a:p>
            <a:pPr marL="514350" indent="-514350">
              <a:buFont typeface="+mj-lt"/>
              <a:buAutoNum type="arabicPeriod"/>
            </a:pPr>
            <a:r>
              <a:rPr lang="en-US" dirty="0">
                <a:latin typeface="Book Antiqua" panose="02040602050305030304" pitchFamily="18" charset="0"/>
              </a:rPr>
              <a:t>No competition</a:t>
            </a:r>
          </a:p>
          <a:p>
            <a:pPr marL="514350" indent="-514350">
              <a:buFont typeface="+mj-lt"/>
              <a:buAutoNum type="arabicPeriod"/>
            </a:pPr>
            <a:endParaRPr lang="en-US" dirty="0">
              <a:latin typeface="Book Antiqua" panose="02040602050305030304" pitchFamily="18" charset="0"/>
            </a:endParaRPr>
          </a:p>
          <a:p>
            <a:pPr marL="514350" indent="-514350">
              <a:buFont typeface="+mj-lt"/>
              <a:buAutoNum type="arabicPeriod"/>
            </a:pPr>
            <a:r>
              <a:rPr lang="en-US" dirty="0">
                <a:latin typeface="Book Antiqua" panose="02040602050305030304" pitchFamily="18" charset="0"/>
              </a:rPr>
              <a:t>Price maker</a:t>
            </a:r>
          </a:p>
          <a:p>
            <a:pPr marL="514350" indent="-514350">
              <a:buFont typeface="+mj-lt"/>
              <a:buAutoNum type="arabicPeriod"/>
            </a:pPr>
            <a:endParaRPr lang="en-US" dirty="0">
              <a:latin typeface="Book Antiqua" panose="02040602050305030304" pitchFamily="18" charset="0"/>
            </a:endParaRPr>
          </a:p>
          <a:p>
            <a:pPr marL="514350" indent="-514350">
              <a:buFont typeface="+mj-lt"/>
              <a:buAutoNum type="arabicPeriod"/>
            </a:pPr>
            <a:r>
              <a:rPr lang="en-US" dirty="0">
                <a:latin typeface="Book Antiqua" panose="02040602050305030304" pitchFamily="18" charset="0"/>
              </a:rPr>
              <a:t>Entry barriers for new firms</a:t>
            </a:r>
          </a:p>
          <a:p>
            <a:pPr marL="514350" indent="-514350">
              <a:buFont typeface="+mj-lt"/>
              <a:buAutoNum type="arabicPeriod"/>
            </a:pPr>
            <a:endParaRPr lang="en-US" dirty="0">
              <a:latin typeface="Book Antiqua" panose="02040602050305030304" pitchFamily="18" charset="0"/>
            </a:endParaRPr>
          </a:p>
          <a:p>
            <a:pPr marL="514350" indent="-514350">
              <a:buFont typeface="+mj-lt"/>
              <a:buAutoNum type="arabicPeriod"/>
            </a:pPr>
            <a:r>
              <a:rPr lang="en-US" dirty="0">
                <a:latin typeface="Book Antiqua" panose="02040602050305030304" pitchFamily="18" charset="0"/>
              </a:rPr>
              <a:t>Can fix both price and output</a:t>
            </a:r>
            <a:endParaRPr lang="en-GB" dirty="0">
              <a:latin typeface="Book Antiqua" panose="02040602050305030304" pitchFamily="18" charset="0"/>
            </a:endParaRPr>
          </a:p>
        </p:txBody>
      </p:sp>
    </p:spTree>
    <p:extLst>
      <p:ext uri="{BB962C8B-B14F-4D97-AF65-F5344CB8AC3E}">
        <p14:creationId xmlns:p14="http://schemas.microsoft.com/office/powerpoint/2010/main" val="4015386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0424BA-4B50-3514-7EF7-C96E9852D850}"/>
              </a:ext>
            </a:extLst>
          </p:cNvPr>
          <p:cNvSpPr>
            <a:spLocks noGrp="1"/>
          </p:cNvSpPr>
          <p:nvPr>
            <p:ph type="title"/>
          </p:nvPr>
        </p:nvSpPr>
        <p:spPr>
          <a:xfrm>
            <a:off x="838200" y="365125"/>
            <a:ext cx="10515600" cy="747395"/>
          </a:xfrm>
        </p:spPr>
        <p:txBody>
          <a:bodyPr/>
          <a:lstStyle/>
          <a:p>
            <a:r>
              <a:rPr lang="en-US" dirty="0">
                <a:latin typeface="Book Antiqua" panose="02040602050305030304" pitchFamily="18" charset="0"/>
              </a:rPr>
              <a:t>Fig 2: Demand curve of Monopoly</a:t>
            </a:r>
            <a:endParaRPr lang="en-GB" dirty="0">
              <a:latin typeface="Book Antiqua" panose="02040602050305030304" pitchFamily="18" charset="0"/>
            </a:endParaRPr>
          </a:p>
        </p:txBody>
      </p:sp>
      <p:pic>
        <p:nvPicPr>
          <p:cNvPr id="8" name="Content Placeholder 7">
            <a:extLst>
              <a:ext uri="{FF2B5EF4-FFF2-40B4-BE49-F238E27FC236}">
                <a16:creationId xmlns:a16="http://schemas.microsoft.com/office/drawing/2014/main" id="{9759CECC-CA73-B847-F6F9-0D51DEED52DD}"/>
              </a:ext>
            </a:extLst>
          </p:cNvPr>
          <p:cNvPicPr>
            <a:picLocks noGrp="1" noChangeAspect="1"/>
          </p:cNvPicPr>
          <p:nvPr>
            <p:ph sz="half" idx="1"/>
          </p:nvPr>
        </p:nvPicPr>
        <p:blipFill>
          <a:blip r:embed="rId3"/>
          <a:stretch>
            <a:fillRect/>
          </a:stretch>
        </p:blipFill>
        <p:spPr>
          <a:xfrm>
            <a:off x="838200" y="1310641"/>
            <a:ext cx="5029200" cy="4881562"/>
          </a:xfrm>
        </p:spPr>
      </p:pic>
      <p:sp>
        <p:nvSpPr>
          <p:cNvPr id="6" name="Content Placeholder 5">
            <a:extLst>
              <a:ext uri="{FF2B5EF4-FFF2-40B4-BE49-F238E27FC236}">
                <a16:creationId xmlns:a16="http://schemas.microsoft.com/office/drawing/2014/main" id="{E5A0CA78-4B9A-7AA9-B3BA-AFD7FA3873E9}"/>
              </a:ext>
            </a:extLst>
          </p:cNvPr>
          <p:cNvSpPr>
            <a:spLocks noGrp="1"/>
          </p:cNvSpPr>
          <p:nvPr>
            <p:ph sz="half" idx="2"/>
          </p:nvPr>
        </p:nvSpPr>
        <p:spPr>
          <a:xfrm>
            <a:off x="6172200" y="1310641"/>
            <a:ext cx="5181600" cy="4881562"/>
          </a:xfrm>
        </p:spPr>
        <p:txBody>
          <a:bodyPr>
            <a:normAutofit fontScale="92500" lnSpcReduction="20000"/>
          </a:bodyPr>
          <a:lstStyle/>
          <a:p>
            <a:pPr algn="just"/>
            <a:r>
              <a:rPr lang="en-US" dirty="0">
                <a:latin typeface="Book Antiqua" panose="02040602050305030304" pitchFamily="18" charset="0"/>
              </a:rPr>
              <a:t>AR is a downward sloping curve.</a:t>
            </a:r>
          </a:p>
          <a:p>
            <a:pPr algn="just"/>
            <a:r>
              <a:rPr lang="en-US" dirty="0">
                <a:latin typeface="Book Antiqua" panose="02040602050305030304" pitchFamily="18" charset="0"/>
              </a:rPr>
              <a:t>The MR curve falls below the average revenue curve. </a:t>
            </a:r>
          </a:p>
          <a:p>
            <a:pPr algn="just"/>
            <a:r>
              <a:rPr lang="en-US" dirty="0">
                <a:latin typeface="Book Antiqua" panose="02040602050305030304" pitchFamily="18" charset="0"/>
              </a:rPr>
              <a:t>The monopolist is in equilibrium by equating MC and MR.</a:t>
            </a:r>
          </a:p>
          <a:p>
            <a:pPr algn="just"/>
            <a:r>
              <a:rPr lang="en-US" dirty="0">
                <a:latin typeface="Book Antiqua" panose="02040602050305030304" pitchFamily="18" charset="0"/>
              </a:rPr>
              <a:t>He will produce up to the point and charges a price which bring its maximum money profits. </a:t>
            </a:r>
          </a:p>
          <a:p>
            <a:pPr algn="just"/>
            <a:r>
              <a:rPr lang="en-US" dirty="0">
                <a:latin typeface="Book Antiqua" panose="02040602050305030304" pitchFamily="18" charset="0"/>
              </a:rPr>
              <a:t>The firm will go on producing as long as MR=MC.</a:t>
            </a:r>
          </a:p>
          <a:p>
            <a:pPr algn="just"/>
            <a:r>
              <a:rPr lang="en-US" dirty="0">
                <a:latin typeface="Book Antiqua" panose="02040602050305030304" pitchFamily="18" charset="0"/>
              </a:rPr>
              <a:t>MC and MR are equal at the point Q. </a:t>
            </a:r>
            <a:endParaRPr lang="en-GB" dirty="0">
              <a:latin typeface="Book Antiqua" panose="02040602050305030304" pitchFamily="18" charset="0"/>
            </a:endParaRPr>
          </a:p>
        </p:txBody>
      </p:sp>
    </p:spTree>
    <p:extLst>
      <p:ext uri="{BB962C8B-B14F-4D97-AF65-F5344CB8AC3E}">
        <p14:creationId xmlns:p14="http://schemas.microsoft.com/office/powerpoint/2010/main" val="18722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61C8D-D18B-2E78-3FAB-214E45F24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5CAF0-7EA6-DCED-0237-0FB0212D6911}"/>
              </a:ext>
            </a:extLst>
          </p:cNvPr>
          <p:cNvSpPr>
            <a:spLocks noGrp="1"/>
          </p:cNvSpPr>
          <p:nvPr>
            <p:ph type="title"/>
          </p:nvPr>
        </p:nvSpPr>
        <p:spPr/>
        <p:txBody>
          <a:bodyPr/>
          <a:lstStyle/>
          <a:p>
            <a:pPr marL="742950" indent="-742950" algn="ctr">
              <a:buFont typeface="+mj-lt"/>
              <a:buAutoNum type="arabicPeriod" startAt="3"/>
            </a:pPr>
            <a:r>
              <a:rPr lang="en-US" b="1" dirty="0">
                <a:solidFill>
                  <a:srgbClr val="C00000"/>
                </a:solidFill>
                <a:latin typeface="Book Antiqua" panose="02040602050305030304" pitchFamily="18" charset="0"/>
              </a:rPr>
              <a:t>Oligopoly</a:t>
            </a:r>
            <a:endParaRPr lang="en-GB" b="1"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B7F8CCFE-4E62-24FC-778A-7ACE1A101993}"/>
              </a:ext>
            </a:extLst>
          </p:cNvPr>
          <p:cNvSpPr>
            <a:spLocks noGrp="1"/>
          </p:cNvSpPr>
          <p:nvPr>
            <p:ph idx="1"/>
          </p:nvPr>
        </p:nvSpPr>
        <p:spPr/>
        <p:txBody>
          <a:bodyPr/>
          <a:lstStyle/>
          <a:p>
            <a:pPr algn="just"/>
            <a:r>
              <a:rPr lang="en-US" dirty="0">
                <a:latin typeface="Book Antiqua" panose="02040602050305030304" pitchFamily="18" charset="0"/>
              </a:rPr>
              <a:t>comes from the Greek word “oligo” which means ‘few’ and “</a:t>
            </a:r>
            <a:r>
              <a:rPr lang="en-US" dirty="0" err="1">
                <a:latin typeface="Book Antiqua" panose="02040602050305030304" pitchFamily="18" charset="0"/>
              </a:rPr>
              <a:t>polein</a:t>
            </a:r>
            <a:r>
              <a:rPr lang="en-US" dirty="0">
                <a:latin typeface="Book Antiqua" panose="02040602050305030304" pitchFamily="18" charset="0"/>
              </a:rPr>
              <a:t>” means ‘to sell’.</a:t>
            </a:r>
          </a:p>
          <a:p>
            <a:pPr algn="just"/>
            <a:r>
              <a:rPr lang="en-US" dirty="0">
                <a:latin typeface="Book Antiqua" panose="02040602050305030304" pitchFamily="18" charset="0"/>
              </a:rPr>
              <a:t>small number of sellers, each aware of the action of others.</a:t>
            </a:r>
          </a:p>
          <a:p>
            <a:pPr algn="just"/>
            <a:endParaRPr lang="en-US" dirty="0">
              <a:latin typeface="Book Antiqua" panose="02040602050305030304" pitchFamily="18" charset="0"/>
            </a:endParaRPr>
          </a:p>
          <a:p>
            <a:pPr algn="just"/>
            <a:r>
              <a:rPr lang="en-US" dirty="0">
                <a:latin typeface="Book Antiqua" panose="02040602050305030304" pitchFamily="18" charset="0"/>
              </a:rPr>
              <a:t>All decisions depend on how the firms behave in relation to each other.</a:t>
            </a:r>
          </a:p>
          <a:p>
            <a:pPr algn="just"/>
            <a:r>
              <a:rPr lang="en-US" dirty="0">
                <a:latin typeface="Book Antiqua" panose="02040602050305030304" pitchFamily="18" charset="0"/>
              </a:rPr>
              <a:t>In oligopoly, conjectural interdependence is present, that is, the decision of one firm influences and are influenced by the decision of other firms in the market. </a:t>
            </a:r>
          </a:p>
          <a:p>
            <a:endParaRPr lang="en-GB" dirty="0">
              <a:latin typeface="Book Antiqua" panose="02040602050305030304" pitchFamily="18" charset="0"/>
            </a:endParaRPr>
          </a:p>
        </p:txBody>
      </p:sp>
    </p:spTree>
    <p:extLst>
      <p:ext uri="{BB962C8B-B14F-4D97-AF65-F5344CB8AC3E}">
        <p14:creationId xmlns:p14="http://schemas.microsoft.com/office/powerpoint/2010/main" val="2405999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19EE7-66B9-B5E6-E156-B0006CF19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DE787-8B4E-9D54-FC57-8D976E26FDEF}"/>
              </a:ext>
            </a:extLst>
          </p:cNvPr>
          <p:cNvSpPr>
            <a:spLocks noGrp="1"/>
          </p:cNvSpPr>
          <p:nvPr>
            <p:ph type="title"/>
          </p:nvPr>
        </p:nvSpPr>
        <p:spPr>
          <a:xfrm>
            <a:off x="838200" y="365125"/>
            <a:ext cx="10515600" cy="1189355"/>
          </a:xfrm>
        </p:spPr>
        <p:txBody>
          <a:bodyPr/>
          <a:lstStyle/>
          <a:p>
            <a:pPr algn="ctr"/>
            <a:r>
              <a:rPr lang="en-US" b="1" dirty="0">
                <a:latin typeface="Book Antiqua" panose="02040602050305030304" pitchFamily="18" charset="0"/>
              </a:rPr>
              <a:t>Characteristics of oligopoly</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0CF92C22-4885-BA3E-748F-BAAF0AD8F59E}"/>
              </a:ext>
            </a:extLst>
          </p:cNvPr>
          <p:cNvSpPr>
            <a:spLocks noGrp="1"/>
          </p:cNvSpPr>
          <p:nvPr>
            <p:ph idx="1"/>
          </p:nvPr>
        </p:nvSpPr>
        <p:spPr>
          <a:xfrm>
            <a:off x="838200" y="1554480"/>
            <a:ext cx="10515600" cy="4622483"/>
          </a:xfrm>
        </p:spPr>
        <p:txBody>
          <a:bodyPr/>
          <a:lstStyle/>
          <a:p>
            <a:r>
              <a:rPr lang="en-US" dirty="0"/>
              <a:t>There are a small number of firms in the market selling differentiated or identical products.</a:t>
            </a:r>
          </a:p>
          <a:p>
            <a:r>
              <a:rPr lang="en-US" dirty="0"/>
              <a:t>The firm has control over price because of the small number of firms providing the entire supply of a certain product.</a:t>
            </a:r>
          </a:p>
          <a:p>
            <a:r>
              <a:rPr lang="en-US" dirty="0"/>
              <a:t>There is an extreme difficulty for new competitors to enter the market. </a:t>
            </a:r>
            <a:endParaRPr lang="en-GB" dirty="0">
              <a:latin typeface="Book Antiqua" panose="02040602050305030304" pitchFamily="18" charset="0"/>
            </a:endParaRPr>
          </a:p>
        </p:txBody>
      </p:sp>
    </p:spTree>
    <p:extLst>
      <p:ext uri="{BB962C8B-B14F-4D97-AF65-F5344CB8AC3E}">
        <p14:creationId xmlns:p14="http://schemas.microsoft.com/office/powerpoint/2010/main" val="1453174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79AC6-77B2-03D4-EDB9-F791D06C1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B8240-611F-00F6-7B93-442FEA537535}"/>
              </a:ext>
            </a:extLst>
          </p:cNvPr>
          <p:cNvSpPr>
            <a:spLocks noGrp="1"/>
          </p:cNvSpPr>
          <p:nvPr>
            <p:ph type="title"/>
          </p:nvPr>
        </p:nvSpPr>
        <p:spPr>
          <a:xfrm>
            <a:off x="838200" y="365125"/>
            <a:ext cx="10515600" cy="1189355"/>
          </a:xfrm>
        </p:spPr>
        <p:txBody>
          <a:bodyPr/>
          <a:lstStyle/>
          <a:p>
            <a:pPr algn="ctr"/>
            <a:r>
              <a:rPr lang="en-US" b="1" dirty="0">
                <a:latin typeface="Book Antiqua" panose="02040602050305030304" pitchFamily="18" charset="0"/>
              </a:rPr>
              <a:t>Characteristics of oligopoly..</a:t>
            </a:r>
            <a:endParaRPr lang="en-GB" b="1" dirty="0">
              <a:latin typeface="Book Antiqua" panose="02040602050305030304" pitchFamily="18" charset="0"/>
            </a:endParaRPr>
          </a:p>
        </p:txBody>
      </p:sp>
      <p:pic>
        <p:nvPicPr>
          <p:cNvPr id="5" name="Content Placeholder 4">
            <a:extLst>
              <a:ext uri="{FF2B5EF4-FFF2-40B4-BE49-F238E27FC236}">
                <a16:creationId xmlns:a16="http://schemas.microsoft.com/office/drawing/2014/main" id="{4BFF4CE0-F460-DB33-7E49-F848842BBDFF}"/>
              </a:ext>
            </a:extLst>
          </p:cNvPr>
          <p:cNvPicPr>
            <a:picLocks noGrp="1" noChangeAspect="1"/>
          </p:cNvPicPr>
          <p:nvPr>
            <p:ph idx="1"/>
          </p:nvPr>
        </p:nvPicPr>
        <p:blipFill>
          <a:blip r:embed="rId2"/>
          <a:stretch>
            <a:fillRect/>
          </a:stretch>
        </p:blipFill>
        <p:spPr>
          <a:xfrm>
            <a:off x="1219200" y="1676400"/>
            <a:ext cx="10134600" cy="4389120"/>
          </a:xfrm>
        </p:spPr>
      </p:pic>
    </p:spTree>
    <p:extLst>
      <p:ext uri="{BB962C8B-B14F-4D97-AF65-F5344CB8AC3E}">
        <p14:creationId xmlns:p14="http://schemas.microsoft.com/office/powerpoint/2010/main" val="324094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06A9-26D7-38D7-5A91-7332A6978A54}"/>
              </a:ext>
            </a:extLst>
          </p:cNvPr>
          <p:cNvSpPr>
            <a:spLocks noGrp="1"/>
          </p:cNvSpPr>
          <p:nvPr>
            <p:ph type="title"/>
          </p:nvPr>
        </p:nvSpPr>
        <p:spPr/>
        <p:txBody>
          <a:bodyPr/>
          <a:lstStyle/>
          <a:p>
            <a:r>
              <a:rPr lang="en-US" b="1" dirty="0">
                <a:latin typeface="Book Antiqua" panose="02040602050305030304" pitchFamily="18" charset="0"/>
              </a:rPr>
              <a:t>Types of oligopoly</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241D177D-3AB8-21C5-78FD-8CBC5CB26363}"/>
              </a:ext>
            </a:extLst>
          </p:cNvPr>
          <p:cNvSpPr>
            <a:spLocks noGrp="1"/>
          </p:cNvSpPr>
          <p:nvPr>
            <p:ph idx="1"/>
          </p:nvPr>
        </p:nvSpPr>
        <p:spPr>
          <a:xfrm>
            <a:off x="838200" y="1569720"/>
            <a:ext cx="10515600" cy="4607243"/>
          </a:xfrm>
        </p:spPr>
        <p:txBody>
          <a:bodyPr/>
          <a:lstStyle/>
          <a:p>
            <a:pPr>
              <a:buFont typeface="Wingdings" panose="05000000000000000000" pitchFamily="2" charset="2"/>
              <a:buChar char="v"/>
            </a:pPr>
            <a:r>
              <a:rPr lang="en-US" b="1" dirty="0">
                <a:latin typeface="Book Antiqua" panose="02040602050305030304" pitchFamily="18" charset="0"/>
              </a:rPr>
              <a:t>Pure or Perfect Oligopoly</a:t>
            </a:r>
          </a:p>
          <a:p>
            <a:pPr lvl="1"/>
            <a:r>
              <a:rPr lang="en-US" dirty="0">
                <a:latin typeface="Book Antiqua" panose="02040602050305030304" pitchFamily="18" charset="0"/>
              </a:rPr>
              <a:t>If the firms produce homogeneous products </a:t>
            </a:r>
            <a:endParaRPr lang="en-US" b="1" dirty="0">
              <a:latin typeface="Book Antiqua" panose="02040602050305030304" pitchFamily="18" charset="0"/>
            </a:endParaRPr>
          </a:p>
          <a:p>
            <a:pPr>
              <a:buFont typeface="Wingdings" panose="05000000000000000000" pitchFamily="2" charset="2"/>
              <a:buChar char="v"/>
            </a:pPr>
            <a:r>
              <a:rPr lang="en-US" b="1" dirty="0">
                <a:latin typeface="Book Antiqua" panose="02040602050305030304" pitchFamily="18" charset="0"/>
              </a:rPr>
              <a:t>Imperfect or Differentiated Oligopoly</a:t>
            </a:r>
          </a:p>
          <a:p>
            <a:pPr lvl="1"/>
            <a:r>
              <a:rPr lang="en-US" dirty="0">
                <a:latin typeface="Book Antiqua" panose="02040602050305030304" pitchFamily="18" charset="0"/>
              </a:rPr>
              <a:t>If the firms produce differentiated products </a:t>
            </a:r>
          </a:p>
          <a:p>
            <a:pPr>
              <a:buFont typeface="Wingdings" panose="05000000000000000000" pitchFamily="2" charset="2"/>
              <a:buChar char="v"/>
            </a:pPr>
            <a:r>
              <a:rPr lang="en-US" b="1" dirty="0">
                <a:latin typeface="Book Antiqua" panose="02040602050305030304" pitchFamily="18" charset="0"/>
              </a:rPr>
              <a:t>Collusive Oligopoly</a:t>
            </a:r>
          </a:p>
          <a:p>
            <a:pPr lvl="1"/>
            <a:r>
              <a:rPr lang="en-US" dirty="0">
                <a:latin typeface="Book Antiqua" panose="02040602050305030304" pitchFamily="18" charset="0"/>
              </a:rPr>
              <a:t>If the firms cooperate with each other in determining price or output or both</a:t>
            </a:r>
          </a:p>
          <a:p>
            <a:pPr>
              <a:buFont typeface="Wingdings" panose="05000000000000000000" pitchFamily="2" charset="2"/>
              <a:buChar char="v"/>
            </a:pPr>
            <a:r>
              <a:rPr lang="en-US" b="1" dirty="0">
                <a:latin typeface="Book Antiqua" panose="02040602050305030304" pitchFamily="18" charset="0"/>
              </a:rPr>
              <a:t>Non-collusive Oligopoly</a:t>
            </a:r>
          </a:p>
          <a:p>
            <a:pPr lvl="1"/>
            <a:r>
              <a:rPr lang="en-US" dirty="0">
                <a:latin typeface="Book Antiqua" panose="02040602050305030304" pitchFamily="18" charset="0"/>
              </a:rPr>
              <a:t>• If firms in an oligopoly market compete with each other </a:t>
            </a:r>
            <a:endParaRPr lang="en-GB" dirty="0">
              <a:latin typeface="Book Antiqua" panose="02040602050305030304" pitchFamily="18" charset="0"/>
            </a:endParaRPr>
          </a:p>
        </p:txBody>
      </p:sp>
    </p:spTree>
    <p:extLst>
      <p:ext uri="{BB962C8B-B14F-4D97-AF65-F5344CB8AC3E}">
        <p14:creationId xmlns:p14="http://schemas.microsoft.com/office/powerpoint/2010/main" val="3352971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C5790-7D0B-CED6-2251-9ADA36C95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6466A-9D2D-778C-7C1A-A1B9DBB82934}"/>
              </a:ext>
            </a:extLst>
          </p:cNvPr>
          <p:cNvSpPr>
            <a:spLocks noGrp="1"/>
          </p:cNvSpPr>
          <p:nvPr>
            <p:ph type="title"/>
          </p:nvPr>
        </p:nvSpPr>
        <p:spPr/>
        <p:txBody>
          <a:bodyPr/>
          <a:lstStyle/>
          <a:p>
            <a:r>
              <a:rPr lang="en-US" b="1" dirty="0">
                <a:latin typeface="Book Antiqua" panose="02040602050305030304" pitchFamily="18" charset="0"/>
              </a:rPr>
              <a:t>Types of oligopoly</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C30A497B-0FF0-49B7-88E6-684FECC7BDC2}"/>
              </a:ext>
            </a:extLst>
          </p:cNvPr>
          <p:cNvSpPr>
            <a:spLocks noGrp="1"/>
          </p:cNvSpPr>
          <p:nvPr>
            <p:ph idx="1"/>
          </p:nvPr>
        </p:nvSpPr>
        <p:spPr>
          <a:xfrm>
            <a:off x="838200" y="1569720"/>
            <a:ext cx="10515600" cy="4607243"/>
          </a:xfrm>
        </p:spPr>
        <p:txBody>
          <a:bodyPr/>
          <a:lstStyle/>
          <a:p>
            <a:r>
              <a:rPr lang="en-US" b="1" dirty="0"/>
              <a:t>Cartel</a:t>
            </a:r>
            <a:r>
              <a:rPr lang="en-US" dirty="0"/>
              <a:t> is a formal agreement among oligopolists to set-up a monopoly price, allocate output, and share profit among members.</a:t>
            </a:r>
          </a:p>
          <a:p>
            <a:endParaRPr lang="en-US" dirty="0"/>
          </a:p>
          <a:p>
            <a:r>
              <a:rPr lang="en-US" b="1" dirty="0"/>
              <a:t>Collusion</a:t>
            </a:r>
            <a:r>
              <a:rPr lang="en-US" dirty="0"/>
              <a:t> is a formal or an informal agreement among oligopolists to adopt policies that will restrict or reduce the level of competition in the market.</a:t>
            </a:r>
            <a:endParaRPr lang="en-GB" dirty="0">
              <a:latin typeface="Book Antiqua" panose="02040602050305030304" pitchFamily="18" charset="0"/>
            </a:endParaRPr>
          </a:p>
        </p:txBody>
      </p:sp>
    </p:spTree>
    <p:extLst>
      <p:ext uri="{BB962C8B-B14F-4D97-AF65-F5344CB8AC3E}">
        <p14:creationId xmlns:p14="http://schemas.microsoft.com/office/powerpoint/2010/main" val="1850070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39E9D1-9C5F-E260-20E5-AD16D43DBDD5}"/>
              </a:ext>
            </a:extLst>
          </p:cNvPr>
          <p:cNvSpPr>
            <a:spLocks noGrp="1"/>
          </p:cNvSpPr>
          <p:nvPr>
            <p:ph type="title"/>
          </p:nvPr>
        </p:nvSpPr>
        <p:spPr/>
        <p:txBody>
          <a:bodyPr/>
          <a:lstStyle/>
          <a:p>
            <a:r>
              <a:rPr lang="en-US" dirty="0">
                <a:latin typeface="Book Antiqua" panose="02040602050305030304" pitchFamily="18" charset="0"/>
              </a:rPr>
              <a:t>Fig 3: A product under oligopoly</a:t>
            </a:r>
            <a:endParaRPr lang="en-GB" dirty="0">
              <a:latin typeface="Book Antiqua" panose="02040602050305030304" pitchFamily="18" charset="0"/>
            </a:endParaRPr>
          </a:p>
        </p:txBody>
      </p:sp>
      <p:pic>
        <p:nvPicPr>
          <p:cNvPr id="8" name="Content Placeholder 7">
            <a:extLst>
              <a:ext uri="{FF2B5EF4-FFF2-40B4-BE49-F238E27FC236}">
                <a16:creationId xmlns:a16="http://schemas.microsoft.com/office/drawing/2014/main" id="{DED70F0D-72E9-4192-FECF-3F89423976F3}"/>
              </a:ext>
            </a:extLst>
          </p:cNvPr>
          <p:cNvPicPr>
            <a:picLocks noGrp="1" noChangeAspect="1"/>
          </p:cNvPicPr>
          <p:nvPr>
            <p:ph sz="half" idx="1"/>
          </p:nvPr>
        </p:nvPicPr>
        <p:blipFill>
          <a:blip r:embed="rId3"/>
          <a:stretch>
            <a:fillRect/>
          </a:stretch>
        </p:blipFill>
        <p:spPr>
          <a:xfrm>
            <a:off x="838200" y="1950720"/>
            <a:ext cx="5181600" cy="4031113"/>
          </a:xfrm>
        </p:spPr>
      </p:pic>
      <p:sp>
        <p:nvSpPr>
          <p:cNvPr id="6" name="Content Placeholder 5">
            <a:extLst>
              <a:ext uri="{FF2B5EF4-FFF2-40B4-BE49-F238E27FC236}">
                <a16:creationId xmlns:a16="http://schemas.microsoft.com/office/drawing/2014/main" id="{7D1BD490-393D-61EA-D599-723A340981B4}"/>
              </a:ext>
            </a:extLst>
          </p:cNvPr>
          <p:cNvSpPr>
            <a:spLocks noGrp="1"/>
          </p:cNvSpPr>
          <p:nvPr>
            <p:ph sz="half" idx="2"/>
          </p:nvPr>
        </p:nvSpPr>
        <p:spPr/>
        <p:txBody>
          <a:bodyPr>
            <a:normAutofit fontScale="92500"/>
          </a:bodyPr>
          <a:lstStyle/>
          <a:p>
            <a:pPr algn="just"/>
            <a:r>
              <a:rPr lang="en-US" dirty="0">
                <a:latin typeface="Book Antiqua" panose="02040602050305030304" pitchFamily="18" charset="0"/>
              </a:rPr>
              <a:t>Since MR follows AR, there is discontinuity in the MR curve below the point corresponding to the Kink. </a:t>
            </a:r>
          </a:p>
          <a:p>
            <a:pPr algn="just"/>
            <a:r>
              <a:rPr lang="en-US" dirty="0">
                <a:latin typeface="Book Antiqua" panose="02040602050305030304" pitchFamily="18" charset="0"/>
              </a:rPr>
              <a:t>MC cuts the MR curve between the point T&amp;S. Therefore equilibrium output and price do not undergo any change. </a:t>
            </a:r>
          </a:p>
          <a:p>
            <a:pPr algn="just"/>
            <a:r>
              <a:rPr lang="en-US" dirty="0">
                <a:latin typeface="Book Antiqua" panose="02040602050305030304" pitchFamily="18" charset="0"/>
              </a:rPr>
              <a:t>The firm will be in equilibrium producing OM level of output at OP price</a:t>
            </a:r>
            <a:endParaRPr lang="en-GB" dirty="0">
              <a:latin typeface="Book Antiqua" panose="02040602050305030304" pitchFamily="18" charset="0"/>
            </a:endParaRPr>
          </a:p>
        </p:txBody>
      </p:sp>
    </p:spTree>
    <p:extLst>
      <p:ext uri="{BB962C8B-B14F-4D97-AF65-F5344CB8AC3E}">
        <p14:creationId xmlns:p14="http://schemas.microsoft.com/office/powerpoint/2010/main" val="2171003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17EA5-A9F9-D3B0-4074-179FA072A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CD9B1-01CC-388D-2EBB-3F62CA2BEDFF}"/>
              </a:ext>
            </a:extLst>
          </p:cNvPr>
          <p:cNvSpPr>
            <a:spLocks noGrp="1"/>
          </p:cNvSpPr>
          <p:nvPr>
            <p:ph type="title"/>
          </p:nvPr>
        </p:nvSpPr>
        <p:spPr>
          <a:xfrm>
            <a:off x="838200" y="365125"/>
            <a:ext cx="10515600" cy="960755"/>
          </a:xfrm>
        </p:spPr>
        <p:txBody>
          <a:bodyPr/>
          <a:lstStyle/>
          <a:p>
            <a:pPr algn="ctr"/>
            <a:r>
              <a:rPr lang="en-US" b="1" dirty="0">
                <a:latin typeface="Book Antiqua" panose="02040602050305030304" pitchFamily="18" charset="0"/>
              </a:rPr>
              <a:t>Kinked demand curve</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4EDC86CA-D8F3-705B-8EA5-8899F5C001ED}"/>
              </a:ext>
            </a:extLst>
          </p:cNvPr>
          <p:cNvSpPr>
            <a:spLocks noGrp="1"/>
          </p:cNvSpPr>
          <p:nvPr>
            <p:ph idx="1"/>
          </p:nvPr>
        </p:nvSpPr>
        <p:spPr>
          <a:xfrm>
            <a:off x="838200" y="1325880"/>
            <a:ext cx="10515600" cy="4851083"/>
          </a:xfrm>
        </p:spPr>
        <p:txBody>
          <a:bodyPr>
            <a:normAutofit fontScale="92500" lnSpcReduction="20000"/>
          </a:bodyPr>
          <a:lstStyle/>
          <a:p>
            <a:pPr algn="just"/>
            <a:r>
              <a:rPr lang="en-US" dirty="0">
                <a:latin typeface="Book Antiqua" panose="02040602050305030304" pitchFamily="18" charset="0"/>
              </a:rPr>
              <a:t>Kinked demand curve is defined as the demand curve of the individual firm in oligopolistic market. It has a “kink” at the existing price caused by the firm’s expectation of the actions its rivals are likely to take if the firm changes its price. </a:t>
            </a:r>
          </a:p>
          <a:p>
            <a:pPr algn="just"/>
            <a:endParaRPr lang="en-US" dirty="0">
              <a:latin typeface="Book Antiqua" panose="02040602050305030304" pitchFamily="18" charset="0"/>
            </a:endParaRPr>
          </a:p>
          <a:p>
            <a:pPr algn="just"/>
            <a:r>
              <a:rPr lang="en-US" dirty="0">
                <a:latin typeface="Book Antiqua" panose="02040602050305030304" pitchFamily="18" charset="0"/>
              </a:rPr>
              <a:t>The demand curve is an oligopoly ha s a distinctive “kink” due to the different reactions of competitors to price increases and decreases:</a:t>
            </a:r>
          </a:p>
          <a:p>
            <a:pPr lvl="1" algn="just">
              <a:buFont typeface="Wingdings" panose="05000000000000000000" pitchFamily="2" charset="2"/>
              <a:buChar char="§"/>
            </a:pPr>
            <a:r>
              <a:rPr lang="en-GB" b="1" dirty="0">
                <a:latin typeface="Book Antiqua" panose="02040602050305030304" pitchFamily="18" charset="0"/>
              </a:rPr>
              <a:t>Above the kink (price increases): </a:t>
            </a:r>
            <a:r>
              <a:rPr lang="en-GB" dirty="0">
                <a:latin typeface="Book Antiqua" panose="02040602050305030304" pitchFamily="18" charset="0"/>
              </a:rPr>
              <a:t>The demand curve is elastic, meaning a price increase leads to a large drop in quantity demanded since consumers switch to competitors who did not raise prices.</a:t>
            </a:r>
          </a:p>
          <a:p>
            <a:pPr marL="457200" lvl="1" indent="0" algn="just">
              <a:buNone/>
            </a:pPr>
            <a:endParaRPr lang="en-GB" dirty="0">
              <a:latin typeface="Book Antiqua" panose="02040602050305030304" pitchFamily="18" charset="0"/>
            </a:endParaRPr>
          </a:p>
          <a:p>
            <a:pPr lvl="1" algn="just">
              <a:buFont typeface="Wingdings" panose="05000000000000000000" pitchFamily="2" charset="2"/>
              <a:buChar char="§"/>
            </a:pPr>
            <a:r>
              <a:rPr lang="en-GB" b="1" dirty="0">
                <a:latin typeface="Book Antiqua" panose="02040602050305030304" pitchFamily="18" charset="0"/>
              </a:rPr>
              <a:t>Below the kink (price decreases): </a:t>
            </a:r>
            <a:r>
              <a:rPr lang="en-GB" dirty="0">
                <a:latin typeface="Book Antiqua" panose="02040602050305030304" pitchFamily="18" charset="0"/>
              </a:rPr>
              <a:t>The demand curve in inelastic, meaning a price cut does not significantly increase sales since all firms lower prices simultaneously.</a:t>
            </a:r>
          </a:p>
        </p:txBody>
      </p:sp>
    </p:spTree>
    <p:extLst>
      <p:ext uri="{BB962C8B-B14F-4D97-AF65-F5344CB8AC3E}">
        <p14:creationId xmlns:p14="http://schemas.microsoft.com/office/powerpoint/2010/main" val="2138477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AC093-D7B6-B65D-77DB-701DAE188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20832-828D-5684-2212-B39C91187189}"/>
              </a:ext>
            </a:extLst>
          </p:cNvPr>
          <p:cNvSpPr>
            <a:spLocks noGrp="1"/>
          </p:cNvSpPr>
          <p:nvPr>
            <p:ph type="title"/>
          </p:nvPr>
        </p:nvSpPr>
        <p:spPr>
          <a:xfrm>
            <a:off x="838200" y="365125"/>
            <a:ext cx="10515600" cy="960755"/>
          </a:xfrm>
        </p:spPr>
        <p:txBody>
          <a:bodyPr/>
          <a:lstStyle/>
          <a:p>
            <a:pPr algn="ctr"/>
            <a:r>
              <a:rPr lang="en-US" b="1" dirty="0">
                <a:latin typeface="Book Antiqua" panose="02040602050305030304" pitchFamily="18" charset="0"/>
              </a:rPr>
              <a:t>Kinked demand curve..</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FAD8BC16-CD92-4D31-F4FE-6943933014E0}"/>
              </a:ext>
            </a:extLst>
          </p:cNvPr>
          <p:cNvSpPr>
            <a:spLocks noGrp="1"/>
          </p:cNvSpPr>
          <p:nvPr>
            <p:ph idx="1"/>
          </p:nvPr>
        </p:nvSpPr>
        <p:spPr>
          <a:xfrm>
            <a:off x="838200" y="1325880"/>
            <a:ext cx="10515600" cy="4851083"/>
          </a:xfrm>
        </p:spPr>
        <p:txBody>
          <a:bodyPr>
            <a:normAutofit lnSpcReduction="10000"/>
          </a:bodyPr>
          <a:lstStyle/>
          <a:p>
            <a:pPr algn="just"/>
            <a:r>
              <a:rPr lang="en-US" dirty="0">
                <a:latin typeface="Book Antiqua" panose="02040602050305030304" pitchFamily="18" charset="0"/>
              </a:rPr>
              <a:t>The kink in the </a:t>
            </a:r>
            <a:r>
              <a:rPr lang="en-US" dirty="0" err="1">
                <a:latin typeface="Book Antiqua" panose="02040602050305030304" pitchFamily="18" charset="0"/>
              </a:rPr>
              <a:t>deman</a:t>
            </a:r>
            <a:r>
              <a:rPr lang="en-US" dirty="0">
                <a:latin typeface="Book Antiqua" panose="02040602050305030304" pitchFamily="18" charset="0"/>
              </a:rPr>
              <a:t> curve results in a discontinuous marginal </a:t>
            </a:r>
            <a:r>
              <a:rPr lang="en-US" dirty="0" err="1">
                <a:latin typeface="Book Antiqua" panose="02040602050305030304" pitchFamily="18" charset="0"/>
              </a:rPr>
              <a:t>revenuew</a:t>
            </a:r>
            <a:r>
              <a:rPr lang="en-US" dirty="0">
                <a:latin typeface="Book Antiqua" panose="02040602050305030304" pitchFamily="18" charset="0"/>
              </a:rPr>
              <a:t> curve (MR), meaning that even if marginal costs (MC) change, firm may not change their prices.</a:t>
            </a:r>
          </a:p>
          <a:p>
            <a:pPr algn="just"/>
            <a:endParaRPr lang="en-US" dirty="0">
              <a:latin typeface="Book Antiqua" panose="02040602050305030304" pitchFamily="18" charset="0"/>
            </a:endParaRPr>
          </a:p>
          <a:p>
            <a:pPr algn="just"/>
            <a:r>
              <a:rPr lang="en-US" dirty="0">
                <a:latin typeface="Book Antiqua" panose="02040602050305030304" pitchFamily="18" charset="0"/>
              </a:rPr>
              <a:t>Since the MR curve has a gap at the kink, as long as MC stays within this gap, the profit-maximizing firm has no incentive to change price or output.</a:t>
            </a:r>
          </a:p>
          <a:p>
            <a:pPr algn="just"/>
            <a:endParaRPr lang="en-US" dirty="0">
              <a:latin typeface="Book Antiqua" panose="02040602050305030304" pitchFamily="18" charset="0"/>
            </a:endParaRPr>
          </a:p>
          <a:p>
            <a:pPr algn="just"/>
            <a:r>
              <a:rPr lang="en-US" dirty="0">
                <a:latin typeface="Book Antiqua" panose="02040602050305030304" pitchFamily="18" charset="0"/>
              </a:rPr>
              <a:t>The kinked demand curve provides a useful explanation of price stability in oligopolies, emphasizing the strategic interdependence of firms.</a:t>
            </a:r>
            <a:endParaRPr lang="en-GB" dirty="0">
              <a:latin typeface="Book Antiqua" panose="02040602050305030304" pitchFamily="18" charset="0"/>
            </a:endParaRPr>
          </a:p>
          <a:p>
            <a:pPr algn="just"/>
            <a:r>
              <a:rPr lang="en-US" dirty="0">
                <a:latin typeface="Book Antiqua" panose="02040602050305030304" pitchFamily="18" charset="0"/>
              </a:rPr>
              <a:t> </a:t>
            </a:r>
          </a:p>
          <a:p>
            <a:pPr algn="just"/>
            <a:endParaRPr lang="en-GB" dirty="0">
              <a:latin typeface="Book Antiqua" panose="02040602050305030304" pitchFamily="18" charset="0"/>
            </a:endParaRPr>
          </a:p>
        </p:txBody>
      </p:sp>
    </p:spTree>
    <p:extLst>
      <p:ext uri="{BB962C8B-B14F-4D97-AF65-F5344CB8AC3E}">
        <p14:creationId xmlns:p14="http://schemas.microsoft.com/office/powerpoint/2010/main" val="2240298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1F476-F41F-F728-E6C5-44275F297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1D8D1-B43D-DB10-9070-3D2747AA7194}"/>
              </a:ext>
            </a:extLst>
          </p:cNvPr>
          <p:cNvSpPr>
            <a:spLocks noGrp="1"/>
          </p:cNvSpPr>
          <p:nvPr>
            <p:ph type="title"/>
          </p:nvPr>
        </p:nvSpPr>
        <p:spPr>
          <a:xfrm>
            <a:off x="838200" y="365125"/>
            <a:ext cx="10515600" cy="960755"/>
          </a:xfrm>
        </p:spPr>
        <p:txBody>
          <a:bodyPr/>
          <a:lstStyle/>
          <a:p>
            <a:pPr algn="ctr"/>
            <a:r>
              <a:rPr lang="en-US" b="1" dirty="0">
                <a:latin typeface="Book Antiqua" panose="02040602050305030304" pitchFamily="18" charset="0"/>
              </a:rPr>
              <a:t>Kinked demand curve..</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17BED862-FA0D-3148-1260-D245F4401A70}"/>
              </a:ext>
            </a:extLst>
          </p:cNvPr>
          <p:cNvSpPr>
            <a:spLocks noGrp="1"/>
          </p:cNvSpPr>
          <p:nvPr>
            <p:ph idx="1"/>
          </p:nvPr>
        </p:nvSpPr>
        <p:spPr>
          <a:xfrm>
            <a:off x="838200" y="1325880"/>
            <a:ext cx="10515600" cy="4851083"/>
          </a:xfrm>
        </p:spPr>
        <p:txBody>
          <a:bodyPr>
            <a:normAutofit/>
          </a:bodyPr>
          <a:lstStyle/>
          <a:p>
            <a:pPr algn="just">
              <a:buFont typeface="Wingdings" panose="05000000000000000000" pitchFamily="2" charset="2"/>
              <a:buChar char="v"/>
            </a:pPr>
            <a:r>
              <a:rPr lang="en-US" b="1" dirty="0">
                <a:solidFill>
                  <a:srgbClr val="C00000"/>
                </a:solidFill>
                <a:latin typeface="Book Antiqua" panose="02040602050305030304" pitchFamily="18" charset="0"/>
              </a:rPr>
              <a:t>Implications of the Kinked Demand Curve Model</a:t>
            </a:r>
          </a:p>
          <a:p>
            <a:pPr marL="514350" indent="-514350" algn="just">
              <a:buFont typeface="+mj-lt"/>
              <a:buAutoNum type="arabicPeriod"/>
            </a:pPr>
            <a:r>
              <a:rPr lang="en-US" b="1" dirty="0">
                <a:latin typeface="Book Antiqua" panose="02040602050305030304" pitchFamily="18" charset="0"/>
              </a:rPr>
              <a:t>Price rigidity</a:t>
            </a:r>
            <a:r>
              <a:rPr lang="en-US" dirty="0">
                <a:latin typeface="Book Antiqua" panose="02040602050305030304" pitchFamily="18" charset="0"/>
              </a:rPr>
              <a:t>: Even if production costs change, firms may not change prices because the kinked demand curve makes MR curve discontinuous.</a:t>
            </a:r>
          </a:p>
          <a:p>
            <a:pPr marL="514350" indent="-514350" algn="just">
              <a:buFont typeface="+mj-lt"/>
              <a:buAutoNum type="arabicPeriod"/>
            </a:pPr>
            <a:r>
              <a:rPr lang="en-US" b="1" dirty="0">
                <a:latin typeface="Book Antiqua" panose="02040602050305030304" pitchFamily="18" charset="0"/>
              </a:rPr>
              <a:t>Non-price competition</a:t>
            </a:r>
            <a:r>
              <a:rPr lang="en-US" dirty="0">
                <a:latin typeface="Book Antiqua" panose="02040602050305030304" pitchFamily="18" charset="0"/>
              </a:rPr>
              <a:t>: Firms focus on non-price strategies like advertising, product differentiation, and customer service.</a:t>
            </a:r>
          </a:p>
          <a:p>
            <a:pPr marL="514350" indent="-514350" algn="just">
              <a:buFont typeface="+mj-lt"/>
              <a:buAutoNum type="arabicPeriod"/>
            </a:pPr>
            <a:r>
              <a:rPr lang="en-US" b="1" dirty="0">
                <a:latin typeface="Book Antiqua" panose="02040602050305030304" pitchFamily="18" charset="0"/>
              </a:rPr>
              <a:t>Limited price war</a:t>
            </a:r>
            <a:r>
              <a:rPr lang="en-US" dirty="0">
                <a:latin typeface="Book Antiqua" panose="02040602050305030304" pitchFamily="18" charset="0"/>
              </a:rPr>
              <a:t>: Firms avoid excessive price competition since price reductions are easily matched, reducing the potential benefits of undercutting rivals.</a:t>
            </a:r>
          </a:p>
          <a:p>
            <a:pPr algn="just"/>
            <a:endParaRPr lang="en-US" dirty="0">
              <a:latin typeface="Book Antiqua" panose="02040602050305030304" pitchFamily="18" charset="0"/>
            </a:endParaRPr>
          </a:p>
          <a:p>
            <a:pPr algn="just"/>
            <a:endParaRPr lang="en-US" dirty="0">
              <a:latin typeface="Book Antiqua" panose="02040602050305030304" pitchFamily="18" charset="0"/>
            </a:endParaRPr>
          </a:p>
        </p:txBody>
      </p:sp>
    </p:spTree>
    <p:extLst>
      <p:ext uri="{BB962C8B-B14F-4D97-AF65-F5344CB8AC3E}">
        <p14:creationId xmlns:p14="http://schemas.microsoft.com/office/powerpoint/2010/main" val="2958673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8E10-12B1-0DE2-F23A-A406BD154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37A0D-AC8D-4219-5397-872CDF5582F4}"/>
              </a:ext>
            </a:extLst>
          </p:cNvPr>
          <p:cNvSpPr>
            <a:spLocks noGrp="1"/>
          </p:cNvSpPr>
          <p:nvPr>
            <p:ph type="title"/>
          </p:nvPr>
        </p:nvSpPr>
        <p:spPr/>
        <p:txBody>
          <a:bodyPr/>
          <a:lstStyle/>
          <a:p>
            <a:pPr marL="742950" indent="-742950" algn="ctr">
              <a:buFont typeface="+mj-lt"/>
              <a:buAutoNum type="arabicPeriod" startAt="4"/>
            </a:pPr>
            <a:r>
              <a:rPr lang="en-US" b="1" dirty="0">
                <a:solidFill>
                  <a:srgbClr val="C00000"/>
                </a:solidFill>
                <a:latin typeface="Book Antiqua" panose="02040602050305030304" pitchFamily="18" charset="0"/>
              </a:rPr>
              <a:t>Monopolistic Competition</a:t>
            </a:r>
            <a:endParaRPr lang="en-GB" b="1"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14A23A24-E951-4E64-8E42-56127D6D5657}"/>
              </a:ext>
            </a:extLst>
          </p:cNvPr>
          <p:cNvSpPr>
            <a:spLocks noGrp="1"/>
          </p:cNvSpPr>
          <p:nvPr>
            <p:ph idx="1"/>
          </p:nvPr>
        </p:nvSpPr>
        <p:spPr/>
        <p:txBody>
          <a:bodyPr/>
          <a:lstStyle/>
          <a:p>
            <a:r>
              <a:rPr lang="en-US" dirty="0">
                <a:latin typeface="Book Antiqua" panose="02040602050305030304" pitchFamily="18" charset="0"/>
              </a:rPr>
              <a:t>Market situation in which there are many sellers producing highly differentiated products.</a:t>
            </a:r>
          </a:p>
          <a:p>
            <a:endParaRPr lang="en-US" dirty="0">
              <a:latin typeface="Book Antiqua" panose="02040602050305030304" pitchFamily="18" charset="0"/>
            </a:endParaRPr>
          </a:p>
          <a:p>
            <a:r>
              <a:rPr lang="en-US" dirty="0">
                <a:latin typeface="Book Antiqua" panose="02040602050305030304" pitchFamily="18" charset="0"/>
              </a:rPr>
              <a:t>Monopolistic competition is also perfect competition plus product differentiation.</a:t>
            </a:r>
          </a:p>
          <a:p>
            <a:endParaRPr lang="en-US" dirty="0">
              <a:latin typeface="Book Antiqua" panose="02040602050305030304" pitchFamily="18" charset="0"/>
            </a:endParaRPr>
          </a:p>
          <a:p>
            <a:r>
              <a:rPr lang="en-US" dirty="0">
                <a:latin typeface="Book Antiqua" panose="02040602050305030304" pitchFamily="18" charset="0"/>
              </a:rPr>
              <a:t>Product differentiation gives each monopolistic competitor some market power, since each competitor can raise price slightly without losing all its customers.</a:t>
            </a:r>
            <a:endParaRPr lang="en-GB" dirty="0">
              <a:latin typeface="Book Antiqua" panose="02040602050305030304" pitchFamily="18" charset="0"/>
            </a:endParaRPr>
          </a:p>
        </p:txBody>
      </p:sp>
    </p:spTree>
    <p:extLst>
      <p:ext uri="{BB962C8B-B14F-4D97-AF65-F5344CB8AC3E}">
        <p14:creationId xmlns:p14="http://schemas.microsoft.com/office/powerpoint/2010/main" val="561795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C770F-12E7-C32E-142F-F1DC1DB4D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6C3AA-7EB9-A1D7-FE5B-901C00CD3902}"/>
              </a:ext>
            </a:extLst>
          </p:cNvPr>
          <p:cNvSpPr>
            <a:spLocks noGrp="1"/>
          </p:cNvSpPr>
          <p:nvPr>
            <p:ph type="title"/>
          </p:nvPr>
        </p:nvSpPr>
        <p:spPr>
          <a:xfrm>
            <a:off x="838200" y="365125"/>
            <a:ext cx="10820400" cy="1325563"/>
          </a:xfrm>
        </p:spPr>
        <p:txBody>
          <a:bodyPr/>
          <a:lstStyle/>
          <a:p>
            <a:pPr algn="just"/>
            <a:r>
              <a:rPr lang="en-US" b="1" dirty="0">
                <a:latin typeface="Book Antiqua" panose="02040602050305030304" pitchFamily="18" charset="0"/>
              </a:rPr>
              <a:t>Characteristics of Monopolistic Competition</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BC4F134F-D9A1-9FD4-69ED-44822AB8D199}"/>
              </a:ext>
            </a:extLst>
          </p:cNvPr>
          <p:cNvSpPr>
            <a:spLocks noGrp="1"/>
          </p:cNvSpPr>
          <p:nvPr>
            <p:ph idx="1"/>
          </p:nvPr>
        </p:nvSpPr>
        <p:spPr/>
        <p:txBody>
          <a:bodyPr>
            <a:normAutofit fontScale="92500"/>
          </a:bodyPr>
          <a:lstStyle/>
          <a:p>
            <a:r>
              <a:rPr lang="en-US" dirty="0">
                <a:latin typeface="Book Antiqua" panose="02040602050305030304" pitchFamily="18" charset="0"/>
              </a:rPr>
              <a:t>A large number of buyers and sellers in a given market act independently.</a:t>
            </a:r>
          </a:p>
          <a:p>
            <a:r>
              <a:rPr lang="en-US" dirty="0">
                <a:latin typeface="Book Antiqua" panose="02040602050305030304" pitchFamily="18" charset="0"/>
              </a:rPr>
              <a:t>There is a limited control of price because of product differentiation.</a:t>
            </a:r>
          </a:p>
          <a:p>
            <a:r>
              <a:rPr lang="en-US" dirty="0">
                <a:latin typeface="Book Antiqua" panose="02040602050305030304" pitchFamily="18" charset="0"/>
              </a:rPr>
              <a:t>Sellers offer differentiated products or similar but not identical products.</a:t>
            </a:r>
          </a:p>
          <a:p>
            <a:r>
              <a:rPr lang="en-US" dirty="0">
                <a:latin typeface="Book Antiqua" panose="02040602050305030304" pitchFamily="18" charset="0"/>
              </a:rPr>
              <a:t>New firms can enter the market easily.  However, there is a greater competition in the sense that new firms have to offer better features of their products.</a:t>
            </a:r>
          </a:p>
          <a:p>
            <a:r>
              <a:rPr lang="en-US" dirty="0">
                <a:latin typeface="Book Antiqua" panose="02040602050305030304" pitchFamily="18" charset="0"/>
              </a:rPr>
              <a:t>Economic rivalry centers not upon price but also upon product variation and product promotion.</a:t>
            </a:r>
            <a:endParaRPr lang="en-GB" dirty="0">
              <a:latin typeface="Book Antiqua" panose="02040602050305030304" pitchFamily="18" charset="0"/>
            </a:endParaRPr>
          </a:p>
        </p:txBody>
      </p:sp>
    </p:spTree>
    <p:extLst>
      <p:ext uri="{BB962C8B-B14F-4D97-AF65-F5344CB8AC3E}">
        <p14:creationId xmlns:p14="http://schemas.microsoft.com/office/powerpoint/2010/main" val="1479841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702F8-094F-3378-BCD7-2B7266A28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12E3D-99B8-1922-4406-3E2BA3273ED7}"/>
              </a:ext>
            </a:extLst>
          </p:cNvPr>
          <p:cNvSpPr>
            <a:spLocks noGrp="1"/>
          </p:cNvSpPr>
          <p:nvPr>
            <p:ph type="title"/>
          </p:nvPr>
        </p:nvSpPr>
        <p:spPr/>
        <p:txBody>
          <a:bodyPr/>
          <a:lstStyle/>
          <a:p>
            <a:pPr algn="ctr"/>
            <a:r>
              <a:rPr lang="en-US" b="1" dirty="0">
                <a:latin typeface="Book Antiqua" panose="02040602050305030304" pitchFamily="18" charset="0"/>
              </a:rPr>
              <a:t>Monopsony</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3F2FC820-3E73-F8B8-EA7B-0EE6AC7D47F0}"/>
              </a:ext>
            </a:extLst>
          </p:cNvPr>
          <p:cNvSpPr>
            <a:spLocks noGrp="1"/>
          </p:cNvSpPr>
          <p:nvPr>
            <p:ph idx="1"/>
          </p:nvPr>
        </p:nvSpPr>
        <p:spPr/>
        <p:txBody>
          <a:bodyPr/>
          <a:lstStyle/>
          <a:p>
            <a:pPr algn="just"/>
            <a:r>
              <a:rPr lang="en-US" dirty="0">
                <a:latin typeface="Book Antiqua" panose="02040602050305030304" pitchFamily="18" charset="0"/>
              </a:rPr>
              <a:t>A market situation in which there is only one buyer of goods and services in the market. </a:t>
            </a:r>
          </a:p>
          <a:p>
            <a:pPr algn="just"/>
            <a:endParaRPr lang="en-US" dirty="0">
              <a:latin typeface="Book Antiqua" panose="02040602050305030304" pitchFamily="18" charset="0"/>
            </a:endParaRPr>
          </a:p>
          <a:p>
            <a:pPr algn="just"/>
            <a:r>
              <a:rPr lang="en-US" dirty="0">
                <a:latin typeface="Book Antiqua" panose="02040602050305030304" pitchFamily="18" charset="0"/>
              </a:rPr>
              <a:t>It is sometimes considered analogous to monopoly.</a:t>
            </a:r>
          </a:p>
          <a:p>
            <a:pPr algn="just"/>
            <a:endParaRPr lang="en-US" dirty="0">
              <a:latin typeface="Book Antiqua" panose="02040602050305030304" pitchFamily="18" charset="0"/>
            </a:endParaRPr>
          </a:p>
          <a:p>
            <a:pPr algn="just"/>
            <a:r>
              <a:rPr lang="en-US" dirty="0">
                <a:latin typeface="Book Antiqua" panose="02040602050305030304" pitchFamily="18" charset="0"/>
              </a:rPr>
              <a:t>Monopsony power givers them the ability to control their unit cost for an input which is similar to the way the monopoly controls their price.</a:t>
            </a:r>
            <a:endParaRPr lang="en-GB" dirty="0">
              <a:latin typeface="Book Antiqua" panose="02040602050305030304" pitchFamily="18" charset="0"/>
            </a:endParaRPr>
          </a:p>
        </p:txBody>
      </p:sp>
    </p:spTree>
    <p:extLst>
      <p:ext uri="{BB962C8B-B14F-4D97-AF65-F5344CB8AC3E}">
        <p14:creationId xmlns:p14="http://schemas.microsoft.com/office/powerpoint/2010/main" val="2543194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84F33-3F18-3DE2-EE42-B288581BA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ECC2F-0A3B-F410-5081-F1664A921A0B}"/>
              </a:ext>
            </a:extLst>
          </p:cNvPr>
          <p:cNvSpPr>
            <a:spLocks noGrp="1"/>
          </p:cNvSpPr>
          <p:nvPr>
            <p:ph type="title"/>
          </p:nvPr>
        </p:nvSpPr>
        <p:spPr/>
        <p:txBody>
          <a:bodyPr/>
          <a:lstStyle/>
          <a:p>
            <a:pPr algn="ctr"/>
            <a:r>
              <a:rPr lang="en-US" b="1" dirty="0">
                <a:latin typeface="Book Antiqua" panose="02040602050305030304" pitchFamily="18" charset="0"/>
              </a:rPr>
              <a:t>Reading Assignment</a:t>
            </a:r>
            <a:endParaRPr lang="en-GB" b="1"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54964EF9-766C-8318-8A8C-00455AF97CB5}"/>
              </a:ext>
            </a:extLst>
          </p:cNvPr>
          <p:cNvSpPr>
            <a:spLocks noGrp="1"/>
          </p:cNvSpPr>
          <p:nvPr>
            <p:ph idx="1"/>
          </p:nvPr>
        </p:nvSpPr>
        <p:spPr/>
        <p:txBody>
          <a:bodyPr/>
          <a:lstStyle/>
          <a:p>
            <a:endParaRPr lang="en-US" dirty="0">
              <a:latin typeface="Book Antiqua" panose="02040602050305030304" pitchFamily="18" charset="0"/>
            </a:endParaRPr>
          </a:p>
          <a:p>
            <a:r>
              <a:rPr lang="en-GB" b="1" dirty="0">
                <a:solidFill>
                  <a:srgbClr val="00B050"/>
                </a:solidFill>
                <a:latin typeface="Book Antiqua" panose="02040602050305030304" pitchFamily="18" charset="0"/>
              </a:rPr>
              <a:t>Shor-run analysis of monopolistic competition</a:t>
            </a:r>
          </a:p>
          <a:p>
            <a:r>
              <a:rPr lang="en-GB" b="1" dirty="0">
                <a:solidFill>
                  <a:srgbClr val="00B050"/>
                </a:solidFill>
                <a:latin typeface="Book Antiqua" panose="02040602050305030304" pitchFamily="18" charset="0"/>
              </a:rPr>
              <a:t>Monopsony &amp; its characteristics</a:t>
            </a:r>
          </a:p>
          <a:p>
            <a:r>
              <a:rPr lang="en-GB" b="1">
                <a:solidFill>
                  <a:srgbClr val="00B050"/>
                </a:solidFill>
                <a:latin typeface="Book Antiqua" panose="02040602050305030304" pitchFamily="18" charset="0"/>
              </a:rPr>
              <a:t>Oligopsony &amp; </a:t>
            </a:r>
            <a:r>
              <a:rPr lang="en-GB" b="1" dirty="0">
                <a:solidFill>
                  <a:srgbClr val="00B050"/>
                </a:solidFill>
                <a:latin typeface="Book Antiqua" panose="02040602050305030304" pitchFamily="18" charset="0"/>
              </a:rPr>
              <a:t>its characteristics</a:t>
            </a:r>
          </a:p>
          <a:p>
            <a:endParaRPr lang="en-GB" dirty="0">
              <a:latin typeface="Book Antiqua" panose="02040602050305030304" pitchFamily="18" charset="0"/>
            </a:endParaRPr>
          </a:p>
        </p:txBody>
      </p:sp>
    </p:spTree>
    <p:extLst>
      <p:ext uri="{BB962C8B-B14F-4D97-AF65-F5344CB8AC3E}">
        <p14:creationId xmlns:p14="http://schemas.microsoft.com/office/powerpoint/2010/main" val="1815732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6DBA5C-D713-3A99-5826-2BFABD1FA7A2}"/>
              </a:ext>
            </a:extLst>
          </p:cNvPr>
          <p:cNvSpPr>
            <a:spLocks noGrp="1"/>
          </p:cNvSpPr>
          <p:nvPr>
            <p:ph idx="1"/>
          </p:nvPr>
        </p:nvSpPr>
        <p:spPr>
          <a:xfrm>
            <a:off x="838200" y="1928553"/>
            <a:ext cx="10515600" cy="1878676"/>
          </a:xfrm>
        </p:spPr>
        <p:txBody>
          <a:bodyPr/>
          <a:lstStyle/>
          <a:p>
            <a:pPr marL="0" indent="0" algn="ctr">
              <a:buNone/>
            </a:pPr>
            <a:endParaRPr lang="en-US" dirty="0"/>
          </a:p>
          <a:p>
            <a:pPr marL="0" indent="0" algn="ctr">
              <a:buNone/>
            </a:pPr>
            <a:endParaRPr lang="en-GB" sz="4000" b="1" dirty="0">
              <a:latin typeface="Book Antiqua" panose="02040602050305030304" pitchFamily="18" charset="0"/>
            </a:endParaRPr>
          </a:p>
          <a:p>
            <a:pPr marL="0" indent="0" algn="ctr">
              <a:buNone/>
            </a:pPr>
            <a:r>
              <a:rPr lang="en-GB" sz="4000" b="1" dirty="0">
                <a:latin typeface="Book Antiqua" panose="02040602050305030304" pitchFamily="18" charset="0"/>
              </a:rPr>
              <a:t>END OF LECTURE</a:t>
            </a:r>
            <a:endParaRPr lang="en-US" sz="4000" b="1" dirty="0">
              <a:latin typeface="Book Antiqua" panose="02040602050305030304" pitchFamily="18" charset="0"/>
            </a:endParaRPr>
          </a:p>
        </p:txBody>
      </p:sp>
    </p:spTree>
    <p:extLst>
      <p:ext uri="{BB962C8B-B14F-4D97-AF65-F5344CB8AC3E}">
        <p14:creationId xmlns:p14="http://schemas.microsoft.com/office/powerpoint/2010/main" val="2077176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4974</TotalTime>
  <Words>2531</Words>
  <Application>Microsoft Office PowerPoint</Application>
  <PresentationFormat>Widescreen</PresentationFormat>
  <Paragraphs>277</Paragraphs>
  <Slides>31</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Book Antiqua</vt:lpstr>
      <vt:lpstr>Calibri</vt:lpstr>
      <vt:lpstr>Calibri Light</vt:lpstr>
      <vt:lpstr>Wingdings</vt:lpstr>
      <vt:lpstr>Office Theme</vt:lpstr>
      <vt:lpstr>  MARKET STRUCTURE </vt:lpstr>
      <vt:lpstr>TOPICS</vt:lpstr>
      <vt:lpstr>Market in Economics?</vt:lpstr>
      <vt:lpstr>Market in Economics?..</vt:lpstr>
      <vt:lpstr>Market Structure..</vt:lpstr>
      <vt:lpstr>Features of market structure</vt:lpstr>
      <vt:lpstr>Type of Market structures</vt:lpstr>
      <vt:lpstr>Perfect Competition</vt:lpstr>
      <vt:lpstr>Characteristics of a Perfect Competition</vt:lpstr>
      <vt:lpstr>Perfect Competition..</vt:lpstr>
      <vt:lpstr>Fig 1: The firms` demand curve under perfect competition</vt:lpstr>
      <vt:lpstr>Imperfect markets</vt:lpstr>
      <vt:lpstr>Monopoly </vt:lpstr>
      <vt:lpstr>Monopoly… </vt:lpstr>
      <vt:lpstr>Classifications of monopoly </vt:lpstr>
      <vt:lpstr>Characteristics of a monopoly</vt:lpstr>
      <vt:lpstr>Fig 2: Demand curve of Monopoly</vt:lpstr>
      <vt:lpstr>Oligopoly</vt:lpstr>
      <vt:lpstr>Characteristics of oligopoly</vt:lpstr>
      <vt:lpstr>Characteristics of oligopoly..</vt:lpstr>
      <vt:lpstr>Types of oligopoly</vt:lpstr>
      <vt:lpstr>Types of oligopoly</vt:lpstr>
      <vt:lpstr>Fig 3: A product under oligopoly</vt:lpstr>
      <vt:lpstr>Kinked demand curve</vt:lpstr>
      <vt:lpstr>Kinked demand curve..</vt:lpstr>
      <vt:lpstr>Kinked demand curve..</vt:lpstr>
      <vt:lpstr>Monopolistic Competition</vt:lpstr>
      <vt:lpstr>Characteristics of Monopolistic Competition</vt:lpstr>
      <vt:lpstr>Monopsony</vt:lpstr>
      <vt:lpstr>Reading Assignment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MARKET STRUCTURE </dc:title>
  <dc:creator>Kumbukani Tembo</dc:creator>
  <cp:lastModifiedBy>hp</cp:lastModifiedBy>
  <cp:revision>61</cp:revision>
  <dcterms:created xsi:type="dcterms:W3CDTF">2025-01-15T18:05:19Z</dcterms:created>
  <dcterms:modified xsi:type="dcterms:W3CDTF">2025-02-19T04:31:54Z</dcterms:modified>
</cp:coreProperties>
</file>