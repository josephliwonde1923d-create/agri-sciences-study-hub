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3" r:id="rId28"/>
    <p:sldId id="284" r:id="rId29"/>
    <p:sldId id="285" r:id="rId30"/>
    <p:sldId id="286" r:id="rId31"/>
    <p:sldId id="287"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7" d="100"/>
          <a:sy n="77"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50ED59-5212-4C9B-ABE0-059295910BB5}" type="datetimeFigureOut">
              <a:rPr lang="en-US" smtClean="0"/>
              <a:t>10-Feb-26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39C27-8F01-4FBB-AAFA-ADF051AEF785}" type="slidenum">
              <a:rPr lang="en-US" smtClean="0"/>
              <a:t>‹#›</a:t>
            </a:fld>
            <a:endParaRPr lang="en-US"/>
          </a:p>
        </p:txBody>
      </p:sp>
    </p:spTree>
    <p:extLst>
      <p:ext uri="{BB962C8B-B14F-4D97-AF65-F5344CB8AC3E}">
        <p14:creationId xmlns:p14="http://schemas.microsoft.com/office/powerpoint/2010/main" val="3472194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buFont typeface="+mj-lt"/>
              <a:buNone/>
            </a:pPr>
            <a:r>
              <a:rPr lang="en-US" sz="1200" dirty="0">
                <a:latin typeface="Century Gothic" panose="020B0502020202020204" pitchFamily="34" charset="0"/>
              </a:rPr>
              <a:t>Requires less seed and little </a:t>
            </a:r>
            <a:r>
              <a:rPr lang="en-US" sz="1200" dirty="0" err="1">
                <a:latin typeface="Century Gothic" panose="020B0502020202020204" pitchFamily="34" charset="0"/>
              </a:rPr>
              <a:t>labour</a:t>
            </a:r>
            <a:endParaRPr lang="en-US" sz="1200" dirty="0">
              <a:latin typeface="Century Gothic" panose="020B0502020202020204" pitchFamily="34" charset="0"/>
            </a:endParaRPr>
          </a:p>
        </p:txBody>
      </p:sp>
      <p:sp>
        <p:nvSpPr>
          <p:cNvPr id="4" name="Tijdelijke aanduiding voor dianummer 3"/>
          <p:cNvSpPr>
            <a:spLocks noGrp="1"/>
          </p:cNvSpPr>
          <p:nvPr>
            <p:ph type="sldNum" sz="quarter" idx="10"/>
          </p:nvPr>
        </p:nvSpPr>
        <p:spPr/>
        <p:txBody>
          <a:bodyPr/>
          <a:lstStyle/>
          <a:p>
            <a:fld id="{AD71D7C1-5A09-4F0A-AD83-58B77AAF2BC1}" type="slidenum">
              <a:rPr lang="en-GB" smtClean="0"/>
              <a:t>9</a:t>
            </a:fld>
            <a:endParaRPr lang="en-GB"/>
          </a:p>
        </p:txBody>
      </p:sp>
    </p:spTree>
    <p:extLst>
      <p:ext uri="{BB962C8B-B14F-4D97-AF65-F5344CB8AC3E}">
        <p14:creationId xmlns:p14="http://schemas.microsoft.com/office/powerpoint/2010/main" val="2254013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It consists of a suspension of bacteria in charcoal. The bacteria</a:t>
            </a:r>
          </a:p>
          <a:p>
            <a:r>
              <a:rPr lang="en-US" sz="1200" b="0" i="0" u="none" strike="noStrike" kern="1200" baseline="0" dirty="0">
                <a:solidFill>
                  <a:schemeClr val="tx1"/>
                </a:solidFill>
                <a:latin typeface="+mn-lt"/>
                <a:ea typeface="+mn-ea"/>
                <a:cs typeface="+mn-cs"/>
              </a:rPr>
              <a:t>are living and so the inoculant should be stored in a cool dark place. Inoculated seed should be planted on</a:t>
            </a:r>
          </a:p>
          <a:p>
            <a:r>
              <a:rPr lang="en-US" sz="1200" b="0" i="0" u="none" strike="noStrike" kern="1200" baseline="0" dirty="0">
                <a:solidFill>
                  <a:schemeClr val="tx1"/>
                </a:solidFill>
                <a:latin typeface="+mn-lt"/>
                <a:ea typeface="+mn-ea"/>
                <a:cs typeface="+mn-cs"/>
              </a:rPr>
              <a:t>the same day.</a:t>
            </a:r>
            <a:endParaRPr lang="en-US" dirty="0"/>
          </a:p>
        </p:txBody>
      </p:sp>
      <p:sp>
        <p:nvSpPr>
          <p:cNvPr id="4" name="Tijdelijke aanduiding voor dianummer 3"/>
          <p:cNvSpPr>
            <a:spLocks noGrp="1"/>
          </p:cNvSpPr>
          <p:nvPr>
            <p:ph type="sldNum" sz="quarter" idx="10"/>
          </p:nvPr>
        </p:nvSpPr>
        <p:spPr/>
        <p:txBody>
          <a:bodyPr/>
          <a:lstStyle/>
          <a:p>
            <a:fld id="{AD71D7C1-5A09-4F0A-AD83-58B77AAF2BC1}" type="slidenum">
              <a:rPr lang="en-GB" smtClean="0"/>
              <a:t>14</a:t>
            </a:fld>
            <a:endParaRPr lang="en-GB"/>
          </a:p>
        </p:txBody>
      </p:sp>
    </p:spTree>
    <p:extLst>
      <p:ext uri="{BB962C8B-B14F-4D97-AF65-F5344CB8AC3E}">
        <p14:creationId xmlns:p14="http://schemas.microsoft.com/office/powerpoint/2010/main" val="1087844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2086558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3154770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914207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74CC67-B212-4E02-A762-ECC1238F53C8}"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4242163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74CC67-B212-4E02-A762-ECC1238F53C8}" type="datetimeFigureOut">
              <a:rPr lang="en-US" smtClean="0"/>
              <a:t>10-Feb-26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1033217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2685555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1593963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246602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374CC67-B212-4E02-A762-ECC1238F53C8}"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3023608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374CC67-B212-4E02-A762-ECC1238F53C8}"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1009434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3889334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72049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3147198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2129069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3894045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471257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74CC67-B212-4E02-A762-ECC1238F53C8}"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57C91-0030-434A-ABE1-435F43370B9C}" type="slidenum">
              <a:rPr lang="en-US" smtClean="0"/>
              <a:t>‹#›</a:t>
            </a:fld>
            <a:endParaRPr lang="en-US"/>
          </a:p>
        </p:txBody>
      </p:sp>
    </p:spTree>
    <p:extLst>
      <p:ext uri="{BB962C8B-B14F-4D97-AF65-F5344CB8AC3E}">
        <p14:creationId xmlns:p14="http://schemas.microsoft.com/office/powerpoint/2010/main" val="4100441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374CC67-B212-4E02-A762-ECC1238F53C8}" type="datetimeFigureOut">
              <a:rPr lang="en-US" smtClean="0"/>
              <a:t>10-Feb-26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F257C91-0030-434A-ABE1-435F43370B9C}" type="slidenum">
              <a:rPr lang="en-US" smtClean="0"/>
              <a:t>‹#›</a:t>
            </a:fld>
            <a:endParaRPr lang="en-US"/>
          </a:p>
        </p:txBody>
      </p:sp>
    </p:spTree>
    <p:extLst>
      <p:ext uri="{BB962C8B-B14F-4D97-AF65-F5344CB8AC3E}">
        <p14:creationId xmlns:p14="http://schemas.microsoft.com/office/powerpoint/2010/main" val="157466077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17636" y="1989438"/>
            <a:ext cx="8825658" cy="2355457"/>
          </a:xfrm>
        </p:spPr>
        <p:txBody>
          <a:bodyPr/>
          <a:lstStyle/>
          <a:p>
            <a:r>
              <a:rPr lang="en-GB" sz="4800" b="1" dirty="0">
                <a:latin typeface="Century Gothic" panose="020B0502020202020204" pitchFamily="34" charset="0"/>
              </a:rPr>
              <a:t>PASTURE PRODUCTION, MANAGEMENT, AND PRESERVATION </a:t>
            </a:r>
            <a:endParaRPr lang="en-US" sz="4800" dirty="0"/>
          </a:p>
        </p:txBody>
      </p:sp>
    </p:spTree>
    <p:extLst>
      <p:ext uri="{BB962C8B-B14F-4D97-AF65-F5344CB8AC3E}">
        <p14:creationId xmlns:p14="http://schemas.microsoft.com/office/powerpoint/2010/main" val="3447436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latin typeface="Century Gothic" panose="020B0502020202020204" pitchFamily="34" charset="0"/>
              </a:rPr>
              <a:t>PASTURE PRODUCTION, MANAGEMENT, AND PRESERVATION </a:t>
            </a:r>
          </a:p>
        </p:txBody>
      </p:sp>
      <p:sp>
        <p:nvSpPr>
          <p:cNvPr id="3" name="Content Placeholder 2"/>
          <p:cNvSpPr>
            <a:spLocks noGrp="1"/>
          </p:cNvSpPr>
          <p:nvPr>
            <p:ph idx="1"/>
          </p:nvPr>
        </p:nvSpPr>
        <p:spPr>
          <a:xfrm>
            <a:off x="2008710" y="1544926"/>
            <a:ext cx="8343201" cy="5013919"/>
          </a:xfrm>
        </p:spPr>
        <p:txBody>
          <a:bodyPr>
            <a:noAutofit/>
          </a:bodyPr>
          <a:lstStyle/>
          <a:p>
            <a:r>
              <a:rPr lang="en-US" sz="2200" dirty="0">
                <a:latin typeface="Century Gothic" panose="020B0502020202020204" pitchFamily="34" charset="0"/>
              </a:rPr>
              <a:t>The importance of pastures and fodder</a:t>
            </a:r>
          </a:p>
          <a:p>
            <a:pPr marL="514350" indent="-514350">
              <a:buFont typeface="+mj-lt"/>
              <a:buAutoNum type="alphaLcPeriod"/>
            </a:pPr>
            <a:r>
              <a:rPr lang="en-US" sz="2200" dirty="0">
                <a:latin typeface="Century Gothic" panose="020B0502020202020204" pitchFamily="34" charset="0"/>
              </a:rPr>
              <a:t>Pastures and fodder crops are the cheapest form of animal feed available (in terms of quantity and quality). A constant supply of good quality forage in sufficient quantities is a basic necessity in </a:t>
            </a:r>
            <a:r>
              <a:rPr lang="nl-BE" sz="2200" dirty="0">
                <a:latin typeface="Century Gothic" panose="020B0502020202020204" pitchFamily="34" charset="0"/>
              </a:rPr>
              <a:t>livestock farming.</a:t>
            </a:r>
          </a:p>
          <a:p>
            <a:pPr marL="514350" indent="-514350">
              <a:buFont typeface="+mj-lt"/>
              <a:buAutoNum type="alphaLcPeriod"/>
            </a:pPr>
            <a:r>
              <a:rPr lang="en-US" sz="2200" dirty="0">
                <a:latin typeface="Century Gothic" panose="020B0502020202020204" pitchFamily="34" charset="0"/>
              </a:rPr>
              <a:t>Pastures and fodder, particularly the leguminous types, improve soil fertility through their ability to</a:t>
            </a:r>
            <a:r>
              <a:rPr lang="nl-BE" sz="2200" dirty="0">
                <a:latin typeface="Century Gothic" panose="020B0502020202020204" pitchFamily="34" charset="0"/>
              </a:rPr>
              <a:t> fix </a:t>
            </a:r>
            <a:r>
              <a:rPr lang="en-US" sz="2200" dirty="0">
                <a:latin typeface="Century Gothic" panose="020B0502020202020204" pitchFamily="34" charset="0"/>
              </a:rPr>
              <a:t>nitrogen</a:t>
            </a:r>
            <a:r>
              <a:rPr lang="nl-BE" sz="2200" dirty="0">
                <a:latin typeface="Century Gothic" panose="020B0502020202020204" pitchFamily="34" charset="0"/>
              </a:rPr>
              <a:t>.</a:t>
            </a:r>
          </a:p>
          <a:p>
            <a:pPr marL="514350" indent="-514350">
              <a:buFont typeface="+mj-lt"/>
              <a:buAutoNum type="alphaLcPeriod"/>
            </a:pPr>
            <a:r>
              <a:rPr lang="en-US" sz="2200" dirty="0">
                <a:latin typeface="Century Gothic" panose="020B0502020202020204" pitchFamily="34" charset="0"/>
              </a:rPr>
              <a:t>If well managed, planted pastures help control soil erosion.</a:t>
            </a:r>
          </a:p>
          <a:p>
            <a:pPr marL="514350" indent="-514350">
              <a:buFont typeface="+mj-lt"/>
              <a:buAutoNum type="alphaLcPeriod"/>
            </a:pPr>
            <a:r>
              <a:rPr lang="en-US" sz="2200" dirty="0">
                <a:latin typeface="Century Gothic" panose="020B0502020202020204" pitchFamily="34" charset="0"/>
              </a:rPr>
              <a:t>Pasture seed production and sale of excess fodder can be a good source of income</a:t>
            </a:r>
            <a:endParaRPr lang="en-GB" sz="2200" dirty="0">
              <a:latin typeface="Century Gothic" panose="020B0502020202020204" pitchFamily="34" charset="0"/>
            </a:endParaRPr>
          </a:p>
        </p:txBody>
      </p:sp>
    </p:spTree>
    <p:extLst>
      <p:ext uri="{BB962C8B-B14F-4D97-AF65-F5344CB8AC3E}">
        <p14:creationId xmlns:p14="http://schemas.microsoft.com/office/powerpoint/2010/main" val="2376462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t>Pasture Production, Management, and Preservation </a:t>
            </a:r>
          </a:p>
        </p:txBody>
      </p:sp>
      <p:sp>
        <p:nvSpPr>
          <p:cNvPr id="3" name="Content Placeholder 2"/>
          <p:cNvSpPr>
            <a:spLocks noGrp="1"/>
          </p:cNvSpPr>
          <p:nvPr>
            <p:ph idx="1"/>
          </p:nvPr>
        </p:nvSpPr>
        <p:spPr/>
        <p:txBody>
          <a:bodyPr>
            <a:normAutofit/>
          </a:bodyPr>
          <a:lstStyle/>
          <a:p>
            <a:r>
              <a:rPr lang="en-GB" sz="2200" dirty="0">
                <a:latin typeface="Century Gothic" panose="020B0502020202020204" pitchFamily="34" charset="0"/>
              </a:rPr>
              <a:t>Types of pastures</a:t>
            </a:r>
          </a:p>
          <a:p>
            <a:pPr marL="971550" lvl="1" indent="-514350">
              <a:buFont typeface="+mj-lt"/>
              <a:buAutoNum type="alphaLcParenR"/>
            </a:pPr>
            <a:r>
              <a:rPr lang="en-GB" sz="2200" u="sng" dirty="0">
                <a:latin typeface="Century Gothic" panose="020B0502020202020204" pitchFamily="34" charset="0"/>
              </a:rPr>
              <a:t>Natural pastures</a:t>
            </a:r>
          </a:p>
          <a:p>
            <a:r>
              <a:rPr lang="en-GB" sz="2200" dirty="0">
                <a:latin typeface="Century Gothic" panose="020B0502020202020204" pitchFamily="34" charset="0"/>
              </a:rPr>
              <a:t>These are uncultivated lands occupied wholly by unimproved plants useful for grazing. </a:t>
            </a:r>
            <a:endParaRPr lang="en-US" sz="2200" i="1" dirty="0">
              <a:latin typeface="Century Gothic" panose="020B0502020202020204" pitchFamily="34" charset="0"/>
            </a:endParaRPr>
          </a:p>
          <a:p>
            <a:pPr marL="0" indent="0">
              <a:buNone/>
            </a:pPr>
            <a:endParaRPr lang="en-GB" sz="2200" dirty="0">
              <a:latin typeface="Century Gothic" panose="020B0502020202020204" pitchFamily="34" charset="0"/>
            </a:endParaRPr>
          </a:p>
          <a:p>
            <a:pPr marL="971550" lvl="1" indent="-514350">
              <a:buFont typeface="+mj-lt"/>
              <a:buAutoNum type="alphaLcParenR" startAt="2"/>
            </a:pPr>
            <a:r>
              <a:rPr lang="en-GB" sz="2200" u="sng" dirty="0">
                <a:latin typeface="Century Gothic" panose="020B0502020202020204" pitchFamily="34" charset="0"/>
              </a:rPr>
              <a:t>Improved pastures</a:t>
            </a:r>
          </a:p>
          <a:p>
            <a:r>
              <a:rPr lang="en-US" sz="2200" dirty="0">
                <a:latin typeface="Century Gothic" panose="020B0502020202020204" pitchFamily="34" charset="0"/>
              </a:rPr>
              <a:t>These are lands with pastures that have been reseeded, fertilized or fenced to improve productivity and utilization. This term is usually applied to rundown fields that have been renovated or rejuvenated. </a:t>
            </a:r>
            <a:endParaRPr lang="en-GB" sz="2200" dirty="0">
              <a:latin typeface="Century Gothic" panose="020B0502020202020204" pitchFamily="34" charset="0"/>
            </a:endParaRPr>
          </a:p>
        </p:txBody>
      </p:sp>
    </p:spTree>
    <p:extLst>
      <p:ext uri="{BB962C8B-B14F-4D97-AF65-F5344CB8AC3E}">
        <p14:creationId xmlns:p14="http://schemas.microsoft.com/office/powerpoint/2010/main" val="1935971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212722"/>
            <a:ext cx="7886700" cy="1325563"/>
          </a:xfrm>
        </p:spPr>
        <p:txBody>
          <a:bodyPr>
            <a:normAutofit/>
          </a:bodyPr>
          <a:lstStyle/>
          <a:p>
            <a:r>
              <a:rPr lang="en-US" sz="3200" b="1" dirty="0">
                <a:latin typeface="Century Gothic" panose="020B0502020202020204" pitchFamily="34" charset="0"/>
              </a:rPr>
              <a:t>Examples of Pastures</a:t>
            </a:r>
          </a:p>
        </p:txBody>
      </p:sp>
      <p:graphicFrame>
        <p:nvGraphicFramePr>
          <p:cNvPr id="4" name="Tijdelijke aanduiding voor inhoud 3"/>
          <p:cNvGraphicFramePr>
            <a:graphicFrameLocks noGrp="1"/>
          </p:cNvGraphicFramePr>
          <p:nvPr>
            <p:ph idx="1"/>
          </p:nvPr>
        </p:nvGraphicFramePr>
        <p:xfrm>
          <a:off x="2152650" y="1288478"/>
          <a:ext cx="7886700" cy="5395521"/>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434751">
                <a:tc>
                  <a:txBody>
                    <a:bodyPr/>
                    <a:lstStyle/>
                    <a:p>
                      <a:r>
                        <a:rPr lang="en-US" sz="2000" dirty="0">
                          <a:solidFill>
                            <a:schemeClr val="tx1"/>
                          </a:solidFill>
                          <a:latin typeface="+mj-lt"/>
                        </a:rPr>
                        <a:t>Grasses</a:t>
                      </a:r>
                    </a:p>
                  </a:txBody>
                  <a:tcPr/>
                </a:tc>
                <a:tc>
                  <a:txBody>
                    <a:bodyPr/>
                    <a:lstStyle/>
                    <a:p>
                      <a:r>
                        <a:rPr lang="en-US" sz="2000" dirty="0">
                          <a:solidFill>
                            <a:schemeClr val="tx1"/>
                          </a:solidFill>
                          <a:latin typeface="+mj-lt"/>
                        </a:rPr>
                        <a:t>Legumes</a:t>
                      </a:r>
                    </a:p>
                  </a:txBody>
                  <a:tcPr/>
                </a:tc>
                <a:extLst>
                  <a:ext uri="{0D108BD9-81ED-4DB2-BD59-A6C34878D82A}">
                    <a16:rowId xmlns:a16="http://schemas.microsoft.com/office/drawing/2014/main" val="10000"/>
                  </a:ext>
                </a:extLst>
              </a:tr>
              <a:tr h="711738">
                <a:tc>
                  <a:txBody>
                    <a:bodyPr/>
                    <a:lstStyle/>
                    <a:p>
                      <a:r>
                        <a:rPr lang="en-US" sz="2000" b="0" i="0" u="none" strike="noStrike" kern="1200" baseline="0" dirty="0">
                          <a:solidFill>
                            <a:schemeClr val="dk1"/>
                          </a:solidFill>
                          <a:latin typeface="+mj-lt"/>
                          <a:ea typeface="+mn-ea"/>
                          <a:cs typeface="+mn-cs"/>
                        </a:rPr>
                        <a:t>Bermuda grass </a:t>
                      </a:r>
                      <a:r>
                        <a:rPr lang="en-US" sz="2000" b="0" i="1" u="none" strike="noStrike" kern="1200" baseline="0" dirty="0">
                          <a:solidFill>
                            <a:schemeClr val="dk1"/>
                          </a:solidFill>
                          <a:latin typeface="+mj-lt"/>
                          <a:ea typeface="+mn-ea"/>
                          <a:cs typeface="+mn-cs"/>
                        </a:rPr>
                        <a:t>(</a:t>
                      </a:r>
                      <a:r>
                        <a:rPr lang="en-US" sz="2000" b="0" i="1" u="none" strike="noStrike" kern="1200" baseline="0" dirty="0" err="1">
                          <a:solidFill>
                            <a:schemeClr val="dk1"/>
                          </a:solidFill>
                          <a:latin typeface="+mj-lt"/>
                          <a:ea typeface="+mn-ea"/>
                          <a:cs typeface="+mn-cs"/>
                        </a:rPr>
                        <a:t>Cynodon</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dactylon</a:t>
                      </a:r>
                      <a:r>
                        <a:rPr lang="en-US" sz="2000" b="0" i="1" u="none" strike="noStrike" kern="1200" baseline="0" dirty="0">
                          <a:solidFill>
                            <a:schemeClr val="dk1"/>
                          </a:solidFill>
                          <a:latin typeface="+mj-lt"/>
                          <a:ea typeface="+mn-ea"/>
                          <a:cs typeface="+mn-cs"/>
                        </a:rPr>
                        <a:t>)</a:t>
                      </a:r>
                      <a:endParaRPr lang="en-US" sz="2000" dirty="0">
                        <a:latin typeface="+mj-lt"/>
                      </a:endParaRPr>
                    </a:p>
                  </a:txBody>
                  <a:tcPr/>
                </a:tc>
                <a:tc>
                  <a:txBody>
                    <a:bodyPr/>
                    <a:lstStyle/>
                    <a:p>
                      <a:r>
                        <a:rPr lang="en-US" sz="2000" b="0" i="0" u="none" strike="noStrike" kern="1200" baseline="0" dirty="0">
                          <a:solidFill>
                            <a:schemeClr val="dk1"/>
                          </a:solidFill>
                          <a:latin typeface="+mj-lt"/>
                          <a:ea typeface="+mn-ea"/>
                          <a:cs typeface="+mn-cs"/>
                        </a:rPr>
                        <a:t>Greenleaf (</a:t>
                      </a:r>
                      <a:r>
                        <a:rPr lang="en-US" sz="2000" b="0" i="1" u="none" strike="noStrike" kern="1200" baseline="0" dirty="0" err="1">
                          <a:solidFill>
                            <a:schemeClr val="dk1"/>
                          </a:solidFill>
                          <a:latin typeface="+mj-lt"/>
                          <a:ea typeface="+mn-ea"/>
                          <a:cs typeface="+mn-cs"/>
                        </a:rPr>
                        <a:t>Desmodium</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intortum</a:t>
                      </a:r>
                      <a:r>
                        <a:rPr lang="en-US" sz="2000" b="0" i="0"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1"/>
                  </a:ext>
                </a:extLst>
              </a:tr>
              <a:tr h="711738">
                <a:tc>
                  <a:txBody>
                    <a:bodyPr/>
                    <a:lstStyle/>
                    <a:p>
                      <a:r>
                        <a:rPr lang="en-US" sz="2000" b="0" i="0" u="none" strike="noStrike" kern="1200" baseline="0" dirty="0">
                          <a:solidFill>
                            <a:schemeClr val="dk1"/>
                          </a:solidFill>
                          <a:latin typeface="+mj-lt"/>
                          <a:ea typeface="+mn-ea"/>
                          <a:cs typeface="+mn-cs"/>
                        </a:rPr>
                        <a:t>African foxtail grass </a:t>
                      </a:r>
                      <a:r>
                        <a:rPr lang="en-US" sz="2000" b="0" i="1" u="none" strike="noStrike" kern="1200" baseline="0" dirty="0">
                          <a:solidFill>
                            <a:schemeClr val="dk1"/>
                          </a:solidFill>
                          <a:latin typeface="+mj-lt"/>
                          <a:ea typeface="+mn-ea"/>
                          <a:cs typeface="+mn-cs"/>
                        </a:rPr>
                        <a:t>(</a:t>
                      </a:r>
                      <a:r>
                        <a:rPr lang="en-US" sz="2000" b="0" i="1" u="none" strike="noStrike" kern="1200" baseline="0" dirty="0" err="1">
                          <a:solidFill>
                            <a:schemeClr val="dk1"/>
                          </a:solidFill>
                          <a:latin typeface="+mj-lt"/>
                          <a:ea typeface="+mn-ea"/>
                          <a:cs typeface="+mn-cs"/>
                        </a:rPr>
                        <a:t>Cenchrus</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ciliaris</a:t>
                      </a:r>
                      <a:r>
                        <a:rPr lang="en-US" sz="2000" b="0" i="1" u="none" strike="noStrike" kern="1200" baseline="0" dirty="0">
                          <a:solidFill>
                            <a:schemeClr val="dk1"/>
                          </a:solidFill>
                          <a:latin typeface="+mj-lt"/>
                          <a:ea typeface="+mn-ea"/>
                          <a:cs typeface="+mn-cs"/>
                        </a:rPr>
                        <a:t>)</a:t>
                      </a:r>
                      <a:endParaRPr lang="en-US" sz="2000" dirty="0">
                        <a:latin typeface="+mj-lt"/>
                      </a:endParaRPr>
                    </a:p>
                  </a:txBody>
                  <a:tcPr/>
                </a:tc>
                <a:tc>
                  <a:txBody>
                    <a:bodyPr/>
                    <a:lstStyle/>
                    <a:p>
                      <a:r>
                        <a:rPr lang="en-US" sz="2000" b="0" i="0" u="none" strike="noStrike" kern="1200" baseline="0" dirty="0" err="1">
                          <a:solidFill>
                            <a:schemeClr val="dk1"/>
                          </a:solidFill>
                          <a:latin typeface="+mj-lt"/>
                          <a:ea typeface="+mn-ea"/>
                          <a:cs typeface="+mn-cs"/>
                        </a:rPr>
                        <a:t>Silverleaf</a:t>
                      </a:r>
                      <a:r>
                        <a:rPr lang="en-US" sz="2000" b="0" i="0"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Desmodium</a:t>
                      </a:r>
                      <a:r>
                        <a:rPr lang="en-US" sz="2000" b="0" i="1" u="none" strike="noStrike" kern="1200" baseline="0" dirty="0">
                          <a:solidFill>
                            <a:schemeClr val="dk1"/>
                          </a:solidFill>
                          <a:latin typeface="+mj-lt"/>
                          <a:ea typeface="+mn-ea"/>
                          <a:cs typeface="+mn-cs"/>
                        </a:rPr>
                        <a:t> uncinatum</a:t>
                      </a:r>
                      <a:r>
                        <a:rPr lang="en-US" sz="2000" b="0" i="0"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2"/>
                  </a:ext>
                </a:extLst>
              </a:tr>
              <a:tr h="434751">
                <a:tc>
                  <a:txBody>
                    <a:bodyPr/>
                    <a:lstStyle/>
                    <a:p>
                      <a:r>
                        <a:rPr lang="en-US" sz="2000" b="0" i="0" u="none" strike="noStrike" kern="1200" baseline="0" dirty="0">
                          <a:solidFill>
                            <a:schemeClr val="dk1"/>
                          </a:solidFill>
                          <a:latin typeface="+mj-lt"/>
                          <a:ea typeface="+mn-ea"/>
                          <a:cs typeface="+mn-cs"/>
                        </a:rPr>
                        <a:t>Rhodes grass (</a:t>
                      </a:r>
                      <a:r>
                        <a:rPr lang="en-US" sz="2000" b="0" i="1" u="none" strike="noStrike" kern="1200" baseline="0" dirty="0">
                          <a:solidFill>
                            <a:schemeClr val="dk1"/>
                          </a:solidFill>
                          <a:latin typeface="+mj-lt"/>
                          <a:ea typeface="+mn-ea"/>
                          <a:cs typeface="+mn-cs"/>
                        </a:rPr>
                        <a:t>Chloris </a:t>
                      </a:r>
                      <a:r>
                        <a:rPr lang="en-US" sz="2000" b="0" i="1" u="none" strike="noStrike" kern="1200" baseline="0" dirty="0" err="1">
                          <a:solidFill>
                            <a:schemeClr val="dk1"/>
                          </a:solidFill>
                          <a:latin typeface="+mj-lt"/>
                          <a:ea typeface="+mn-ea"/>
                          <a:cs typeface="+mn-cs"/>
                        </a:rPr>
                        <a:t>gayana</a:t>
                      </a:r>
                      <a:r>
                        <a:rPr lang="en-US" sz="2000" b="0" i="1" u="none" strike="noStrike" kern="1200" baseline="0" dirty="0">
                          <a:solidFill>
                            <a:schemeClr val="dk1"/>
                          </a:solidFill>
                          <a:latin typeface="+mj-lt"/>
                          <a:ea typeface="+mn-ea"/>
                          <a:cs typeface="+mn-cs"/>
                        </a:rPr>
                        <a:t>)</a:t>
                      </a:r>
                      <a:endParaRPr lang="en-US" sz="2000" dirty="0">
                        <a:latin typeface="+mj-lt"/>
                      </a:endParaRPr>
                    </a:p>
                  </a:txBody>
                  <a:tcPr/>
                </a:tc>
                <a:tc>
                  <a:txBody>
                    <a:bodyPr/>
                    <a:lstStyle/>
                    <a:p>
                      <a:r>
                        <a:rPr lang="en-US" sz="2000" b="0" i="0" u="none" strike="noStrike" kern="1200" baseline="0" dirty="0">
                          <a:solidFill>
                            <a:schemeClr val="dk1"/>
                          </a:solidFill>
                          <a:latin typeface="+mj-lt"/>
                          <a:ea typeface="+mn-ea"/>
                          <a:cs typeface="+mn-cs"/>
                        </a:rPr>
                        <a:t>Centro (</a:t>
                      </a:r>
                      <a:r>
                        <a:rPr lang="en-US" sz="2000" b="0" i="1" u="none" strike="noStrike" kern="1200" baseline="0" dirty="0" err="1">
                          <a:solidFill>
                            <a:schemeClr val="dk1"/>
                          </a:solidFill>
                          <a:latin typeface="+mj-lt"/>
                          <a:ea typeface="+mn-ea"/>
                          <a:cs typeface="+mn-cs"/>
                        </a:rPr>
                        <a:t>Centrosema</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pubscens</a:t>
                      </a:r>
                      <a:r>
                        <a:rPr lang="en-US" sz="2000" b="0" i="1"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3"/>
                  </a:ext>
                </a:extLst>
              </a:tr>
              <a:tr h="711738">
                <a:tc>
                  <a:txBody>
                    <a:bodyPr/>
                    <a:lstStyle/>
                    <a:p>
                      <a:r>
                        <a:rPr lang="en-US" sz="2000" b="0" i="0" u="none" strike="noStrike" kern="1200" baseline="0" dirty="0">
                          <a:solidFill>
                            <a:schemeClr val="dk1"/>
                          </a:solidFill>
                          <a:latin typeface="+mj-lt"/>
                          <a:ea typeface="+mn-ea"/>
                          <a:cs typeface="+mn-cs"/>
                        </a:rPr>
                        <a:t>Guinea grass (</a:t>
                      </a:r>
                      <a:r>
                        <a:rPr lang="en-US" sz="2000" b="0" i="1" u="none" strike="noStrike" kern="1200" baseline="0" dirty="0" err="1">
                          <a:solidFill>
                            <a:schemeClr val="dk1"/>
                          </a:solidFill>
                          <a:latin typeface="+mj-lt"/>
                          <a:ea typeface="+mn-ea"/>
                          <a:cs typeface="+mn-cs"/>
                        </a:rPr>
                        <a:t>Panicum</a:t>
                      </a:r>
                      <a:r>
                        <a:rPr lang="en-US" sz="2000" b="0" i="1" u="none" strike="noStrike" kern="1200" baseline="0" dirty="0">
                          <a:solidFill>
                            <a:schemeClr val="dk1"/>
                          </a:solidFill>
                          <a:latin typeface="+mj-lt"/>
                          <a:ea typeface="+mn-ea"/>
                          <a:cs typeface="+mn-cs"/>
                        </a:rPr>
                        <a:t> maximum)</a:t>
                      </a:r>
                      <a:endParaRPr lang="en-US" sz="2000" dirty="0">
                        <a:latin typeface="+mj-lt"/>
                      </a:endParaRPr>
                    </a:p>
                  </a:txBody>
                  <a:tcPr/>
                </a:tc>
                <a:tc>
                  <a:txBody>
                    <a:bodyPr/>
                    <a:lstStyle/>
                    <a:p>
                      <a:r>
                        <a:rPr lang="en-US" sz="2000" b="0" i="0" u="none" strike="noStrike" kern="1200" baseline="0" dirty="0" err="1">
                          <a:solidFill>
                            <a:schemeClr val="dk1"/>
                          </a:solidFill>
                          <a:latin typeface="+mj-lt"/>
                          <a:ea typeface="+mn-ea"/>
                          <a:cs typeface="+mn-cs"/>
                        </a:rPr>
                        <a:t>Siratro</a:t>
                      </a:r>
                      <a:r>
                        <a:rPr lang="en-US" sz="2000" b="0" i="0"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Macroptilium</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atropurpureum</a:t>
                      </a:r>
                      <a:r>
                        <a:rPr lang="en-US" sz="2000" b="0" i="0"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4"/>
                  </a:ext>
                </a:extLst>
              </a:tr>
              <a:tr h="711738">
                <a:tc>
                  <a:txBody>
                    <a:bodyPr/>
                    <a:lstStyle/>
                    <a:p>
                      <a:r>
                        <a:rPr lang="en-US" sz="2000" b="0" i="0" u="none" strike="noStrike" kern="1200" baseline="0" dirty="0">
                          <a:solidFill>
                            <a:schemeClr val="dk1"/>
                          </a:solidFill>
                          <a:latin typeface="+mj-lt"/>
                          <a:ea typeface="+mn-ea"/>
                          <a:cs typeface="+mn-cs"/>
                        </a:rPr>
                        <a:t>Golden Timothy grass </a:t>
                      </a:r>
                      <a:r>
                        <a:rPr lang="en-US" sz="2000" b="0" i="1" u="none" strike="noStrike" kern="1200" baseline="0" dirty="0">
                          <a:solidFill>
                            <a:schemeClr val="dk1"/>
                          </a:solidFill>
                          <a:latin typeface="+mj-lt"/>
                          <a:ea typeface="+mn-ea"/>
                          <a:cs typeface="+mn-cs"/>
                        </a:rPr>
                        <a:t>(</a:t>
                      </a:r>
                      <a:r>
                        <a:rPr lang="en-US" sz="2000" b="0" i="1" u="none" strike="noStrike" kern="1200" baseline="0" dirty="0" err="1">
                          <a:solidFill>
                            <a:schemeClr val="dk1"/>
                          </a:solidFill>
                          <a:latin typeface="+mj-lt"/>
                          <a:ea typeface="+mn-ea"/>
                          <a:cs typeface="+mn-cs"/>
                        </a:rPr>
                        <a:t>Setaria</a:t>
                      </a:r>
                      <a:r>
                        <a:rPr lang="en-US" sz="2000" b="0" i="1" u="none" strike="noStrike" kern="1200" baseline="0" dirty="0">
                          <a:solidFill>
                            <a:schemeClr val="dk1"/>
                          </a:solidFill>
                          <a:latin typeface="+mj-lt"/>
                          <a:ea typeface="+mn-ea"/>
                          <a:cs typeface="+mn-cs"/>
                        </a:rPr>
                        <a:t> anceps)</a:t>
                      </a:r>
                      <a:endParaRPr lang="en-US" sz="2000" dirty="0">
                        <a:latin typeface="+mj-lt"/>
                      </a:endParaRPr>
                    </a:p>
                  </a:txBody>
                  <a:tcPr/>
                </a:tc>
                <a:tc>
                  <a:txBody>
                    <a:bodyPr/>
                    <a:lstStyle/>
                    <a:p>
                      <a:r>
                        <a:rPr lang="en-US" sz="2000" b="0" i="0" u="none" strike="noStrike" kern="1200" baseline="0" dirty="0">
                          <a:solidFill>
                            <a:schemeClr val="dk1"/>
                          </a:solidFill>
                          <a:latin typeface="+mj-lt"/>
                          <a:ea typeface="+mn-ea"/>
                          <a:cs typeface="+mn-cs"/>
                        </a:rPr>
                        <a:t>Cook </a:t>
                      </a:r>
                      <a:r>
                        <a:rPr lang="en-US" sz="2000" b="0" i="0" u="none" strike="noStrike" kern="1200" baseline="0" dirty="0" err="1">
                          <a:solidFill>
                            <a:schemeClr val="dk1"/>
                          </a:solidFill>
                          <a:latin typeface="+mj-lt"/>
                          <a:ea typeface="+mn-ea"/>
                          <a:cs typeface="+mn-cs"/>
                        </a:rPr>
                        <a:t>Stylo</a:t>
                      </a:r>
                      <a:r>
                        <a:rPr lang="en-US" sz="2000" b="0" i="0"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Stylosanthes</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guyanensis</a:t>
                      </a:r>
                      <a:r>
                        <a:rPr lang="en-US" sz="2000" b="0" i="0"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5"/>
                  </a:ext>
                </a:extLst>
              </a:tr>
              <a:tr h="434751">
                <a:tc>
                  <a:txBody>
                    <a:bodyPr/>
                    <a:lstStyle/>
                    <a:p>
                      <a:r>
                        <a:rPr lang="en-US" sz="2000" dirty="0">
                          <a:latin typeface="+mj-lt"/>
                        </a:rPr>
                        <a:t>Thatch grass (</a:t>
                      </a:r>
                      <a:r>
                        <a:rPr lang="en-US" sz="2000" i="1" dirty="0" err="1">
                          <a:latin typeface="+mj-lt"/>
                        </a:rPr>
                        <a:t>Hyperrhenia</a:t>
                      </a:r>
                      <a:r>
                        <a:rPr lang="en-US" sz="2000" i="1" baseline="0" dirty="0">
                          <a:latin typeface="+mj-lt"/>
                        </a:rPr>
                        <a:t> </a:t>
                      </a:r>
                      <a:r>
                        <a:rPr lang="en-US" sz="2000" i="1" baseline="0" dirty="0" err="1">
                          <a:latin typeface="+mj-lt"/>
                        </a:rPr>
                        <a:t>rufa</a:t>
                      </a:r>
                      <a:r>
                        <a:rPr lang="en-US" sz="2000" baseline="0" dirty="0">
                          <a:latin typeface="+mj-lt"/>
                        </a:rPr>
                        <a:t>)</a:t>
                      </a:r>
                      <a:endParaRPr lang="en-US" sz="2000" dirty="0">
                        <a:latin typeface="+mj-lt"/>
                      </a:endParaRPr>
                    </a:p>
                  </a:txBody>
                  <a:tcPr/>
                </a:tc>
                <a:tc>
                  <a:txBody>
                    <a:bodyPr/>
                    <a:lstStyle/>
                    <a:p>
                      <a:r>
                        <a:rPr lang="en-US" sz="2000" dirty="0">
                          <a:latin typeface="+mj-lt"/>
                        </a:rPr>
                        <a:t>Glycine (</a:t>
                      </a:r>
                      <a:r>
                        <a:rPr lang="en-US" sz="2000" i="1" dirty="0" err="1">
                          <a:latin typeface="+mj-lt"/>
                        </a:rPr>
                        <a:t>Neonotonia</a:t>
                      </a:r>
                      <a:r>
                        <a:rPr lang="en-US" sz="2000" i="1" dirty="0">
                          <a:latin typeface="+mj-lt"/>
                        </a:rPr>
                        <a:t> </a:t>
                      </a:r>
                      <a:r>
                        <a:rPr lang="en-US" sz="2000" i="1" dirty="0" err="1">
                          <a:latin typeface="+mj-lt"/>
                        </a:rPr>
                        <a:t>wightii</a:t>
                      </a:r>
                      <a:r>
                        <a:rPr lang="en-US" sz="2000" i="0" dirty="0">
                          <a:latin typeface="+mj-lt"/>
                        </a:rPr>
                        <a:t>)</a:t>
                      </a:r>
                      <a:endParaRPr lang="en-US" sz="2000" dirty="0">
                        <a:latin typeface="+mj-lt"/>
                      </a:endParaRPr>
                    </a:p>
                  </a:txBody>
                  <a:tcPr/>
                </a:tc>
                <a:extLst>
                  <a:ext uri="{0D108BD9-81ED-4DB2-BD59-A6C34878D82A}">
                    <a16:rowId xmlns:a16="http://schemas.microsoft.com/office/drawing/2014/main" val="10006"/>
                  </a:ext>
                </a:extLst>
              </a:tr>
              <a:tr h="711738">
                <a:tc>
                  <a:txBody>
                    <a:bodyPr/>
                    <a:lstStyle/>
                    <a:p>
                      <a:r>
                        <a:rPr lang="en-US" sz="2000" dirty="0">
                          <a:latin typeface="+mj-lt"/>
                        </a:rPr>
                        <a:t>Napier or Elephant (</a:t>
                      </a:r>
                      <a:r>
                        <a:rPr lang="en-US" sz="2000" i="1" dirty="0" err="1">
                          <a:latin typeface="+mj-lt"/>
                        </a:rPr>
                        <a:t>Pennisetum</a:t>
                      </a:r>
                      <a:r>
                        <a:rPr lang="en-US" sz="2000" i="1" baseline="0" dirty="0">
                          <a:latin typeface="+mj-lt"/>
                        </a:rPr>
                        <a:t> </a:t>
                      </a:r>
                      <a:r>
                        <a:rPr lang="en-US" sz="2000" i="1" baseline="0" dirty="0" err="1">
                          <a:latin typeface="+mj-lt"/>
                        </a:rPr>
                        <a:t>purpureum</a:t>
                      </a:r>
                      <a:r>
                        <a:rPr lang="en-US" sz="2000" baseline="0" dirty="0">
                          <a:latin typeface="+mj-lt"/>
                        </a:rPr>
                        <a:t>)</a:t>
                      </a:r>
                      <a:endParaRPr lang="en-US" sz="2000" dirty="0">
                        <a:latin typeface="+mj-lt"/>
                      </a:endParaRPr>
                    </a:p>
                  </a:txBody>
                  <a:tcPr/>
                </a:tc>
                <a:tc>
                  <a:txBody>
                    <a:bodyPr/>
                    <a:lstStyle/>
                    <a:p>
                      <a:r>
                        <a:rPr lang="en-US" sz="2000" dirty="0">
                          <a:latin typeface="+mj-lt"/>
                        </a:rPr>
                        <a:t>Lab-lab</a:t>
                      </a:r>
                      <a:r>
                        <a:rPr lang="en-US" sz="2000" baseline="0" dirty="0">
                          <a:latin typeface="+mj-lt"/>
                        </a:rPr>
                        <a:t> bean (</a:t>
                      </a:r>
                      <a:r>
                        <a:rPr lang="en-US" sz="2000" i="1" baseline="0" dirty="0">
                          <a:latin typeface="+mj-lt"/>
                        </a:rPr>
                        <a:t>Lablab </a:t>
                      </a:r>
                      <a:r>
                        <a:rPr lang="en-US" sz="2000" i="1" baseline="0" dirty="0" err="1">
                          <a:latin typeface="+mj-lt"/>
                        </a:rPr>
                        <a:t>purpureus</a:t>
                      </a:r>
                      <a:r>
                        <a:rPr lang="en-US" sz="2000" i="0" baseline="0" dirty="0">
                          <a:latin typeface="+mj-lt"/>
                        </a:rPr>
                        <a:t>)</a:t>
                      </a:r>
                      <a:endParaRPr lang="en-US" sz="2000" dirty="0">
                        <a:latin typeface="+mj-lt"/>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7875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212722"/>
            <a:ext cx="7886700" cy="1325563"/>
          </a:xfrm>
        </p:spPr>
        <p:txBody>
          <a:bodyPr>
            <a:normAutofit/>
          </a:bodyPr>
          <a:lstStyle/>
          <a:p>
            <a:r>
              <a:rPr lang="en-US" sz="3200" b="1" dirty="0">
                <a:latin typeface="Century Gothic" panose="020B0502020202020204" pitchFamily="34" charset="0"/>
              </a:rPr>
              <a:t>Examples of Multipurpose Trees and Shrubs</a:t>
            </a:r>
          </a:p>
        </p:txBody>
      </p:sp>
      <p:graphicFrame>
        <p:nvGraphicFramePr>
          <p:cNvPr id="4" name="Tijdelijke aanduiding voor inhoud 3"/>
          <p:cNvGraphicFramePr>
            <a:graphicFrameLocks noGrp="1"/>
          </p:cNvGraphicFramePr>
          <p:nvPr>
            <p:ph idx="1"/>
          </p:nvPr>
        </p:nvGraphicFramePr>
        <p:xfrm>
          <a:off x="2443595" y="1759532"/>
          <a:ext cx="6755823" cy="3845065"/>
        </p:xfrm>
        <a:graphic>
          <a:graphicData uri="http://schemas.openxmlformats.org/drawingml/2006/table">
            <a:tbl>
              <a:tblPr firstRow="1" bandRow="1">
                <a:tableStyleId>{5C22544A-7EE6-4342-B048-85BDC9FD1C3A}</a:tableStyleId>
              </a:tblPr>
              <a:tblGrid>
                <a:gridCol w="6755823">
                  <a:extLst>
                    <a:ext uri="{9D8B030D-6E8A-4147-A177-3AD203B41FA5}">
                      <a16:colId xmlns:a16="http://schemas.microsoft.com/office/drawing/2014/main" val="20000"/>
                    </a:ext>
                  </a:extLst>
                </a:gridCol>
              </a:tblGrid>
              <a:tr h="324515">
                <a:tc>
                  <a:txBody>
                    <a:bodyPr/>
                    <a:lstStyle/>
                    <a:p>
                      <a:r>
                        <a:rPr lang="en-US" sz="2000" dirty="0">
                          <a:solidFill>
                            <a:schemeClr val="tx1"/>
                          </a:solidFill>
                          <a:latin typeface="+mj-lt"/>
                        </a:rPr>
                        <a:t>Trees and Shrubs</a:t>
                      </a:r>
                    </a:p>
                  </a:txBody>
                  <a:tcPr/>
                </a:tc>
                <a:extLst>
                  <a:ext uri="{0D108BD9-81ED-4DB2-BD59-A6C34878D82A}">
                    <a16:rowId xmlns:a16="http://schemas.microsoft.com/office/drawing/2014/main" val="10000"/>
                  </a:ext>
                </a:extLst>
              </a:tr>
              <a:tr h="531269">
                <a:tc>
                  <a:txBody>
                    <a:bodyPr/>
                    <a:lstStyle/>
                    <a:p>
                      <a:r>
                        <a:rPr lang="en-US" sz="2000" b="0" i="0" u="none" strike="noStrike" kern="1200" baseline="0" dirty="0">
                          <a:solidFill>
                            <a:schemeClr val="dk1"/>
                          </a:solidFill>
                          <a:latin typeface="+mj-lt"/>
                          <a:ea typeface="+mn-ea"/>
                          <a:cs typeface="+mn-cs"/>
                        </a:rPr>
                        <a:t>Thorny Acacia </a:t>
                      </a:r>
                      <a:r>
                        <a:rPr lang="en-US" sz="2000" b="0" i="1" u="none" strike="noStrike" kern="1200" baseline="0" dirty="0">
                          <a:solidFill>
                            <a:schemeClr val="dk1"/>
                          </a:solidFill>
                          <a:latin typeface="+mj-lt"/>
                          <a:ea typeface="+mn-ea"/>
                          <a:cs typeface="+mn-cs"/>
                        </a:rPr>
                        <a:t>(</a:t>
                      </a:r>
                      <a:r>
                        <a:rPr lang="en-US" sz="2000" b="0" i="1" u="none" strike="noStrike" kern="1200" baseline="0" dirty="0" err="1">
                          <a:solidFill>
                            <a:schemeClr val="dk1"/>
                          </a:solidFill>
                          <a:latin typeface="+mj-lt"/>
                          <a:ea typeface="+mn-ea"/>
                          <a:cs typeface="+mn-cs"/>
                        </a:rPr>
                        <a:t>Faidherbia</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albida</a:t>
                      </a:r>
                      <a:r>
                        <a:rPr lang="en-US" sz="2000" b="0" i="1"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1"/>
                  </a:ext>
                </a:extLst>
              </a:tr>
              <a:tr h="531269">
                <a:tc>
                  <a:txBody>
                    <a:bodyPr/>
                    <a:lstStyle/>
                    <a:p>
                      <a:r>
                        <a:rPr lang="en-US" sz="2000" b="0" i="0" u="none" strike="noStrike" kern="1200" baseline="0" dirty="0" err="1">
                          <a:solidFill>
                            <a:schemeClr val="dk1"/>
                          </a:solidFill>
                          <a:latin typeface="+mj-lt"/>
                          <a:ea typeface="+mn-ea"/>
                          <a:cs typeface="+mn-cs"/>
                        </a:rPr>
                        <a:t>Brachystegia</a:t>
                      </a:r>
                      <a:r>
                        <a:rPr lang="en-US" sz="2000" b="0" i="0" u="none" strike="noStrike" kern="1200" baseline="0" dirty="0">
                          <a:solidFill>
                            <a:schemeClr val="dk1"/>
                          </a:solidFill>
                          <a:latin typeface="+mj-lt"/>
                          <a:ea typeface="+mn-ea"/>
                          <a:cs typeface="+mn-cs"/>
                        </a:rPr>
                        <a:t> </a:t>
                      </a:r>
                      <a:r>
                        <a:rPr lang="en-US" sz="2000" b="0" i="1" u="none" strike="noStrike" kern="1200" baseline="0" dirty="0">
                          <a:solidFill>
                            <a:schemeClr val="dk1"/>
                          </a:solidFill>
                          <a:latin typeface="+mj-lt"/>
                          <a:ea typeface="+mn-ea"/>
                          <a:cs typeface="+mn-cs"/>
                        </a:rPr>
                        <a:t>(</a:t>
                      </a:r>
                      <a:r>
                        <a:rPr lang="en-US" sz="2000" b="0" i="1" u="none" strike="noStrike" kern="1200" baseline="0" dirty="0" err="1">
                          <a:solidFill>
                            <a:schemeClr val="dk1"/>
                          </a:solidFill>
                          <a:latin typeface="+mj-lt"/>
                          <a:ea typeface="+mn-ea"/>
                          <a:cs typeface="+mn-cs"/>
                        </a:rPr>
                        <a:t>Brachystegia</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speciformis</a:t>
                      </a:r>
                      <a:r>
                        <a:rPr lang="en-US" sz="2000" b="0" i="1"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2"/>
                  </a:ext>
                </a:extLst>
              </a:tr>
              <a:tr h="324515">
                <a:tc>
                  <a:txBody>
                    <a:bodyPr/>
                    <a:lstStyle/>
                    <a:p>
                      <a:r>
                        <a:rPr lang="en-US" sz="2000" b="0" i="0" u="none" strike="noStrike" kern="1200" baseline="0" dirty="0">
                          <a:solidFill>
                            <a:schemeClr val="dk1"/>
                          </a:solidFill>
                          <a:latin typeface="+mj-lt"/>
                          <a:ea typeface="+mn-ea"/>
                          <a:cs typeface="+mn-cs"/>
                        </a:rPr>
                        <a:t>Pigeon peas (</a:t>
                      </a:r>
                      <a:r>
                        <a:rPr lang="en-US" sz="2000" b="0" i="1" u="none" strike="noStrike" kern="1200" baseline="0" dirty="0" err="1">
                          <a:solidFill>
                            <a:schemeClr val="dk1"/>
                          </a:solidFill>
                          <a:latin typeface="+mj-lt"/>
                          <a:ea typeface="+mn-ea"/>
                          <a:cs typeface="+mn-cs"/>
                        </a:rPr>
                        <a:t>Cajanus</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cajan</a:t>
                      </a:r>
                      <a:r>
                        <a:rPr lang="en-US" sz="2000" b="0" i="1"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3"/>
                  </a:ext>
                </a:extLst>
              </a:tr>
              <a:tr h="531269">
                <a:tc>
                  <a:txBody>
                    <a:bodyPr/>
                    <a:lstStyle/>
                    <a:p>
                      <a:r>
                        <a:rPr lang="en-US" sz="2000" b="0" i="0" u="none" strike="noStrike" kern="1200" baseline="0" dirty="0" err="1">
                          <a:solidFill>
                            <a:schemeClr val="dk1"/>
                          </a:solidFill>
                          <a:latin typeface="+mj-lt"/>
                          <a:ea typeface="+mn-ea"/>
                          <a:cs typeface="+mn-cs"/>
                        </a:rPr>
                        <a:t>Gliricidia</a:t>
                      </a:r>
                      <a:r>
                        <a:rPr lang="en-US" sz="2000" b="0" i="0"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Gliricidia</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sepum</a:t>
                      </a:r>
                      <a:r>
                        <a:rPr lang="en-US" sz="2000" b="0" i="1"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4"/>
                  </a:ext>
                </a:extLst>
              </a:tr>
              <a:tr h="531269">
                <a:tc>
                  <a:txBody>
                    <a:bodyPr/>
                    <a:lstStyle/>
                    <a:p>
                      <a:r>
                        <a:rPr lang="en-US" sz="2000" b="0" i="0" u="none" strike="noStrike" kern="1200" baseline="0" dirty="0" err="1">
                          <a:solidFill>
                            <a:schemeClr val="dk1"/>
                          </a:solidFill>
                          <a:latin typeface="+mj-lt"/>
                          <a:ea typeface="+mn-ea"/>
                          <a:cs typeface="+mn-cs"/>
                        </a:rPr>
                        <a:t>Leucaena</a:t>
                      </a:r>
                      <a:r>
                        <a:rPr lang="en-US" sz="2000" b="0" i="0" u="none" strike="noStrike" kern="1200" baseline="0" dirty="0">
                          <a:solidFill>
                            <a:schemeClr val="dk1"/>
                          </a:solidFill>
                          <a:latin typeface="+mj-lt"/>
                          <a:ea typeface="+mn-ea"/>
                          <a:cs typeface="+mn-cs"/>
                        </a:rPr>
                        <a:t> </a:t>
                      </a:r>
                      <a:r>
                        <a:rPr lang="en-US" sz="2000" b="0" i="1" u="none" strike="noStrike" kern="1200" baseline="0" dirty="0">
                          <a:solidFill>
                            <a:schemeClr val="dk1"/>
                          </a:solidFill>
                          <a:latin typeface="+mj-lt"/>
                          <a:ea typeface="+mn-ea"/>
                          <a:cs typeface="+mn-cs"/>
                        </a:rPr>
                        <a:t>(</a:t>
                      </a:r>
                      <a:r>
                        <a:rPr lang="en-US" sz="2000" b="0" i="1" u="none" strike="noStrike" kern="1200" baseline="0" dirty="0" err="1">
                          <a:solidFill>
                            <a:schemeClr val="dk1"/>
                          </a:solidFill>
                          <a:latin typeface="+mj-lt"/>
                          <a:ea typeface="+mn-ea"/>
                          <a:cs typeface="+mn-cs"/>
                        </a:rPr>
                        <a:t>Leucaena</a:t>
                      </a:r>
                      <a:r>
                        <a:rPr lang="en-US" sz="2000" b="0" i="1" u="none" strike="noStrike" kern="1200" baseline="0" dirty="0">
                          <a:solidFill>
                            <a:schemeClr val="dk1"/>
                          </a:solidFill>
                          <a:latin typeface="+mj-lt"/>
                          <a:ea typeface="+mn-ea"/>
                          <a:cs typeface="+mn-cs"/>
                        </a:rPr>
                        <a:t> </a:t>
                      </a:r>
                      <a:r>
                        <a:rPr lang="en-US" sz="2000" b="0" i="1" u="none" strike="noStrike" kern="1200" baseline="0" dirty="0" err="1">
                          <a:solidFill>
                            <a:schemeClr val="dk1"/>
                          </a:solidFill>
                          <a:latin typeface="+mj-lt"/>
                          <a:ea typeface="+mn-ea"/>
                          <a:cs typeface="+mn-cs"/>
                        </a:rPr>
                        <a:t>leucocephala</a:t>
                      </a:r>
                      <a:r>
                        <a:rPr lang="en-US" sz="2000" b="0" i="1" u="none" strike="noStrike" kern="1200" baseline="0" dirty="0">
                          <a:solidFill>
                            <a:schemeClr val="dk1"/>
                          </a:solidFill>
                          <a:latin typeface="+mj-lt"/>
                          <a:ea typeface="+mn-ea"/>
                          <a:cs typeface="+mn-cs"/>
                        </a:rPr>
                        <a:t>)</a:t>
                      </a:r>
                      <a:endParaRPr lang="en-US" sz="2000" dirty="0">
                        <a:latin typeface="+mj-lt"/>
                      </a:endParaRPr>
                    </a:p>
                  </a:txBody>
                  <a:tcPr/>
                </a:tc>
                <a:extLst>
                  <a:ext uri="{0D108BD9-81ED-4DB2-BD59-A6C34878D82A}">
                    <a16:rowId xmlns:a16="http://schemas.microsoft.com/office/drawing/2014/main" val="10005"/>
                  </a:ext>
                </a:extLst>
              </a:tr>
              <a:tr h="324515">
                <a:tc>
                  <a:txBody>
                    <a:bodyPr/>
                    <a:lstStyle/>
                    <a:p>
                      <a:r>
                        <a:rPr lang="en-US" sz="2000" dirty="0" err="1">
                          <a:latin typeface="+mj-lt"/>
                        </a:rPr>
                        <a:t>Sesbania</a:t>
                      </a:r>
                      <a:r>
                        <a:rPr lang="en-US" sz="2000" dirty="0">
                          <a:latin typeface="+mj-lt"/>
                        </a:rPr>
                        <a:t> (</a:t>
                      </a:r>
                      <a:r>
                        <a:rPr lang="en-US" sz="2000" i="1" dirty="0" err="1">
                          <a:latin typeface="+mj-lt"/>
                        </a:rPr>
                        <a:t>Sesbania</a:t>
                      </a:r>
                      <a:r>
                        <a:rPr lang="en-US" sz="2000" i="1" dirty="0">
                          <a:latin typeface="+mj-lt"/>
                        </a:rPr>
                        <a:t> </a:t>
                      </a:r>
                      <a:r>
                        <a:rPr lang="en-US" sz="2000" i="1" dirty="0" err="1">
                          <a:latin typeface="+mj-lt"/>
                        </a:rPr>
                        <a:t>sesban</a:t>
                      </a:r>
                      <a:r>
                        <a:rPr lang="en-US" sz="2000" baseline="0" dirty="0">
                          <a:latin typeface="+mj-lt"/>
                        </a:rPr>
                        <a:t>)</a:t>
                      </a:r>
                      <a:endParaRPr lang="en-US" sz="2000" dirty="0">
                        <a:latin typeface="+mj-lt"/>
                      </a:endParaRPr>
                    </a:p>
                  </a:txBody>
                  <a:tcPr/>
                </a:tc>
                <a:extLst>
                  <a:ext uri="{0D108BD9-81ED-4DB2-BD59-A6C34878D82A}">
                    <a16:rowId xmlns:a16="http://schemas.microsoft.com/office/drawing/2014/main" val="10006"/>
                  </a:ext>
                </a:extLst>
              </a:tr>
              <a:tr h="531269">
                <a:tc>
                  <a:txBody>
                    <a:bodyPr/>
                    <a:lstStyle/>
                    <a:p>
                      <a:r>
                        <a:rPr lang="en-US" sz="2000" dirty="0" err="1">
                          <a:latin typeface="+mj-lt"/>
                        </a:rPr>
                        <a:t>Tephrosia</a:t>
                      </a:r>
                      <a:r>
                        <a:rPr lang="en-US" sz="2000" dirty="0">
                          <a:latin typeface="+mj-lt"/>
                        </a:rPr>
                        <a:t> (</a:t>
                      </a:r>
                      <a:r>
                        <a:rPr lang="en-US" sz="2000" i="1" dirty="0" err="1">
                          <a:latin typeface="+mj-lt"/>
                        </a:rPr>
                        <a:t>Tephrosia</a:t>
                      </a:r>
                      <a:r>
                        <a:rPr lang="en-US" sz="2000" i="1" dirty="0">
                          <a:latin typeface="+mj-lt"/>
                        </a:rPr>
                        <a:t> </a:t>
                      </a:r>
                      <a:r>
                        <a:rPr lang="en-US" sz="2000" i="1" dirty="0" err="1">
                          <a:latin typeface="+mj-lt"/>
                        </a:rPr>
                        <a:t>vorgelii</a:t>
                      </a:r>
                      <a:r>
                        <a:rPr lang="en-US" sz="2000" baseline="0" dirty="0">
                          <a:latin typeface="+mj-lt"/>
                        </a:rPr>
                        <a:t>)</a:t>
                      </a:r>
                      <a:endParaRPr lang="en-US" sz="2000" dirty="0">
                        <a:latin typeface="+mj-lt"/>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59489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8795" y="537152"/>
            <a:ext cx="7886700" cy="4351338"/>
          </a:xfrm>
        </p:spPr>
        <p:txBody>
          <a:bodyPr>
            <a:noAutofit/>
          </a:bodyPr>
          <a:lstStyle/>
          <a:p>
            <a:pPr marL="0" indent="0">
              <a:buNone/>
            </a:pPr>
            <a:r>
              <a:rPr lang="en-US" sz="3200" b="1" dirty="0"/>
              <a:t>General guidelines for improving pastures</a:t>
            </a:r>
          </a:p>
          <a:p>
            <a:pPr marL="0" indent="0">
              <a:buNone/>
            </a:pPr>
            <a:endParaRPr lang="en-US" sz="800" b="1" dirty="0">
              <a:latin typeface="+mj-lt"/>
            </a:endParaRPr>
          </a:p>
          <a:p>
            <a:r>
              <a:rPr lang="en-US" sz="2200" dirty="0">
                <a:latin typeface="Century Gothic" panose="020B0502020202020204" pitchFamily="34" charset="0"/>
              </a:rPr>
              <a:t>Selection of the most suitable pasture species involves the identification of grasses and legumes with the following desirable characteristics:</a:t>
            </a:r>
          </a:p>
          <a:p>
            <a:pPr marL="514350" indent="-514350">
              <a:buFont typeface="+mj-lt"/>
              <a:buAutoNum type="romanLcPeriod"/>
            </a:pPr>
            <a:r>
              <a:rPr lang="en-US" sz="2200" dirty="0">
                <a:latin typeface="Century Gothic" panose="020B0502020202020204" pitchFamily="34" charset="0"/>
              </a:rPr>
              <a:t>The pasture species must be adapted to the climate and soil where they are to be sown and suitable for their intended use (for grazing or for cut-and-carry).</a:t>
            </a:r>
          </a:p>
          <a:p>
            <a:pPr marL="514350" indent="-514350">
              <a:buFont typeface="+mj-lt"/>
              <a:buAutoNum type="romanLcPeriod"/>
            </a:pPr>
            <a:r>
              <a:rPr lang="en-US" sz="2200" dirty="0">
                <a:latin typeface="Century Gothic" panose="020B0502020202020204" pitchFamily="34" charset="0"/>
              </a:rPr>
              <a:t>The grass or legume should be highly productive and persistent.</a:t>
            </a:r>
          </a:p>
          <a:p>
            <a:pPr marL="514350" indent="-514350">
              <a:buFont typeface="+mj-lt"/>
              <a:buAutoNum type="romanLcPeriod"/>
            </a:pPr>
            <a:r>
              <a:rPr lang="en-US" sz="2200" dirty="0">
                <a:latin typeface="Century Gothic" panose="020B0502020202020204" pitchFamily="34" charset="0"/>
              </a:rPr>
              <a:t>The grass or legume should be able to provide good soil cover and easily compete with weeds.</a:t>
            </a:r>
          </a:p>
          <a:p>
            <a:pPr marL="514350" indent="-514350">
              <a:buFont typeface="+mj-lt"/>
              <a:buAutoNum type="romanLcPeriod"/>
            </a:pPr>
            <a:r>
              <a:rPr lang="en-US" sz="2200" dirty="0">
                <a:latin typeface="Century Gothic" panose="020B0502020202020204" pitchFamily="34" charset="0"/>
              </a:rPr>
              <a:t>It should be palatable (desirable to livestock).</a:t>
            </a:r>
          </a:p>
        </p:txBody>
      </p:sp>
    </p:spTree>
    <p:extLst>
      <p:ext uri="{BB962C8B-B14F-4D97-AF65-F5344CB8AC3E}">
        <p14:creationId xmlns:p14="http://schemas.microsoft.com/office/powerpoint/2010/main" val="3676566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814243"/>
            <a:ext cx="7886700" cy="4351338"/>
          </a:xfrm>
        </p:spPr>
        <p:txBody>
          <a:bodyPr>
            <a:noAutofit/>
          </a:bodyPr>
          <a:lstStyle/>
          <a:p>
            <a:pPr marL="0" indent="0">
              <a:buNone/>
            </a:pPr>
            <a:r>
              <a:rPr lang="en-US" sz="3200" b="1" dirty="0"/>
              <a:t>General guidelines for improving pastures</a:t>
            </a:r>
          </a:p>
          <a:p>
            <a:pPr marL="0" indent="0">
              <a:buNone/>
            </a:pPr>
            <a:endParaRPr lang="en-US" sz="800" b="1" dirty="0">
              <a:latin typeface="+mj-lt"/>
            </a:endParaRPr>
          </a:p>
          <a:p>
            <a:pPr marL="514350" indent="-514350">
              <a:buFont typeface="+mj-lt"/>
              <a:buAutoNum type="romanLcPeriod" startAt="6"/>
            </a:pPr>
            <a:r>
              <a:rPr lang="en-US" sz="2200" dirty="0">
                <a:latin typeface="Century Gothic" panose="020B0502020202020204" pitchFamily="34" charset="0"/>
              </a:rPr>
              <a:t>It should have a high nutritive value, that is, provide enough energy and protein and have no toxic substances.</a:t>
            </a:r>
          </a:p>
          <a:p>
            <a:pPr marL="514350" indent="-514350">
              <a:buFont typeface="+mj-lt"/>
              <a:buAutoNum type="romanLcPeriod" startAt="6"/>
            </a:pPr>
            <a:r>
              <a:rPr lang="en-US" sz="2200" dirty="0">
                <a:latin typeface="Century Gothic" panose="020B0502020202020204" pitchFamily="34" charset="0"/>
              </a:rPr>
              <a:t>The species should be easy to establish from seed or vegetative propagation. Pasture plants that can be established from roots and cuttings are good because planting material can be built up with time, particularly with small-scale farmers, given the high cost of pasture seed.</a:t>
            </a:r>
          </a:p>
          <a:p>
            <a:pPr marL="514350" indent="-514350">
              <a:buFont typeface="+mj-lt"/>
              <a:buAutoNum type="romanLcPeriod" startAt="6"/>
            </a:pPr>
            <a:r>
              <a:rPr lang="en-US" sz="2200" dirty="0">
                <a:latin typeface="Century Gothic" panose="020B0502020202020204" pitchFamily="34" charset="0"/>
              </a:rPr>
              <a:t>The species should be an early and heavy seeder.</a:t>
            </a:r>
            <a:endParaRPr lang="en-GB" sz="2200" dirty="0">
              <a:latin typeface="Century Gothic" panose="020B0502020202020204" pitchFamily="34" charset="0"/>
            </a:endParaRPr>
          </a:p>
        </p:txBody>
      </p:sp>
    </p:spTree>
    <p:extLst>
      <p:ext uri="{BB962C8B-B14F-4D97-AF65-F5344CB8AC3E}">
        <p14:creationId xmlns:p14="http://schemas.microsoft.com/office/powerpoint/2010/main" val="275293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mn-lt"/>
              </a:rPr>
              <a:t>Improvement of natural pastures</a:t>
            </a:r>
            <a:endParaRPr lang="en-GB" sz="3200" b="1" dirty="0">
              <a:latin typeface="+mn-lt"/>
            </a:endParaRPr>
          </a:p>
        </p:txBody>
      </p:sp>
      <p:sp>
        <p:nvSpPr>
          <p:cNvPr id="3" name="Content Placeholder 2"/>
          <p:cNvSpPr>
            <a:spLocks noGrp="1"/>
          </p:cNvSpPr>
          <p:nvPr>
            <p:ph idx="1"/>
          </p:nvPr>
        </p:nvSpPr>
        <p:spPr>
          <a:xfrm>
            <a:off x="2152650" y="1493116"/>
            <a:ext cx="7886700" cy="4351338"/>
          </a:xfrm>
        </p:spPr>
        <p:txBody>
          <a:bodyPr>
            <a:normAutofit lnSpcReduction="10000"/>
          </a:bodyPr>
          <a:lstStyle/>
          <a:p>
            <a:pPr marL="457200" indent="-457200">
              <a:buFont typeface="+mj-lt"/>
              <a:buAutoNum type="alphaLcPeriod"/>
            </a:pPr>
            <a:r>
              <a:rPr lang="en-US" sz="2200" dirty="0">
                <a:latin typeface="Century Gothic" panose="020B0502020202020204" pitchFamily="34" charset="0"/>
              </a:rPr>
              <a:t>Fencing should be done as a way of excluding non-farm animals’ access to the pastures, controlling grazing, allowing for paddocks hence rotational grazing, and protecting fodder banks.</a:t>
            </a:r>
          </a:p>
          <a:p>
            <a:pPr marL="457200" indent="-457200">
              <a:buFont typeface="+mj-lt"/>
              <a:buAutoNum type="alphaLcPeriod"/>
            </a:pPr>
            <a:r>
              <a:rPr lang="en-US" sz="2200" dirty="0">
                <a:latin typeface="Century Gothic" panose="020B0502020202020204" pitchFamily="34" charset="0"/>
              </a:rPr>
              <a:t>Bushes and weeds reduce grass productivity while some are poisonous. Food reserves in their root systems are exhausted by frequent uprooting and slashing, leading to their stunted growth and eventually death.</a:t>
            </a:r>
          </a:p>
          <a:p>
            <a:pPr marL="457200" indent="-457200">
              <a:buFont typeface="+mj-lt"/>
              <a:buAutoNum type="alphaLcPeriod"/>
            </a:pPr>
            <a:r>
              <a:rPr lang="en-US" sz="2200" dirty="0">
                <a:latin typeface="Century Gothic" panose="020B0502020202020204" pitchFamily="34" charset="0"/>
              </a:rPr>
              <a:t>In the open grazing system, water should be evenly distributed on the farm to avoid overgrazing and soil erosion around the watering point.</a:t>
            </a:r>
            <a:endParaRPr lang="en-GB" sz="2200" dirty="0">
              <a:latin typeface="Century Gothic" panose="020B0502020202020204" pitchFamily="34" charset="0"/>
            </a:endParaRPr>
          </a:p>
        </p:txBody>
      </p:sp>
    </p:spTree>
    <p:extLst>
      <p:ext uri="{BB962C8B-B14F-4D97-AF65-F5344CB8AC3E}">
        <p14:creationId xmlns:p14="http://schemas.microsoft.com/office/powerpoint/2010/main" val="2214035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1302327"/>
            <a:ext cx="8039100" cy="4874636"/>
          </a:xfrm>
        </p:spPr>
        <p:txBody>
          <a:bodyPr>
            <a:noAutofit/>
          </a:bodyPr>
          <a:lstStyle/>
          <a:p>
            <a:pPr marL="457200" indent="-457200">
              <a:buFont typeface="+mj-lt"/>
              <a:buAutoNum type="alphaLcPeriod" startAt="4"/>
            </a:pPr>
            <a:r>
              <a:rPr lang="en-GB" sz="2200" dirty="0">
                <a:latin typeface="Century Gothic" panose="020B0502020202020204" pitchFamily="34" charset="0"/>
              </a:rPr>
              <a:t>Soil conservation practices such as construction of bunds along contour lines or construction of terraces can help in reducing soil erosion in hilly areas.</a:t>
            </a:r>
          </a:p>
          <a:p>
            <a:pPr marL="457200" indent="-457200">
              <a:buFont typeface="+mj-lt"/>
              <a:buAutoNum type="alphaLcPeriod" startAt="4"/>
            </a:pPr>
            <a:r>
              <a:rPr lang="en-US" sz="2200" dirty="0" err="1">
                <a:latin typeface="Century Gothic" panose="020B0502020202020204" pitchFamily="34" charset="0"/>
              </a:rPr>
              <a:t>Oversowing</a:t>
            </a:r>
            <a:r>
              <a:rPr lang="en-US" sz="2200" dirty="0">
                <a:latin typeface="Century Gothic" panose="020B0502020202020204" pitchFamily="34" charset="0"/>
              </a:rPr>
              <a:t> can be done in order to forage quality and productivity of natural pastures. It is the introduction of improved pasture species of grasses or legumes to a natural pasture.</a:t>
            </a:r>
          </a:p>
          <a:p>
            <a:r>
              <a:rPr lang="en-US" sz="2200" dirty="0">
                <a:latin typeface="Century Gothic" panose="020B0502020202020204" pitchFamily="34" charset="0"/>
              </a:rPr>
              <a:t>Advantages of </a:t>
            </a:r>
            <a:r>
              <a:rPr lang="en-US" sz="2200" dirty="0" err="1">
                <a:latin typeface="Century Gothic" panose="020B0502020202020204" pitchFamily="34" charset="0"/>
              </a:rPr>
              <a:t>oversowing</a:t>
            </a:r>
            <a:r>
              <a:rPr lang="en-US" sz="2200" dirty="0">
                <a:latin typeface="Century Gothic" panose="020B0502020202020204" pitchFamily="34" charset="0"/>
              </a:rPr>
              <a:t> are:</a:t>
            </a:r>
          </a:p>
          <a:p>
            <a:pPr marL="514350" indent="-514350">
              <a:buFont typeface="+mj-lt"/>
              <a:buAutoNum type="romanLcPeriod"/>
            </a:pPr>
            <a:r>
              <a:rPr lang="en-US" sz="2200" dirty="0">
                <a:latin typeface="Century Gothic" panose="020B0502020202020204" pitchFamily="34" charset="0"/>
              </a:rPr>
              <a:t>Very low cost for land preparation and seed purchase</a:t>
            </a:r>
          </a:p>
          <a:p>
            <a:pPr marL="514350" indent="-514350">
              <a:buFont typeface="+mj-lt"/>
              <a:buAutoNum type="romanLcPeriod"/>
            </a:pPr>
            <a:r>
              <a:rPr lang="en-US" sz="2200" dirty="0">
                <a:latin typeface="Century Gothic" panose="020B0502020202020204" pitchFamily="34" charset="0"/>
              </a:rPr>
              <a:t>Needs minimal management</a:t>
            </a:r>
          </a:p>
          <a:p>
            <a:pPr marL="514350" indent="-514350">
              <a:buFont typeface="+mj-lt"/>
              <a:buAutoNum type="romanLcPeriod"/>
            </a:pPr>
            <a:r>
              <a:rPr lang="en-US" sz="2200" dirty="0">
                <a:latin typeface="Century Gothic" panose="020B0502020202020204" pitchFamily="34" charset="0"/>
              </a:rPr>
              <a:t>Improves forage production</a:t>
            </a:r>
          </a:p>
          <a:p>
            <a:pPr marL="514350" indent="-514350">
              <a:buFont typeface="+mj-lt"/>
              <a:buAutoNum type="romanLcPeriod"/>
            </a:pPr>
            <a:r>
              <a:rPr lang="en-US" sz="2200" dirty="0">
                <a:latin typeface="Century Gothic" panose="020B0502020202020204" pitchFamily="34" charset="0"/>
              </a:rPr>
              <a:t>Maintains/increases soil fertility and reduces dangers of soil erosion.</a:t>
            </a:r>
            <a:endParaRPr lang="en-GB" sz="2200" dirty="0">
              <a:latin typeface="Century Gothic" panose="020B0502020202020204" pitchFamily="34" charset="0"/>
            </a:endParaRPr>
          </a:p>
        </p:txBody>
      </p:sp>
      <p:sp>
        <p:nvSpPr>
          <p:cNvPr id="4" name="Title 1"/>
          <p:cNvSpPr txBox="1">
            <a:spLocks/>
          </p:cNvSpPr>
          <p:nvPr/>
        </p:nvSpPr>
        <p:spPr>
          <a:xfrm>
            <a:off x="2305050" y="157309"/>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rPr>
              <a:t>Improvement of natural pastures</a:t>
            </a:r>
            <a:endParaRPr lang="en-GB" sz="3200" b="1" dirty="0">
              <a:latin typeface="+mn-lt"/>
            </a:endParaRPr>
          </a:p>
        </p:txBody>
      </p:sp>
    </p:spTree>
    <p:extLst>
      <p:ext uri="{BB962C8B-B14F-4D97-AF65-F5344CB8AC3E}">
        <p14:creationId xmlns:p14="http://schemas.microsoft.com/office/powerpoint/2010/main" val="3227569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086" y="171163"/>
            <a:ext cx="7886700" cy="1325563"/>
          </a:xfrm>
        </p:spPr>
        <p:txBody>
          <a:bodyPr>
            <a:normAutofit/>
          </a:bodyPr>
          <a:lstStyle/>
          <a:p>
            <a:r>
              <a:rPr lang="en-US" sz="3200" b="1" dirty="0">
                <a:latin typeface="Century Gothic" panose="020B0502020202020204" pitchFamily="34" charset="0"/>
              </a:rPr>
              <a:t>Establishment of permanent grass/legume pastures</a:t>
            </a:r>
            <a:endParaRPr lang="en-GB" sz="3200" b="1" dirty="0">
              <a:latin typeface="Century Gothic" panose="020B0502020202020204" pitchFamily="34" charset="0"/>
            </a:endParaRPr>
          </a:p>
        </p:txBody>
      </p:sp>
      <p:sp>
        <p:nvSpPr>
          <p:cNvPr id="3" name="Content Placeholder 2"/>
          <p:cNvSpPr>
            <a:spLocks noGrp="1"/>
          </p:cNvSpPr>
          <p:nvPr>
            <p:ph idx="1"/>
          </p:nvPr>
        </p:nvSpPr>
        <p:spPr>
          <a:xfrm>
            <a:off x="2152650" y="1371601"/>
            <a:ext cx="7886700" cy="4805363"/>
          </a:xfrm>
        </p:spPr>
        <p:txBody>
          <a:bodyPr>
            <a:normAutofit fontScale="92500"/>
          </a:bodyPr>
          <a:lstStyle/>
          <a:p>
            <a:pPr marL="0" indent="0">
              <a:buNone/>
            </a:pPr>
            <a:r>
              <a:rPr lang="en-US" sz="2200" b="1" dirty="0">
                <a:latin typeface="Century Gothic" panose="020B0502020202020204" pitchFamily="34" charset="0"/>
              </a:rPr>
              <a:t>Land preparation</a:t>
            </a:r>
          </a:p>
          <a:p>
            <a:r>
              <a:rPr lang="en-US" sz="2200" dirty="0">
                <a:latin typeface="Century Gothic" panose="020B0502020202020204" pitchFamily="34" charset="0"/>
              </a:rPr>
              <a:t>Creating a </a:t>
            </a:r>
            <a:r>
              <a:rPr lang="en-US" sz="2200" dirty="0" err="1">
                <a:latin typeface="Century Gothic" panose="020B0502020202020204" pitchFamily="34" charset="0"/>
              </a:rPr>
              <a:t>favourable</a:t>
            </a:r>
            <a:r>
              <a:rPr lang="en-US" sz="2200" dirty="0">
                <a:latin typeface="Century Gothic" panose="020B0502020202020204" pitchFamily="34" charset="0"/>
              </a:rPr>
              <a:t> environment in which seeds will germinate, emerge and grow. If vegetative material is being used, it is good for starting new roots and shoots.</a:t>
            </a:r>
          </a:p>
          <a:p>
            <a:r>
              <a:rPr lang="en-US" sz="2200" dirty="0">
                <a:latin typeface="Century Gothic" panose="020B0502020202020204" pitchFamily="34" charset="0"/>
              </a:rPr>
              <a:t>Helps to destroy unwanted plants and weeds.</a:t>
            </a:r>
          </a:p>
          <a:p>
            <a:r>
              <a:rPr lang="en-US" sz="2200" dirty="0">
                <a:latin typeface="Century Gothic" panose="020B0502020202020204" pitchFamily="34" charset="0"/>
              </a:rPr>
              <a:t>Time the seedbed preparation aiming at striking a balance between achieving adequate soil moisture for germination and </a:t>
            </a:r>
            <a:r>
              <a:rPr lang="en-US" sz="2200" dirty="0" err="1">
                <a:latin typeface="Century Gothic" panose="020B0502020202020204" pitchFamily="34" charset="0"/>
              </a:rPr>
              <a:t>minimising</a:t>
            </a:r>
            <a:r>
              <a:rPr lang="en-US" sz="2200" dirty="0">
                <a:latin typeface="Century Gothic" panose="020B0502020202020204" pitchFamily="34" charset="0"/>
              </a:rPr>
              <a:t> the risk of high intensity rainfall.</a:t>
            </a:r>
          </a:p>
          <a:p>
            <a:endParaRPr lang="en-US" sz="2200" dirty="0">
              <a:latin typeface="Century Gothic" panose="020B0502020202020204" pitchFamily="34" charset="0"/>
            </a:endParaRPr>
          </a:p>
          <a:p>
            <a:pPr marL="0" indent="0">
              <a:buNone/>
            </a:pPr>
            <a:r>
              <a:rPr lang="en-US" sz="2200" b="1" dirty="0">
                <a:latin typeface="Century Gothic" panose="020B0502020202020204" pitchFamily="34" charset="0"/>
              </a:rPr>
              <a:t>Selection of right pasture species</a:t>
            </a:r>
          </a:p>
          <a:p>
            <a:r>
              <a:rPr lang="en-US" sz="2200" dirty="0">
                <a:latin typeface="Century Gothic" panose="020B0502020202020204" pitchFamily="34" charset="0"/>
              </a:rPr>
              <a:t>The pasture species, grasses and legumes, selected should be those adapted to the area</a:t>
            </a:r>
            <a:endParaRPr lang="en-GB" sz="2200" dirty="0">
              <a:latin typeface="Century Gothic" panose="020B0502020202020204" pitchFamily="34" charset="0"/>
            </a:endParaRPr>
          </a:p>
        </p:txBody>
      </p:sp>
    </p:spTree>
    <p:extLst>
      <p:ext uri="{BB962C8B-B14F-4D97-AF65-F5344CB8AC3E}">
        <p14:creationId xmlns:p14="http://schemas.microsoft.com/office/powerpoint/2010/main" val="1142250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595745"/>
            <a:ext cx="7886700" cy="5581218"/>
          </a:xfrm>
        </p:spPr>
        <p:txBody>
          <a:bodyPr>
            <a:normAutofit/>
          </a:bodyPr>
          <a:lstStyle/>
          <a:p>
            <a:pPr marL="0" indent="0">
              <a:buNone/>
            </a:pPr>
            <a:r>
              <a:rPr lang="en-US" sz="2200" b="1" dirty="0">
                <a:latin typeface="Century Gothic" panose="020B0502020202020204" pitchFamily="34" charset="0"/>
              </a:rPr>
              <a:t>Establishment conditions</a:t>
            </a:r>
          </a:p>
          <a:p>
            <a:r>
              <a:rPr lang="en-US" sz="2200" dirty="0">
                <a:latin typeface="Century Gothic" panose="020B0502020202020204" pitchFamily="34" charset="0"/>
              </a:rPr>
              <a:t>Pasture grasses and legumes are very small seeded and so require a good and firm seedbed.</a:t>
            </a:r>
          </a:p>
          <a:p>
            <a:r>
              <a:rPr lang="en-US" sz="2200" dirty="0">
                <a:latin typeface="Century Gothic" panose="020B0502020202020204" pitchFamily="34" charset="0"/>
              </a:rPr>
              <a:t>To ensure that seeds receive enough moisture, enough oxygen and </a:t>
            </a:r>
            <a:r>
              <a:rPr lang="en-US" sz="2200" dirty="0" err="1">
                <a:latin typeface="Century Gothic" panose="020B0502020202020204" pitchFamily="34" charset="0"/>
              </a:rPr>
              <a:t>favourable</a:t>
            </a:r>
            <a:r>
              <a:rPr lang="en-US" sz="2200" dirty="0">
                <a:latin typeface="Century Gothic" panose="020B0502020202020204" pitchFamily="34" charset="0"/>
              </a:rPr>
              <a:t> temperature, sowing should be done after about three good rains.</a:t>
            </a:r>
          </a:p>
          <a:p>
            <a:r>
              <a:rPr lang="en-US" sz="2200" dirty="0">
                <a:latin typeface="Century Gothic" panose="020B0502020202020204" pitchFamily="34" charset="0"/>
              </a:rPr>
              <a:t>Fertilizers, particularly, phosphate-based fertilizers will give high production. A rate of 150 kg/ha is recommended. Well-composed organic manure could also be applied to the seedbed before planting. The use of fertilizers will however depend on location.</a:t>
            </a:r>
          </a:p>
          <a:p>
            <a:r>
              <a:rPr lang="en-US" sz="2200" dirty="0">
                <a:latin typeface="Century Gothic" panose="020B0502020202020204" pitchFamily="34" charset="0"/>
              </a:rPr>
              <a:t>Fencing and paddocking, to help in the control of livestock should be provided.</a:t>
            </a:r>
          </a:p>
          <a:p>
            <a:endParaRPr lang="en-US" sz="2200" dirty="0">
              <a:latin typeface="Century Gothic" panose="020B0502020202020204" pitchFamily="34" charset="0"/>
            </a:endParaRPr>
          </a:p>
        </p:txBody>
      </p:sp>
    </p:spTree>
    <p:extLst>
      <p:ext uri="{BB962C8B-B14F-4D97-AF65-F5344CB8AC3E}">
        <p14:creationId xmlns:p14="http://schemas.microsoft.com/office/powerpoint/2010/main" val="835517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651165"/>
            <a:ext cx="7886700" cy="5525799"/>
          </a:xfrm>
        </p:spPr>
        <p:txBody>
          <a:bodyPr>
            <a:normAutofit/>
          </a:bodyPr>
          <a:lstStyle/>
          <a:p>
            <a:pPr marL="0" indent="0">
              <a:buNone/>
            </a:pPr>
            <a:r>
              <a:rPr lang="en-US" sz="2200" b="1" dirty="0">
                <a:latin typeface="Century Gothic" panose="020B0502020202020204" pitchFamily="34" charset="0"/>
              </a:rPr>
              <a:t>Seed quality</a:t>
            </a:r>
          </a:p>
          <a:p>
            <a:r>
              <a:rPr lang="en-US" sz="2200" dirty="0">
                <a:latin typeface="Century Gothic" panose="020B0502020202020204" pitchFamily="34" charset="0"/>
              </a:rPr>
              <a:t>Poor quality seed will lead to poor and prolonged pasture establishment.</a:t>
            </a:r>
          </a:p>
          <a:p>
            <a:r>
              <a:rPr lang="en-US" sz="2200" dirty="0">
                <a:latin typeface="Century Gothic" panose="020B0502020202020204" pitchFamily="34" charset="0"/>
              </a:rPr>
              <a:t>Seed germination and contamination with weeds should be checked.</a:t>
            </a:r>
          </a:p>
          <a:p>
            <a:r>
              <a:rPr lang="en-US" sz="2200" dirty="0">
                <a:latin typeface="Century Gothic" panose="020B0502020202020204" pitchFamily="34" charset="0"/>
              </a:rPr>
              <a:t>Seeds should not be stored for too long, they should be planted as soon as possible to ensure a high germination rate.</a:t>
            </a:r>
          </a:p>
          <a:p>
            <a:r>
              <a:rPr lang="en-US" sz="2200" dirty="0">
                <a:latin typeface="Century Gothic" panose="020B0502020202020204" pitchFamily="34" charset="0"/>
              </a:rPr>
              <a:t>Good pasture seed should have a germination percentage of about 30% for grasses and at least 70% for legumes.</a:t>
            </a:r>
          </a:p>
        </p:txBody>
      </p:sp>
    </p:spTree>
    <p:extLst>
      <p:ext uri="{BB962C8B-B14F-4D97-AF65-F5344CB8AC3E}">
        <p14:creationId xmlns:p14="http://schemas.microsoft.com/office/powerpoint/2010/main" val="3272142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789140" y="363254"/>
            <a:ext cx="10258816" cy="5974915"/>
          </a:xfrm>
        </p:spPr>
        <p:txBody>
          <a:bodyPr>
            <a:normAutofit/>
          </a:bodyPr>
          <a:lstStyle/>
          <a:p>
            <a:pPr marL="0" indent="0">
              <a:buNone/>
            </a:pPr>
            <a:r>
              <a:rPr lang="en-US" sz="2200" b="1" dirty="0">
                <a:latin typeface="Century Gothic" panose="020B0502020202020204" pitchFamily="34" charset="0"/>
              </a:rPr>
              <a:t>Seed treatment</a:t>
            </a:r>
          </a:p>
          <a:p>
            <a:r>
              <a:rPr lang="en-US" sz="2200" dirty="0">
                <a:latin typeface="Century Gothic" panose="020B0502020202020204" pitchFamily="34" charset="0"/>
              </a:rPr>
              <a:t>Most pasture legumes have hard seed coats that prevent permeability of water. The seeds should be treated so that:</a:t>
            </a:r>
          </a:p>
          <a:p>
            <a:pPr lvl="1">
              <a:buFont typeface="Wingdings" panose="05000000000000000000" pitchFamily="2" charset="2"/>
              <a:buChar char="ü"/>
            </a:pPr>
            <a:r>
              <a:rPr lang="en-US" sz="2200" dirty="0">
                <a:latin typeface="Century Gothic" panose="020B0502020202020204" pitchFamily="34" charset="0"/>
              </a:rPr>
              <a:t>Germination can be increased.</a:t>
            </a:r>
          </a:p>
          <a:p>
            <a:pPr lvl="1">
              <a:buFont typeface="Wingdings" panose="05000000000000000000" pitchFamily="2" charset="2"/>
              <a:buChar char="ü"/>
            </a:pPr>
            <a:r>
              <a:rPr lang="en-US" sz="2200" dirty="0">
                <a:latin typeface="Century Gothic" panose="020B0502020202020204" pitchFamily="34" charset="0"/>
              </a:rPr>
              <a:t>Rhizobia bacteria ensure the development of nitrogen</a:t>
            </a:r>
          </a:p>
          <a:p>
            <a:pPr marL="457200" lvl="1" indent="0">
              <a:buNone/>
            </a:pPr>
            <a:endParaRPr lang="en-US" sz="2200" dirty="0">
              <a:latin typeface="Century Gothic" panose="020B0502020202020204" pitchFamily="34" charset="0"/>
            </a:endParaRPr>
          </a:p>
          <a:p>
            <a:pPr marL="457200" indent="-457200">
              <a:buFont typeface="+mj-lt"/>
              <a:buAutoNum type="alphaLcParenR"/>
            </a:pPr>
            <a:r>
              <a:rPr lang="en-US" sz="2200" b="1" dirty="0">
                <a:solidFill>
                  <a:srgbClr val="FFFF00"/>
                </a:solidFill>
                <a:latin typeface="Century Gothic" panose="020B0502020202020204" pitchFamily="34" charset="0"/>
              </a:rPr>
              <a:t>Hot water treatment</a:t>
            </a:r>
          </a:p>
          <a:p>
            <a:r>
              <a:rPr lang="en-US" sz="2200" dirty="0">
                <a:latin typeface="Century Gothic" panose="020B0502020202020204" pitchFamily="34" charset="0"/>
              </a:rPr>
              <a:t>Soak the seed in warm water overnight.</a:t>
            </a:r>
          </a:p>
          <a:p>
            <a:r>
              <a:rPr lang="en-US" sz="2200" dirty="0">
                <a:latin typeface="Century Gothic" panose="020B0502020202020204" pitchFamily="34" charset="0"/>
              </a:rPr>
              <a:t>Dry in the shade in the morning before planting.</a:t>
            </a:r>
          </a:p>
          <a:p>
            <a:r>
              <a:rPr lang="en-US" sz="2200" dirty="0">
                <a:latin typeface="Century Gothic" panose="020B0502020202020204" pitchFamily="34" charset="0"/>
              </a:rPr>
              <a:t>Plant the seed and never store such seed. </a:t>
            </a:r>
          </a:p>
        </p:txBody>
      </p:sp>
    </p:spTree>
    <p:extLst>
      <p:ext uri="{BB962C8B-B14F-4D97-AF65-F5344CB8AC3E}">
        <p14:creationId xmlns:p14="http://schemas.microsoft.com/office/powerpoint/2010/main" val="439270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421709" y="610644"/>
            <a:ext cx="11348581" cy="5636712"/>
          </a:xfrm>
        </p:spPr>
        <p:txBody>
          <a:bodyPr>
            <a:noAutofit/>
          </a:bodyPr>
          <a:lstStyle/>
          <a:p>
            <a:pPr marL="457200" indent="-457200" algn="just">
              <a:buFont typeface="+mj-lt"/>
              <a:buAutoNum type="alphaLcParenR" startAt="2"/>
            </a:pPr>
            <a:r>
              <a:rPr lang="en-US" sz="22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Scarification</a:t>
            </a:r>
          </a:p>
          <a:p>
            <a:pPr algn="just"/>
            <a:r>
              <a:rPr lang="en-US" sz="2200" dirty="0">
                <a:latin typeface="Times New Roman" panose="02020603050405020304" pitchFamily="18" charset="0"/>
                <a:cs typeface="Times New Roman" panose="02020603050405020304" pitchFamily="18" charset="0"/>
              </a:rPr>
              <a:t>Rub small quantities of seed between two sheets of sand paper; or put the seed on a concrete floor and rub with sand paper.</a:t>
            </a:r>
          </a:p>
          <a:p>
            <a:pPr marL="457200" indent="-457200" algn="just">
              <a:buFont typeface="+mj-lt"/>
              <a:buAutoNum type="alphaLcParenR" startAt="3"/>
            </a:pPr>
            <a:r>
              <a:rPr lang="en-US" sz="22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Inoculation</a:t>
            </a:r>
          </a:p>
          <a:p>
            <a:pPr algn="just"/>
            <a:r>
              <a:rPr lang="en-US" sz="2200" dirty="0">
                <a:latin typeface="Times New Roman" panose="02020603050405020304" pitchFamily="18" charset="0"/>
                <a:cs typeface="Times New Roman" panose="02020603050405020304" pitchFamily="18" charset="0"/>
              </a:rPr>
              <a:t>Some pasture legume seed require inoculation for proper nodulation. The appropriate inoculant should be supplied with the seed</a:t>
            </a:r>
          </a:p>
          <a:p>
            <a:pPr algn="just"/>
            <a:r>
              <a:rPr lang="en-US" sz="2200" dirty="0">
                <a:latin typeface="Times New Roman" panose="02020603050405020304" pitchFamily="18" charset="0"/>
                <a:cs typeface="Times New Roman" panose="02020603050405020304" pitchFamily="18" charset="0"/>
              </a:rPr>
              <a:t>Seed inoculation should be carried out as follows:</a:t>
            </a:r>
          </a:p>
          <a:p>
            <a:pPr lvl="1"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Spread the seed out on a clean surface.</a:t>
            </a:r>
          </a:p>
          <a:p>
            <a:pPr lvl="1"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Sprinkle water on the seed.</a:t>
            </a:r>
          </a:p>
          <a:p>
            <a:pPr lvl="1"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Mix the water and the seed until the seeds are uniformly moist and sticky.</a:t>
            </a:r>
          </a:p>
          <a:p>
            <a:pPr lvl="1"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Scatter the inoculant over the seed and mix well.</a:t>
            </a:r>
          </a:p>
          <a:p>
            <a:pPr lvl="1"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Sow the seed.</a:t>
            </a:r>
          </a:p>
        </p:txBody>
      </p:sp>
    </p:spTree>
    <p:extLst>
      <p:ext uri="{BB962C8B-B14F-4D97-AF65-F5344CB8AC3E}">
        <p14:creationId xmlns:p14="http://schemas.microsoft.com/office/powerpoint/2010/main" val="2416955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613775" y="375781"/>
            <a:ext cx="10910170" cy="6075123"/>
          </a:xfrm>
        </p:spPr>
        <p:txBody>
          <a:bodyPr>
            <a:normAutofit/>
          </a:bodyPr>
          <a:lstStyle/>
          <a:p>
            <a:pPr marL="0" indent="0">
              <a:buNone/>
            </a:pPr>
            <a:r>
              <a:rPr lang="en-US" sz="2400" b="1" dirty="0">
                <a:latin typeface="Century Gothic" panose="020B0502020202020204" pitchFamily="34" charset="0"/>
              </a:rPr>
              <a:t>Dormancy</a:t>
            </a:r>
          </a:p>
          <a:p>
            <a:r>
              <a:rPr lang="en-US" sz="2400" b="1" dirty="0"/>
              <a:t>Seed dormancy</a:t>
            </a:r>
            <a:r>
              <a:rPr lang="en-US" sz="2400" dirty="0"/>
              <a:t> is a condition in which a </a:t>
            </a:r>
            <a:r>
              <a:rPr lang="en-US" sz="2400" b="1" dirty="0"/>
              <a:t>viable (living) seed does not germinate even when all the environmental conditions such as water, oxygen, and suitable temperature are favorable</a:t>
            </a:r>
            <a:r>
              <a:rPr lang="en-US" sz="2400" dirty="0"/>
              <a:t>.</a:t>
            </a:r>
          </a:p>
          <a:p>
            <a:r>
              <a:rPr lang="en-US" sz="2400" dirty="0">
                <a:latin typeface="Century Gothic" panose="020B0502020202020204" pitchFamily="34" charset="0"/>
              </a:rPr>
              <a:t>This is important in grass seeds. Store grass seed for 3 to 6 months in a cool dry place to overcome this.</a:t>
            </a:r>
          </a:p>
          <a:p>
            <a:pPr marL="0" indent="0">
              <a:buNone/>
            </a:pPr>
            <a:endParaRPr lang="en-US" sz="2400" b="1" dirty="0">
              <a:latin typeface="Century Gothic" panose="020B0502020202020204" pitchFamily="34" charset="0"/>
            </a:endParaRPr>
          </a:p>
          <a:p>
            <a:pPr marL="0" indent="0">
              <a:buNone/>
            </a:pPr>
            <a:r>
              <a:rPr lang="en-US" sz="2400" b="1" dirty="0">
                <a:latin typeface="Century Gothic" panose="020B0502020202020204" pitchFamily="34" charset="0"/>
              </a:rPr>
              <a:t>Seed rates</a:t>
            </a:r>
          </a:p>
          <a:p>
            <a:r>
              <a:rPr lang="en-US" sz="2400" dirty="0">
                <a:latin typeface="Century Gothic" panose="020B0502020202020204" pitchFamily="34" charset="0"/>
              </a:rPr>
              <a:t>Sowing rates will be determined by:</a:t>
            </a:r>
          </a:p>
          <a:p>
            <a:pPr lvl="1">
              <a:buFont typeface="Wingdings" panose="05000000000000000000" pitchFamily="2" charset="2"/>
              <a:buChar char="v"/>
            </a:pPr>
            <a:r>
              <a:rPr lang="en-US" sz="2400" dirty="0">
                <a:latin typeface="Century Gothic" panose="020B0502020202020204" pitchFamily="34" charset="0"/>
              </a:rPr>
              <a:t>The pasture species to be planted</a:t>
            </a:r>
          </a:p>
          <a:p>
            <a:pPr lvl="1">
              <a:buFont typeface="Wingdings" panose="05000000000000000000" pitchFamily="2" charset="2"/>
              <a:buChar char="v"/>
            </a:pPr>
            <a:r>
              <a:rPr lang="en-US" sz="2400" dirty="0">
                <a:latin typeface="Century Gothic" panose="020B0502020202020204" pitchFamily="34" charset="0"/>
              </a:rPr>
              <a:t>The method of sowing to be used</a:t>
            </a:r>
          </a:p>
        </p:txBody>
      </p:sp>
    </p:spTree>
    <p:extLst>
      <p:ext uri="{BB962C8B-B14F-4D97-AF65-F5344CB8AC3E}">
        <p14:creationId xmlns:p14="http://schemas.microsoft.com/office/powerpoint/2010/main" val="1065793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901874" y="538619"/>
            <a:ext cx="9137476" cy="5638344"/>
          </a:xfrm>
        </p:spPr>
        <p:txBody>
          <a:bodyPr>
            <a:normAutofit/>
          </a:bodyPr>
          <a:lstStyle/>
          <a:p>
            <a:pPr marL="0" indent="0">
              <a:buNone/>
            </a:pPr>
            <a:r>
              <a:rPr lang="en-US" sz="2200" b="1" dirty="0">
                <a:latin typeface="Century Gothic" panose="020B0502020202020204" pitchFamily="34" charset="0"/>
              </a:rPr>
              <a:t>Sowing</a:t>
            </a:r>
          </a:p>
          <a:p>
            <a:pPr marL="0" indent="0">
              <a:buNone/>
            </a:pPr>
            <a:r>
              <a:rPr lang="en-US" sz="2200" u="sng" dirty="0">
                <a:latin typeface="Century Gothic" panose="020B0502020202020204" pitchFamily="34" charset="0"/>
              </a:rPr>
              <a:t>Sowing from seed</a:t>
            </a:r>
          </a:p>
          <a:p>
            <a:r>
              <a:rPr lang="en-US" sz="2200" dirty="0">
                <a:latin typeface="Century Gothic" panose="020B0502020202020204" pitchFamily="34" charset="0"/>
              </a:rPr>
              <a:t>Grass and legume seeds to be planted can be mixed.</a:t>
            </a:r>
          </a:p>
          <a:p>
            <a:r>
              <a:rPr lang="en-US" sz="2200" dirty="0">
                <a:latin typeface="Century Gothic" panose="020B0502020202020204" pitchFamily="34" charset="0"/>
              </a:rPr>
              <a:t>The mixed seed can be sown by broadcasting or sow in rows.</a:t>
            </a:r>
          </a:p>
          <a:p>
            <a:r>
              <a:rPr lang="en-US" sz="2200" dirty="0">
                <a:latin typeface="Century Gothic" panose="020B0502020202020204" pitchFamily="34" charset="0"/>
              </a:rPr>
              <a:t>Broadcasting is quicker and cheaper.</a:t>
            </a:r>
          </a:p>
          <a:p>
            <a:r>
              <a:rPr lang="en-US" sz="2200" dirty="0">
                <a:latin typeface="Century Gothic" panose="020B0502020202020204" pitchFamily="34" charset="0"/>
              </a:rPr>
              <a:t>Row planting gives better establishment and weeding is easier.</a:t>
            </a:r>
          </a:p>
          <a:p>
            <a:r>
              <a:rPr lang="en-US" sz="2200" dirty="0">
                <a:latin typeface="Century Gothic" panose="020B0502020202020204" pitchFamily="34" charset="0"/>
              </a:rPr>
              <a:t>Spacing for row-planted seed is 30 cm between rows.</a:t>
            </a:r>
          </a:p>
          <a:p>
            <a:r>
              <a:rPr lang="en-US" sz="2200" dirty="0">
                <a:latin typeface="Century Gothic" panose="020B0502020202020204" pitchFamily="34" charset="0"/>
              </a:rPr>
              <a:t>Planted seed must be lightly covered with soil using a rake or leafless branch to ensure good seed and soil contact and for protection from birds and being washed away by rain.</a:t>
            </a:r>
          </a:p>
          <a:p>
            <a:pPr marL="0" indent="0">
              <a:buNone/>
            </a:pPr>
            <a:endParaRPr lang="en-US" sz="2200" dirty="0">
              <a:latin typeface="Century Gothic" panose="020B0502020202020204" pitchFamily="34" charset="0"/>
            </a:endParaRPr>
          </a:p>
        </p:txBody>
      </p:sp>
    </p:spTree>
    <p:extLst>
      <p:ext uri="{BB962C8B-B14F-4D97-AF65-F5344CB8AC3E}">
        <p14:creationId xmlns:p14="http://schemas.microsoft.com/office/powerpoint/2010/main" val="441728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864295" y="576197"/>
            <a:ext cx="10546915" cy="5600766"/>
          </a:xfrm>
        </p:spPr>
        <p:txBody>
          <a:bodyPr>
            <a:noAutofit/>
          </a:bodyPr>
          <a:lstStyle/>
          <a:p>
            <a:pPr marL="0" indent="0">
              <a:buNone/>
            </a:pPr>
            <a:r>
              <a:rPr lang="en-US" sz="2200" b="1" dirty="0">
                <a:latin typeface="Century Gothic" panose="020B0502020202020204" pitchFamily="34" charset="0"/>
              </a:rPr>
              <a:t>Sowing</a:t>
            </a:r>
          </a:p>
          <a:p>
            <a:pPr marL="0" indent="0">
              <a:buNone/>
            </a:pPr>
            <a:r>
              <a:rPr lang="en-US" sz="2200" u="sng" dirty="0">
                <a:latin typeface="Century Gothic" panose="020B0502020202020204" pitchFamily="34" charset="0"/>
              </a:rPr>
              <a:t>Vegetative planting</a:t>
            </a:r>
          </a:p>
          <a:p>
            <a:r>
              <a:rPr lang="en-US" sz="2200" dirty="0">
                <a:latin typeface="Century Gothic" panose="020B0502020202020204" pitchFamily="34" charset="0"/>
              </a:rPr>
              <a:t>This is necessary where pasture seeds for some species are not constantly available and/or are very expensive.</a:t>
            </a:r>
          </a:p>
          <a:p>
            <a:r>
              <a:rPr lang="en-US" sz="2200" dirty="0" err="1">
                <a:latin typeface="Century Gothic" panose="020B0502020202020204" pitchFamily="34" charset="0"/>
              </a:rPr>
              <a:t>Vegetatively</a:t>
            </a:r>
            <a:r>
              <a:rPr lang="en-US" sz="2200" dirty="0">
                <a:latin typeface="Century Gothic" panose="020B0502020202020204" pitchFamily="34" charset="0"/>
              </a:rPr>
              <a:t> planted pasture takes longer to establish.</a:t>
            </a:r>
          </a:p>
          <a:p>
            <a:r>
              <a:rPr lang="en-US" sz="2200" dirty="0">
                <a:latin typeface="Century Gothic" panose="020B0502020202020204" pitchFamily="34" charset="0"/>
              </a:rPr>
              <a:t>The method is more </a:t>
            </a:r>
            <a:r>
              <a:rPr lang="en-US" sz="2200" dirty="0" err="1">
                <a:latin typeface="Century Gothic" panose="020B0502020202020204" pitchFamily="34" charset="0"/>
              </a:rPr>
              <a:t>labour</a:t>
            </a:r>
            <a:r>
              <a:rPr lang="en-US" sz="2200" dirty="0">
                <a:latin typeface="Century Gothic" panose="020B0502020202020204" pitchFamily="34" charset="0"/>
              </a:rPr>
              <a:t> intensive.</a:t>
            </a:r>
          </a:p>
          <a:p>
            <a:r>
              <a:rPr lang="en-US" sz="2200" dirty="0">
                <a:latin typeface="Century Gothic" panose="020B0502020202020204" pitchFamily="34" charset="0"/>
              </a:rPr>
              <a:t>All fodder grasses are </a:t>
            </a:r>
            <a:r>
              <a:rPr lang="en-US" sz="2200" dirty="0" err="1">
                <a:latin typeface="Century Gothic" panose="020B0502020202020204" pitchFamily="34" charset="0"/>
              </a:rPr>
              <a:t>vegetatively</a:t>
            </a:r>
            <a:r>
              <a:rPr lang="en-US" sz="2200" dirty="0">
                <a:latin typeface="Century Gothic" panose="020B0502020202020204" pitchFamily="34" charset="0"/>
              </a:rPr>
              <a:t> planted.</a:t>
            </a:r>
          </a:p>
          <a:p>
            <a:r>
              <a:rPr lang="en-US" sz="2200" dirty="0">
                <a:latin typeface="Century Gothic" panose="020B0502020202020204" pitchFamily="34" charset="0"/>
              </a:rPr>
              <a:t>The older </a:t>
            </a:r>
            <a:r>
              <a:rPr lang="en-US" sz="2200" dirty="0" err="1">
                <a:latin typeface="Century Gothic" panose="020B0502020202020204" pitchFamily="34" charset="0"/>
              </a:rPr>
              <a:t>stolons</a:t>
            </a:r>
            <a:r>
              <a:rPr lang="en-US" sz="2200" dirty="0">
                <a:latin typeface="Century Gothic" panose="020B0502020202020204" pitchFamily="34" charset="0"/>
              </a:rPr>
              <a:t> or stems with new root growth are the best planting materials.</a:t>
            </a:r>
          </a:p>
          <a:p>
            <a:r>
              <a:rPr lang="en-US" sz="2200" dirty="0">
                <a:latin typeface="Century Gothic" panose="020B0502020202020204" pitchFamily="34" charset="0"/>
              </a:rPr>
              <a:t>Planting can be done by hand using a hoe. Runners, splits or cuttings can be used.</a:t>
            </a:r>
          </a:p>
          <a:p>
            <a:r>
              <a:rPr lang="en-US" sz="2200" dirty="0">
                <a:latin typeface="Century Gothic" panose="020B0502020202020204" pitchFamily="34" charset="0"/>
              </a:rPr>
              <a:t>Planting should be in a moist seedbed and the runner should be covered with soil.</a:t>
            </a:r>
          </a:p>
        </p:txBody>
      </p:sp>
    </p:spTree>
    <p:extLst>
      <p:ext uri="{BB962C8B-B14F-4D97-AF65-F5344CB8AC3E}">
        <p14:creationId xmlns:p14="http://schemas.microsoft.com/office/powerpoint/2010/main" val="494698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sz="3200" b="1" dirty="0">
                <a:latin typeface="Century Gothic" panose="020B0502020202020204" pitchFamily="34" charset="0"/>
              </a:rPr>
              <a:t>Pasture Management</a:t>
            </a:r>
          </a:p>
        </p:txBody>
      </p:sp>
      <p:sp>
        <p:nvSpPr>
          <p:cNvPr id="3" name="Tijdelijke aanduiding voor inhoud 2"/>
          <p:cNvSpPr>
            <a:spLocks noGrp="1"/>
          </p:cNvSpPr>
          <p:nvPr>
            <p:ph idx="1"/>
          </p:nvPr>
        </p:nvSpPr>
        <p:spPr>
          <a:xfrm>
            <a:off x="499214" y="1243683"/>
            <a:ext cx="11250200" cy="4833072"/>
          </a:xfrm>
        </p:spPr>
        <p:txBody>
          <a:bodyPr>
            <a:normAutofit/>
          </a:bodyPr>
          <a:lstStyle/>
          <a:p>
            <a:pPr algn="just"/>
            <a:r>
              <a:rPr lang="en-US" sz="2200" dirty="0">
                <a:latin typeface="Century Gothic" panose="020B0502020202020204" pitchFamily="34" charset="0"/>
              </a:rPr>
              <a:t>The improved or established pastures will still have seasonal growth and production with periods of lush, high nutritive feed and periods of shortage and low nutritive feed.</a:t>
            </a:r>
          </a:p>
          <a:p>
            <a:pPr algn="just"/>
            <a:r>
              <a:rPr lang="en-US" sz="2200" dirty="0">
                <a:latin typeface="Century Gothic" panose="020B0502020202020204" pitchFamily="34" charset="0"/>
              </a:rPr>
              <a:t>Therefore, good pasture management should include controlled use (grazing or cutting) and conservation strategies. </a:t>
            </a:r>
          </a:p>
          <a:p>
            <a:pPr algn="just"/>
            <a:r>
              <a:rPr lang="en-US" sz="2200" dirty="0">
                <a:latin typeface="Century Gothic" panose="020B0502020202020204" pitchFamily="34" charset="0"/>
              </a:rPr>
              <a:t>The needs of the livestock and the plants, particularly the legumes, and the soil must be taken into consideration. </a:t>
            </a:r>
          </a:p>
          <a:p>
            <a:pPr algn="just"/>
            <a:r>
              <a:rPr lang="en-US" sz="2200" dirty="0">
                <a:latin typeface="Century Gothic" panose="020B0502020202020204" pitchFamily="34" charset="0"/>
              </a:rPr>
              <a:t>Sometimes, it may be necessary to temporarily sacrifice the needs of one or the other in order to create a balance that will achieve good results.</a:t>
            </a:r>
          </a:p>
        </p:txBody>
      </p:sp>
    </p:spTree>
    <p:extLst>
      <p:ext uri="{BB962C8B-B14F-4D97-AF65-F5344CB8AC3E}">
        <p14:creationId xmlns:p14="http://schemas.microsoft.com/office/powerpoint/2010/main" val="1443323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720437"/>
            <a:ext cx="7886700" cy="5456527"/>
          </a:xfrm>
        </p:spPr>
        <p:txBody>
          <a:bodyPr>
            <a:noAutofit/>
          </a:bodyPr>
          <a:lstStyle/>
          <a:p>
            <a:pPr marL="514350" indent="-514350">
              <a:buFont typeface="+mj-lt"/>
              <a:buAutoNum type="arabicPeriod"/>
            </a:pPr>
            <a:r>
              <a:rPr lang="en-US" sz="2200" u="sng" dirty="0">
                <a:latin typeface="Century Gothic" panose="020B0502020202020204" pitchFamily="34" charset="0"/>
              </a:rPr>
              <a:t>Early grazing</a:t>
            </a:r>
          </a:p>
          <a:p>
            <a:r>
              <a:rPr lang="en-US" sz="2200" dirty="0">
                <a:latin typeface="Century Gothic" panose="020B0502020202020204" pitchFamily="34" charset="0"/>
              </a:rPr>
              <a:t>Grazing should not be allowed until the grasses and legumes are well established and have developed a strong root system.</a:t>
            </a:r>
          </a:p>
          <a:p>
            <a:r>
              <a:rPr lang="en-US" sz="2200" dirty="0">
                <a:latin typeface="Century Gothic" panose="020B0502020202020204" pitchFamily="34" charset="0"/>
              </a:rPr>
              <a:t>Uncontrolled early grazing may lead to plants being pulled out of the soil and the soil may be compacted by the livestock.</a:t>
            </a:r>
          </a:p>
          <a:p>
            <a:r>
              <a:rPr lang="en-US" sz="2200" dirty="0">
                <a:latin typeface="Century Gothic" panose="020B0502020202020204" pitchFamily="34" charset="0"/>
              </a:rPr>
              <a:t>The first grazing, which should be light, is done 2 to 3 months after the seed has germinated.</a:t>
            </a:r>
          </a:p>
          <a:p>
            <a:r>
              <a:rPr lang="en-US" sz="2200" dirty="0">
                <a:latin typeface="Century Gothic" panose="020B0502020202020204" pitchFamily="34" charset="0"/>
              </a:rPr>
              <a:t>Light grazing allows the grass to develop more shoots (</a:t>
            </a:r>
            <a:r>
              <a:rPr lang="en-US" sz="2200" dirty="0" err="1">
                <a:latin typeface="Century Gothic" panose="020B0502020202020204" pitchFamily="34" charset="0"/>
              </a:rPr>
              <a:t>tillering</a:t>
            </a:r>
            <a:r>
              <a:rPr lang="en-US" sz="2200" dirty="0">
                <a:latin typeface="Century Gothic" panose="020B0502020202020204" pitchFamily="34" charset="0"/>
              </a:rPr>
              <a:t>) so that the legumes are not shaded by the grass and grow well.</a:t>
            </a:r>
          </a:p>
        </p:txBody>
      </p:sp>
    </p:spTree>
    <p:extLst>
      <p:ext uri="{BB962C8B-B14F-4D97-AF65-F5344CB8AC3E}">
        <p14:creationId xmlns:p14="http://schemas.microsoft.com/office/powerpoint/2010/main" val="2022185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720437"/>
            <a:ext cx="7886700" cy="5456527"/>
          </a:xfrm>
        </p:spPr>
        <p:txBody>
          <a:bodyPr>
            <a:noAutofit/>
          </a:bodyPr>
          <a:lstStyle/>
          <a:p>
            <a:pPr marL="514350" indent="-514350">
              <a:buFont typeface="+mj-lt"/>
              <a:buAutoNum type="arabicPeriod" startAt="2"/>
            </a:pPr>
            <a:r>
              <a:rPr lang="en-US" sz="2200" u="sng" dirty="0">
                <a:latin typeface="Century Gothic" panose="020B0502020202020204" pitchFamily="34" charset="0"/>
              </a:rPr>
              <a:t>Efficient use of pasture</a:t>
            </a:r>
          </a:p>
          <a:p>
            <a:r>
              <a:rPr lang="en-US" sz="2200" dirty="0">
                <a:latin typeface="Century Gothic" panose="020B0502020202020204" pitchFamily="34" charset="0"/>
              </a:rPr>
              <a:t>This refers to how many animals are allowed into a given area of pasture and at any given time. This is the stocking rate.</a:t>
            </a:r>
          </a:p>
          <a:p>
            <a:r>
              <a:rPr lang="en-US" sz="2200" dirty="0">
                <a:latin typeface="Century Gothic" panose="020B0502020202020204" pitchFamily="34" charset="0"/>
              </a:rPr>
              <a:t>The stocking rate should be flexible such that the number of animals kept are increased or lowered to match pasture availability.</a:t>
            </a:r>
          </a:p>
          <a:p>
            <a:r>
              <a:rPr lang="en-US" sz="2200" dirty="0">
                <a:latin typeface="Century Gothic" panose="020B0502020202020204" pitchFamily="34" charset="0"/>
              </a:rPr>
              <a:t>High quality grass/legume pasture should not be allowed to become too mature.</a:t>
            </a:r>
          </a:p>
          <a:p>
            <a:r>
              <a:rPr lang="en-US" sz="2200" dirty="0">
                <a:latin typeface="Century Gothic" panose="020B0502020202020204" pitchFamily="34" charset="0"/>
              </a:rPr>
              <a:t>Grazing should not be lower than 20 to 30 cm high.</a:t>
            </a:r>
          </a:p>
          <a:p>
            <a:r>
              <a:rPr lang="en-US" sz="2200" dirty="0">
                <a:latin typeface="Century Gothic" panose="020B0502020202020204" pitchFamily="34" charset="0"/>
              </a:rPr>
              <a:t>Conservation (hay or silage) of excess pasture produced during the growing period, or the purchase of feed or sale of animals, will all lead to efficient use of pastures.</a:t>
            </a:r>
          </a:p>
        </p:txBody>
      </p:sp>
    </p:spTree>
    <p:extLst>
      <p:ext uri="{BB962C8B-B14F-4D97-AF65-F5344CB8AC3E}">
        <p14:creationId xmlns:p14="http://schemas.microsoft.com/office/powerpoint/2010/main" val="3745529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803565"/>
            <a:ext cx="7886700" cy="5373399"/>
          </a:xfrm>
        </p:spPr>
        <p:txBody>
          <a:bodyPr>
            <a:noAutofit/>
          </a:bodyPr>
          <a:lstStyle/>
          <a:p>
            <a:pPr marL="457200" indent="-457200">
              <a:buFont typeface="+mj-lt"/>
              <a:buAutoNum type="arabicPeriod" startAt="3"/>
            </a:pPr>
            <a:r>
              <a:rPr lang="en-US" sz="2200" u="sng" dirty="0">
                <a:latin typeface="Century Gothic" panose="020B0502020202020204" pitchFamily="34" charset="0"/>
              </a:rPr>
              <a:t>Plant </a:t>
            </a:r>
            <a:r>
              <a:rPr lang="en-US" sz="2200" u="sng" dirty="0" err="1">
                <a:latin typeface="Century Gothic" panose="020B0502020202020204" pitchFamily="34" charset="0"/>
              </a:rPr>
              <a:t>vigour</a:t>
            </a:r>
            <a:r>
              <a:rPr lang="en-US" sz="2200" u="sng" dirty="0">
                <a:latin typeface="Century Gothic" panose="020B0502020202020204" pitchFamily="34" charset="0"/>
              </a:rPr>
              <a:t> and species balance</a:t>
            </a:r>
          </a:p>
          <a:p>
            <a:r>
              <a:rPr lang="en-US" sz="2200" dirty="0">
                <a:latin typeface="Century Gothic" panose="020B0502020202020204" pitchFamily="34" charset="0"/>
              </a:rPr>
              <a:t>In grass/legume pastures, the legume component is most important yet most vulnerable. </a:t>
            </a:r>
          </a:p>
          <a:p>
            <a:r>
              <a:rPr lang="en-US" sz="2200" dirty="0">
                <a:latin typeface="Century Gothic" panose="020B0502020202020204" pitchFamily="34" charset="0"/>
              </a:rPr>
              <a:t>The grass and legume components should be kept in balance. Legumes fix nitrogen in the soil and provide protein to the animals. </a:t>
            </a:r>
          </a:p>
          <a:p>
            <a:r>
              <a:rPr lang="en-US" sz="2200" dirty="0">
                <a:latin typeface="Century Gothic" panose="020B0502020202020204" pitchFamily="34" charset="0"/>
              </a:rPr>
              <a:t>Legumes are slow growing, intolerant of shade and greatly liked by grazing animals. Occasionally, the grasses and legumes in the pasture should be allowed to flower and produce seed as much as possible. Whenever the grass seems overgrown, grazing pressure should be increased to protect legumes from the shading effect of the grasses.</a:t>
            </a:r>
          </a:p>
        </p:txBody>
      </p:sp>
    </p:spTree>
    <p:extLst>
      <p:ext uri="{BB962C8B-B14F-4D97-AF65-F5344CB8AC3E}">
        <p14:creationId xmlns:p14="http://schemas.microsoft.com/office/powerpoint/2010/main" val="638619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803565"/>
            <a:ext cx="7886700" cy="5373399"/>
          </a:xfrm>
        </p:spPr>
        <p:txBody>
          <a:bodyPr>
            <a:noAutofit/>
          </a:bodyPr>
          <a:lstStyle/>
          <a:p>
            <a:pPr marL="457200" indent="-457200">
              <a:buFont typeface="+mj-lt"/>
              <a:buAutoNum type="arabicPeriod" startAt="4"/>
            </a:pPr>
            <a:r>
              <a:rPr lang="en-US" sz="2200" u="sng" dirty="0">
                <a:latin typeface="Century Gothic" panose="020B0502020202020204" pitchFamily="34" charset="0"/>
              </a:rPr>
              <a:t>Weeding</a:t>
            </a:r>
          </a:p>
          <a:p>
            <a:r>
              <a:rPr lang="en-US" sz="2200" dirty="0">
                <a:latin typeface="Century Gothic" panose="020B0502020202020204" pitchFamily="34" charset="0"/>
              </a:rPr>
              <a:t>The pasture should be kept weed-free.</a:t>
            </a:r>
          </a:p>
          <a:p>
            <a:r>
              <a:rPr lang="en-US" sz="2200" dirty="0">
                <a:latin typeface="Century Gothic" panose="020B0502020202020204" pitchFamily="34" charset="0"/>
              </a:rPr>
              <a:t>Some weeds are poisonous e.g. </a:t>
            </a:r>
            <a:r>
              <a:rPr lang="en-US" sz="2200" i="1" dirty="0">
                <a:latin typeface="Century Gothic" panose="020B0502020202020204" pitchFamily="34" charset="0"/>
              </a:rPr>
              <a:t>Lantana </a:t>
            </a:r>
            <a:r>
              <a:rPr lang="en-US" sz="2200" i="1" dirty="0" err="1">
                <a:latin typeface="Century Gothic" panose="020B0502020202020204" pitchFamily="34" charset="0"/>
              </a:rPr>
              <a:t>camara</a:t>
            </a:r>
            <a:r>
              <a:rPr lang="en-US" sz="2200" i="1" dirty="0">
                <a:latin typeface="Century Gothic" panose="020B0502020202020204" pitchFamily="34" charset="0"/>
              </a:rPr>
              <a:t> </a:t>
            </a:r>
            <a:r>
              <a:rPr lang="en-US" sz="2200" dirty="0">
                <a:latin typeface="Century Gothic" panose="020B0502020202020204" pitchFamily="34" charset="0"/>
              </a:rPr>
              <a:t>(tick berry or sage brush), </a:t>
            </a:r>
            <a:r>
              <a:rPr lang="en-US" sz="2200" i="1" dirty="0" err="1">
                <a:latin typeface="Century Gothic" panose="020B0502020202020204" pitchFamily="34" charset="0"/>
              </a:rPr>
              <a:t>Solanum</a:t>
            </a:r>
            <a:r>
              <a:rPr lang="en-US" sz="2200" i="1" dirty="0">
                <a:latin typeface="Century Gothic" panose="020B0502020202020204" pitchFamily="34" charset="0"/>
              </a:rPr>
              <a:t> </a:t>
            </a:r>
            <a:r>
              <a:rPr lang="en-US" sz="2200" i="1" dirty="0" err="1">
                <a:latin typeface="Century Gothic" panose="020B0502020202020204" pitchFamily="34" charset="0"/>
              </a:rPr>
              <a:t>incanum</a:t>
            </a:r>
            <a:r>
              <a:rPr lang="en-US" sz="2200" dirty="0">
                <a:latin typeface="Century Gothic" panose="020B0502020202020204" pitchFamily="34" charset="0"/>
              </a:rPr>
              <a:t>.</a:t>
            </a:r>
          </a:p>
          <a:p>
            <a:r>
              <a:rPr lang="en-US" sz="2200" dirty="0">
                <a:latin typeface="Century Gothic" panose="020B0502020202020204" pitchFamily="34" charset="0"/>
              </a:rPr>
              <a:t>Weed control should be done using the </a:t>
            </a:r>
            <a:r>
              <a:rPr lang="en-US" sz="2200" dirty="0" err="1">
                <a:latin typeface="Century Gothic" panose="020B0502020202020204" pitchFamily="34" charset="0"/>
              </a:rPr>
              <a:t>panga</a:t>
            </a:r>
            <a:r>
              <a:rPr lang="en-US" sz="2200" dirty="0">
                <a:latin typeface="Century Gothic" panose="020B0502020202020204" pitchFamily="34" charset="0"/>
              </a:rPr>
              <a:t> and hoe. This is the cheapest option for most farmers.</a:t>
            </a:r>
          </a:p>
          <a:p>
            <a:r>
              <a:rPr lang="en-US" sz="2200" dirty="0">
                <a:latin typeface="Century Gothic" panose="020B0502020202020204" pitchFamily="34" charset="0"/>
              </a:rPr>
              <a:t>Continuous cutting of the plants and digging out of roots of all types of weeds will reduce their population and weaken the plants until they are eliminated.</a:t>
            </a:r>
          </a:p>
          <a:p>
            <a:r>
              <a:rPr lang="en-US" sz="2200" dirty="0">
                <a:latin typeface="Century Gothic" panose="020B0502020202020204" pitchFamily="34" charset="0"/>
              </a:rPr>
              <a:t>Weeding of pastures is a continuous activity to which a farmer should pay particular attention.</a:t>
            </a:r>
          </a:p>
          <a:p>
            <a:r>
              <a:rPr lang="en-US" sz="2200" dirty="0">
                <a:latin typeface="Century Gothic" panose="020B0502020202020204" pitchFamily="34" charset="0"/>
              </a:rPr>
              <a:t>Good grazing management will control weeds in a pasture.</a:t>
            </a:r>
          </a:p>
        </p:txBody>
      </p:sp>
    </p:spTree>
    <p:extLst>
      <p:ext uri="{BB962C8B-B14F-4D97-AF65-F5344CB8AC3E}">
        <p14:creationId xmlns:p14="http://schemas.microsoft.com/office/powerpoint/2010/main" val="3906560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817419"/>
            <a:ext cx="7886700" cy="5359545"/>
          </a:xfrm>
        </p:spPr>
        <p:txBody>
          <a:bodyPr>
            <a:normAutofit fontScale="92500" lnSpcReduction="10000"/>
          </a:bodyPr>
          <a:lstStyle/>
          <a:p>
            <a:pPr marL="514350" indent="-514350">
              <a:buFont typeface="+mj-lt"/>
              <a:buAutoNum type="arabicPeriod" startAt="5"/>
            </a:pPr>
            <a:r>
              <a:rPr lang="en-US" u="sng" dirty="0">
                <a:latin typeface="Century Gothic" panose="020B0502020202020204" pitchFamily="34" charset="0"/>
              </a:rPr>
              <a:t>Paddocking</a:t>
            </a:r>
          </a:p>
          <a:p>
            <a:r>
              <a:rPr lang="en-US" dirty="0">
                <a:latin typeface="Century Gothic" panose="020B0502020202020204" pitchFamily="34" charset="0"/>
              </a:rPr>
              <a:t>Fencing enables the farmer to control grazing. </a:t>
            </a:r>
          </a:p>
          <a:p>
            <a:r>
              <a:rPr lang="en-US" dirty="0">
                <a:latin typeface="Century Gothic" panose="020B0502020202020204" pitchFamily="34" charset="0"/>
              </a:rPr>
              <a:t>Paddock construction is the subdividing of the pasture area into portions. The recommended paddock size is 2.5 acres but this can be varied depending on the land available and the number of animals on the farm.</a:t>
            </a:r>
          </a:p>
          <a:p>
            <a:r>
              <a:rPr lang="en-US" dirty="0">
                <a:latin typeface="Century Gothic" panose="020B0502020202020204" pitchFamily="34" charset="0"/>
              </a:rPr>
              <a:t>Paddocking enables rotational grazing. It is possible to limit the use of pastures to specific periods and particular animals.</a:t>
            </a:r>
          </a:p>
          <a:p>
            <a:r>
              <a:rPr lang="en-US" dirty="0">
                <a:latin typeface="Century Gothic" panose="020B0502020202020204" pitchFamily="34" charset="0"/>
              </a:rPr>
              <a:t>Rotational grazing ensures pasture re-growth and helps to maintain or improve the condition of the pasture.</a:t>
            </a:r>
          </a:p>
          <a:p>
            <a:r>
              <a:rPr lang="en-US" dirty="0">
                <a:latin typeface="Century Gothic" panose="020B0502020202020204" pitchFamily="34" charset="0"/>
              </a:rPr>
              <a:t>Graze any given paddock for a period of 1 to 2 weeks followed by a 4 to 8 week of rest period.</a:t>
            </a:r>
          </a:p>
          <a:p>
            <a:r>
              <a:rPr lang="en-US" dirty="0">
                <a:latin typeface="Century Gothic" panose="020B0502020202020204" pitchFamily="34" charset="0"/>
              </a:rPr>
              <a:t>This will result in optimum production of pasture and force a break the life cycle of most internal parasites that may be present. The grazing and resting periods should be flexible depending on weather conditions.</a:t>
            </a:r>
          </a:p>
        </p:txBody>
      </p:sp>
    </p:spTree>
    <p:extLst>
      <p:ext uri="{BB962C8B-B14F-4D97-AF65-F5344CB8AC3E}">
        <p14:creationId xmlns:p14="http://schemas.microsoft.com/office/powerpoint/2010/main" val="3339025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00417" y="150312"/>
            <a:ext cx="9850418" cy="789140"/>
          </a:xfrm>
        </p:spPr>
        <p:txBody>
          <a:bodyPr>
            <a:normAutofit/>
          </a:bodyPr>
          <a:lstStyle/>
          <a:p>
            <a:r>
              <a:rPr lang="en-US" sz="3200" b="1" dirty="0">
                <a:latin typeface="Century Gothic" panose="020B0502020202020204" pitchFamily="34" charset="0"/>
              </a:rPr>
              <a:t>Establishment and management of fodder crops</a:t>
            </a:r>
            <a:endParaRPr lang="en-US" sz="3200" dirty="0">
              <a:latin typeface="Century Gothic" panose="020B0502020202020204" pitchFamily="34" charset="0"/>
            </a:endParaRPr>
          </a:p>
        </p:txBody>
      </p:sp>
      <p:sp>
        <p:nvSpPr>
          <p:cNvPr id="3" name="Tijdelijke aanduiding voor inhoud 2"/>
          <p:cNvSpPr>
            <a:spLocks noGrp="1"/>
          </p:cNvSpPr>
          <p:nvPr>
            <p:ph idx="1"/>
          </p:nvPr>
        </p:nvSpPr>
        <p:spPr>
          <a:xfrm>
            <a:off x="438412" y="939452"/>
            <a:ext cx="11260898" cy="5308947"/>
          </a:xfrm>
        </p:spPr>
        <p:txBody>
          <a:bodyPr>
            <a:normAutofit/>
          </a:bodyPr>
          <a:lstStyle/>
          <a:p>
            <a:r>
              <a:rPr lang="en-US" sz="2200" dirty="0">
                <a:latin typeface="Century Gothic" panose="020B0502020202020204" pitchFamily="34" charset="0"/>
              </a:rPr>
              <a:t>Fodder crops are high yielding, high quality crops grown specifically for providing feed in intensive livestock grazing systems. </a:t>
            </a:r>
          </a:p>
          <a:p>
            <a:r>
              <a:rPr lang="en-US" sz="2200" dirty="0">
                <a:latin typeface="Century Gothic" panose="020B0502020202020204" pitchFamily="34" charset="0"/>
              </a:rPr>
              <a:t>These fodder crops are to be cut-and-carried to the animals.</a:t>
            </a:r>
          </a:p>
          <a:p>
            <a:r>
              <a:rPr lang="en-US" sz="2200" dirty="0">
                <a:latin typeface="Century Gothic" panose="020B0502020202020204" pitchFamily="34" charset="0"/>
              </a:rPr>
              <a:t>Disadvantages of fodder crops:</a:t>
            </a:r>
          </a:p>
          <a:p>
            <a:pPr lvl="1">
              <a:buFont typeface="Wingdings" panose="05000000000000000000" pitchFamily="2" charset="2"/>
              <a:buChar char="§"/>
            </a:pPr>
            <a:r>
              <a:rPr lang="en-US" sz="2200" dirty="0">
                <a:latin typeface="Century Gothic" panose="020B0502020202020204" pitchFamily="34" charset="0"/>
              </a:rPr>
              <a:t>They are costly to produce especially in terms of cultivation costs.</a:t>
            </a:r>
          </a:p>
          <a:p>
            <a:pPr lvl="1">
              <a:buFont typeface="Wingdings" panose="05000000000000000000" pitchFamily="2" charset="2"/>
              <a:buChar char="§"/>
            </a:pPr>
            <a:r>
              <a:rPr lang="en-US" sz="2200" dirty="0">
                <a:latin typeface="Century Gothic" panose="020B0502020202020204" pitchFamily="34" charset="0"/>
              </a:rPr>
              <a:t>Land is exposed to erosion for part of the year.</a:t>
            </a:r>
          </a:p>
          <a:p>
            <a:pPr lvl="1">
              <a:buFont typeface="Wingdings" panose="05000000000000000000" pitchFamily="2" charset="2"/>
              <a:buChar char="§"/>
            </a:pPr>
            <a:r>
              <a:rPr lang="en-US" sz="2200" dirty="0">
                <a:latin typeface="Century Gothic" panose="020B0502020202020204" pitchFamily="34" charset="0"/>
              </a:rPr>
              <a:t>Fodder crops require a high level of management and husbandry practices.</a:t>
            </a:r>
          </a:p>
          <a:p>
            <a:r>
              <a:rPr lang="en-US" sz="2200" dirty="0">
                <a:latin typeface="Century Gothic" panose="020B0502020202020204" pitchFamily="34" charset="0"/>
              </a:rPr>
              <a:t>Useful fodder crops include:</a:t>
            </a:r>
          </a:p>
          <a:p>
            <a:pPr lvl="1">
              <a:buFont typeface="Wingdings" panose="05000000000000000000" pitchFamily="2" charset="2"/>
              <a:buChar char="§"/>
            </a:pPr>
            <a:r>
              <a:rPr lang="en-US" sz="2200" dirty="0">
                <a:latin typeface="Century Gothic" panose="020B0502020202020204" pitchFamily="34" charset="0"/>
              </a:rPr>
              <a:t>Elephant grass (Pennisetum purpureum)</a:t>
            </a:r>
          </a:p>
          <a:p>
            <a:pPr lvl="1">
              <a:buFont typeface="Wingdings" panose="05000000000000000000" pitchFamily="2" charset="2"/>
              <a:buChar char="§"/>
            </a:pPr>
            <a:r>
              <a:rPr lang="en-US" sz="2200" dirty="0">
                <a:latin typeface="Century Gothic" panose="020B0502020202020204" pitchFamily="34" charset="0"/>
              </a:rPr>
              <a:t>Guatemala (</a:t>
            </a:r>
            <a:r>
              <a:rPr lang="en-US" sz="2200" dirty="0" err="1">
                <a:latin typeface="Century Gothic" panose="020B0502020202020204" pitchFamily="34" charset="0"/>
              </a:rPr>
              <a:t>Tripscum</a:t>
            </a:r>
            <a:r>
              <a:rPr lang="en-US" sz="2200" dirty="0">
                <a:latin typeface="Century Gothic" panose="020B0502020202020204" pitchFamily="34" charset="0"/>
              </a:rPr>
              <a:t> </a:t>
            </a:r>
            <a:r>
              <a:rPr lang="en-US" sz="2200" dirty="0" err="1">
                <a:latin typeface="Century Gothic" panose="020B0502020202020204" pitchFamily="34" charset="0"/>
              </a:rPr>
              <a:t>laxum</a:t>
            </a:r>
            <a:r>
              <a:rPr lang="en-US" sz="2200" dirty="0">
                <a:latin typeface="Century Gothic" panose="020B0502020202020204" pitchFamily="34" charset="0"/>
              </a:rPr>
              <a:t>)</a:t>
            </a:r>
          </a:p>
          <a:p>
            <a:pPr lvl="1">
              <a:buFont typeface="Wingdings" panose="05000000000000000000" pitchFamily="2" charset="2"/>
              <a:buChar char="§"/>
            </a:pPr>
            <a:r>
              <a:rPr lang="en-US" sz="2200" dirty="0">
                <a:latin typeface="Century Gothic" panose="020B0502020202020204" pitchFamily="34" charset="0"/>
              </a:rPr>
              <a:t>Lablab (Lablab </a:t>
            </a:r>
            <a:r>
              <a:rPr lang="en-US" sz="2200" dirty="0" err="1">
                <a:latin typeface="Century Gothic" panose="020B0502020202020204" pitchFamily="34" charset="0"/>
              </a:rPr>
              <a:t>purpureus</a:t>
            </a:r>
            <a:r>
              <a:rPr lang="en-US" sz="2200" dirty="0">
                <a:latin typeface="Century Gothic" panose="020B0502020202020204" pitchFamily="34" charset="0"/>
              </a:rPr>
              <a:t>)</a:t>
            </a:r>
          </a:p>
        </p:txBody>
      </p:sp>
    </p:spTree>
    <p:extLst>
      <p:ext uri="{BB962C8B-B14F-4D97-AF65-F5344CB8AC3E}">
        <p14:creationId xmlns:p14="http://schemas.microsoft.com/office/powerpoint/2010/main" val="2264828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4940" y="157309"/>
            <a:ext cx="7886700" cy="1325563"/>
          </a:xfrm>
        </p:spPr>
        <p:txBody>
          <a:bodyPr>
            <a:normAutofit/>
          </a:bodyPr>
          <a:lstStyle/>
          <a:p>
            <a:r>
              <a:rPr lang="en-US" sz="3200" b="1" dirty="0">
                <a:latin typeface="Century Gothic" panose="020B0502020202020204" pitchFamily="34" charset="0"/>
              </a:rPr>
              <a:t>Fodder Conservation</a:t>
            </a:r>
            <a:endParaRPr lang="en-GB" sz="3200" b="1" dirty="0">
              <a:latin typeface="Century Gothic" panose="020B0502020202020204" pitchFamily="34" charset="0"/>
            </a:endParaRPr>
          </a:p>
        </p:txBody>
      </p:sp>
      <p:sp>
        <p:nvSpPr>
          <p:cNvPr id="3" name="Content Placeholder 2"/>
          <p:cNvSpPr>
            <a:spLocks noGrp="1"/>
          </p:cNvSpPr>
          <p:nvPr>
            <p:ph idx="1"/>
          </p:nvPr>
        </p:nvSpPr>
        <p:spPr>
          <a:xfrm>
            <a:off x="2152650" y="1399309"/>
            <a:ext cx="7886700" cy="4777654"/>
          </a:xfrm>
        </p:spPr>
        <p:txBody>
          <a:bodyPr>
            <a:normAutofit fontScale="92500" lnSpcReduction="10000"/>
          </a:bodyPr>
          <a:lstStyle/>
          <a:p>
            <a:r>
              <a:rPr lang="en-US" dirty="0">
                <a:latin typeface="Century Gothic" panose="020B0502020202020204" pitchFamily="34" charset="0"/>
              </a:rPr>
              <a:t>Surplus feed is preserved for the season with a shortage. This is called fodder conservation. </a:t>
            </a:r>
          </a:p>
          <a:p>
            <a:r>
              <a:rPr lang="en-US" dirty="0">
                <a:latin typeface="Century Gothic" panose="020B0502020202020204" pitchFamily="34" charset="0"/>
              </a:rPr>
              <a:t>Fodder can be conserved as hay or silage.</a:t>
            </a:r>
          </a:p>
          <a:p>
            <a:endParaRPr lang="en-US" dirty="0">
              <a:latin typeface="Century Gothic" panose="020B0502020202020204" pitchFamily="34" charset="0"/>
            </a:endParaRPr>
          </a:p>
          <a:p>
            <a:pPr marL="514350" indent="-514350">
              <a:buFont typeface="+mj-lt"/>
              <a:buAutoNum type="alphaUcPeriod"/>
            </a:pPr>
            <a:r>
              <a:rPr lang="en-US" b="1" dirty="0">
                <a:latin typeface="Century Gothic" panose="020B0502020202020204" pitchFamily="34" charset="0"/>
              </a:rPr>
              <a:t>Hay making</a:t>
            </a:r>
          </a:p>
          <a:p>
            <a:r>
              <a:rPr lang="en-US" dirty="0">
                <a:latin typeface="Century Gothic" panose="020B0502020202020204" pitchFamily="34" charset="0"/>
              </a:rPr>
              <a:t>This is a process whereby fodder is harvested at a time when the feeding value is high. </a:t>
            </a:r>
          </a:p>
          <a:p>
            <a:r>
              <a:rPr lang="en-US" dirty="0">
                <a:latin typeface="Century Gothic" panose="020B0502020202020204" pitchFamily="34" charset="0"/>
              </a:rPr>
              <a:t>Ideally a mixture of grasses and herbaceous legumes is desirable because legumes increase digestibility and intake of the conserved forage.</a:t>
            </a:r>
          </a:p>
          <a:p>
            <a:r>
              <a:rPr lang="en-US" dirty="0">
                <a:latin typeface="Century Gothic" panose="020B0502020202020204" pitchFamily="34" charset="0"/>
              </a:rPr>
              <a:t>Most grasses are good for hay production and are convenient for cutting.</a:t>
            </a:r>
          </a:p>
          <a:p>
            <a:r>
              <a:rPr lang="en-US" dirty="0">
                <a:latin typeface="Century Gothic" panose="020B0502020202020204" pitchFamily="34" charset="0"/>
              </a:rPr>
              <a:t>The pasture should be cut just before flowering in order to have high digestibility and high protein content.</a:t>
            </a:r>
            <a:endParaRPr lang="en-GB" dirty="0">
              <a:latin typeface="Century Gothic" panose="020B0502020202020204" pitchFamily="34" charset="0"/>
            </a:endParaRPr>
          </a:p>
        </p:txBody>
      </p:sp>
    </p:spTree>
    <p:extLst>
      <p:ext uri="{BB962C8B-B14F-4D97-AF65-F5344CB8AC3E}">
        <p14:creationId xmlns:p14="http://schemas.microsoft.com/office/powerpoint/2010/main" val="87819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4940" y="157309"/>
            <a:ext cx="7886700" cy="1325563"/>
          </a:xfrm>
        </p:spPr>
        <p:txBody>
          <a:bodyPr>
            <a:normAutofit/>
          </a:bodyPr>
          <a:lstStyle/>
          <a:p>
            <a:r>
              <a:rPr lang="en-US" sz="2200" b="1" dirty="0">
                <a:latin typeface="Century Gothic" panose="020B0502020202020204" pitchFamily="34" charset="0"/>
              </a:rPr>
              <a:t>Guidelines for haymaking</a:t>
            </a:r>
          </a:p>
        </p:txBody>
      </p:sp>
      <p:sp>
        <p:nvSpPr>
          <p:cNvPr id="3" name="Content Placeholder 2"/>
          <p:cNvSpPr>
            <a:spLocks noGrp="1"/>
          </p:cNvSpPr>
          <p:nvPr>
            <p:ph idx="1"/>
          </p:nvPr>
        </p:nvSpPr>
        <p:spPr>
          <a:xfrm>
            <a:off x="2152650" y="1399309"/>
            <a:ext cx="7886700" cy="4777654"/>
          </a:xfrm>
        </p:spPr>
        <p:txBody>
          <a:bodyPr>
            <a:normAutofit/>
          </a:bodyPr>
          <a:lstStyle/>
          <a:p>
            <a:r>
              <a:rPr lang="en-US" sz="2200" dirty="0">
                <a:latin typeface="Century Gothic" panose="020B0502020202020204" pitchFamily="34" charset="0"/>
              </a:rPr>
              <a:t>Cut the pasture before flowering starts.</a:t>
            </a:r>
          </a:p>
          <a:p>
            <a:r>
              <a:rPr lang="en-US" sz="2200" dirty="0">
                <a:latin typeface="Century Gothic" panose="020B0502020202020204" pitchFamily="34" charset="0"/>
              </a:rPr>
              <a:t>Time cutting to be between rains for good drying.</a:t>
            </a:r>
          </a:p>
          <a:p>
            <a:r>
              <a:rPr lang="en-US" sz="2200" dirty="0">
                <a:latin typeface="Century Gothic" panose="020B0502020202020204" pitchFamily="34" charset="0"/>
              </a:rPr>
              <a:t>Dry the cut pasture as quickly as possible. Use a rake and turn the pasture several times this prevents </a:t>
            </a:r>
            <a:r>
              <a:rPr lang="en-US" sz="2200" dirty="0" err="1">
                <a:latin typeface="Century Gothic" panose="020B0502020202020204" pitchFamily="34" charset="0"/>
              </a:rPr>
              <a:t>moulding</a:t>
            </a:r>
            <a:r>
              <a:rPr lang="en-US" sz="2200" dirty="0">
                <a:latin typeface="Century Gothic" panose="020B0502020202020204" pitchFamily="34" charset="0"/>
              </a:rPr>
              <a:t>.</a:t>
            </a:r>
          </a:p>
          <a:p>
            <a:r>
              <a:rPr lang="en-US" sz="2200" dirty="0">
                <a:latin typeface="Century Gothic" panose="020B0502020202020204" pitchFamily="34" charset="0"/>
              </a:rPr>
              <a:t>Once dry, heap up the hay into a “stack” which should be protected from the rain. The haystack should be like an inverted ‘V’. The use of a tarpaulin or polythene sheet is recommended.</a:t>
            </a:r>
            <a:endParaRPr lang="en-GB" sz="2200" dirty="0">
              <a:latin typeface="Century Gothic" panose="020B0502020202020204" pitchFamily="34" charset="0"/>
            </a:endParaRPr>
          </a:p>
        </p:txBody>
      </p:sp>
    </p:spTree>
    <p:extLst>
      <p:ext uri="{BB962C8B-B14F-4D97-AF65-F5344CB8AC3E}">
        <p14:creationId xmlns:p14="http://schemas.microsoft.com/office/powerpoint/2010/main" val="2677190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1039091"/>
            <a:ext cx="7886700" cy="5137872"/>
          </a:xfrm>
        </p:spPr>
        <p:txBody>
          <a:bodyPr>
            <a:normAutofit lnSpcReduction="10000"/>
          </a:bodyPr>
          <a:lstStyle/>
          <a:p>
            <a:pPr marL="0" indent="0">
              <a:buNone/>
            </a:pPr>
            <a:r>
              <a:rPr lang="en-US" sz="2200" b="1" dirty="0">
                <a:latin typeface="Century Gothic" panose="020B0502020202020204" pitchFamily="34" charset="0"/>
              </a:rPr>
              <a:t>Leguminous hay</a:t>
            </a:r>
          </a:p>
          <a:p>
            <a:r>
              <a:rPr lang="en-US" sz="2200" dirty="0">
                <a:latin typeface="Century Gothic" panose="020B0502020202020204" pitchFamily="34" charset="0"/>
              </a:rPr>
              <a:t>Leguminous fodder trees such as </a:t>
            </a:r>
            <a:r>
              <a:rPr lang="en-US" sz="2200" dirty="0" err="1">
                <a:latin typeface="Century Gothic" panose="020B0502020202020204" pitchFamily="34" charset="0"/>
              </a:rPr>
              <a:t>Gliricidia</a:t>
            </a:r>
            <a:r>
              <a:rPr lang="en-US" sz="2200" dirty="0">
                <a:latin typeface="Century Gothic" panose="020B0502020202020204" pitchFamily="34" charset="0"/>
              </a:rPr>
              <a:t> have high protein content.</a:t>
            </a:r>
          </a:p>
          <a:p>
            <a:r>
              <a:rPr lang="en-US" sz="2200" dirty="0">
                <a:latin typeface="Century Gothic" panose="020B0502020202020204" pitchFamily="34" charset="0"/>
              </a:rPr>
              <a:t>If the leaves are picked and dried, they will provide the requirement for maintenance and production of the animal during the dry season.</a:t>
            </a:r>
          </a:p>
          <a:p>
            <a:r>
              <a:rPr lang="en-US" sz="2200" dirty="0">
                <a:latin typeface="Century Gothic" panose="020B0502020202020204" pitchFamily="34" charset="0"/>
              </a:rPr>
              <a:t>Cut and dry the branches of the trees on a clean floor in a shade.</a:t>
            </a:r>
          </a:p>
          <a:p>
            <a:r>
              <a:rPr lang="en-US" sz="2200" dirty="0">
                <a:latin typeface="Century Gothic" panose="020B0502020202020204" pitchFamily="34" charset="0"/>
              </a:rPr>
              <a:t>Collect the fallen and dry leaves and store in hessian bags.</a:t>
            </a:r>
          </a:p>
          <a:p>
            <a:r>
              <a:rPr lang="en-US" sz="2200" dirty="0">
                <a:latin typeface="Century Gothic" panose="020B0502020202020204" pitchFamily="34" charset="0"/>
              </a:rPr>
              <a:t>Dried leaves are fed as a protein supplement alone or mixed in the grass hay or cereal bran.</a:t>
            </a:r>
          </a:p>
          <a:p>
            <a:r>
              <a:rPr lang="en-US" sz="2200" dirty="0">
                <a:latin typeface="Century Gothic" panose="020B0502020202020204" pitchFamily="34" charset="0"/>
              </a:rPr>
              <a:t>Mix the dry leaves with some water to avoid wastage.</a:t>
            </a:r>
            <a:endParaRPr lang="en-GB" sz="2200" dirty="0">
              <a:latin typeface="Century Gothic" panose="020B0502020202020204" pitchFamily="34" charset="0"/>
            </a:endParaRPr>
          </a:p>
        </p:txBody>
      </p:sp>
    </p:spTree>
    <p:extLst>
      <p:ext uri="{BB962C8B-B14F-4D97-AF65-F5344CB8AC3E}">
        <p14:creationId xmlns:p14="http://schemas.microsoft.com/office/powerpoint/2010/main" val="2422518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pPr marL="514350" indent="-514350">
              <a:buFont typeface="+mj-lt"/>
              <a:buAutoNum type="alphaUcPeriod" startAt="2"/>
            </a:pPr>
            <a:r>
              <a:rPr lang="en-US" sz="2200" b="1" dirty="0">
                <a:latin typeface="Century Gothic" panose="020B0502020202020204" pitchFamily="34" charset="0"/>
              </a:rPr>
              <a:t>Silage making</a:t>
            </a:r>
          </a:p>
        </p:txBody>
      </p:sp>
      <p:sp>
        <p:nvSpPr>
          <p:cNvPr id="3" name="Tijdelijke aanduiding voor inhoud 2"/>
          <p:cNvSpPr>
            <a:spLocks noGrp="1"/>
          </p:cNvSpPr>
          <p:nvPr>
            <p:ph idx="1"/>
          </p:nvPr>
        </p:nvSpPr>
        <p:spPr>
          <a:xfrm>
            <a:off x="2152650" y="1343891"/>
            <a:ext cx="7886700" cy="4833072"/>
          </a:xfrm>
        </p:spPr>
        <p:txBody>
          <a:bodyPr>
            <a:normAutofit/>
          </a:bodyPr>
          <a:lstStyle/>
          <a:p>
            <a:r>
              <a:rPr lang="en-US" sz="2200" dirty="0">
                <a:latin typeface="Century Gothic" panose="020B0502020202020204" pitchFamily="34" charset="0"/>
              </a:rPr>
              <a:t>Silage is produced though controlled fermentation (under anaerobic conditions) of green forage material with high moisture content. </a:t>
            </a:r>
          </a:p>
          <a:p>
            <a:r>
              <a:rPr lang="en-US" sz="2200" dirty="0">
                <a:latin typeface="Century Gothic" panose="020B0502020202020204" pitchFamily="34" charset="0"/>
              </a:rPr>
              <a:t>The anaerobic conditions foster rapid fermentation that produces natural organic acids, which prevent further change in plant composition.</a:t>
            </a:r>
          </a:p>
          <a:p>
            <a:r>
              <a:rPr lang="en-US" sz="2200" dirty="0">
                <a:latin typeface="Century Gothic" panose="020B0502020202020204" pitchFamily="34" charset="0"/>
              </a:rPr>
              <a:t>If silage is made properly, it will contain nearly all the nutritive values present in the forage that is conserved. </a:t>
            </a:r>
          </a:p>
          <a:p>
            <a:r>
              <a:rPr lang="en-US" sz="2200" dirty="0">
                <a:latin typeface="Century Gothic" panose="020B0502020202020204" pitchFamily="34" charset="0"/>
              </a:rPr>
              <a:t>Ensiling is the process of silage making; while a silo is the container used. It may be a trench, a pit or a polythene bag.</a:t>
            </a:r>
          </a:p>
        </p:txBody>
      </p:sp>
    </p:spTree>
    <p:extLst>
      <p:ext uri="{BB962C8B-B14F-4D97-AF65-F5344CB8AC3E}">
        <p14:creationId xmlns:p14="http://schemas.microsoft.com/office/powerpoint/2010/main" val="3218837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80359" y="185018"/>
            <a:ext cx="7886700" cy="1325563"/>
          </a:xfrm>
        </p:spPr>
        <p:txBody>
          <a:bodyPr>
            <a:normAutofit/>
          </a:bodyPr>
          <a:lstStyle/>
          <a:p>
            <a:r>
              <a:rPr lang="en-US" sz="2200" b="1" dirty="0">
                <a:latin typeface="Century Gothic" panose="020B0502020202020204" pitchFamily="34" charset="0"/>
              </a:rPr>
              <a:t>Suitable crops for ensiling and Improving silage quality</a:t>
            </a:r>
            <a:endParaRPr lang="en-US" sz="2200" dirty="0">
              <a:latin typeface="Century Gothic" panose="020B0502020202020204" pitchFamily="34" charset="0"/>
            </a:endParaRPr>
          </a:p>
        </p:txBody>
      </p:sp>
      <p:sp>
        <p:nvSpPr>
          <p:cNvPr id="3" name="Tijdelijke aanduiding voor inhoud 2"/>
          <p:cNvSpPr>
            <a:spLocks noGrp="1"/>
          </p:cNvSpPr>
          <p:nvPr>
            <p:ph idx="1"/>
          </p:nvPr>
        </p:nvSpPr>
        <p:spPr>
          <a:xfrm>
            <a:off x="2152650" y="1246909"/>
            <a:ext cx="7886700" cy="4930054"/>
          </a:xfrm>
        </p:spPr>
        <p:txBody>
          <a:bodyPr>
            <a:normAutofit/>
          </a:bodyPr>
          <a:lstStyle/>
          <a:p>
            <a:r>
              <a:rPr lang="en-US" sz="2200" dirty="0">
                <a:latin typeface="Century Gothic" panose="020B0502020202020204" pitchFamily="34" charset="0"/>
              </a:rPr>
              <a:t>All pasture and fodder crops can be ensiled. </a:t>
            </a:r>
          </a:p>
          <a:p>
            <a:r>
              <a:rPr lang="en-US" sz="2200" dirty="0">
                <a:latin typeface="Century Gothic" panose="020B0502020202020204" pitchFamily="34" charset="0"/>
              </a:rPr>
              <a:t>High quality silage will be made if:</a:t>
            </a:r>
          </a:p>
          <a:p>
            <a:pPr lvl="1">
              <a:buFont typeface="Wingdings" panose="05000000000000000000" pitchFamily="2" charset="2"/>
              <a:buChar char="ü"/>
            </a:pPr>
            <a:r>
              <a:rPr lang="en-US" sz="2200" dirty="0">
                <a:latin typeface="Century Gothic" panose="020B0502020202020204" pitchFamily="34" charset="0"/>
              </a:rPr>
              <a:t>Grasses are harvested when flowering.</a:t>
            </a:r>
          </a:p>
          <a:p>
            <a:pPr lvl="1">
              <a:buFont typeface="Wingdings" panose="05000000000000000000" pitchFamily="2" charset="2"/>
              <a:buChar char="ü"/>
            </a:pPr>
            <a:r>
              <a:rPr lang="en-US" sz="2200" dirty="0">
                <a:latin typeface="Century Gothic" panose="020B0502020202020204" pitchFamily="34" charset="0"/>
              </a:rPr>
              <a:t>Legumes are harvested during pod filling.</a:t>
            </a:r>
          </a:p>
          <a:p>
            <a:r>
              <a:rPr lang="en-US" sz="2200" dirty="0">
                <a:latin typeface="Century Gothic" panose="020B0502020202020204" pitchFamily="34" charset="0"/>
              </a:rPr>
              <a:t>Pastures under tropical conditions, particularly the grasses, have a low feeding value.</a:t>
            </a:r>
          </a:p>
          <a:p>
            <a:r>
              <a:rPr lang="en-US" sz="2200" dirty="0">
                <a:latin typeface="Century Gothic" panose="020B0502020202020204" pitchFamily="34" charset="0"/>
              </a:rPr>
              <a:t>The changes that take place during the process of ensiling reduce the value even further. </a:t>
            </a:r>
          </a:p>
          <a:p>
            <a:r>
              <a:rPr lang="en-US" sz="2200" dirty="0">
                <a:latin typeface="Century Gothic" panose="020B0502020202020204" pitchFamily="34" charset="0"/>
              </a:rPr>
              <a:t>Therefore,  addition of either molasses, maize bran or cassava flour will improve the quality of the silage by increasing the energy content and also act as preservative.</a:t>
            </a:r>
          </a:p>
        </p:txBody>
      </p:sp>
    </p:spTree>
    <p:extLst>
      <p:ext uri="{BB962C8B-B14F-4D97-AF65-F5344CB8AC3E}">
        <p14:creationId xmlns:p14="http://schemas.microsoft.com/office/powerpoint/2010/main" val="2947699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63671" y="143455"/>
            <a:ext cx="7886700" cy="537582"/>
          </a:xfrm>
        </p:spPr>
        <p:txBody>
          <a:bodyPr>
            <a:normAutofit/>
          </a:bodyPr>
          <a:lstStyle/>
          <a:p>
            <a:r>
              <a:rPr lang="en-US" sz="2200" b="1" dirty="0">
                <a:latin typeface="Century Gothic" panose="020B0502020202020204" pitchFamily="34" charset="0"/>
              </a:rPr>
              <a:t>The ensiling process</a:t>
            </a:r>
            <a:endParaRPr lang="en-US" sz="2200" dirty="0">
              <a:latin typeface="Century Gothic" panose="020B0502020202020204" pitchFamily="34" charset="0"/>
            </a:endParaRPr>
          </a:p>
        </p:txBody>
      </p:sp>
      <p:sp>
        <p:nvSpPr>
          <p:cNvPr id="3" name="Tijdelijke aanduiding voor inhoud 2"/>
          <p:cNvSpPr>
            <a:spLocks noGrp="1"/>
          </p:cNvSpPr>
          <p:nvPr>
            <p:ph idx="1"/>
          </p:nvPr>
        </p:nvSpPr>
        <p:spPr>
          <a:xfrm>
            <a:off x="563671" y="914400"/>
            <a:ext cx="10935222" cy="5262563"/>
          </a:xfrm>
        </p:spPr>
        <p:txBody>
          <a:bodyPr>
            <a:noAutofit/>
          </a:bodyPr>
          <a:lstStyle/>
          <a:p>
            <a:pPr algn="just">
              <a:buFont typeface="Wingdings" panose="05000000000000000000" pitchFamily="2" charset="2"/>
              <a:buChar char="§"/>
            </a:pPr>
            <a:r>
              <a:rPr lang="en-US" sz="2200" dirty="0">
                <a:latin typeface="Century Gothic" panose="020B0502020202020204" pitchFamily="34" charset="0"/>
              </a:rPr>
              <a:t>Harvest the pasture or crop (material) for ensiling, a </a:t>
            </a:r>
            <a:r>
              <a:rPr lang="en-US" sz="2200" dirty="0" err="1">
                <a:latin typeface="Century Gothic" panose="020B0502020202020204" pitchFamily="34" charset="0"/>
              </a:rPr>
              <a:t>panga</a:t>
            </a:r>
            <a:r>
              <a:rPr lang="en-US" sz="2200" dirty="0">
                <a:latin typeface="Century Gothic" panose="020B0502020202020204" pitchFamily="34" charset="0"/>
              </a:rPr>
              <a:t> can be used.</a:t>
            </a:r>
          </a:p>
          <a:p>
            <a:pPr algn="just">
              <a:buFont typeface="Wingdings" panose="05000000000000000000" pitchFamily="2" charset="2"/>
              <a:buChar char="§"/>
            </a:pPr>
            <a:r>
              <a:rPr lang="en-US" sz="2200" dirty="0">
                <a:latin typeface="Century Gothic" panose="020B0502020202020204" pitchFamily="34" charset="0"/>
              </a:rPr>
              <a:t>Chop up the material to 2 to 5 cm pieces that will ensure firm packing to exclude oxygen (air).</a:t>
            </a:r>
          </a:p>
          <a:p>
            <a:pPr algn="just">
              <a:buFont typeface="Wingdings" panose="05000000000000000000" pitchFamily="2" charset="2"/>
              <a:buChar char="§"/>
            </a:pPr>
            <a:r>
              <a:rPr lang="en-US" sz="2200" dirty="0">
                <a:latin typeface="Century Gothic" panose="020B0502020202020204" pitchFamily="34" charset="0"/>
              </a:rPr>
              <a:t>Rapidly fill the silo to be used. The bag silo can be used by small-scale farmers and is recommended. Medium to large-scale farmers could use circular pit silos. The size of these is 1.5 m deep and 1.25 m in diameter. The capacity of this kind of a silo is 3 to 5 tons silage.</a:t>
            </a:r>
          </a:p>
          <a:p>
            <a:pPr algn="just">
              <a:buFont typeface="Wingdings" panose="05000000000000000000" pitchFamily="2" charset="2"/>
              <a:buChar char="§"/>
            </a:pPr>
            <a:r>
              <a:rPr lang="en-US" sz="2200" dirty="0">
                <a:latin typeface="Century Gothic" panose="020B0502020202020204" pitchFamily="34" charset="0"/>
              </a:rPr>
              <a:t>Prevent the entry of air by covering the silo with a plastic sheet.</a:t>
            </a:r>
          </a:p>
          <a:p>
            <a:pPr algn="just">
              <a:buFont typeface="Wingdings" panose="05000000000000000000" pitchFamily="2" charset="2"/>
              <a:buChar char="§"/>
            </a:pPr>
            <a:r>
              <a:rPr lang="en-US" sz="2200" dirty="0">
                <a:latin typeface="Century Gothic" panose="020B0502020202020204" pitchFamily="34" charset="0"/>
              </a:rPr>
              <a:t>Protect the silo from water by either covering completely with a polythene sheet over which a layer of soil is placed, or put the bag silos in a pit over which a roof has been constructed.</a:t>
            </a:r>
          </a:p>
        </p:txBody>
      </p:sp>
    </p:spTree>
    <p:extLst>
      <p:ext uri="{BB962C8B-B14F-4D97-AF65-F5344CB8AC3E}">
        <p14:creationId xmlns:p14="http://schemas.microsoft.com/office/powerpoint/2010/main" val="663287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115737"/>
            <a:ext cx="7886700" cy="1325563"/>
          </a:xfrm>
        </p:spPr>
        <p:txBody>
          <a:bodyPr>
            <a:normAutofit/>
          </a:bodyPr>
          <a:lstStyle/>
          <a:p>
            <a:r>
              <a:rPr lang="en-US" sz="2200" b="1" dirty="0">
                <a:latin typeface="Century Gothic" panose="020B0502020202020204" pitchFamily="34" charset="0"/>
              </a:rPr>
              <a:t>The use of silage</a:t>
            </a:r>
            <a:endParaRPr lang="en-US" sz="2200" dirty="0">
              <a:latin typeface="Century Gothic" panose="020B0502020202020204" pitchFamily="34" charset="0"/>
            </a:endParaRPr>
          </a:p>
        </p:txBody>
      </p:sp>
      <p:sp>
        <p:nvSpPr>
          <p:cNvPr id="3" name="Tijdelijke aanduiding voor inhoud 2"/>
          <p:cNvSpPr>
            <a:spLocks noGrp="1"/>
          </p:cNvSpPr>
          <p:nvPr>
            <p:ph idx="1"/>
          </p:nvPr>
        </p:nvSpPr>
        <p:spPr>
          <a:xfrm>
            <a:off x="2152650" y="1191491"/>
            <a:ext cx="7886700" cy="4985472"/>
          </a:xfrm>
        </p:spPr>
        <p:txBody>
          <a:bodyPr>
            <a:normAutofit/>
          </a:bodyPr>
          <a:lstStyle/>
          <a:p>
            <a:r>
              <a:rPr lang="en-US" sz="2200" dirty="0">
                <a:latin typeface="Century Gothic" panose="020B0502020202020204" pitchFamily="34" charset="0"/>
              </a:rPr>
              <a:t>The silage made should be ready for use in 90 days. Under proper storage conditions, it could even be kept for a longer period.</a:t>
            </a:r>
          </a:p>
          <a:p>
            <a:r>
              <a:rPr lang="en-US" sz="2200" dirty="0">
                <a:latin typeface="Century Gothic" panose="020B0502020202020204" pitchFamily="34" charset="0"/>
              </a:rPr>
              <a:t>About 3 to 5 tons of silage is capable of feeding 2 to 3 crossbred cows for 66 days.</a:t>
            </a:r>
          </a:p>
          <a:p>
            <a:r>
              <a:rPr lang="en-US" sz="2200" dirty="0">
                <a:latin typeface="Century Gothic" panose="020B0502020202020204" pitchFamily="34" charset="0"/>
              </a:rPr>
              <a:t>Feed a little silage at a time until the animals are used to the feed;</a:t>
            </a:r>
          </a:p>
          <a:p>
            <a:r>
              <a:rPr lang="en-US" sz="2200" dirty="0">
                <a:latin typeface="Century Gothic" panose="020B0502020202020204" pitchFamily="34" charset="0"/>
              </a:rPr>
              <a:t>To avoid off-</a:t>
            </a:r>
            <a:r>
              <a:rPr lang="en-US" sz="2200" dirty="0" err="1">
                <a:latin typeface="Century Gothic" panose="020B0502020202020204" pitchFamily="34" charset="0"/>
              </a:rPr>
              <a:t>flavours</a:t>
            </a:r>
            <a:r>
              <a:rPr lang="en-US" sz="2200" dirty="0">
                <a:latin typeface="Century Gothic" panose="020B0502020202020204" pitchFamily="34" charset="0"/>
              </a:rPr>
              <a:t> in milk, feed silage to dairy animals after milking.</a:t>
            </a:r>
          </a:p>
        </p:txBody>
      </p:sp>
    </p:spTree>
    <p:extLst>
      <p:ext uri="{BB962C8B-B14F-4D97-AF65-F5344CB8AC3E}">
        <p14:creationId xmlns:p14="http://schemas.microsoft.com/office/powerpoint/2010/main" val="2325073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115737"/>
            <a:ext cx="7886700" cy="1325563"/>
          </a:xfrm>
        </p:spPr>
        <p:txBody>
          <a:bodyPr>
            <a:normAutofit/>
          </a:bodyPr>
          <a:lstStyle/>
          <a:p>
            <a:r>
              <a:rPr lang="en-US" sz="2200" b="1" dirty="0" err="1">
                <a:latin typeface="Century Gothic" panose="020B0502020202020204" pitchFamily="34" charset="0"/>
              </a:rPr>
              <a:t>Utilisation</a:t>
            </a:r>
            <a:r>
              <a:rPr lang="en-US" sz="2200" b="1" dirty="0">
                <a:latin typeface="Century Gothic" panose="020B0502020202020204" pitchFamily="34" charset="0"/>
              </a:rPr>
              <a:t> of Hay and silage</a:t>
            </a:r>
            <a:endParaRPr lang="en-US" sz="2200" dirty="0">
              <a:latin typeface="Century Gothic" panose="020B0502020202020204" pitchFamily="34" charset="0"/>
            </a:endParaRPr>
          </a:p>
        </p:txBody>
      </p:sp>
      <p:graphicFrame>
        <p:nvGraphicFramePr>
          <p:cNvPr id="4" name="Tabel 3"/>
          <p:cNvGraphicFramePr>
            <a:graphicFrameLocks noGrp="1"/>
          </p:cNvGraphicFramePr>
          <p:nvPr/>
        </p:nvGraphicFramePr>
        <p:xfrm>
          <a:off x="2286000" y="3771211"/>
          <a:ext cx="7121236" cy="2560320"/>
        </p:xfrm>
        <a:graphic>
          <a:graphicData uri="http://schemas.openxmlformats.org/drawingml/2006/table">
            <a:tbl>
              <a:tblPr firstRow="1" bandRow="1">
                <a:tableStyleId>{5C22544A-7EE6-4342-B048-85BDC9FD1C3A}</a:tableStyleId>
              </a:tblPr>
              <a:tblGrid>
                <a:gridCol w="3560618">
                  <a:extLst>
                    <a:ext uri="{9D8B030D-6E8A-4147-A177-3AD203B41FA5}">
                      <a16:colId xmlns:a16="http://schemas.microsoft.com/office/drawing/2014/main" val="20000"/>
                    </a:ext>
                  </a:extLst>
                </a:gridCol>
                <a:gridCol w="3560618">
                  <a:extLst>
                    <a:ext uri="{9D8B030D-6E8A-4147-A177-3AD203B41FA5}">
                      <a16:colId xmlns:a16="http://schemas.microsoft.com/office/drawing/2014/main" val="20001"/>
                    </a:ext>
                  </a:extLst>
                </a:gridCol>
              </a:tblGrid>
              <a:tr h="370840">
                <a:tc>
                  <a:txBody>
                    <a:bodyPr/>
                    <a:lstStyle/>
                    <a:p>
                      <a:r>
                        <a:rPr lang="en-US" sz="2200" b="1" i="0" u="none" strike="noStrike" kern="1200" baseline="0" dirty="0">
                          <a:solidFill>
                            <a:schemeClr val="tx1"/>
                          </a:solidFill>
                          <a:latin typeface="Century Gothic" panose="020B0502020202020204" pitchFamily="34" charset="0"/>
                          <a:ea typeface="+mn-ea"/>
                          <a:cs typeface="+mn-cs"/>
                        </a:rPr>
                        <a:t>Stock type</a:t>
                      </a:r>
                      <a:endParaRPr lang="en-US" sz="2200" b="1" dirty="0">
                        <a:solidFill>
                          <a:schemeClr val="tx1"/>
                        </a:solidFill>
                        <a:latin typeface="Century Gothic" panose="020B0502020202020204" pitchFamily="34" charset="0"/>
                      </a:endParaRPr>
                    </a:p>
                  </a:txBody>
                  <a:tcPr/>
                </a:tc>
                <a:tc>
                  <a:txBody>
                    <a:bodyPr/>
                    <a:lstStyle/>
                    <a:p>
                      <a:r>
                        <a:rPr lang="en-US" sz="2200" b="1" i="0" u="none" strike="noStrike" kern="1200" baseline="0" dirty="0">
                          <a:solidFill>
                            <a:schemeClr val="tx1"/>
                          </a:solidFill>
                          <a:latin typeface="Century Gothic" panose="020B0502020202020204" pitchFamily="34" charset="0"/>
                          <a:ea typeface="+mn-ea"/>
                          <a:cs typeface="+mn-cs"/>
                        </a:rPr>
                        <a:t>Quantity of silage (kg)</a:t>
                      </a:r>
                      <a:endParaRPr lang="en-US" sz="2200" b="1" dirty="0">
                        <a:solidFill>
                          <a:schemeClr val="tx1"/>
                        </a:solidFill>
                        <a:latin typeface="Century Gothic" panose="020B0502020202020204" pitchFamily="34" charset="0"/>
                      </a:endParaRPr>
                    </a:p>
                  </a:txBody>
                  <a:tcPr/>
                </a:tc>
                <a:extLst>
                  <a:ext uri="{0D108BD9-81ED-4DB2-BD59-A6C34878D82A}">
                    <a16:rowId xmlns:a16="http://schemas.microsoft.com/office/drawing/2014/main" val="10000"/>
                  </a:ext>
                </a:extLst>
              </a:tr>
              <a:tr h="370840">
                <a:tc>
                  <a:txBody>
                    <a:bodyPr/>
                    <a:lstStyle/>
                    <a:p>
                      <a:r>
                        <a:rPr lang="en-US" sz="2200" b="0" i="0" u="none" strike="noStrike" kern="1200" baseline="0" dirty="0">
                          <a:solidFill>
                            <a:schemeClr val="dk1"/>
                          </a:solidFill>
                          <a:latin typeface="Century Gothic" panose="020B0502020202020204" pitchFamily="34" charset="0"/>
                          <a:ea typeface="+mn-ea"/>
                          <a:cs typeface="+mn-cs"/>
                        </a:rPr>
                        <a:t>Milking cow</a:t>
                      </a:r>
                      <a:endParaRPr lang="en-US" sz="2200" dirty="0">
                        <a:latin typeface="Century Gothic" panose="020B0502020202020204" pitchFamily="34" charset="0"/>
                      </a:endParaRPr>
                    </a:p>
                  </a:txBody>
                  <a:tcPr/>
                </a:tc>
                <a:tc>
                  <a:txBody>
                    <a:bodyPr/>
                    <a:lstStyle/>
                    <a:p>
                      <a:r>
                        <a:rPr lang="en-US" sz="2200" b="0" i="0" u="none" strike="noStrike" kern="1200" baseline="0" dirty="0">
                          <a:solidFill>
                            <a:schemeClr val="dk1"/>
                          </a:solidFill>
                          <a:latin typeface="Century Gothic" panose="020B0502020202020204" pitchFamily="34" charset="0"/>
                          <a:ea typeface="+mn-ea"/>
                          <a:cs typeface="+mn-cs"/>
                        </a:rPr>
                        <a:t>10–20</a:t>
                      </a:r>
                      <a:endParaRPr lang="en-US" sz="2200" dirty="0">
                        <a:latin typeface="Century Gothic" panose="020B0502020202020204" pitchFamily="34" charset="0"/>
                      </a:endParaRPr>
                    </a:p>
                  </a:txBody>
                  <a:tcPr/>
                </a:tc>
                <a:extLst>
                  <a:ext uri="{0D108BD9-81ED-4DB2-BD59-A6C34878D82A}">
                    <a16:rowId xmlns:a16="http://schemas.microsoft.com/office/drawing/2014/main" val="10001"/>
                  </a:ext>
                </a:extLst>
              </a:tr>
              <a:tr h="370840">
                <a:tc>
                  <a:txBody>
                    <a:bodyPr/>
                    <a:lstStyle/>
                    <a:p>
                      <a:r>
                        <a:rPr lang="en-US" sz="2200" b="0" i="0" u="none" strike="noStrike" kern="1200" baseline="0" dirty="0">
                          <a:solidFill>
                            <a:schemeClr val="dk1"/>
                          </a:solidFill>
                          <a:latin typeface="Century Gothic" panose="020B0502020202020204" pitchFamily="34" charset="0"/>
                          <a:ea typeface="+mn-ea"/>
                          <a:cs typeface="+mn-cs"/>
                        </a:rPr>
                        <a:t>Dry cow</a:t>
                      </a:r>
                      <a:endParaRPr lang="en-US" sz="2200" dirty="0">
                        <a:latin typeface="Century Gothic" panose="020B0502020202020204" pitchFamily="34" charset="0"/>
                      </a:endParaRPr>
                    </a:p>
                  </a:txBody>
                  <a:tcPr/>
                </a:tc>
                <a:tc>
                  <a:txBody>
                    <a:bodyPr/>
                    <a:lstStyle/>
                    <a:p>
                      <a:r>
                        <a:rPr lang="en-US" sz="2200" b="0" i="0" u="none" strike="noStrike" kern="1200" baseline="0" dirty="0">
                          <a:solidFill>
                            <a:schemeClr val="dk1"/>
                          </a:solidFill>
                          <a:latin typeface="Century Gothic" panose="020B0502020202020204" pitchFamily="34" charset="0"/>
                          <a:ea typeface="+mn-ea"/>
                          <a:cs typeface="+mn-cs"/>
                        </a:rPr>
                        <a:t>10–15</a:t>
                      </a:r>
                      <a:endParaRPr lang="en-US" sz="2200" dirty="0">
                        <a:latin typeface="Century Gothic" panose="020B0502020202020204" pitchFamily="34" charset="0"/>
                      </a:endParaRPr>
                    </a:p>
                  </a:txBody>
                  <a:tcPr/>
                </a:tc>
                <a:extLst>
                  <a:ext uri="{0D108BD9-81ED-4DB2-BD59-A6C34878D82A}">
                    <a16:rowId xmlns:a16="http://schemas.microsoft.com/office/drawing/2014/main" val="10002"/>
                  </a:ext>
                </a:extLst>
              </a:tr>
              <a:tr h="370840">
                <a:tc>
                  <a:txBody>
                    <a:bodyPr/>
                    <a:lstStyle/>
                    <a:p>
                      <a:r>
                        <a:rPr lang="en-US" sz="2200" b="0" i="0" u="none" strike="noStrike" kern="1200" baseline="0" dirty="0">
                          <a:solidFill>
                            <a:schemeClr val="dk1"/>
                          </a:solidFill>
                          <a:latin typeface="Century Gothic" panose="020B0502020202020204" pitchFamily="34" charset="0"/>
                          <a:ea typeface="+mn-ea"/>
                          <a:cs typeface="+mn-cs"/>
                        </a:rPr>
                        <a:t>Dairy heifer</a:t>
                      </a:r>
                      <a:endParaRPr lang="en-US" sz="2200" dirty="0">
                        <a:latin typeface="Century Gothic" panose="020B0502020202020204" pitchFamily="34" charset="0"/>
                      </a:endParaRPr>
                    </a:p>
                  </a:txBody>
                  <a:tcPr/>
                </a:tc>
                <a:tc>
                  <a:txBody>
                    <a:bodyPr/>
                    <a:lstStyle/>
                    <a:p>
                      <a:r>
                        <a:rPr lang="en-US" sz="2200" b="0" i="0" u="none" strike="noStrike" kern="1200" baseline="0" dirty="0">
                          <a:solidFill>
                            <a:schemeClr val="dk1"/>
                          </a:solidFill>
                          <a:latin typeface="Century Gothic" panose="020B0502020202020204" pitchFamily="34" charset="0"/>
                          <a:ea typeface="+mn-ea"/>
                          <a:cs typeface="+mn-cs"/>
                        </a:rPr>
                        <a:t>5–8</a:t>
                      </a:r>
                      <a:endParaRPr lang="en-US" sz="2200" dirty="0">
                        <a:latin typeface="Century Gothic" panose="020B0502020202020204" pitchFamily="34" charset="0"/>
                      </a:endParaRPr>
                    </a:p>
                  </a:txBody>
                  <a:tcPr/>
                </a:tc>
                <a:extLst>
                  <a:ext uri="{0D108BD9-81ED-4DB2-BD59-A6C34878D82A}">
                    <a16:rowId xmlns:a16="http://schemas.microsoft.com/office/drawing/2014/main" val="10003"/>
                  </a:ext>
                </a:extLst>
              </a:tr>
              <a:tr h="370840">
                <a:tc>
                  <a:txBody>
                    <a:bodyPr/>
                    <a:lstStyle/>
                    <a:p>
                      <a:r>
                        <a:rPr lang="en-US" sz="2200" b="0" i="0" u="none" strike="noStrike" kern="1200" baseline="0" dirty="0">
                          <a:solidFill>
                            <a:schemeClr val="dk1"/>
                          </a:solidFill>
                          <a:latin typeface="Century Gothic" panose="020B0502020202020204" pitchFamily="34" charset="0"/>
                          <a:ea typeface="+mn-ea"/>
                          <a:cs typeface="+mn-cs"/>
                        </a:rPr>
                        <a:t>Beef breeding cows</a:t>
                      </a:r>
                      <a:endParaRPr lang="en-US" sz="2200" dirty="0">
                        <a:latin typeface="Century Gothic" panose="020B0502020202020204" pitchFamily="34" charset="0"/>
                      </a:endParaRPr>
                    </a:p>
                  </a:txBody>
                  <a:tcPr/>
                </a:tc>
                <a:tc>
                  <a:txBody>
                    <a:bodyPr/>
                    <a:lstStyle/>
                    <a:p>
                      <a:r>
                        <a:rPr lang="en-US" sz="2200" b="0" i="0" u="none" strike="noStrike" kern="1200" baseline="0" dirty="0">
                          <a:solidFill>
                            <a:schemeClr val="dk1"/>
                          </a:solidFill>
                          <a:latin typeface="Century Gothic" panose="020B0502020202020204" pitchFamily="34" charset="0"/>
                          <a:ea typeface="+mn-ea"/>
                          <a:cs typeface="+mn-cs"/>
                        </a:rPr>
                        <a:t>12–20</a:t>
                      </a:r>
                      <a:endParaRPr lang="en-US" sz="2200" dirty="0">
                        <a:latin typeface="Century Gothic" panose="020B0502020202020204" pitchFamily="34" charset="0"/>
                      </a:endParaRPr>
                    </a:p>
                  </a:txBody>
                  <a:tcPr/>
                </a:tc>
                <a:extLst>
                  <a:ext uri="{0D108BD9-81ED-4DB2-BD59-A6C34878D82A}">
                    <a16:rowId xmlns:a16="http://schemas.microsoft.com/office/drawing/2014/main" val="10004"/>
                  </a:ext>
                </a:extLst>
              </a:tr>
              <a:tr h="370840">
                <a:tc>
                  <a:txBody>
                    <a:bodyPr/>
                    <a:lstStyle/>
                    <a:p>
                      <a:r>
                        <a:rPr lang="en-US" sz="2200" b="0" i="0" u="none" strike="noStrike" kern="1200" baseline="0" dirty="0">
                          <a:solidFill>
                            <a:schemeClr val="dk1"/>
                          </a:solidFill>
                          <a:latin typeface="Century Gothic" panose="020B0502020202020204" pitchFamily="34" charset="0"/>
                          <a:ea typeface="+mn-ea"/>
                          <a:cs typeface="+mn-cs"/>
                        </a:rPr>
                        <a:t>Fattening calves</a:t>
                      </a:r>
                      <a:endParaRPr lang="en-US" sz="2200" dirty="0">
                        <a:latin typeface="Century Gothic" panose="020B0502020202020204" pitchFamily="34" charset="0"/>
                      </a:endParaRPr>
                    </a:p>
                  </a:txBody>
                  <a:tcPr/>
                </a:tc>
                <a:tc>
                  <a:txBody>
                    <a:bodyPr/>
                    <a:lstStyle/>
                    <a:p>
                      <a:r>
                        <a:rPr lang="en-US" sz="2200" b="0" i="0" u="none" strike="noStrike" kern="1200" baseline="0" dirty="0">
                          <a:solidFill>
                            <a:schemeClr val="dk1"/>
                          </a:solidFill>
                          <a:latin typeface="Century Gothic" panose="020B0502020202020204" pitchFamily="34" charset="0"/>
                          <a:ea typeface="+mn-ea"/>
                          <a:cs typeface="+mn-cs"/>
                        </a:rPr>
                        <a:t>4–8</a:t>
                      </a:r>
                      <a:endParaRPr lang="en-US" sz="2200" dirty="0">
                        <a:latin typeface="Century Gothic" panose="020B0502020202020204" pitchFamily="34" charset="0"/>
                      </a:endParaRPr>
                    </a:p>
                  </a:txBody>
                  <a:tcPr/>
                </a:tc>
                <a:extLst>
                  <a:ext uri="{0D108BD9-81ED-4DB2-BD59-A6C34878D82A}">
                    <a16:rowId xmlns:a16="http://schemas.microsoft.com/office/drawing/2014/main" val="10005"/>
                  </a:ext>
                </a:extLst>
              </a:tr>
            </a:tbl>
          </a:graphicData>
        </a:graphic>
      </p:graphicFrame>
      <p:graphicFrame>
        <p:nvGraphicFramePr>
          <p:cNvPr id="6" name="Tabel 5"/>
          <p:cNvGraphicFramePr>
            <a:graphicFrameLocks noGrp="1"/>
          </p:cNvGraphicFramePr>
          <p:nvPr/>
        </p:nvGraphicFramePr>
        <p:xfrm>
          <a:off x="2244433" y="1133763"/>
          <a:ext cx="7121238" cy="2377440"/>
        </p:xfrm>
        <a:graphic>
          <a:graphicData uri="http://schemas.openxmlformats.org/drawingml/2006/table">
            <a:tbl>
              <a:tblPr firstRow="1" bandRow="1">
                <a:tableStyleId>{5C22544A-7EE6-4342-B048-85BDC9FD1C3A}</a:tableStyleId>
              </a:tblPr>
              <a:tblGrid>
                <a:gridCol w="2373746">
                  <a:extLst>
                    <a:ext uri="{9D8B030D-6E8A-4147-A177-3AD203B41FA5}">
                      <a16:colId xmlns:a16="http://schemas.microsoft.com/office/drawing/2014/main" val="20000"/>
                    </a:ext>
                  </a:extLst>
                </a:gridCol>
                <a:gridCol w="2373746">
                  <a:extLst>
                    <a:ext uri="{9D8B030D-6E8A-4147-A177-3AD203B41FA5}">
                      <a16:colId xmlns:a16="http://schemas.microsoft.com/office/drawing/2014/main" val="20001"/>
                    </a:ext>
                  </a:extLst>
                </a:gridCol>
                <a:gridCol w="2373746">
                  <a:extLst>
                    <a:ext uri="{9D8B030D-6E8A-4147-A177-3AD203B41FA5}">
                      <a16:colId xmlns:a16="http://schemas.microsoft.com/office/drawing/2014/main" val="20002"/>
                    </a:ext>
                  </a:extLst>
                </a:gridCol>
              </a:tblGrid>
              <a:tr h="370840">
                <a:tc>
                  <a:txBody>
                    <a:bodyPr/>
                    <a:lstStyle/>
                    <a:p>
                      <a:r>
                        <a:rPr lang="en-US" sz="2200" b="1" i="0" u="none" strike="noStrike" kern="1200" baseline="0" dirty="0">
                          <a:solidFill>
                            <a:schemeClr val="bg1"/>
                          </a:solidFill>
                          <a:latin typeface="Century Gothic" panose="020B0502020202020204" pitchFamily="34" charset="0"/>
                          <a:ea typeface="+mn-ea"/>
                          <a:cs typeface="+mn-cs"/>
                        </a:rPr>
                        <a:t>Animal</a:t>
                      </a:r>
                    </a:p>
                    <a:p>
                      <a:endParaRPr lang="en-US" sz="2200" b="1" i="0" u="none" strike="noStrike" kern="1200" baseline="0" dirty="0">
                        <a:solidFill>
                          <a:schemeClr val="bg1"/>
                        </a:solidFill>
                        <a:latin typeface="Century Gothic" panose="020B0502020202020204" pitchFamily="34" charset="0"/>
                        <a:ea typeface="+mn-ea"/>
                        <a:cs typeface="+mn-cs"/>
                      </a:endParaRPr>
                    </a:p>
                  </a:txBody>
                  <a:tcPr/>
                </a:tc>
                <a:tc>
                  <a:txBody>
                    <a:bodyPr/>
                    <a:lstStyle/>
                    <a:p>
                      <a:r>
                        <a:rPr lang="en-US" sz="2200" b="1" i="0" u="none" strike="noStrike" kern="1200" baseline="0" dirty="0">
                          <a:solidFill>
                            <a:schemeClr val="bg1"/>
                          </a:solidFill>
                          <a:latin typeface="Century Gothic" panose="020B0502020202020204" pitchFamily="34" charset="0"/>
                          <a:ea typeface="+mn-ea"/>
                          <a:cs typeface="+mn-cs"/>
                        </a:rPr>
                        <a:t>Grass hay</a:t>
                      </a:r>
                    </a:p>
                    <a:p>
                      <a:r>
                        <a:rPr lang="en-US" sz="2200" b="1" i="0" u="none" strike="noStrike" kern="1200" baseline="0" dirty="0">
                          <a:solidFill>
                            <a:schemeClr val="bg1"/>
                          </a:solidFill>
                          <a:latin typeface="Century Gothic" panose="020B0502020202020204" pitchFamily="34" charset="0"/>
                          <a:ea typeface="+mn-ea"/>
                          <a:cs typeface="+mn-cs"/>
                        </a:rPr>
                        <a:t>(kg/cow/day)</a:t>
                      </a:r>
                      <a:endParaRPr lang="en-US" sz="2200" b="1" dirty="0">
                        <a:solidFill>
                          <a:schemeClr val="bg1"/>
                        </a:solidFill>
                        <a:latin typeface="Century Gothic" panose="020B0502020202020204" pitchFamily="34" charset="0"/>
                      </a:endParaRPr>
                    </a:p>
                  </a:txBody>
                  <a:tcPr/>
                </a:tc>
                <a:tc>
                  <a:txBody>
                    <a:bodyPr/>
                    <a:lstStyle/>
                    <a:p>
                      <a:r>
                        <a:rPr lang="en-US" sz="2200" b="1" i="0" u="none" strike="noStrike" kern="1200" baseline="0" dirty="0">
                          <a:solidFill>
                            <a:schemeClr val="bg1"/>
                          </a:solidFill>
                          <a:latin typeface="Century Gothic" panose="020B0502020202020204" pitchFamily="34" charset="0"/>
                          <a:ea typeface="+mn-ea"/>
                          <a:cs typeface="+mn-cs"/>
                        </a:rPr>
                        <a:t>Legume hay</a:t>
                      </a:r>
                    </a:p>
                    <a:p>
                      <a:r>
                        <a:rPr lang="en-US" sz="2200" b="1" i="0" u="none" strike="noStrike" kern="1200" baseline="0" dirty="0">
                          <a:solidFill>
                            <a:schemeClr val="bg1"/>
                          </a:solidFill>
                          <a:latin typeface="Century Gothic" panose="020B0502020202020204" pitchFamily="34" charset="0"/>
                          <a:ea typeface="+mn-ea"/>
                          <a:cs typeface="+mn-cs"/>
                        </a:rPr>
                        <a:t>(kg/cow/day)</a:t>
                      </a:r>
                    </a:p>
                  </a:txBody>
                  <a:tcPr/>
                </a:tc>
                <a:extLst>
                  <a:ext uri="{0D108BD9-81ED-4DB2-BD59-A6C34878D82A}">
                    <a16:rowId xmlns:a16="http://schemas.microsoft.com/office/drawing/2014/main" val="10000"/>
                  </a:ext>
                </a:extLst>
              </a:tr>
              <a:tr h="370840">
                <a:tc>
                  <a:txBody>
                    <a:bodyPr/>
                    <a:lstStyle/>
                    <a:p>
                      <a:r>
                        <a:rPr lang="en-US" sz="2200" b="0" i="0" u="none" strike="noStrike" kern="1200" baseline="0" dirty="0">
                          <a:solidFill>
                            <a:schemeClr val="bg1"/>
                          </a:solidFill>
                          <a:latin typeface="Century Gothic" panose="020B0502020202020204" pitchFamily="34" charset="0"/>
                          <a:ea typeface="+mn-ea"/>
                          <a:cs typeface="+mn-cs"/>
                        </a:rPr>
                        <a:t>Cow </a:t>
                      </a:r>
                      <a:endParaRPr lang="en-US" sz="2200" dirty="0">
                        <a:solidFill>
                          <a:schemeClr val="bg1"/>
                        </a:solidFill>
                        <a:latin typeface="Century Gothic" panose="020B0502020202020204" pitchFamily="34" charset="0"/>
                      </a:endParaRPr>
                    </a:p>
                  </a:txBody>
                  <a:tcPr/>
                </a:tc>
                <a:tc>
                  <a:txBody>
                    <a:bodyPr/>
                    <a:lstStyle/>
                    <a:p>
                      <a:r>
                        <a:rPr lang="en-US" sz="2200" b="0" i="0" u="none" strike="noStrike" kern="1200" baseline="0" dirty="0">
                          <a:solidFill>
                            <a:schemeClr val="bg1"/>
                          </a:solidFill>
                          <a:latin typeface="Century Gothic" panose="020B0502020202020204" pitchFamily="34" charset="0"/>
                          <a:ea typeface="+mn-ea"/>
                          <a:cs typeface="+mn-cs"/>
                        </a:rPr>
                        <a:t>7–13</a:t>
                      </a:r>
                      <a:endParaRPr lang="en-US" sz="2200" dirty="0">
                        <a:solidFill>
                          <a:schemeClr val="bg1"/>
                        </a:solidFill>
                        <a:latin typeface="Century Gothic" panose="020B0502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u="none" strike="noStrike" kern="1200" baseline="0" dirty="0">
                          <a:solidFill>
                            <a:schemeClr val="bg1"/>
                          </a:solidFill>
                          <a:latin typeface="Century Gothic" panose="020B0502020202020204" pitchFamily="34" charset="0"/>
                          <a:ea typeface="+mn-ea"/>
                          <a:cs typeface="+mn-cs"/>
                        </a:rPr>
                        <a:t>3–5</a:t>
                      </a:r>
                    </a:p>
                  </a:txBody>
                  <a:tcPr/>
                </a:tc>
                <a:extLst>
                  <a:ext uri="{0D108BD9-81ED-4DB2-BD59-A6C34878D82A}">
                    <a16:rowId xmlns:a16="http://schemas.microsoft.com/office/drawing/2014/main" val="10001"/>
                  </a:ext>
                </a:extLst>
              </a:tr>
              <a:tr h="370840">
                <a:tc>
                  <a:txBody>
                    <a:bodyPr/>
                    <a:lstStyle/>
                    <a:p>
                      <a:r>
                        <a:rPr lang="en-US" sz="2200" b="0" i="0" u="none" strike="noStrike" kern="1200" baseline="0" dirty="0">
                          <a:solidFill>
                            <a:schemeClr val="bg1"/>
                          </a:solidFill>
                          <a:latin typeface="Century Gothic" panose="020B0502020202020204" pitchFamily="34" charset="0"/>
                          <a:ea typeface="+mn-ea"/>
                          <a:cs typeface="+mn-cs"/>
                        </a:rPr>
                        <a:t>Heifer </a:t>
                      </a:r>
                      <a:endParaRPr lang="en-US" sz="2200" dirty="0">
                        <a:solidFill>
                          <a:schemeClr val="bg1"/>
                        </a:solidFill>
                        <a:latin typeface="Century Gothic" panose="020B0502020202020204" pitchFamily="34" charset="0"/>
                      </a:endParaRPr>
                    </a:p>
                  </a:txBody>
                  <a:tcPr/>
                </a:tc>
                <a:tc>
                  <a:txBody>
                    <a:bodyPr/>
                    <a:lstStyle/>
                    <a:p>
                      <a:r>
                        <a:rPr lang="en-US" sz="2200" b="0" i="0" u="none" strike="noStrike" kern="1200" baseline="0" dirty="0">
                          <a:solidFill>
                            <a:schemeClr val="bg1"/>
                          </a:solidFill>
                          <a:latin typeface="Century Gothic" panose="020B0502020202020204" pitchFamily="34" charset="0"/>
                          <a:ea typeface="+mn-ea"/>
                          <a:cs typeface="+mn-cs"/>
                        </a:rPr>
                        <a:t>5–9</a:t>
                      </a:r>
                      <a:endParaRPr lang="en-US" sz="2200" dirty="0">
                        <a:solidFill>
                          <a:schemeClr val="bg1"/>
                        </a:solidFill>
                        <a:latin typeface="Century Gothic" panose="020B0502020202020204" pitchFamily="34" charset="0"/>
                      </a:endParaRPr>
                    </a:p>
                  </a:txBody>
                  <a:tcPr/>
                </a:tc>
                <a:tc>
                  <a:txBody>
                    <a:bodyPr/>
                    <a:lstStyle/>
                    <a:p>
                      <a:r>
                        <a:rPr lang="en-US" sz="2200" b="0" i="0" u="none" strike="noStrike" kern="1200" baseline="0" dirty="0">
                          <a:solidFill>
                            <a:schemeClr val="bg1"/>
                          </a:solidFill>
                          <a:latin typeface="Century Gothic" panose="020B0502020202020204" pitchFamily="34" charset="0"/>
                          <a:ea typeface="+mn-ea"/>
                          <a:cs typeface="+mn-cs"/>
                        </a:rPr>
                        <a:t>1–3</a:t>
                      </a:r>
                      <a:endParaRPr lang="en-US" sz="2200" dirty="0">
                        <a:solidFill>
                          <a:schemeClr val="bg1"/>
                        </a:solidFill>
                        <a:latin typeface="Century Gothic" panose="020B0502020202020204" pitchFamily="34" charset="0"/>
                      </a:endParaRPr>
                    </a:p>
                  </a:txBody>
                  <a:tcPr/>
                </a:tc>
                <a:extLst>
                  <a:ext uri="{0D108BD9-81ED-4DB2-BD59-A6C34878D82A}">
                    <a16:rowId xmlns:a16="http://schemas.microsoft.com/office/drawing/2014/main" val="10002"/>
                  </a:ext>
                </a:extLst>
              </a:tr>
              <a:tr h="370840">
                <a:tc>
                  <a:txBody>
                    <a:bodyPr/>
                    <a:lstStyle/>
                    <a:p>
                      <a:r>
                        <a:rPr lang="en-US" sz="2200" b="0" i="0" u="none" strike="noStrike" kern="1200" baseline="0" dirty="0">
                          <a:solidFill>
                            <a:schemeClr val="bg1"/>
                          </a:solidFill>
                          <a:latin typeface="Century Gothic" panose="020B0502020202020204" pitchFamily="34" charset="0"/>
                          <a:ea typeface="+mn-ea"/>
                          <a:cs typeface="+mn-cs"/>
                        </a:rPr>
                        <a:t>Young dairy stock </a:t>
                      </a:r>
                      <a:endParaRPr lang="en-US" sz="2200" dirty="0">
                        <a:solidFill>
                          <a:schemeClr val="bg1"/>
                        </a:solidFill>
                        <a:latin typeface="Century Gothic" panose="020B0502020202020204" pitchFamily="34" charset="0"/>
                      </a:endParaRPr>
                    </a:p>
                  </a:txBody>
                  <a:tcPr/>
                </a:tc>
                <a:tc>
                  <a:txBody>
                    <a:bodyPr/>
                    <a:lstStyle/>
                    <a:p>
                      <a:r>
                        <a:rPr lang="en-US" sz="2200" b="0" i="0" u="none" strike="noStrike" kern="1200" baseline="0" dirty="0">
                          <a:solidFill>
                            <a:schemeClr val="bg1"/>
                          </a:solidFill>
                          <a:latin typeface="Century Gothic" panose="020B0502020202020204" pitchFamily="34" charset="0"/>
                          <a:ea typeface="+mn-ea"/>
                          <a:cs typeface="+mn-cs"/>
                        </a:rPr>
                        <a:t>2–3 </a:t>
                      </a:r>
                      <a:endParaRPr lang="en-US" sz="2200" dirty="0">
                        <a:solidFill>
                          <a:schemeClr val="bg1"/>
                        </a:solidFill>
                        <a:latin typeface="Century Gothic" panose="020B0502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u="none" strike="noStrike" kern="1200" baseline="0" dirty="0">
                          <a:solidFill>
                            <a:schemeClr val="bg1"/>
                          </a:solidFill>
                          <a:latin typeface="Century Gothic" panose="020B0502020202020204" pitchFamily="34" charset="0"/>
                          <a:ea typeface="+mn-ea"/>
                          <a:cs typeface="+mn-cs"/>
                        </a:rPr>
                        <a:t>1</a:t>
                      </a:r>
                      <a:endParaRPr lang="en-US" sz="2200" dirty="0">
                        <a:solidFill>
                          <a:schemeClr val="bg1"/>
                        </a:solidFill>
                        <a:latin typeface="Century Gothic" panose="020B0502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14338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26</TotalTime>
  <Words>2921</Words>
  <Application>Microsoft Office PowerPoint</Application>
  <PresentationFormat>Widescreen</PresentationFormat>
  <Paragraphs>249</Paragraphs>
  <Slides>32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Century Gothic</vt:lpstr>
      <vt:lpstr>Times New Roman</vt:lpstr>
      <vt:lpstr>Wingdings</vt:lpstr>
      <vt:lpstr>Wingdings 3</vt:lpstr>
      <vt:lpstr>Ion</vt:lpstr>
      <vt:lpstr>PASTURE PRODUCTION, MANAGEMENT, AND PRESERVATION </vt:lpstr>
      <vt:lpstr>PASTURE PRODUCTION, MANAGEMENT, AND PRESERVATION </vt:lpstr>
      <vt:lpstr>Pasture Production, Management, and Preservation </vt:lpstr>
      <vt:lpstr>Examples of Pastures</vt:lpstr>
      <vt:lpstr>Examples of Multipurpose Trees and Shrubs</vt:lpstr>
      <vt:lpstr>PowerPoint Presentation</vt:lpstr>
      <vt:lpstr>PowerPoint Presentation</vt:lpstr>
      <vt:lpstr>Improvement of natural pastures</vt:lpstr>
      <vt:lpstr>PowerPoint Presentation</vt:lpstr>
      <vt:lpstr>Establishment of permanent grass/legume pastures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Pasture Management</vt:lpstr>
      <vt:lpstr>PowerPoint Presentation</vt:lpstr>
      <vt:lpstr>PowerPoint Presentation</vt:lpstr>
      <vt:lpstr>PowerPoint Presentation</vt:lpstr>
      <vt:lpstr>PowerPoint Presentation</vt:lpstr>
      <vt:lpstr>PowerPoint Presentation</vt:lpstr>
      <vt:lpstr>Establishment and management of fodder crops</vt:lpstr>
      <vt:lpstr>Fodder Conservation</vt:lpstr>
      <vt:lpstr>Guidelines for haymaking</vt:lpstr>
      <vt:lpstr>PowerPoint Presentation</vt:lpstr>
      <vt:lpstr>Silage making</vt:lpstr>
      <vt:lpstr>Suitable crops for ensiling and Improving silage quality</vt:lpstr>
      <vt:lpstr>The ensiling process</vt:lpstr>
      <vt:lpstr>The use of silage</vt:lpstr>
      <vt:lpstr>Utilisation of Hay and silage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PASTURE PRODUCTION, MANAGEMENT, AND PRESERVATION</dc:title>
  <dc:creator>hp</dc:creator>
  <cp:lastModifiedBy>JOSEPH D. LIWONDE</cp:lastModifiedBy>
  <cp:revision>13</cp:revision>
  <dcterms:created xsi:type="dcterms:W3CDTF">2025-12-09T06:50:31Z</dcterms:created>
  <dcterms:modified xsi:type="dcterms:W3CDTF">2026-02-10T14:52:05Z</dcterms:modified>
</cp:coreProperties>
</file>