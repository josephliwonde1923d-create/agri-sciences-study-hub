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1"/>
  </p:notesMasterIdLst>
  <p:sldIdLst>
    <p:sldId id="256" r:id="rId2"/>
    <p:sldId id="561" r:id="rId3"/>
    <p:sldId id="562" r:id="rId4"/>
    <p:sldId id="563" r:id="rId5"/>
    <p:sldId id="559" r:id="rId6"/>
    <p:sldId id="576" r:id="rId7"/>
    <p:sldId id="564" r:id="rId8"/>
    <p:sldId id="565" r:id="rId9"/>
    <p:sldId id="566" r:id="rId10"/>
    <p:sldId id="556" r:id="rId11"/>
    <p:sldId id="557" r:id="rId12"/>
    <p:sldId id="577" r:id="rId13"/>
    <p:sldId id="578" r:id="rId14"/>
    <p:sldId id="514" r:id="rId15"/>
    <p:sldId id="450" r:id="rId16"/>
    <p:sldId id="531" r:id="rId17"/>
    <p:sldId id="553" r:id="rId18"/>
    <p:sldId id="552" r:id="rId19"/>
    <p:sldId id="533" r:id="rId20"/>
    <p:sldId id="549" r:id="rId21"/>
    <p:sldId id="550" r:id="rId22"/>
    <p:sldId id="555" r:id="rId23"/>
    <p:sldId id="554" r:id="rId24"/>
    <p:sldId id="541" r:id="rId25"/>
    <p:sldId id="542" r:id="rId26"/>
    <p:sldId id="567" r:id="rId27"/>
    <p:sldId id="575" r:id="rId28"/>
    <p:sldId id="534" r:id="rId29"/>
    <p:sldId id="535" r:id="rId30"/>
    <p:sldId id="568" r:id="rId31"/>
    <p:sldId id="518" r:id="rId32"/>
    <p:sldId id="519" r:id="rId33"/>
    <p:sldId id="527" r:id="rId34"/>
    <p:sldId id="523" r:id="rId35"/>
    <p:sldId id="571" r:id="rId36"/>
    <p:sldId id="572" r:id="rId37"/>
    <p:sldId id="573" r:id="rId38"/>
    <p:sldId id="574" r:id="rId39"/>
    <p:sldId id="529" r:id="rId40"/>
    <p:sldId id="530" r:id="rId41"/>
    <p:sldId id="525" r:id="rId42"/>
    <p:sldId id="545" r:id="rId43"/>
    <p:sldId id="579" r:id="rId44"/>
    <p:sldId id="532" r:id="rId45"/>
    <p:sldId id="546" r:id="rId46"/>
    <p:sldId id="547" r:id="rId47"/>
    <p:sldId id="543" r:id="rId48"/>
    <p:sldId id="544" r:id="rId49"/>
    <p:sldId id="548"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54" autoAdjust="0"/>
    <p:restoredTop sz="94622" autoAdjust="0"/>
  </p:normalViewPr>
  <p:slideViewPr>
    <p:cSldViewPr snapToGrid="0">
      <p:cViewPr varScale="1">
        <p:scale>
          <a:sx n="85" d="100"/>
          <a:sy n="85" d="100"/>
        </p:scale>
        <p:origin x="96" y="12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4C18B1-72DE-48AA-BFD7-0D5A7F933011}" type="datetimeFigureOut">
              <a:rPr lang="en-GB" smtClean="0"/>
              <a:t>11/02/2026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1D7C1-5A09-4F0A-AD83-58B77AAF2BC1}" type="slidenum">
              <a:rPr lang="en-GB" smtClean="0"/>
              <a:t>‹#›</a:t>
            </a:fld>
            <a:endParaRPr lang="en-GB"/>
          </a:p>
        </p:txBody>
      </p:sp>
    </p:spTree>
    <p:extLst>
      <p:ext uri="{BB962C8B-B14F-4D97-AF65-F5344CB8AC3E}">
        <p14:creationId xmlns:p14="http://schemas.microsoft.com/office/powerpoint/2010/main" val="2820461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7</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8</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9</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10</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11</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12</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13</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15</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16</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17</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18</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19</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20</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21</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22</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23</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24</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25</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26</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27</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28</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29</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30</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31</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32</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33</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34</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35</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36</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37</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38</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39</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40</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41</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42</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44</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45</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46</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47</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48</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49</a:t>
            </a:fld>
            <a:endParaRPr lang="en-GB" dirty="0"/>
          </a:p>
        </p:txBody>
      </p:sp>
    </p:spTree>
    <p:extLst>
      <p:ext uri="{BB962C8B-B14F-4D97-AF65-F5344CB8AC3E}">
        <p14:creationId xmlns:p14="http://schemas.microsoft.com/office/powerpoint/2010/main" val="3079803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244315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DACF3B9-C39F-47CA-9493-2CE341F9200B}"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205846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758849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ACF3B9-C39F-47CA-9493-2CE341F9200B}" type="datetimeFigureOut">
              <a:rPr lang="en-GB" smtClean="0"/>
              <a:t>11/02/2026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864605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ACF3B9-C39F-47CA-9493-2CE341F9200B}" type="datetimeFigureOut">
              <a:rPr lang="en-GB" smtClean="0"/>
              <a:t>11/02/2026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481536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DACF3B9-C39F-47CA-9493-2CE341F9200B}" type="datetimeFigureOut">
              <a:rPr lang="en-GB" smtClean="0"/>
              <a:t>11/02/2026</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183297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ACF3B9-C39F-47CA-9493-2CE341F9200B}" type="datetimeFigureOut">
              <a:rPr lang="en-GB" smtClean="0"/>
              <a:t>11/02/2026</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82727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DACF3B9-C39F-47CA-9493-2CE341F9200B}" type="datetimeFigureOut">
              <a:rPr lang="en-GB" smtClean="0"/>
              <a:t>11/02/2026</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891403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ACF3B9-C39F-47CA-9493-2CE341F9200B}" type="datetimeFigureOut">
              <a:rPr lang="en-GB" smtClean="0"/>
              <a:t>11/02/2026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080059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ACF3B9-C39F-47CA-9493-2CE341F9200B}" type="datetimeFigureOut">
              <a:rPr lang="en-GB" smtClean="0"/>
              <a:t>11/02/2026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641625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682116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350610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106271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ACF3B9-C39F-47CA-9493-2CE341F9200B}" type="datetimeFigureOut">
              <a:rPr lang="en-GB" smtClean="0"/>
              <a:t>11/02/2026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7978893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ACF3B9-C39F-47CA-9493-2CE341F9200B}" type="datetimeFigureOut">
              <a:rPr lang="en-GB" smtClean="0"/>
              <a:t>11/02/2026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4613538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7875285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826564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DACF3B9-C39F-47CA-9493-2CE341F9200B}" type="datetimeFigureOut">
              <a:rPr lang="en-GB" smtClean="0"/>
              <a:t>11/02/2026</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0E2BB90-863B-4217-96DC-A8B9EB50A318}" type="slidenum">
              <a:rPr lang="en-GB" smtClean="0"/>
              <a:t>‹#›</a:t>
            </a:fld>
            <a:endParaRPr lang="en-GB"/>
          </a:p>
        </p:txBody>
      </p:sp>
    </p:spTree>
    <p:extLst>
      <p:ext uri="{BB962C8B-B14F-4D97-AF65-F5344CB8AC3E}">
        <p14:creationId xmlns:p14="http://schemas.microsoft.com/office/powerpoint/2010/main" val="90821448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1913745" y="1122363"/>
            <a:ext cx="8475648" cy="2726306"/>
          </a:xfrm>
        </p:spPr>
        <p:txBody>
          <a:bodyPr>
            <a:normAutofit fontScale="90000"/>
          </a:bodyPr>
          <a:lstStyle/>
          <a:p>
            <a:r>
              <a:rPr lang="en-US" b="1" dirty="0"/>
              <a:t>Animal Health and Biosecurity Measures</a:t>
            </a:r>
          </a:p>
        </p:txBody>
      </p:sp>
      <p:sp>
        <p:nvSpPr>
          <p:cNvPr id="6" name="Subtitle 2"/>
          <p:cNvSpPr>
            <a:spLocks noGrp="1"/>
          </p:cNvSpPr>
          <p:nvPr>
            <p:ph type="subTitle" idx="1"/>
          </p:nvPr>
        </p:nvSpPr>
        <p:spPr>
          <a:xfrm>
            <a:off x="2495550" y="4987925"/>
            <a:ext cx="6858000" cy="1655762"/>
          </a:xfrm>
        </p:spPr>
        <p:txBody>
          <a:bodyPr>
            <a:normAutofit/>
          </a:bodyPr>
          <a:lstStyle/>
          <a:p>
            <a:r>
              <a:rPr lang="en-GB" b="1" dirty="0">
                <a:solidFill>
                  <a:srgbClr val="0070C0"/>
                </a:solidFill>
              </a:rPr>
              <a:t>Michael Luwe</a:t>
            </a:r>
          </a:p>
          <a:p>
            <a:r>
              <a:rPr lang="en-GB" b="1" dirty="0">
                <a:solidFill>
                  <a:srgbClr val="0070C0"/>
                </a:solidFill>
              </a:rPr>
              <a:t>Department of Animal Health and Livestock Development</a:t>
            </a:r>
          </a:p>
        </p:txBody>
      </p:sp>
      <p:pic>
        <p:nvPicPr>
          <p:cNvPr id="5" name="Picture 4" descr="1 Principles of Livestock Production 1 BTCD 2303.pptx [Autosaved] - Microsoft PowerPoint"/>
          <p:cNvPicPr>
            <a:picLocks noChangeAspect="1"/>
          </p:cNvPicPr>
          <p:nvPr/>
        </p:nvPicPr>
        <p:blipFill rotWithShape="1">
          <a:blip r:embed="rId2">
            <a:extLst>
              <a:ext uri="{28A0092B-C50C-407E-A947-70E740481C1C}">
                <a14:useLocalDpi xmlns:a14="http://schemas.microsoft.com/office/drawing/2010/main" val="0"/>
              </a:ext>
            </a:extLst>
          </a:blip>
          <a:srcRect l="45591" t="28367" r="21406" b="65887"/>
          <a:stretch/>
        </p:blipFill>
        <p:spPr>
          <a:xfrm>
            <a:off x="1913747" y="284816"/>
            <a:ext cx="8475649" cy="794479"/>
          </a:xfrm>
          <a:prstGeom prst="rect">
            <a:avLst/>
          </a:prstGeom>
        </p:spPr>
      </p:pic>
    </p:spTree>
    <p:extLst>
      <p:ext uri="{BB962C8B-B14F-4D97-AF65-F5344CB8AC3E}">
        <p14:creationId xmlns:p14="http://schemas.microsoft.com/office/powerpoint/2010/main" val="2895718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488" y="684944"/>
            <a:ext cx="11232445" cy="5814226"/>
          </a:xfrm>
        </p:spPr>
        <p:txBody>
          <a:bodyPr>
            <a:noAutofit/>
          </a:bodyPr>
          <a:lstStyle/>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Infection</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Invasion and multiplication of a micro-organism in body tissues.</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Infectious disease</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 disease caused by a micro-organism.</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Latent infection</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An infection where the individual does not show signs of disease, unless under stressful conditions.</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Localised disease</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 disease that affects a small area or part of the body.</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Systemic disease</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 disease that affects a number of organs/tissues or body systems. </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Symptom</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Subjective changes not obvious to the observer, requiring the patient to report them.</a:t>
            </a:r>
          </a:p>
        </p:txBody>
      </p:sp>
      <p:sp>
        <p:nvSpPr>
          <p:cNvPr id="5" name="TextBox 4">
            <a:extLst>
              <a:ext uri="{FF2B5EF4-FFF2-40B4-BE49-F238E27FC236}">
                <a16:creationId xmlns:a16="http://schemas.microsoft.com/office/drawing/2014/main" id="{8B7E7B47-DABF-4865-AC32-FC9AA6ADE8BC}"/>
              </a:ext>
            </a:extLst>
          </p:cNvPr>
          <p:cNvSpPr txBox="1"/>
          <p:nvPr/>
        </p:nvSpPr>
        <p:spPr>
          <a:xfrm>
            <a:off x="361244" y="161724"/>
            <a:ext cx="6096000" cy="523220"/>
          </a:xfrm>
          <a:prstGeom prst="rect">
            <a:avLst/>
          </a:prstGeom>
          <a:noFill/>
        </p:spPr>
        <p:txBody>
          <a:bodyPr wrap="square">
            <a:spAutoFit/>
          </a:bodyPr>
          <a:lstStyle/>
          <a:p>
            <a:r>
              <a:rPr lang="en-GB" sz="2800" b="1" dirty="0">
                <a:solidFill>
                  <a:srgbClr val="00B0F0"/>
                </a:solidFill>
                <a:latin typeface="Century Gothic" panose="020B0502020202020204" pitchFamily="34" charset="0"/>
              </a:rPr>
              <a:t>Definitions</a:t>
            </a:r>
            <a:endParaRPr lang="en-US" sz="2800" b="1" dirty="0"/>
          </a:p>
        </p:txBody>
      </p:sp>
    </p:spTree>
    <p:extLst>
      <p:ext uri="{BB962C8B-B14F-4D97-AF65-F5344CB8AC3E}">
        <p14:creationId xmlns:p14="http://schemas.microsoft.com/office/powerpoint/2010/main" val="2048794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300446" y="444136"/>
            <a:ext cx="11521440" cy="5447213"/>
          </a:xfrm>
        </p:spPr>
        <p:txBody>
          <a:bodyPr>
            <a:noAutofit/>
          </a:bodyPr>
          <a:lstStyle/>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Reservoir</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 carrier or alternative host that maintains an organism in the environment.</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Vector</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Anything that transmits a contagious infectious disease.</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Vertical disease transmission</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Transmission of disease from parent to offspring in the period prior to birth or immediately after birth.</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Resistance</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The ability to ward off disease (immune).</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Subclinical or unapparent infection</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An infection where clinical signs cannot be observed.</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Zoonotic disease</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An infectious disease that can be passed from animal to human.</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7617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1703" y="483326"/>
            <a:ext cx="11129554" cy="5747657"/>
          </a:xfrm>
        </p:spPr>
        <p:txBody>
          <a:bodyPr>
            <a:noAutofit/>
          </a:bodyPr>
          <a:lstStyle/>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Morbidity</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 ratio of sick to the total population; refers to how contagious a disease is.</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Mortality</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The number of deaths among exposed or infected individuals.</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Palliative</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Relieving clinical signs/symptoms without curing disease.</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Pathogen</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An infectious agent or microorganism.</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Contagious</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an infection that can be spread through contact</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Virulence</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the ability of an agent of infection to cause disease.</a:t>
            </a:r>
          </a:p>
          <a:p>
            <a:pPr algn="just">
              <a:buFont typeface="Wingdings" panose="05000000000000000000" pitchFamily="2" charset="2"/>
              <a:buChar char="Ø"/>
            </a:pPr>
            <a:r>
              <a:rPr lang="en-GB" sz="3200" b="1" i="1" dirty="0">
                <a:latin typeface="Times New Roman" panose="02020603050405020304" pitchFamily="18" charset="0"/>
                <a:cs typeface="Times New Roman" panose="02020603050405020304" pitchFamily="18" charset="0"/>
              </a:rPr>
              <a:t>Susceptibility</a:t>
            </a:r>
            <a:r>
              <a:rPr lang="en-GB" sz="3200" b="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The lack of immunity or vulnerability to disease.</a:t>
            </a:r>
          </a:p>
        </p:txBody>
      </p:sp>
    </p:spTree>
    <p:extLst>
      <p:ext uri="{BB962C8B-B14F-4D97-AF65-F5344CB8AC3E}">
        <p14:creationId xmlns:p14="http://schemas.microsoft.com/office/powerpoint/2010/main" val="116610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GB" altLang="en-US" sz="3200" dirty="0">
                <a:solidFill>
                  <a:srgbClr val="00B0F0"/>
                </a:solidFill>
                <a:latin typeface="Century Gothic" panose="020B0502020202020204" pitchFamily="34" charset="0"/>
              </a:rPr>
              <a:t>Malawian Livestock legislation and Policies</a:t>
            </a:r>
            <a:endParaRPr lang="en-US" altLang="en-US" sz="3200" dirty="0">
              <a:solidFill>
                <a:srgbClr val="00B0F0"/>
              </a:solidFill>
              <a:latin typeface="Century Gothic" panose="020B0502020202020204" pitchFamily="34" charset="0"/>
            </a:endParaRPr>
          </a:p>
        </p:txBody>
      </p:sp>
      <p:sp>
        <p:nvSpPr>
          <p:cNvPr id="3" name="Content Placeholder 2">
            <a:extLst>
              <a:ext uri="{FF2B5EF4-FFF2-40B4-BE49-F238E27FC236}">
                <a16:creationId xmlns:a16="http://schemas.microsoft.com/office/drawing/2014/main" id="{5A310AD7-08FA-497F-9CD3-497041B8233E}"/>
              </a:ext>
            </a:extLst>
          </p:cNvPr>
          <p:cNvSpPr>
            <a:spLocks noGrp="1"/>
          </p:cNvSpPr>
          <p:nvPr>
            <p:ph idx="1"/>
          </p:nvPr>
        </p:nvSpPr>
        <p:spPr>
          <a:xfrm>
            <a:off x="1981200" y="1467136"/>
            <a:ext cx="8229600" cy="5029200"/>
          </a:xfrm>
        </p:spPr>
        <p:txBody>
          <a:bodyPr>
            <a:noAutofit/>
          </a:bodyPr>
          <a:lstStyle/>
          <a:p>
            <a:pPr marL="571500" indent="-571500">
              <a:buNone/>
              <a:defRPr/>
            </a:pPr>
            <a:r>
              <a:rPr lang="en-CA" sz="2400" b="1" dirty="0">
                <a:latin typeface="Century Gothic" panose="020B0502020202020204" pitchFamily="34" charset="0"/>
                <a:ea typeface="ＭＳ Ｐゴシック" panose="020B0600070205080204" pitchFamily="34" charset="-128"/>
              </a:rPr>
              <a:t>I. 	</a:t>
            </a:r>
            <a:r>
              <a:rPr lang="en-US" sz="2400" b="1" dirty="0">
                <a:latin typeface="Century Gothic" panose="020B0502020202020204" pitchFamily="34" charset="0"/>
                <a:ea typeface="ＭＳ Ｐゴシック" panose="020B0600070205080204" pitchFamily="34" charset="-128"/>
              </a:rPr>
              <a:t>Livestock and Related Policy Documents</a:t>
            </a:r>
          </a:p>
          <a:p>
            <a:pPr>
              <a:defRPr/>
            </a:pPr>
            <a:endParaRPr lang="en-CA" sz="2400" dirty="0">
              <a:latin typeface="Century Gothic" panose="020B0502020202020204" pitchFamily="34" charset="0"/>
              <a:ea typeface="ＭＳ Ｐゴシック" panose="020B0600070205080204" pitchFamily="34" charset="-128"/>
            </a:endParaRPr>
          </a:p>
          <a:p>
            <a:pPr>
              <a:spcBef>
                <a:spcPts val="1200"/>
              </a:spcBef>
              <a:spcAft>
                <a:spcPts val="600"/>
              </a:spcAft>
              <a:defRPr/>
            </a:pPr>
            <a:r>
              <a:rPr lang="en-CA" sz="2400" dirty="0">
                <a:latin typeface="Century Gothic" panose="020B0502020202020204" pitchFamily="34" charset="0"/>
                <a:ea typeface="ＭＳ Ｐゴシック" panose="020B0600070205080204" pitchFamily="34" charset="-128"/>
              </a:rPr>
              <a:t>National Livestock Development Master Plan, 1999</a:t>
            </a:r>
            <a:endParaRPr lang="en-US" sz="2400" dirty="0">
              <a:latin typeface="Century Gothic" panose="020B0502020202020204" pitchFamily="34" charset="0"/>
              <a:ea typeface="ＭＳ Ｐゴシック" panose="020B0600070205080204" pitchFamily="34" charset="-128"/>
            </a:endParaRPr>
          </a:p>
          <a:p>
            <a:pPr>
              <a:spcBef>
                <a:spcPts val="1200"/>
              </a:spcBef>
              <a:spcAft>
                <a:spcPts val="600"/>
              </a:spcAft>
              <a:defRPr/>
            </a:pPr>
            <a:r>
              <a:rPr lang="en-CA" sz="2400" dirty="0">
                <a:latin typeface="Century Gothic" panose="020B0502020202020204" pitchFamily="34" charset="0"/>
                <a:ea typeface="ＭＳ Ｐゴシック" panose="020B0600070205080204" pitchFamily="34" charset="-128"/>
              </a:rPr>
              <a:t>Strategic Plan to Improve Livestock Production, 2003-2008</a:t>
            </a:r>
            <a:endParaRPr lang="en-US" sz="2400" dirty="0">
              <a:latin typeface="Century Gothic" panose="020B0502020202020204" pitchFamily="34" charset="0"/>
              <a:ea typeface="ＭＳ Ｐゴシック" panose="020B0600070205080204" pitchFamily="34" charset="-128"/>
            </a:endParaRPr>
          </a:p>
          <a:p>
            <a:pPr>
              <a:spcBef>
                <a:spcPts val="1200"/>
              </a:spcBef>
              <a:spcAft>
                <a:spcPts val="600"/>
              </a:spcAft>
              <a:defRPr/>
            </a:pPr>
            <a:r>
              <a:rPr lang="en-CA" sz="2400" dirty="0">
                <a:latin typeface="Century Gothic" panose="020B0502020202020204" pitchFamily="34" charset="0"/>
                <a:ea typeface="ＭＳ Ｐゴシック" panose="020B0600070205080204" pitchFamily="34" charset="-128"/>
              </a:rPr>
              <a:t>Livestock Development Policy 2006</a:t>
            </a:r>
            <a:endParaRPr lang="en-US" sz="2400" dirty="0">
              <a:latin typeface="Century Gothic" panose="020B0502020202020204" pitchFamily="34" charset="0"/>
              <a:ea typeface="ＭＳ Ｐゴシック" panose="020B0600070205080204" pitchFamily="34" charset="-128"/>
            </a:endParaRPr>
          </a:p>
          <a:p>
            <a:pPr>
              <a:buFontTx/>
              <a:buNone/>
              <a:defRPr/>
            </a:pPr>
            <a:endParaRPr lang="en-US" sz="2400" dirty="0">
              <a:latin typeface="Century Gothic" panose="020B0502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91399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GB" altLang="en-US" sz="3200" dirty="0">
                <a:solidFill>
                  <a:srgbClr val="00B0F0"/>
                </a:solidFill>
                <a:latin typeface="Century Gothic" panose="020B0502020202020204" pitchFamily="34" charset="0"/>
              </a:rPr>
              <a:t>Malawian Livestock legislation and Policies</a:t>
            </a:r>
            <a:endParaRPr lang="en-US" altLang="en-US" sz="3200" dirty="0">
              <a:solidFill>
                <a:srgbClr val="00B0F0"/>
              </a:solidFill>
              <a:latin typeface="Century Gothic" panose="020B0502020202020204" pitchFamily="34" charset="0"/>
            </a:endParaRPr>
          </a:p>
        </p:txBody>
      </p:sp>
      <p:sp>
        <p:nvSpPr>
          <p:cNvPr id="3" name="Content Placeholder 2">
            <a:extLst>
              <a:ext uri="{FF2B5EF4-FFF2-40B4-BE49-F238E27FC236}">
                <a16:creationId xmlns:a16="http://schemas.microsoft.com/office/drawing/2014/main" id="{5A310AD7-08FA-497F-9CD3-497041B8233E}"/>
              </a:ext>
            </a:extLst>
          </p:cNvPr>
          <p:cNvSpPr>
            <a:spLocks noGrp="1"/>
          </p:cNvSpPr>
          <p:nvPr>
            <p:ph idx="1"/>
          </p:nvPr>
        </p:nvSpPr>
        <p:spPr>
          <a:xfrm>
            <a:off x="806077" y="1365956"/>
            <a:ext cx="10121567" cy="5130380"/>
          </a:xfrm>
        </p:spPr>
        <p:txBody>
          <a:bodyPr>
            <a:noAutofit/>
          </a:bodyPr>
          <a:lstStyle/>
          <a:p>
            <a:pPr marL="571500" indent="-571500">
              <a:buNone/>
              <a:defRPr/>
            </a:pPr>
            <a:r>
              <a:rPr lang="en-GB" sz="2400" b="1" dirty="0">
                <a:latin typeface="Century Gothic" panose="020B0502020202020204" pitchFamily="34" charset="0"/>
                <a:ea typeface="ＭＳ Ｐゴシック" panose="020B0600070205080204" pitchFamily="34" charset="-128"/>
              </a:rPr>
              <a:t>II. 	 The Veterinary and other livestock related Legislations/acts</a:t>
            </a:r>
          </a:p>
          <a:p>
            <a:pPr>
              <a:defRPr/>
            </a:pPr>
            <a:r>
              <a:rPr lang="en-GB" sz="2400" dirty="0">
                <a:latin typeface="Century Gothic" panose="020B0502020202020204" pitchFamily="34" charset="0"/>
                <a:ea typeface="ＭＳ Ｐゴシック" panose="020B0600070205080204" pitchFamily="34" charset="-128"/>
              </a:rPr>
              <a:t>Control and Diseases of Animals Act (Cap 66:02)</a:t>
            </a:r>
          </a:p>
          <a:p>
            <a:pPr>
              <a:defRPr/>
            </a:pPr>
            <a:r>
              <a:rPr lang="en-GB" sz="2400" dirty="0">
                <a:latin typeface="Century Gothic" panose="020B0502020202020204" pitchFamily="34" charset="0"/>
                <a:ea typeface="ＭＳ Ｐゴシック" panose="020B0600070205080204" pitchFamily="34" charset="-128"/>
              </a:rPr>
              <a:t>Veterinary and Para-veterinary Practitioners (Cap 53:04)</a:t>
            </a:r>
          </a:p>
          <a:p>
            <a:pPr>
              <a:defRPr/>
            </a:pPr>
            <a:r>
              <a:rPr lang="en-GB" sz="2400" dirty="0">
                <a:latin typeface="Century Gothic" panose="020B0502020202020204" pitchFamily="34" charset="0"/>
                <a:ea typeface="ＭＳ Ｐゴシック" panose="020B0600070205080204" pitchFamily="34" charset="-128"/>
              </a:rPr>
              <a:t>Meat and Meat Products Act (Cap 67:02)</a:t>
            </a:r>
          </a:p>
          <a:p>
            <a:pPr>
              <a:defRPr/>
            </a:pPr>
            <a:r>
              <a:rPr lang="en-GB" sz="2400" dirty="0">
                <a:latin typeface="Century Gothic" panose="020B0502020202020204" pitchFamily="34" charset="0"/>
                <a:ea typeface="ＭＳ Ｐゴシック" panose="020B0600070205080204" pitchFamily="34" charset="-128"/>
              </a:rPr>
              <a:t>Milk and Milk Products Act (Cap 67:05)</a:t>
            </a:r>
          </a:p>
          <a:p>
            <a:pPr>
              <a:defRPr/>
            </a:pPr>
            <a:r>
              <a:rPr lang="en-GB" sz="2400" dirty="0">
                <a:latin typeface="Century Gothic" panose="020B0502020202020204" pitchFamily="34" charset="0"/>
                <a:ea typeface="ＭＳ Ｐゴシック" panose="020B0600070205080204" pitchFamily="34" charset="-128"/>
              </a:rPr>
              <a:t>Protection of Animals Act (Cap 66:01)</a:t>
            </a:r>
          </a:p>
          <a:p>
            <a:pPr>
              <a:defRPr/>
            </a:pPr>
            <a:r>
              <a:rPr lang="en-GB" sz="2400" dirty="0">
                <a:latin typeface="Century Gothic" panose="020B0502020202020204" pitchFamily="34" charset="0"/>
                <a:ea typeface="ＭＳ Ｐゴシック" panose="020B0600070205080204" pitchFamily="34" charset="-128"/>
              </a:rPr>
              <a:t>Hides and Skins Trade Act (Cap 50:02)</a:t>
            </a:r>
          </a:p>
          <a:p>
            <a:pPr>
              <a:defRPr/>
            </a:pPr>
            <a:r>
              <a:rPr lang="en-GB" sz="2400" dirty="0">
                <a:latin typeface="Century Gothic" panose="020B0502020202020204" pitchFamily="34" charset="0"/>
                <a:ea typeface="ＭＳ Ｐゴシック" panose="020B0600070205080204" pitchFamily="34" charset="-128"/>
              </a:rPr>
              <a:t>Slaughter of Cattle Act (Cap 50:04)</a:t>
            </a:r>
          </a:p>
        </p:txBody>
      </p:sp>
    </p:spTree>
    <p:extLst>
      <p:ext uri="{BB962C8B-B14F-4D97-AF65-F5344CB8AC3E}">
        <p14:creationId xmlns:p14="http://schemas.microsoft.com/office/powerpoint/2010/main" val="2359505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r>
              <a:rPr lang="en-GB" sz="3200" dirty="0">
                <a:solidFill>
                  <a:srgbClr val="00B0F0"/>
                </a:solidFill>
                <a:latin typeface="Century Gothic" panose="020B0502020202020204" pitchFamily="34" charset="0"/>
              </a:rPr>
              <a:t>ANIMAL HEALTH PROCEDURES</a:t>
            </a:r>
            <a:endParaRPr lang="en-GB" sz="3200" dirty="0">
              <a:solidFill>
                <a:srgbClr val="00B0F0"/>
              </a:solidFill>
            </a:endParaRPr>
          </a:p>
        </p:txBody>
      </p:sp>
      <p:sp>
        <p:nvSpPr>
          <p:cNvPr id="3" name="Content Placeholder 2"/>
          <p:cNvSpPr>
            <a:spLocks noGrp="1"/>
          </p:cNvSpPr>
          <p:nvPr>
            <p:ph idx="1"/>
          </p:nvPr>
        </p:nvSpPr>
        <p:spPr>
          <a:xfrm>
            <a:off x="718456" y="1332411"/>
            <a:ext cx="10868298" cy="4595170"/>
          </a:xfrm>
        </p:spPr>
        <p:txBody>
          <a:bodyPr>
            <a:noAutofit/>
          </a:bodyPr>
          <a:lstStyle/>
          <a:p>
            <a:pPr algn="just"/>
            <a:r>
              <a:rPr lang="en-GB" b="1" dirty="0">
                <a:solidFill>
                  <a:srgbClr val="00B0F0"/>
                </a:solidFill>
                <a:latin typeface="Times New Roman" panose="02020603050405020304" pitchFamily="18" charset="0"/>
                <a:cs typeface="Times New Roman" panose="02020603050405020304" pitchFamily="18" charset="0"/>
              </a:rPr>
              <a:t>Biosecurity</a:t>
            </a:r>
            <a:r>
              <a:rPr lang="en-GB" b="1"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is “the outcome of all activities undertaken by an entity to preclude the introduction of disease agents into an area that one is trying to protect.”</a:t>
            </a:r>
          </a:p>
          <a:p>
            <a:pPr algn="just"/>
            <a:r>
              <a:rPr lang="en-GB" dirty="0">
                <a:latin typeface="Times New Roman" panose="02020603050405020304" pitchFamily="18" charset="0"/>
                <a:cs typeface="Times New Roman" panose="02020603050405020304" pitchFamily="18" charset="0"/>
              </a:rPr>
              <a:t>Determination of the biosecurity plan will require </a:t>
            </a:r>
          </a:p>
          <a:p>
            <a:pPr marL="514350" indent="-514350" algn="just">
              <a:buFont typeface="+mj-lt"/>
              <a:buAutoNum type="alphaLcParenR"/>
            </a:pPr>
            <a:r>
              <a:rPr lang="en-GB" dirty="0">
                <a:latin typeface="Times New Roman" panose="02020603050405020304" pitchFamily="18" charset="0"/>
                <a:cs typeface="Times New Roman" panose="02020603050405020304" pitchFamily="18" charset="0"/>
              </a:rPr>
              <a:t>identification of the infectious agents likely to cause important disease in the animals on the operation, and this will depend on the </a:t>
            </a:r>
          </a:p>
          <a:p>
            <a:pPr marL="514350" indent="-514350" algn="just">
              <a:buFont typeface="+mj-lt"/>
              <a:buAutoNum type="alphaLcParenR"/>
            </a:pPr>
            <a:r>
              <a:rPr lang="en-GB" dirty="0">
                <a:latin typeface="Times New Roman" panose="02020603050405020304" pitchFamily="18" charset="0"/>
                <a:cs typeface="Times New Roman" panose="02020603050405020304" pitchFamily="18" charset="0"/>
              </a:rPr>
              <a:t>species and </a:t>
            </a:r>
          </a:p>
          <a:p>
            <a:pPr marL="514350" indent="-514350" algn="just">
              <a:buFont typeface="+mj-lt"/>
              <a:buAutoNum type="alphaLcParenR"/>
            </a:pPr>
            <a:r>
              <a:rPr lang="en-GB" dirty="0">
                <a:latin typeface="Times New Roman" panose="02020603050405020304" pitchFamily="18" charset="0"/>
                <a:cs typeface="Times New Roman" panose="02020603050405020304" pitchFamily="18" charset="0"/>
              </a:rPr>
              <a:t>geographic location of the animals in question as well as the </a:t>
            </a:r>
            <a:r>
              <a:rPr lang="en-GB" b="1" dirty="0">
                <a:latin typeface="Times New Roman" panose="02020603050405020304" pitchFamily="18" charset="0"/>
                <a:cs typeface="Times New Roman" panose="02020603050405020304" pitchFamily="18" charset="0"/>
              </a:rPr>
              <a:t>degree to which the operation is open </a:t>
            </a:r>
            <a:r>
              <a:rPr lang="en-GB" dirty="0">
                <a:latin typeface="Times New Roman" panose="02020603050405020304" pitchFamily="18" charset="0"/>
                <a:cs typeface="Times New Roman" panose="02020603050405020304" pitchFamily="18" charset="0"/>
              </a:rPr>
              <a:t>(receiving new animals either permanently or transiently from sources outside the operation), because new introductions are an important source of biosecurity risk.</a:t>
            </a:r>
            <a:endParaRPr lang="en-US" noProof="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2776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92037" y="1630835"/>
            <a:ext cx="8146472" cy="4351338"/>
          </a:xfrm>
        </p:spPr>
        <p:txBody>
          <a:bodyPr>
            <a:noAutofit/>
          </a:bodyPr>
          <a:lstStyle/>
          <a:p>
            <a:r>
              <a:rPr lang="en-GB" sz="2400" b="1" dirty="0">
                <a:latin typeface="Century Gothic" panose="020B0502020202020204" pitchFamily="34" charset="0"/>
              </a:rPr>
              <a:t>BIOSECURITY</a:t>
            </a:r>
          </a:p>
          <a:p>
            <a:r>
              <a:rPr lang="en-GB" sz="2400" dirty="0">
                <a:latin typeface="Century Gothic" panose="020B0502020202020204" pitchFamily="34" charset="0"/>
              </a:rPr>
              <a:t>Development of a biosecurity plan also requires an evaluation of the </a:t>
            </a:r>
            <a:r>
              <a:rPr lang="en-GB" sz="2400" b="1" dirty="0">
                <a:latin typeface="Century Gothic" panose="020B0502020202020204" pitchFamily="34" charset="0"/>
              </a:rPr>
              <a:t>cost of biosecurity relative to the cost of the disease </a:t>
            </a:r>
            <a:r>
              <a:rPr lang="en-GB" sz="2400" dirty="0">
                <a:latin typeface="Century Gothic" panose="020B0502020202020204" pitchFamily="34" charset="0"/>
              </a:rPr>
              <a:t>in the absence of biosecurity.</a:t>
            </a:r>
          </a:p>
          <a:p>
            <a:r>
              <a:rPr lang="en-GB" sz="2400" dirty="0">
                <a:latin typeface="Century Gothic" panose="020B0502020202020204" pitchFamily="34" charset="0"/>
              </a:rPr>
              <a:t>A biosecurity plan may be comprehensive, or it may be simple and focused on only a few high-risk areas.</a:t>
            </a:r>
          </a:p>
          <a:p>
            <a:r>
              <a:rPr lang="en-GB" sz="2400" dirty="0">
                <a:latin typeface="Century Gothic" panose="020B0502020202020204" pitchFamily="34" charset="0"/>
              </a:rPr>
              <a:t>To be effective, the biosecurity plan should include a plan for periodic assessment of the efficacy of biosecurity through monitoring and record keeping to identify infection or disease events that should be impacted by the plan.</a:t>
            </a:r>
            <a:endParaRPr lang="en-US" sz="2400" noProof="1">
              <a:latin typeface="Century Gothic" panose="020B0502020202020204" pitchFamily="34" charset="0"/>
            </a:endParaRPr>
          </a:p>
        </p:txBody>
      </p:sp>
      <p:sp>
        <p:nvSpPr>
          <p:cNvPr id="4" name="Title 1"/>
          <p:cNvSpPr txBox="1">
            <a:spLocks/>
          </p:cNvSpPr>
          <p:nvPr/>
        </p:nvSpPr>
        <p:spPr>
          <a:xfrm>
            <a:off x="2305050" y="50324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200" b="1">
                <a:solidFill>
                  <a:srgbClr val="00B0F0"/>
                </a:solidFill>
                <a:latin typeface="Century Gothic" panose="020B0502020202020204" pitchFamily="34" charset="0"/>
              </a:rPr>
              <a:t>ANIMAL HEALTH PROCEDURES</a:t>
            </a:r>
            <a:endParaRPr lang="en-GB" sz="3200" b="1" dirty="0">
              <a:solidFill>
                <a:srgbClr val="00B0F0"/>
              </a:solidFill>
            </a:endParaRPr>
          </a:p>
        </p:txBody>
      </p:sp>
    </p:spTree>
    <p:extLst>
      <p:ext uri="{BB962C8B-B14F-4D97-AF65-F5344CB8AC3E}">
        <p14:creationId xmlns:p14="http://schemas.microsoft.com/office/powerpoint/2010/main" val="2977988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92037" y="1576243"/>
            <a:ext cx="8146472" cy="4351338"/>
          </a:xfrm>
        </p:spPr>
        <p:txBody>
          <a:bodyPr>
            <a:noAutofit/>
          </a:bodyPr>
          <a:lstStyle/>
          <a:p>
            <a:pPr>
              <a:lnSpc>
                <a:spcPct val="100000"/>
              </a:lnSpc>
            </a:pPr>
            <a:r>
              <a:rPr lang="en-GB" sz="2400" b="1" dirty="0">
                <a:latin typeface="Century Gothic" panose="020B0502020202020204" pitchFamily="34" charset="0"/>
              </a:rPr>
              <a:t>BIOSECURITY</a:t>
            </a:r>
          </a:p>
          <a:p>
            <a:pPr>
              <a:lnSpc>
                <a:spcPct val="100000"/>
              </a:lnSpc>
            </a:pPr>
            <a:r>
              <a:rPr lang="en-GB" sz="2400" dirty="0">
                <a:latin typeface="Century Gothic" panose="020B0502020202020204" pitchFamily="34" charset="0"/>
              </a:rPr>
              <a:t>Practices to aid in maintaining biosecurity:</a:t>
            </a:r>
          </a:p>
          <a:p>
            <a:pPr lvl="1">
              <a:lnSpc>
                <a:spcPct val="100000"/>
              </a:lnSpc>
              <a:buFont typeface="Wingdings" panose="05000000000000000000" pitchFamily="2" charset="2"/>
              <a:buChar char="ü"/>
            </a:pPr>
            <a:r>
              <a:rPr lang="en-GB" dirty="0">
                <a:latin typeface="Century Gothic" panose="020B0502020202020204" pitchFamily="34" charset="0"/>
              </a:rPr>
              <a:t>Testing and/or isolation of newly introduced animals</a:t>
            </a:r>
          </a:p>
          <a:p>
            <a:pPr lvl="1">
              <a:lnSpc>
                <a:spcPct val="100000"/>
              </a:lnSpc>
              <a:buFont typeface="Wingdings" panose="05000000000000000000" pitchFamily="2" charset="2"/>
              <a:buChar char="ü"/>
            </a:pPr>
            <a:r>
              <a:rPr lang="en-GB" dirty="0">
                <a:latin typeface="Century Gothic" panose="020B0502020202020204" pitchFamily="34" charset="0"/>
              </a:rPr>
              <a:t>Controlling contact by visitors to the operation</a:t>
            </a:r>
          </a:p>
          <a:p>
            <a:pPr lvl="1">
              <a:lnSpc>
                <a:spcPct val="100000"/>
              </a:lnSpc>
              <a:buFont typeface="Wingdings" panose="05000000000000000000" pitchFamily="2" charset="2"/>
              <a:buChar char="ü"/>
            </a:pPr>
            <a:r>
              <a:rPr lang="en-GB" dirty="0">
                <a:latin typeface="Century Gothic" panose="020B0502020202020204" pitchFamily="34" charset="0"/>
              </a:rPr>
              <a:t>Controlling contact by wildlife, neighbouring livestock, and pets</a:t>
            </a:r>
          </a:p>
          <a:p>
            <a:pPr lvl="1">
              <a:lnSpc>
                <a:spcPct val="100000"/>
              </a:lnSpc>
              <a:buFont typeface="Wingdings" panose="05000000000000000000" pitchFamily="2" charset="2"/>
              <a:buChar char="ü"/>
            </a:pPr>
            <a:r>
              <a:rPr lang="en-GB" dirty="0">
                <a:latin typeface="Century Gothic" panose="020B0502020202020204" pitchFamily="34" charset="0"/>
              </a:rPr>
              <a:t>Separating groups of animals based on risk</a:t>
            </a:r>
          </a:p>
          <a:p>
            <a:pPr lvl="1">
              <a:lnSpc>
                <a:spcPct val="100000"/>
              </a:lnSpc>
              <a:buFont typeface="Wingdings" panose="05000000000000000000" pitchFamily="2" charset="2"/>
              <a:buChar char="ü"/>
            </a:pPr>
            <a:r>
              <a:rPr lang="en-GB" dirty="0">
                <a:latin typeface="Century Gothic" panose="020B0502020202020204" pitchFamily="34" charset="0"/>
              </a:rPr>
              <a:t>Cleaning and disinfection</a:t>
            </a:r>
          </a:p>
          <a:p>
            <a:pPr lvl="1">
              <a:lnSpc>
                <a:spcPct val="100000"/>
              </a:lnSpc>
              <a:buFont typeface="Wingdings" panose="05000000000000000000" pitchFamily="2" charset="2"/>
              <a:buChar char="ü"/>
            </a:pPr>
            <a:r>
              <a:rPr lang="en-GB" dirty="0">
                <a:latin typeface="Century Gothic" panose="020B0502020202020204" pitchFamily="34" charset="0"/>
              </a:rPr>
              <a:t>Disease monitoring and record keeping</a:t>
            </a:r>
          </a:p>
          <a:p>
            <a:pPr>
              <a:lnSpc>
                <a:spcPct val="100000"/>
              </a:lnSpc>
              <a:buFont typeface="Wingdings" panose="05000000000000000000" pitchFamily="2" charset="2"/>
              <a:buChar char="ü"/>
            </a:pPr>
            <a:endParaRPr lang="en-US" sz="2400" noProof="1">
              <a:latin typeface="Century Gothic" panose="020B0502020202020204" pitchFamily="34" charset="0"/>
            </a:endParaRPr>
          </a:p>
        </p:txBody>
      </p:sp>
      <p:sp>
        <p:nvSpPr>
          <p:cNvPr id="4" name="Title 1"/>
          <p:cNvSpPr txBox="1">
            <a:spLocks/>
          </p:cNvSpPr>
          <p:nvPr/>
        </p:nvSpPr>
        <p:spPr>
          <a:xfrm>
            <a:off x="2305050" y="50324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200" b="1">
                <a:solidFill>
                  <a:srgbClr val="00B0F0"/>
                </a:solidFill>
                <a:latin typeface="Century Gothic" panose="020B0502020202020204" pitchFamily="34" charset="0"/>
              </a:rPr>
              <a:t>ANIMAL HEALTH PROCEDURES</a:t>
            </a:r>
            <a:endParaRPr lang="en-GB" sz="3200" b="1" dirty="0">
              <a:solidFill>
                <a:srgbClr val="00B0F0"/>
              </a:solidFill>
            </a:endParaRPr>
          </a:p>
        </p:txBody>
      </p:sp>
    </p:spTree>
    <p:extLst>
      <p:ext uri="{BB962C8B-B14F-4D97-AF65-F5344CB8AC3E}">
        <p14:creationId xmlns:p14="http://schemas.microsoft.com/office/powerpoint/2010/main" val="1566482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41"/>
            <a:ext cx="7886700" cy="1325563"/>
          </a:xfrm>
        </p:spPr>
        <p:txBody>
          <a:bodyPr>
            <a:normAutofit/>
          </a:bodyPr>
          <a:lstStyle/>
          <a:p>
            <a:r>
              <a:rPr lang="en-GB" sz="3200" dirty="0">
                <a:solidFill>
                  <a:srgbClr val="00B0F0"/>
                </a:solidFill>
                <a:latin typeface="Century Gothic" panose="020B0502020202020204" pitchFamily="34" charset="0"/>
              </a:rPr>
              <a:t>ANIMAL HEALTH PROCEDURES</a:t>
            </a:r>
            <a:endParaRPr lang="en-GB" sz="3200" dirty="0">
              <a:solidFill>
                <a:srgbClr val="00B0F0"/>
              </a:solidFill>
            </a:endParaRPr>
          </a:p>
        </p:txBody>
      </p:sp>
      <p:sp>
        <p:nvSpPr>
          <p:cNvPr id="3" name="Content Placeholder 2"/>
          <p:cNvSpPr>
            <a:spLocks noGrp="1"/>
          </p:cNvSpPr>
          <p:nvPr>
            <p:ph idx="1"/>
          </p:nvPr>
        </p:nvSpPr>
        <p:spPr>
          <a:xfrm>
            <a:off x="2092037" y="1576243"/>
            <a:ext cx="8146472" cy="4351338"/>
          </a:xfrm>
        </p:spPr>
        <p:txBody>
          <a:bodyPr>
            <a:noAutofit/>
          </a:bodyPr>
          <a:lstStyle/>
          <a:p>
            <a:r>
              <a:rPr lang="en-GB" sz="2400" b="1" dirty="0">
                <a:latin typeface="Century Gothic" panose="020B0502020202020204" pitchFamily="34" charset="0"/>
              </a:rPr>
              <a:t>HERD HEALTH</a:t>
            </a:r>
          </a:p>
          <a:p>
            <a:r>
              <a:rPr lang="en-GB" sz="2400" dirty="0">
                <a:latin typeface="Century Gothic" panose="020B0502020202020204" pitchFamily="34" charset="0"/>
              </a:rPr>
              <a:t>A herd health plan should be produced for each farm, taking into consideration the diseases of greatest concern and their modes of transmission, identifying possible areas of risk and implementing management systems to reduce these risks.</a:t>
            </a:r>
          </a:p>
          <a:p>
            <a:r>
              <a:rPr lang="en-GB" sz="2400" dirty="0">
                <a:latin typeface="Century Gothic" panose="020B0502020202020204" pitchFamily="34" charset="0"/>
              </a:rPr>
              <a:t>The health plan must be clear and concise and establish objectives and targets, which should be Specific, Measurable, Achievable, Realistic, and T (SMART).</a:t>
            </a:r>
          </a:p>
          <a:p>
            <a:r>
              <a:rPr lang="en-GB" sz="2400" noProof="1">
                <a:latin typeface="Century Gothic" panose="020B0502020202020204" pitchFamily="34" charset="0"/>
              </a:rPr>
              <a:t>The plan should be written down and reviewed annually.</a:t>
            </a:r>
            <a:endParaRPr lang="en-US" sz="2400" noProof="1">
              <a:latin typeface="Century Gothic" panose="020B0502020202020204" pitchFamily="34" charset="0"/>
            </a:endParaRPr>
          </a:p>
        </p:txBody>
      </p:sp>
    </p:spTree>
    <p:extLst>
      <p:ext uri="{BB962C8B-B14F-4D97-AF65-F5344CB8AC3E}">
        <p14:creationId xmlns:p14="http://schemas.microsoft.com/office/powerpoint/2010/main" val="2330278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41"/>
            <a:ext cx="7886700" cy="1325563"/>
          </a:xfrm>
        </p:spPr>
        <p:txBody>
          <a:bodyPr>
            <a:normAutofit/>
          </a:bodyPr>
          <a:lstStyle/>
          <a:p>
            <a:r>
              <a:rPr lang="en-GB" sz="3200" dirty="0">
                <a:solidFill>
                  <a:srgbClr val="00B0F0"/>
                </a:solidFill>
                <a:latin typeface="Century Gothic" panose="020B0502020202020204" pitchFamily="34" charset="0"/>
              </a:rPr>
              <a:t>ANIMAL HEALTH PROCEDURES</a:t>
            </a:r>
            <a:endParaRPr lang="en-GB" sz="3200" dirty="0">
              <a:solidFill>
                <a:srgbClr val="00B0F0"/>
              </a:solidFill>
            </a:endParaRPr>
          </a:p>
        </p:txBody>
      </p:sp>
      <p:sp>
        <p:nvSpPr>
          <p:cNvPr id="3" name="Content Placeholder 2"/>
          <p:cNvSpPr>
            <a:spLocks noGrp="1"/>
          </p:cNvSpPr>
          <p:nvPr>
            <p:ph idx="1"/>
          </p:nvPr>
        </p:nvSpPr>
        <p:spPr>
          <a:xfrm>
            <a:off x="1253067" y="1676403"/>
            <a:ext cx="8985442" cy="4251177"/>
          </a:xfrm>
        </p:spPr>
        <p:txBody>
          <a:bodyPr>
            <a:noAutofit/>
          </a:bodyPr>
          <a:lstStyle/>
          <a:p>
            <a:r>
              <a:rPr lang="en-GB" sz="2400" b="1" dirty="0">
                <a:latin typeface="Century Gothic" panose="020B0502020202020204" pitchFamily="34" charset="0"/>
              </a:rPr>
              <a:t>HERD HEALTH</a:t>
            </a:r>
          </a:p>
          <a:p>
            <a:r>
              <a:rPr lang="en-GB" sz="2400" dirty="0">
                <a:latin typeface="Century Gothic" panose="020B0502020202020204" pitchFamily="34" charset="0"/>
              </a:rPr>
              <a:t>The plan should aim to:</a:t>
            </a:r>
          </a:p>
          <a:p>
            <a:pPr marL="457200" indent="-457200">
              <a:buFont typeface="+mj-lt"/>
              <a:buAutoNum type="alphaLcPeriod"/>
            </a:pPr>
            <a:r>
              <a:rPr lang="en-GB" sz="2400" dirty="0">
                <a:latin typeface="Century Gothic" panose="020B0502020202020204" pitchFamily="34" charset="0"/>
              </a:rPr>
              <a:t>Prevent exposure to disease:</a:t>
            </a:r>
          </a:p>
          <a:p>
            <a:pPr lvl="1"/>
            <a:r>
              <a:rPr lang="en-GB" dirty="0">
                <a:latin typeface="Century Gothic" panose="020B0502020202020204" pitchFamily="34" charset="0"/>
              </a:rPr>
              <a:t>Keep out any diseases not already present.</a:t>
            </a:r>
          </a:p>
          <a:p>
            <a:pPr marL="457200" indent="-457200">
              <a:buFont typeface="+mj-lt"/>
              <a:buAutoNum type="alphaLcPeriod"/>
            </a:pPr>
            <a:r>
              <a:rPr lang="en-GB" sz="2400" dirty="0">
                <a:latin typeface="Century Gothic" panose="020B0502020202020204" pitchFamily="34" charset="0"/>
              </a:rPr>
              <a:t>Identify the diseases already on the farm:</a:t>
            </a:r>
          </a:p>
          <a:p>
            <a:pPr lvl="1"/>
            <a:r>
              <a:rPr lang="en-GB" dirty="0">
                <a:latin typeface="Century Gothic" panose="020B0502020202020204" pitchFamily="34" charset="0"/>
              </a:rPr>
              <a:t>Treat/control/eradicate diseases already present.</a:t>
            </a:r>
          </a:p>
          <a:p>
            <a:pPr lvl="1"/>
            <a:r>
              <a:rPr lang="en-GB" dirty="0">
                <a:latin typeface="Century Gothic" panose="020B0502020202020204" pitchFamily="34" charset="0"/>
              </a:rPr>
              <a:t>Cull affected animals where necessary.</a:t>
            </a:r>
          </a:p>
          <a:p>
            <a:pPr marL="457200" indent="-457200">
              <a:buFont typeface="+mj-lt"/>
              <a:buAutoNum type="alphaLcPeriod"/>
            </a:pPr>
            <a:r>
              <a:rPr lang="en-GB" sz="2400" dirty="0">
                <a:latin typeface="Century Gothic" panose="020B0502020202020204" pitchFamily="34" charset="0"/>
              </a:rPr>
              <a:t>Protect animals on the farm:</a:t>
            </a:r>
          </a:p>
          <a:p>
            <a:pPr lvl="1"/>
            <a:r>
              <a:rPr lang="en-GB" dirty="0">
                <a:latin typeface="Century Gothic" panose="020B0502020202020204" pitchFamily="34" charset="0"/>
              </a:rPr>
              <a:t>By vaccination.</a:t>
            </a:r>
          </a:p>
        </p:txBody>
      </p:sp>
    </p:spTree>
    <p:extLst>
      <p:ext uri="{BB962C8B-B14F-4D97-AF65-F5344CB8AC3E}">
        <p14:creationId xmlns:p14="http://schemas.microsoft.com/office/powerpoint/2010/main" val="1660408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152650" y="350841"/>
            <a:ext cx="7886700" cy="1325563"/>
          </a:xfrm>
        </p:spPr>
        <p:txBody>
          <a:bodyPr>
            <a:normAutofit/>
          </a:bodyPr>
          <a:lstStyle/>
          <a:p>
            <a:r>
              <a:rPr lang="en-GB" sz="3200" dirty="0">
                <a:solidFill>
                  <a:srgbClr val="00B0F0"/>
                </a:solidFill>
                <a:latin typeface="Century Gothic" panose="020B0502020202020204" pitchFamily="34" charset="0"/>
              </a:rPr>
              <a:t>ANIMAL HEALTH PROCEDURES</a:t>
            </a:r>
            <a:endParaRPr lang="en-GB" sz="3200" dirty="0">
              <a:solidFill>
                <a:srgbClr val="00B0F0"/>
              </a:solidFill>
            </a:endParaRPr>
          </a:p>
        </p:txBody>
      </p:sp>
      <p:sp>
        <p:nvSpPr>
          <p:cNvPr id="6" name="Tijdelijke aanduiding voor inhoud 5"/>
          <p:cNvSpPr>
            <a:spLocks noGrp="1"/>
          </p:cNvSpPr>
          <p:nvPr>
            <p:ph idx="1"/>
          </p:nvPr>
        </p:nvSpPr>
        <p:spPr>
          <a:xfrm>
            <a:off x="2152650" y="1583143"/>
            <a:ext cx="7886700" cy="4771244"/>
          </a:xfrm>
        </p:spPr>
        <p:txBody>
          <a:bodyPr>
            <a:normAutofit/>
          </a:bodyPr>
          <a:lstStyle/>
          <a:p>
            <a:r>
              <a:rPr lang="en-US" sz="2400" b="1" dirty="0">
                <a:latin typeface="Century Gothic" panose="020B0502020202020204" pitchFamily="34" charset="0"/>
              </a:rPr>
              <a:t>INSPECTION AND GENERAL EXAMINATION</a:t>
            </a:r>
            <a:endParaRPr lang="en-US" sz="2400" dirty="0">
              <a:latin typeface="Century Gothic" panose="020B0502020202020204" pitchFamily="34" charset="0"/>
            </a:endParaRPr>
          </a:p>
          <a:p>
            <a:r>
              <a:rPr lang="en-US" sz="2400" dirty="0">
                <a:latin typeface="Century Gothic" panose="020B0502020202020204" pitchFamily="34" charset="0"/>
              </a:rPr>
              <a:t>Inspection mainly includes:</a:t>
            </a:r>
          </a:p>
          <a:p>
            <a:pPr lvl="1"/>
            <a:r>
              <a:rPr lang="en-US" dirty="0" err="1">
                <a:latin typeface="Century Gothic" panose="020B0502020202020204" pitchFamily="34" charset="0"/>
              </a:rPr>
              <a:t>Behaviour</a:t>
            </a:r>
            <a:r>
              <a:rPr lang="en-US" dirty="0">
                <a:latin typeface="Century Gothic" panose="020B0502020202020204" pitchFamily="34" charset="0"/>
              </a:rPr>
              <a:t> and appearance</a:t>
            </a:r>
          </a:p>
          <a:p>
            <a:pPr lvl="1"/>
            <a:r>
              <a:rPr lang="en-US" dirty="0">
                <a:latin typeface="Century Gothic" panose="020B0502020202020204" pitchFamily="34" charset="0"/>
              </a:rPr>
              <a:t>Vices (bad habits)</a:t>
            </a:r>
          </a:p>
          <a:p>
            <a:pPr lvl="1"/>
            <a:r>
              <a:rPr lang="en-US" dirty="0">
                <a:latin typeface="Century Gothic" panose="020B0502020202020204" pitchFamily="34" charset="0"/>
              </a:rPr>
              <a:t>Physical condition</a:t>
            </a:r>
          </a:p>
          <a:p>
            <a:pPr lvl="1"/>
            <a:r>
              <a:rPr lang="en-US" dirty="0" err="1">
                <a:latin typeface="Century Gothic" panose="020B0502020202020204" pitchFamily="34" charset="0"/>
              </a:rPr>
              <a:t>Demeanour</a:t>
            </a:r>
            <a:endParaRPr lang="en-US" dirty="0">
              <a:latin typeface="Century Gothic" panose="020B0502020202020204" pitchFamily="34" charset="0"/>
            </a:endParaRPr>
          </a:p>
          <a:p>
            <a:pPr lvl="1"/>
            <a:r>
              <a:rPr lang="en-US" dirty="0">
                <a:latin typeface="Century Gothic" panose="020B0502020202020204" pitchFamily="34" charset="0"/>
              </a:rPr>
              <a:t>Posture and Gait of the animal</a:t>
            </a:r>
          </a:p>
          <a:p>
            <a:pPr lvl="1"/>
            <a:r>
              <a:rPr lang="en-US" dirty="0">
                <a:latin typeface="Century Gothic" panose="020B0502020202020204" pitchFamily="34" charset="0"/>
              </a:rPr>
              <a:t>Skin</a:t>
            </a:r>
          </a:p>
          <a:p>
            <a:pPr lvl="1"/>
            <a:r>
              <a:rPr lang="en-US" dirty="0">
                <a:latin typeface="Century Gothic" panose="020B0502020202020204" pitchFamily="34" charset="0"/>
              </a:rPr>
              <a:t>Eating, urination and defecation</a:t>
            </a:r>
          </a:p>
          <a:p>
            <a:pPr lvl="1"/>
            <a:r>
              <a:rPr lang="en-US" dirty="0">
                <a:latin typeface="Century Gothic" panose="020B0502020202020204" pitchFamily="34" charset="0"/>
              </a:rPr>
              <a:t>Tremors and convulsions</a:t>
            </a:r>
          </a:p>
          <a:p>
            <a:pPr lvl="1"/>
            <a:r>
              <a:rPr lang="en-US" dirty="0">
                <a:latin typeface="Century Gothic" panose="020B0502020202020204" pitchFamily="34" charset="0"/>
              </a:rPr>
              <a:t>Other signs</a:t>
            </a:r>
          </a:p>
          <a:p>
            <a:endParaRPr lang="en-US" dirty="0">
              <a:latin typeface="Century Gothic" panose="020B0502020202020204" pitchFamily="34" charset="0"/>
            </a:endParaRPr>
          </a:p>
          <a:p>
            <a:pPr lvl="1">
              <a:buFont typeface="Wingdings" panose="05000000000000000000" pitchFamily="2" charset="2"/>
              <a:buChar char="q"/>
            </a:pPr>
            <a:endParaRPr lang="en-US" dirty="0">
              <a:latin typeface="Century Gothic" panose="020B0502020202020204" pitchFamily="34" charset="0"/>
            </a:endParaRPr>
          </a:p>
          <a:p>
            <a:endParaRPr lang="en-US" sz="2400" dirty="0">
              <a:latin typeface="Century Gothic" panose="020B0502020202020204" pitchFamily="34" charset="0"/>
            </a:endParaRPr>
          </a:p>
          <a:p>
            <a:endParaRPr lang="en-GB" sz="2400" dirty="0">
              <a:latin typeface="Century Gothic" panose="020B0502020202020204" pitchFamily="34" charset="0"/>
            </a:endParaRPr>
          </a:p>
        </p:txBody>
      </p:sp>
    </p:spTree>
    <p:extLst>
      <p:ext uri="{BB962C8B-B14F-4D97-AF65-F5344CB8AC3E}">
        <p14:creationId xmlns:p14="http://schemas.microsoft.com/office/powerpoint/2010/main" val="1455091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152650" y="350841"/>
            <a:ext cx="7886700" cy="1325563"/>
          </a:xfrm>
        </p:spPr>
        <p:txBody>
          <a:bodyPr>
            <a:normAutofit/>
          </a:bodyPr>
          <a:lstStyle/>
          <a:p>
            <a:r>
              <a:rPr lang="en-GB" sz="3200" dirty="0">
                <a:solidFill>
                  <a:srgbClr val="00B0F0"/>
                </a:solidFill>
                <a:latin typeface="Century Gothic" panose="020B0502020202020204" pitchFamily="34" charset="0"/>
              </a:rPr>
              <a:t>ANIMAL HEALTH PROCEDURES</a:t>
            </a:r>
            <a:endParaRPr lang="en-GB" sz="3200" dirty="0">
              <a:solidFill>
                <a:srgbClr val="00B0F0"/>
              </a:solidFill>
            </a:endParaRPr>
          </a:p>
        </p:txBody>
      </p:sp>
      <p:sp>
        <p:nvSpPr>
          <p:cNvPr id="6" name="Tijdelijke aanduiding voor inhoud 5"/>
          <p:cNvSpPr>
            <a:spLocks noGrp="1"/>
          </p:cNvSpPr>
          <p:nvPr>
            <p:ph idx="1"/>
          </p:nvPr>
        </p:nvSpPr>
        <p:spPr>
          <a:xfrm>
            <a:off x="2152650" y="1583143"/>
            <a:ext cx="7886700" cy="4771244"/>
          </a:xfrm>
        </p:spPr>
        <p:txBody>
          <a:bodyPr>
            <a:normAutofit/>
          </a:bodyPr>
          <a:lstStyle/>
          <a:p>
            <a:pPr>
              <a:lnSpc>
                <a:spcPct val="100000"/>
              </a:lnSpc>
            </a:pPr>
            <a:r>
              <a:rPr lang="en-US" sz="2400" b="1" dirty="0">
                <a:latin typeface="Century Gothic" panose="020B0502020202020204" pitchFamily="34" charset="0"/>
              </a:rPr>
              <a:t>VACCINATION</a:t>
            </a:r>
            <a:endParaRPr lang="en-US" sz="2400" dirty="0">
              <a:latin typeface="Century Gothic" panose="020B0502020202020204" pitchFamily="34" charset="0"/>
            </a:endParaRPr>
          </a:p>
          <a:p>
            <a:pPr>
              <a:lnSpc>
                <a:spcPct val="100000"/>
              </a:lnSpc>
            </a:pPr>
            <a:r>
              <a:rPr lang="en-GB" sz="2400" dirty="0">
                <a:latin typeface="Century Gothic" panose="020B0502020202020204" pitchFamily="34" charset="0"/>
              </a:rPr>
              <a:t>Vaccination is not a substitute for good animal health management, but it is helpful in controlling certain diseases.</a:t>
            </a:r>
          </a:p>
          <a:p>
            <a:pPr>
              <a:lnSpc>
                <a:spcPct val="100000"/>
              </a:lnSpc>
            </a:pPr>
            <a:r>
              <a:rPr lang="en-GB" sz="2400" dirty="0">
                <a:latin typeface="Century Gothic" panose="020B0502020202020204" pitchFamily="34" charset="0"/>
              </a:rPr>
              <a:t>Vaccinations should be used only in areas where the disease is known to exist.</a:t>
            </a:r>
          </a:p>
          <a:p>
            <a:pPr>
              <a:lnSpc>
                <a:spcPct val="100000"/>
              </a:lnSpc>
            </a:pPr>
            <a:r>
              <a:rPr lang="en-GB" sz="2400" dirty="0">
                <a:latin typeface="Century Gothic" panose="020B0502020202020204" pitchFamily="34" charset="0"/>
              </a:rPr>
              <a:t>Vaccinations cause stress in poultry. Therefore, vaccinate only healthy birds. </a:t>
            </a:r>
          </a:p>
          <a:p>
            <a:pPr>
              <a:lnSpc>
                <a:spcPct val="100000"/>
              </a:lnSpc>
            </a:pPr>
            <a:r>
              <a:rPr lang="en-GB" sz="2400" dirty="0">
                <a:latin typeface="Century Gothic" panose="020B0502020202020204" pitchFamily="34" charset="0"/>
              </a:rPr>
              <a:t>Read and follow all directions on the vaccine.</a:t>
            </a:r>
          </a:p>
          <a:p>
            <a:pPr marL="457200" lvl="1" indent="0">
              <a:lnSpc>
                <a:spcPct val="100000"/>
              </a:lnSpc>
              <a:buNone/>
            </a:pPr>
            <a:endParaRPr lang="en-US" dirty="0">
              <a:latin typeface="Century Gothic" panose="020B0502020202020204" pitchFamily="34" charset="0"/>
            </a:endParaRPr>
          </a:p>
          <a:p>
            <a:pPr>
              <a:lnSpc>
                <a:spcPct val="100000"/>
              </a:lnSpc>
            </a:pPr>
            <a:endParaRPr lang="en-US" sz="2400" dirty="0">
              <a:latin typeface="Century Gothic" panose="020B0502020202020204" pitchFamily="34" charset="0"/>
            </a:endParaRPr>
          </a:p>
          <a:p>
            <a:pPr>
              <a:lnSpc>
                <a:spcPct val="100000"/>
              </a:lnSpc>
            </a:pPr>
            <a:endParaRPr lang="en-GB" sz="2400" dirty="0">
              <a:latin typeface="Century Gothic" panose="020B0502020202020204" pitchFamily="34" charset="0"/>
            </a:endParaRPr>
          </a:p>
        </p:txBody>
      </p:sp>
    </p:spTree>
    <p:extLst>
      <p:ext uri="{BB962C8B-B14F-4D97-AF65-F5344CB8AC3E}">
        <p14:creationId xmlns:p14="http://schemas.microsoft.com/office/powerpoint/2010/main" val="993671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34940" y="1274505"/>
            <a:ext cx="3609194" cy="369332"/>
          </a:xfrm>
          <a:prstGeom prst="rect">
            <a:avLst/>
          </a:prstGeom>
          <a:noFill/>
        </p:spPr>
        <p:txBody>
          <a:bodyPr wrap="square" rtlCol="0">
            <a:spAutoFit/>
          </a:bodyPr>
          <a:lstStyle/>
          <a:p>
            <a:pPr algn="ctr"/>
            <a:r>
              <a:rPr lang="en-US" altLang="en-US" dirty="0">
                <a:latin typeface="Arial" panose="020B0604020202020204" pitchFamily="34" charset="0"/>
              </a:rPr>
              <a:t>(A </a:t>
            </a:r>
            <a:r>
              <a:rPr lang="en-US" altLang="en-US" b="1" dirty="0">
                <a:latin typeface="Arial" panose="020B0604020202020204" pitchFamily="34" charset="0"/>
              </a:rPr>
              <a:t>susceptible host)</a:t>
            </a:r>
            <a:endParaRPr lang="en-GB" b="1" dirty="0">
              <a:latin typeface="Arial Narrow" panose="020B0606020202030204" pitchFamily="34" charset="0"/>
            </a:endParaRPr>
          </a:p>
        </p:txBody>
      </p:sp>
      <p:sp>
        <p:nvSpPr>
          <p:cNvPr id="9" name="TextBox 8"/>
          <p:cNvSpPr txBox="1"/>
          <p:nvPr/>
        </p:nvSpPr>
        <p:spPr>
          <a:xfrm>
            <a:off x="2061278" y="5265335"/>
            <a:ext cx="2016224" cy="646331"/>
          </a:xfrm>
          <a:prstGeom prst="rect">
            <a:avLst/>
          </a:prstGeom>
          <a:noFill/>
        </p:spPr>
        <p:txBody>
          <a:bodyPr wrap="square" rtlCol="0">
            <a:spAutoFit/>
          </a:bodyPr>
          <a:lstStyle/>
          <a:p>
            <a:r>
              <a:rPr lang="en-US" altLang="en-US" dirty="0">
                <a:latin typeface="Arial" panose="020B0604020202020204" pitchFamily="34" charset="0"/>
              </a:rPr>
              <a:t>(A </a:t>
            </a:r>
            <a:r>
              <a:rPr lang="en-US" altLang="en-US" b="1" dirty="0">
                <a:latin typeface="Arial" panose="020B0604020202020204" pitchFamily="34" charset="0"/>
              </a:rPr>
              <a:t>virulent pathogen</a:t>
            </a:r>
            <a:r>
              <a:rPr lang="en-GB" altLang="en-US" b="1" dirty="0">
                <a:latin typeface="Arial Narrow" panose="020B0606020202030204" pitchFamily="34" charset="0"/>
              </a:rPr>
              <a:t>)</a:t>
            </a:r>
            <a:endParaRPr lang="en-US" altLang="en-US" dirty="0">
              <a:latin typeface="Arial" panose="020B0604020202020204" pitchFamily="34" charset="0"/>
            </a:endParaRPr>
          </a:p>
        </p:txBody>
      </p:sp>
      <p:sp>
        <p:nvSpPr>
          <p:cNvPr id="7" name="Isosceles Triangle 6"/>
          <p:cNvSpPr/>
          <p:nvPr/>
        </p:nvSpPr>
        <p:spPr>
          <a:xfrm>
            <a:off x="3475914" y="1763514"/>
            <a:ext cx="4788533" cy="3664522"/>
          </a:xfrm>
          <a:prstGeom prst="triangl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Narrow" panose="020B0606020202030204" pitchFamily="34" charset="0"/>
            </a:endParaRPr>
          </a:p>
        </p:txBody>
      </p:sp>
      <p:sp>
        <p:nvSpPr>
          <p:cNvPr id="10" name="TextBox 9"/>
          <p:cNvSpPr txBox="1"/>
          <p:nvPr/>
        </p:nvSpPr>
        <p:spPr>
          <a:xfrm>
            <a:off x="8246213" y="5327783"/>
            <a:ext cx="2016224" cy="646331"/>
          </a:xfrm>
          <a:prstGeom prst="rect">
            <a:avLst/>
          </a:prstGeom>
          <a:noFill/>
        </p:spPr>
        <p:txBody>
          <a:bodyPr wrap="square" rtlCol="0">
            <a:spAutoFit/>
          </a:bodyPr>
          <a:lstStyle/>
          <a:p>
            <a:r>
              <a:rPr lang="en-US" altLang="en-US" dirty="0">
                <a:latin typeface="Arial" panose="020B0604020202020204" pitchFamily="34" charset="0"/>
              </a:rPr>
              <a:t>(A </a:t>
            </a:r>
            <a:r>
              <a:rPr lang="en-US" altLang="en-US" b="1" dirty="0">
                <a:latin typeface="Arial" panose="020B0604020202020204" pitchFamily="34" charset="0"/>
              </a:rPr>
              <a:t>favorable environment</a:t>
            </a:r>
            <a:r>
              <a:rPr lang="en-GB" altLang="en-US" b="1" dirty="0">
                <a:latin typeface="Arial Narrow" panose="020B0606020202030204" pitchFamily="34" charset="0"/>
              </a:rPr>
              <a:t>)</a:t>
            </a:r>
            <a:endParaRPr lang="en-US" altLang="en-US" dirty="0">
              <a:latin typeface="Arial" panose="020B0604020202020204" pitchFamily="34" charset="0"/>
            </a:endParaRPr>
          </a:p>
        </p:txBody>
      </p:sp>
      <p:sp>
        <p:nvSpPr>
          <p:cNvPr id="11" name="Oval 10"/>
          <p:cNvSpPr/>
          <p:nvPr/>
        </p:nvSpPr>
        <p:spPr>
          <a:xfrm>
            <a:off x="3346933" y="3419194"/>
            <a:ext cx="2952328" cy="2987202"/>
          </a:xfrm>
          <a:prstGeom prst="ellipse">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latin typeface="Arial Narrow" panose="020B0606020202030204" pitchFamily="34" charset="0"/>
            </a:endParaRPr>
          </a:p>
        </p:txBody>
      </p:sp>
      <p:sp>
        <p:nvSpPr>
          <p:cNvPr id="14" name="Oval 13"/>
          <p:cNvSpPr/>
          <p:nvPr/>
        </p:nvSpPr>
        <p:spPr>
          <a:xfrm>
            <a:off x="4394236" y="1773786"/>
            <a:ext cx="2952328" cy="2987202"/>
          </a:xfrm>
          <a:prstGeom prst="ellipse">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latin typeface="Arial Narrow" panose="020B0606020202030204" pitchFamily="34" charset="0"/>
            </a:endParaRPr>
          </a:p>
        </p:txBody>
      </p:sp>
      <p:sp>
        <p:nvSpPr>
          <p:cNvPr id="15" name="Oval 14"/>
          <p:cNvSpPr/>
          <p:nvPr/>
        </p:nvSpPr>
        <p:spPr>
          <a:xfrm>
            <a:off x="5394004" y="3505084"/>
            <a:ext cx="2952328" cy="2987202"/>
          </a:xfrm>
          <a:prstGeom prst="ellipse">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latin typeface="Arial Narrow" panose="020B0606020202030204" pitchFamily="34" charset="0"/>
            </a:endParaRPr>
          </a:p>
        </p:txBody>
      </p:sp>
      <p:sp>
        <p:nvSpPr>
          <p:cNvPr id="3" name="TextBox 2"/>
          <p:cNvSpPr txBox="1"/>
          <p:nvPr/>
        </p:nvSpPr>
        <p:spPr>
          <a:xfrm>
            <a:off x="5336129" y="2295524"/>
            <a:ext cx="1224136" cy="707886"/>
          </a:xfrm>
          <a:prstGeom prst="rect">
            <a:avLst/>
          </a:prstGeom>
          <a:noFill/>
        </p:spPr>
        <p:txBody>
          <a:bodyPr wrap="square" rtlCol="0">
            <a:spAutoFit/>
          </a:bodyPr>
          <a:lstStyle/>
          <a:p>
            <a:pPr algn="ctr"/>
            <a:r>
              <a:rPr lang="en-GB" sz="2000" dirty="0">
                <a:solidFill>
                  <a:schemeClr val="accent4">
                    <a:lumMod val="40000"/>
                    <a:lumOff val="60000"/>
                  </a:schemeClr>
                </a:solidFill>
                <a:latin typeface="Arial Narrow" panose="020B0606020202030204" pitchFamily="34" charset="0"/>
              </a:rPr>
              <a:t>No disease</a:t>
            </a:r>
          </a:p>
        </p:txBody>
      </p:sp>
      <p:sp>
        <p:nvSpPr>
          <p:cNvPr id="16" name="TextBox 15"/>
          <p:cNvSpPr txBox="1"/>
          <p:nvPr/>
        </p:nvSpPr>
        <p:spPr>
          <a:xfrm>
            <a:off x="5204977" y="4720150"/>
            <a:ext cx="1224136" cy="707886"/>
          </a:xfrm>
          <a:prstGeom prst="rect">
            <a:avLst/>
          </a:prstGeom>
          <a:noFill/>
        </p:spPr>
        <p:txBody>
          <a:bodyPr wrap="square" rtlCol="0">
            <a:spAutoFit/>
          </a:bodyPr>
          <a:lstStyle/>
          <a:p>
            <a:pPr algn="ctr"/>
            <a:r>
              <a:rPr lang="en-GB" sz="2000" dirty="0">
                <a:solidFill>
                  <a:schemeClr val="accent4">
                    <a:lumMod val="40000"/>
                    <a:lumOff val="60000"/>
                  </a:schemeClr>
                </a:solidFill>
                <a:latin typeface="Arial Narrow" panose="020B0606020202030204" pitchFamily="34" charset="0"/>
              </a:rPr>
              <a:t>No disease</a:t>
            </a:r>
          </a:p>
        </p:txBody>
      </p:sp>
      <p:sp>
        <p:nvSpPr>
          <p:cNvPr id="17" name="TextBox 16"/>
          <p:cNvSpPr txBox="1"/>
          <p:nvPr/>
        </p:nvSpPr>
        <p:spPr>
          <a:xfrm>
            <a:off x="5281902" y="4238377"/>
            <a:ext cx="1115277" cy="400110"/>
          </a:xfrm>
          <a:prstGeom prst="rect">
            <a:avLst/>
          </a:prstGeom>
          <a:noFill/>
        </p:spPr>
        <p:txBody>
          <a:bodyPr wrap="square" rtlCol="0">
            <a:spAutoFit/>
          </a:bodyPr>
          <a:lstStyle/>
          <a:p>
            <a:pPr algn="ctr"/>
            <a:r>
              <a:rPr lang="en-GB" sz="2000" dirty="0">
                <a:solidFill>
                  <a:schemeClr val="accent4">
                    <a:lumMod val="40000"/>
                    <a:lumOff val="60000"/>
                  </a:schemeClr>
                </a:solidFill>
                <a:latin typeface="Arial Narrow" panose="020B0606020202030204" pitchFamily="34" charset="0"/>
              </a:rPr>
              <a:t> </a:t>
            </a:r>
            <a:r>
              <a:rPr lang="en-GB" sz="2000" b="1" dirty="0">
                <a:solidFill>
                  <a:schemeClr val="accent4">
                    <a:lumMod val="40000"/>
                    <a:lumOff val="60000"/>
                  </a:schemeClr>
                </a:solidFill>
                <a:latin typeface="Arial Narrow" panose="020B0606020202030204" pitchFamily="34" charset="0"/>
              </a:rPr>
              <a:t>disease</a:t>
            </a:r>
          </a:p>
        </p:txBody>
      </p:sp>
      <p:sp>
        <p:nvSpPr>
          <p:cNvPr id="18" name="TextBox 17"/>
          <p:cNvSpPr txBox="1"/>
          <p:nvPr/>
        </p:nvSpPr>
        <p:spPr>
          <a:xfrm>
            <a:off x="4514577" y="3413704"/>
            <a:ext cx="1224136" cy="707886"/>
          </a:xfrm>
          <a:prstGeom prst="rect">
            <a:avLst/>
          </a:prstGeom>
          <a:noFill/>
        </p:spPr>
        <p:txBody>
          <a:bodyPr wrap="square" rtlCol="0">
            <a:spAutoFit/>
          </a:bodyPr>
          <a:lstStyle/>
          <a:p>
            <a:pPr algn="ctr"/>
            <a:r>
              <a:rPr lang="en-GB" sz="2000" dirty="0">
                <a:solidFill>
                  <a:schemeClr val="accent4">
                    <a:lumMod val="40000"/>
                    <a:lumOff val="60000"/>
                  </a:schemeClr>
                </a:solidFill>
                <a:latin typeface="Arial Narrow" panose="020B0606020202030204" pitchFamily="34" charset="0"/>
              </a:rPr>
              <a:t>No disease</a:t>
            </a:r>
          </a:p>
        </p:txBody>
      </p:sp>
      <p:sp>
        <p:nvSpPr>
          <p:cNvPr id="19" name="TextBox 18"/>
          <p:cNvSpPr txBox="1"/>
          <p:nvPr/>
        </p:nvSpPr>
        <p:spPr>
          <a:xfrm>
            <a:off x="6034006" y="3484118"/>
            <a:ext cx="1224136" cy="707886"/>
          </a:xfrm>
          <a:prstGeom prst="rect">
            <a:avLst/>
          </a:prstGeom>
          <a:noFill/>
        </p:spPr>
        <p:txBody>
          <a:bodyPr wrap="square" rtlCol="0">
            <a:spAutoFit/>
          </a:bodyPr>
          <a:lstStyle/>
          <a:p>
            <a:pPr algn="ctr"/>
            <a:r>
              <a:rPr lang="en-GB" sz="2000" dirty="0">
                <a:solidFill>
                  <a:schemeClr val="accent4">
                    <a:lumMod val="40000"/>
                    <a:lumOff val="60000"/>
                  </a:schemeClr>
                </a:solidFill>
                <a:latin typeface="Arial Narrow" panose="020B0606020202030204" pitchFamily="34" charset="0"/>
              </a:rPr>
              <a:t>No disease</a:t>
            </a:r>
          </a:p>
        </p:txBody>
      </p:sp>
      <p:sp>
        <p:nvSpPr>
          <p:cNvPr id="20" name="TextBox 19"/>
          <p:cNvSpPr txBox="1"/>
          <p:nvPr/>
        </p:nvSpPr>
        <p:spPr>
          <a:xfrm>
            <a:off x="3663664" y="4656645"/>
            <a:ext cx="1224136" cy="707886"/>
          </a:xfrm>
          <a:prstGeom prst="rect">
            <a:avLst/>
          </a:prstGeom>
          <a:noFill/>
        </p:spPr>
        <p:txBody>
          <a:bodyPr wrap="square" rtlCol="0">
            <a:spAutoFit/>
          </a:bodyPr>
          <a:lstStyle/>
          <a:p>
            <a:pPr algn="ctr"/>
            <a:r>
              <a:rPr lang="en-GB" sz="2000" dirty="0">
                <a:solidFill>
                  <a:schemeClr val="accent4">
                    <a:lumMod val="40000"/>
                    <a:lumOff val="60000"/>
                  </a:schemeClr>
                </a:solidFill>
                <a:latin typeface="Arial Narrow" panose="020B0606020202030204" pitchFamily="34" charset="0"/>
              </a:rPr>
              <a:t>No disease</a:t>
            </a:r>
          </a:p>
        </p:txBody>
      </p:sp>
      <p:sp>
        <p:nvSpPr>
          <p:cNvPr id="21" name="TextBox 20"/>
          <p:cNvSpPr txBox="1"/>
          <p:nvPr/>
        </p:nvSpPr>
        <p:spPr>
          <a:xfrm>
            <a:off x="6623637" y="4675130"/>
            <a:ext cx="1224136" cy="707886"/>
          </a:xfrm>
          <a:prstGeom prst="rect">
            <a:avLst/>
          </a:prstGeom>
          <a:noFill/>
        </p:spPr>
        <p:txBody>
          <a:bodyPr wrap="square" rtlCol="0">
            <a:spAutoFit/>
          </a:bodyPr>
          <a:lstStyle/>
          <a:p>
            <a:pPr algn="ctr"/>
            <a:r>
              <a:rPr lang="en-GB" sz="2000" dirty="0">
                <a:solidFill>
                  <a:schemeClr val="accent4">
                    <a:lumMod val="40000"/>
                    <a:lumOff val="60000"/>
                  </a:schemeClr>
                </a:solidFill>
                <a:latin typeface="Arial Narrow" panose="020B0606020202030204" pitchFamily="34" charset="0"/>
              </a:rPr>
              <a:t>No disease</a:t>
            </a:r>
          </a:p>
        </p:txBody>
      </p:sp>
      <p:sp>
        <p:nvSpPr>
          <p:cNvPr id="6" name="Title 5">
            <a:extLst>
              <a:ext uri="{FF2B5EF4-FFF2-40B4-BE49-F238E27FC236}">
                <a16:creationId xmlns:a16="http://schemas.microsoft.com/office/drawing/2014/main" id="{88C994C5-7309-41BA-9344-94A165FEB473}"/>
              </a:ext>
            </a:extLst>
          </p:cNvPr>
          <p:cNvSpPr>
            <a:spLocks noGrp="1"/>
          </p:cNvSpPr>
          <p:nvPr>
            <p:ph type="title"/>
          </p:nvPr>
        </p:nvSpPr>
        <p:spPr>
          <a:xfrm>
            <a:off x="691642" y="210303"/>
            <a:ext cx="9404723" cy="802896"/>
          </a:xfrm>
        </p:spPr>
        <p:txBody>
          <a:bodyPr/>
          <a:lstStyle/>
          <a:p>
            <a:r>
              <a:rPr lang="en-US" sz="4400" b="1" dirty="0">
                <a:solidFill>
                  <a:srgbClr val="00B0F0"/>
                </a:solidFill>
                <a:latin typeface="Century Gothic" panose="020B0502020202020204" pitchFamily="34" charset="0"/>
              </a:rPr>
              <a:t>ANIMAL DISEASE TRIANGLE</a:t>
            </a:r>
            <a:endParaRPr lang="en-US" dirty="0"/>
          </a:p>
        </p:txBody>
      </p:sp>
    </p:spTree>
    <p:extLst>
      <p:ext uri="{BB962C8B-B14F-4D97-AF65-F5344CB8AC3E}">
        <p14:creationId xmlns:p14="http://schemas.microsoft.com/office/powerpoint/2010/main" val="278362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53" presetClass="entr" presetSubtype="16"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 calcmode="lin" valueType="num">
                                      <p:cBhvr>
                                        <p:cTn id="9" dur="500" fill="hold"/>
                                        <p:tgtEl>
                                          <p:spTgt spid="8"/>
                                        </p:tgtEl>
                                        <p:attrNameLst>
                                          <p:attrName>ppt_w</p:attrName>
                                        </p:attrNameLst>
                                      </p:cBhvr>
                                      <p:tavLst>
                                        <p:tav tm="0">
                                          <p:val>
                                            <p:fltVal val="0"/>
                                          </p:val>
                                        </p:tav>
                                        <p:tav tm="100000">
                                          <p:val>
                                            <p:strVal val="#ppt_w"/>
                                          </p:val>
                                        </p:tav>
                                      </p:tavLst>
                                    </p:anim>
                                    <p:anim calcmode="lin" valueType="num">
                                      <p:cBhvr>
                                        <p:cTn id="10" dur="500" fill="hold"/>
                                        <p:tgtEl>
                                          <p:spTgt spid="8"/>
                                        </p:tgtEl>
                                        <p:attrNameLst>
                                          <p:attrName>ppt_h</p:attrName>
                                        </p:attrNameLst>
                                      </p:cBhvr>
                                      <p:tavLst>
                                        <p:tav tm="0">
                                          <p:val>
                                            <p:fltVal val="0"/>
                                          </p:val>
                                        </p:tav>
                                        <p:tav tm="100000">
                                          <p:val>
                                            <p:strVal val="#ppt_h"/>
                                          </p:val>
                                        </p:tav>
                                      </p:tavLst>
                                    </p:anim>
                                    <p:animEffect transition="in" filter="fade">
                                      <p:cBhvr>
                                        <p:cTn id="11" dur="500"/>
                                        <p:tgtEl>
                                          <p:spTgt spid="8"/>
                                        </p:tgtEl>
                                      </p:cBhvr>
                                    </p:animEffect>
                                  </p:childTnLst>
                                </p:cTn>
                              </p:par>
                              <p:par>
                                <p:cTn id="12" presetID="53" presetClass="entr" presetSubtype="16"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p:cTn id="26" dur="500" fill="hold"/>
                                        <p:tgtEl>
                                          <p:spTgt spid="14"/>
                                        </p:tgtEl>
                                        <p:attrNameLst>
                                          <p:attrName>ppt_w</p:attrName>
                                        </p:attrNameLst>
                                      </p:cBhvr>
                                      <p:tavLst>
                                        <p:tav tm="0">
                                          <p:val>
                                            <p:fltVal val="0"/>
                                          </p:val>
                                        </p:tav>
                                        <p:tav tm="100000">
                                          <p:val>
                                            <p:strVal val="#ppt_w"/>
                                          </p:val>
                                        </p:tav>
                                      </p:tavLst>
                                    </p:anim>
                                    <p:anim calcmode="lin" valueType="num">
                                      <p:cBhvr>
                                        <p:cTn id="27" dur="500" fill="hold"/>
                                        <p:tgtEl>
                                          <p:spTgt spid="14"/>
                                        </p:tgtEl>
                                        <p:attrNameLst>
                                          <p:attrName>ppt_h</p:attrName>
                                        </p:attrNameLst>
                                      </p:cBhvr>
                                      <p:tavLst>
                                        <p:tav tm="0">
                                          <p:val>
                                            <p:fltVal val="0"/>
                                          </p:val>
                                        </p:tav>
                                        <p:tav tm="100000">
                                          <p:val>
                                            <p:strVal val="#ppt_h"/>
                                          </p:val>
                                        </p:tav>
                                      </p:tavLst>
                                    </p:anim>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p:cTn id="33" dur="500" fill="hold"/>
                                        <p:tgtEl>
                                          <p:spTgt spid="3"/>
                                        </p:tgtEl>
                                        <p:attrNameLst>
                                          <p:attrName>ppt_w</p:attrName>
                                        </p:attrNameLst>
                                      </p:cBhvr>
                                      <p:tavLst>
                                        <p:tav tm="0">
                                          <p:val>
                                            <p:fltVal val="0"/>
                                          </p:val>
                                        </p:tav>
                                        <p:tav tm="100000">
                                          <p:val>
                                            <p:strVal val="#ppt_w"/>
                                          </p:val>
                                        </p:tav>
                                      </p:tavLst>
                                    </p:anim>
                                    <p:anim calcmode="lin" valueType="num">
                                      <p:cBhvr>
                                        <p:cTn id="34" dur="500" fill="hold"/>
                                        <p:tgtEl>
                                          <p:spTgt spid="3"/>
                                        </p:tgtEl>
                                        <p:attrNameLst>
                                          <p:attrName>ppt_h</p:attrName>
                                        </p:attrNameLst>
                                      </p:cBhvr>
                                      <p:tavLst>
                                        <p:tav tm="0">
                                          <p:val>
                                            <p:fltVal val="0"/>
                                          </p:val>
                                        </p:tav>
                                        <p:tav tm="100000">
                                          <p:val>
                                            <p:strVal val="#ppt_h"/>
                                          </p:val>
                                        </p:tav>
                                      </p:tavLst>
                                    </p:anim>
                                    <p:animEffect transition="in" filter="fade">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p:cTn id="40" dur="500" fill="hold"/>
                                        <p:tgtEl>
                                          <p:spTgt spid="11"/>
                                        </p:tgtEl>
                                        <p:attrNameLst>
                                          <p:attrName>ppt_w</p:attrName>
                                        </p:attrNameLst>
                                      </p:cBhvr>
                                      <p:tavLst>
                                        <p:tav tm="0">
                                          <p:val>
                                            <p:fltVal val="0"/>
                                          </p:val>
                                        </p:tav>
                                        <p:tav tm="100000">
                                          <p:val>
                                            <p:strVal val="#ppt_w"/>
                                          </p:val>
                                        </p:tav>
                                      </p:tavLst>
                                    </p:anim>
                                    <p:anim calcmode="lin" valueType="num">
                                      <p:cBhvr>
                                        <p:cTn id="41" dur="500" fill="hold"/>
                                        <p:tgtEl>
                                          <p:spTgt spid="11"/>
                                        </p:tgtEl>
                                        <p:attrNameLst>
                                          <p:attrName>ppt_h</p:attrName>
                                        </p:attrNameLst>
                                      </p:cBhvr>
                                      <p:tavLst>
                                        <p:tav tm="0">
                                          <p:val>
                                            <p:fltVal val="0"/>
                                          </p:val>
                                        </p:tav>
                                        <p:tav tm="100000">
                                          <p:val>
                                            <p:strVal val="#ppt_h"/>
                                          </p:val>
                                        </p:tav>
                                      </p:tavLst>
                                    </p:anim>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p:cTn id="47" dur="500" fill="hold"/>
                                        <p:tgtEl>
                                          <p:spTgt spid="20"/>
                                        </p:tgtEl>
                                        <p:attrNameLst>
                                          <p:attrName>ppt_w</p:attrName>
                                        </p:attrNameLst>
                                      </p:cBhvr>
                                      <p:tavLst>
                                        <p:tav tm="0">
                                          <p:val>
                                            <p:fltVal val="0"/>
                                          </p:val>
                                        </p:tav>
                                        <p:tav tm="100000">
                                          <p:val>
                                            <p:strVal val="#ppt_w"/>
                                          </p:val>
                                        </p:tav>
                                      </p:tavLst>
                                    </p:anim>
                                    <p:anim calcmode="lin" valueType="num">
                                      <p:cBhvr>
                                        <p:cTn id="48" dur="500" fill="hold"/>
                                        <p:tgtEl>
                                          <p:spTgt spid="20"/>
                                        </p:tgtEl>
                                        <p:attrNameLst>
                                          <p:attrName>ppt_h</p:attrName>
                                        </p:attrNameLst>
                                      </p:cBhvr>
                                      <p:tavLst>
                                        <p:tav tm="0">
                                          <p:val>
                                            <p:fltVal val="0"/>
                                          </p:val>
                                        </p:tav>
                                        <p:tav tm="100000">
                                          <p:val>
                                            <p:strVal val="#ppt_h"/>
                                          </p:val>
                                        </p:tav>
                                      </p:tavLst>
                                    </p:anim>
                                    <p:animEffect transition="in" filter="fade">
                                      <p:cBhvr>
                                        <p:cTn id="49" dur="5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p:cTn id="54" dur="500" fill="hold"/>
                                        <p:tgtEl>
                                          <p:spTgt spid="18"/>
                                        </p:tgtEl>
                                        <p:attrNameLst>
                                          <p:attrName>ppt_w</p:attrName>
                                        </p:attrNameLst>
                                      </p:cBhvr>
                                      <p:tavLst>
                                        <p:tav tm="0">
                                          <p:val>
                                            <p:fltVal val="0"/>
                                          </p:val>
                                        </p:tav>
                                        <p:tav tm="100000">
                                          <p:val>
                                            <p:strVal val="#ppt_w"/>
                                          </p:val>
                                        </p:tav>
                                      </p:tavLst>
                                    </p:anim>
                                    <p:anim calcmode="lin" valueType="num">
                                      <p:cBhvr>
                                        <p:cTn id="55" dur="500" fill="hold"/>
                                        <p:tgtEl>
                                          <p:spTgt spid="18"/>
                                        </p:tgtEl>
                                        <p:attrNameLst>
                                          <p:attrName>ppt_h</p:attrName>
                                        </p:attrNameLst>
                                      </p:cBhvr>
                                      <p:tavLst>
                                        <p:tav tm="0">
                                          <p:val>
                                            <p:fltVal val="0"/>
                                          </p:val>
                                        </p:tav>
                                        <p:tav tm="100000">
                                          <p:val>
                                            <p:strVal val="#ppt_h"/>
                                          </p:val>
                                        </p:tav>
                                      </p:tavLst>
                                    </p:anim>
                                    <p:animEffect transition="in" filter="fade">
                                      <p:cBhvr>
                                        <p:cTn id="56" dur="5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p:cTn id="61" dur="500" fill="hold"/>
                                        <p:tgtEl>
                                          <p:spTgt spid="15"/>
                                        </p:tgtEl>
                                        <p:attrNameLst>
                                          <p:attrName>ppt_w</p:attrName>
                                        </p:attrNameLst>
                                      </p:cBhvr>
                                      <p:tavLst>
                                        <p:tav tm="0">
                                          <p:val>
                                            <p:fltVal val="0"/>
                                          </p:val>
                                        </p:tav>
                                        <p:tav tm="100000">
                                          <p:val>
                                            <p:strVal val="#ppt_w"/>
                                          </p:val>
                                        </p:tav>
                                      </p:tavLst>
                                    </p:anim>
                                    <p:anim calcmode="lin" valueType="num">
                                      <p:cBhvr>
                                        <p:cTn id="62" dur="500" fill="hold"/>
                                        <p:tgtEl>
                                          <p:spTgt spid="15"/>
                                        </p:tgtEl>
                                        <p:attrNameLst>
                                          <p:attrName>ppt_h</p:attrName>
                                        </p:attrNameLst>
                                      </p:cBhvr>
                                      <p:tavLst>
                                        <p:tav tm="0">
                                          <p:val>
                                            <p:fltVal val="0"/>
                                          </p:val>
                                        </p:tav>
                                        <p:tav tm="100000">
                                          <p:val>
                                            <p:strVal val="#ppt_h"/>
                                          </p:val>
                                        </p:tav>
                                      </p:tavLst>
                                    </p:anim>
                                    <p:animEffect transition="in" filter="fade">
                                      <p:cBhvr>
                                        <p:cTn id="63" dur="500"/>
                                        <p:tgtEl>
                                          <p:spTgt spid="15"/>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anim calcmode="lin" valueType="num">
                                      <p:cBhvr>
                                        <p:cTn id="68" dur="500" fill="hold"/>
                                        <p:tgtEl>
                                          <p:spTgt spid="21"/>
                                        </p:tgtEl>
                                        <p:attrNameLst>
                                          <p:attrName>ppt_w</p:attrName>
                                        </p:attrNameLst>
                                      </p:cBhvr>
                                      <p:tavLst>
                                        <p:tav tm="0">
                                          <p:val>
                                            <p:fltVal val="0"/>
                                          </p:val>
                                        </p:tav>
                                        <p:tav tm="100000">
                                          <p:val>
                                            <p:strVal val="#ppt_w"/>
                                          </p:val>
                                        </p:tav>
                                      </p:tavLst>
                                    </p:anim>
                                    <p:anim calcmode="lin" valueType="num">
                                      <p:cBhvr>
                                        <p:cTn id="69" dur="500" fill="hold"/>
                                        <p:tgtEl>
                                          <p:spTgt spid="21"/>
                                        </p:tgtEl>
                                        <p:attrNameLst>
                                          <p:attrName>ppt_h</p:attrName>
                                        </p:attrNameLst>
                                      </p:cBhvr>
                                      <p:tavLst>
                                        <p:tav tm="0">
                                          <p:val>
                                            <p:fltVal val="0"/>
                                          </p:val>
                                        </p:tav>
                                        <p:tav tm="100000">
                                          <p:val>
                                            <p:strVal val="#ppt_h"/>
                                          </p:val>
                                        </p:tav>
                                      </p:tavLst>
                                    </p:anim>
                                    <p:animEffect transition="in" filter="fade">
                                      <p:cBhvr>
                                        <p:cTn id="70" dur="500"/>
                                        <p:tgtEl>
                                          <p:spTgt spid="21"/>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p:cTn id="75" dur="500" fill="hold"/>
                                        <p:tgtEl>
                                          <p:spTgt spid="19"/>
                                        </p:tgtEl>
                                        <p:attrNameLst>
                                          <p:attrName>ppt_w</p:attrName>
                                        </p:attrNameLst>
                                      </p:cBhvr>
                                      <p:tavLst>
                                        <p:tav tm="0">
                                          <p:val>
                                            <p:fltVal val="0"/>
                                          </p:val>
                                        </p:tav>
                                        <p:tav tm="100000">
                                          <p:val>
                                            <p:strVal val="#ppt_w"/>
                                          </p:val>
                                        </p:tav>
                                      </p:tavLst>
                                    </p:anim>
                                    <p:anim calcmode="lin" valueType="num">
                                      <p:cBhvr>
                                        <p:cTn id="76" dur="500" fill="hold"/>
                                        <p:tgtEl>
                                          <p:spTgt spid="19"/>
                                        </p:tgtEl>
                                        <p:attrNameLst>
                                          <p:attrName>ppt_h</p:attrName>
                                        </p:attrNameLst>
                                      </p:cBhvr>
                                      <p:tavLst>
                                        <p:tav tm="0">
                                          <p:val>
                                            <p:fltVal val="0"/>
                                          </p:val>
                                        </p:tav>
                                        <p:tav tm="100000">
                                          <p:val>
                                            <p:strVal val="#ppt_h"/>
                                          </p:val>
                                        </p:tav>
                                      </p:tavLst>
                                    </p:anim>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anim calcmode="lin" valueType="num">
                                      <p:cBhvr>
                                        <p:cTn id="82" dur="500" fill="hold"/>
                                        <p:tgtEl>
                                          <p:spTgt spid="16"/>
                                        </p:tgtEl>
                                        <p:attrNameLst>
                                          <p:attrName>ppt_w</p:attrName>
                                        </p:attrNameLst>
                                      </p:cBhvr>
                                      <p:tavLst>
                                        <p:tav tm="0">
                                          <p:val>
                                            <p:fltVal val="0"/>
                                          </p:val>
                                        </p:tav>
                                        <p:tav tm="100000">
                                          <p:val>
                                            <p:strVal val="#ppt_w"/>
                                          </p:val>
                                        </p:tav>
                                      </p:tavLst>
                                    </p:anim>
                                    <p:anim calcmode="lin" valueType="num">
                                      <p:cBhvr>
                                        <p:cTn id="83" dur="500" fill="hold"/>
                                        <p:tgtEl>
                                          <p:spTgt spid="16"/>
                                        </p:tgtEl>
                                        <p:attrNameLst>
                                          <p:attrName>ppt_h</p:attrName>
                                        </p:attrNameLst>
                                      </p:cBhvr>
                                      <p:tavLst>
                                        <p:tav tm="0">
                                          <p:val>
                                            <p:fltVal val="0"/>
                                          </p:val>
                                        </p:tav>
                                        <p:tav tm="100000">
                                          <p:val>
                                            <p:strVal val="#ppt_h"/>
                                          </p:val>
                                        </p:tav>
                                      </p:tavLst>
                                    </p:anim>
                                    <p:animEffect transition="in" filter="fade">
                                      <p:cBhvr>
                                        <p:cTn id="84" dur="500"/>
                                        <p:tgtEl>
                                          <p:spTgt spid="16"/>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16" fill="hold" grpId="0" nodeType="clickEffect">
                                  <p:stCondLst>
                                    <p:cond delay="0"/>
                                  </p:stCondLst>
                                  <p:childTnLst>
                                    <p:set>
                                      <p:cBhvr>
                                        <p:cTn id="88" dur="1" fill="hold">
                                          <p:stCondLst>
                                            <p:cond delay="0"/>
                                          </p:stCondLst>
                                        </p:cTn>
                                        <p:tgtEl>
                                          <p:spTgt spid="17"/>
                                        </p:tgtEl>
                                        <p:attrNameLst>
                                          <p:attrName>style.visibility</p:attrName>
                                        </p:attrNameLst>
                                      </p:cBhvr>
                                      <p:to>
                                        <p:strVal val="visible"/>
                                      </p:to>
                                    </p:set>
                                    <p:anim calcmode="lin" valueType="num">
                                      <p:cBhvr>
                                        <p:cTn id="89" dur="500" fill="hold"/>
                                        <p:tgtEl>
                                          <p:spTgt spid="17"/>
                                        </p:tgtEl>
                                        <p:attrNameLst>
                                          <p:attrName>ppt_w</p:attrName>
                                        </p:attrNameLst>
                                      </p:cBhvr>
                                      <p:tavLst>
                                        <p:tav tm="0">
                                          <p:val>
                                            <p:fltVal val="0"/>
                                          </p:val>
                                        </p:tav>
                                        <p:tav tm="100000">
                                          <p:val>
                                            <p:strVal val="#ppt_w"/>
                                          </p:val>
                                        </p:tav>
                                      </p:tavLst>
                                    </p:anim>
                                    <p:anim calcmode="lin" valueType="num">
                                      <p:cBhvr>
                                        <p:cTn id="90" dur="500" fill="hold"/>
                                        <p:tgtEl>
                                          <p:spTgt spid="17"/>
                                        </p:tgtEl>
                                        <p:attrNameLst>
                                          <p:attrName>ppt_h</p:attrName>
                                        </p:attrNameLst>
                                      </p:cBhvr>
                                      <p:tavLst>
                                        <p:tav tm="0">
                                          <p:val>
                                            <p:fltVal val="0"/>
                                          </p:val>
                                        </p:tav>
                                        <p:tav tm="100000">
                                          <p:val>
                                            <p:strVal val="#ppt_h"/>
                                          </p:val>
                                        </p:tav>
                                      </p:tavLst>
                                    </p:anim>
                                    <p:animEffect transition="in" filter="fade">
                                      <p:cBhvr>
                                        <p:cTn id="9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7" grpId="0" animBg="1"/>
      <p:bldP spid="10" grpId="0"/>
      <p:bldP spid="11" grpId="0" animBg="1"/>
      <p:bldP spid="14" grpId="0" animBg="1"/>
      <p:bldP spid="15" grpId="0" animBg="1"/>
      <p:bldP spid="3" grpId="0"/>
      <p:bldP spid="16" grpId="0"/>
      <p:bldP spid="17" grpId="0"/>
      <p:bldP spid="18" grpId="0"/>
      <p:bldP spid="19" grpId="0"/>
      <p:bldP spid="20" grpId="0"/>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175657" y="350838"/>
            <a:ext cx="9640389" cy="754948"/>
          </a:xfrm>
        </p:spPr>
        <p:txBody>
          <a:bodyPr>
            <a:normAutofit fontScale="90000"/>
          </a:bodyPr>
          <a:lstStyle/>
          <a:p>
            <a:r>
              <a:rPr lang="en-US" sz="3600" b="1" dirty="0">
                <a:solidFill>
                  <a:srgbClr val="00B0F0"/>
                </a:solidFill>
              </a:rPr>
              <a:t>Predisposing Factors to Disease Development</a:t>
            </a:r>
          </a:p>
        </p:txBody>
      </p:sp>
      <p:sp>
        <p:nvSpPr>
          <p:cNvPr id="3" name="Content Placeholder 2"/>
          <p:cNvSpPr>
            <a:spLocks noGrp="1"/>
          </p:cNvSpPr>
          <p:nvPr>
            <p:ph idx="1"/>
          </p:nvPr>
        </p:nvSpPr>
        <p:spPr>
          <a:xfrm>
            <a:off x="283575" y="1125339"/>
            <a:ext cx="3738149" cy="3172341"/>
          </a:xfrm>
        </p:spPr>
        <p:txBody>
          <a:bodyPr>
            <a:noAutofit/>
          </a:bodyPr>
          <a:lstStyle/>
          <a:p>
            <a:pPr marL="0" indent="0">
              <a:buNone/>
            </a:pPr>
            <a:r>
              <a:rPr lang="en-US" sz="1800" b="1" dirty="0">
                <a:solidFill>
                  <a:srgbClr val="FF0000"/>
                </a:solidFill>
                <a:latin typeface="Times New Roman" panose="02020603050405020304" pitchFamily="18" charset="0"/>
                <a:cs typeface="Times New Roman" panose="02020603050405020304" pitchFamily="18" charset="0"/>
              </a:rPr>
              <a:t>1. Host</a:t>
            </a:r>
          </a:p>
          <a:p>
            <a:pPr lvl="1"/>
            <a:r>
              <a:rPr lang="en-US" sz="1800" dirty="0">
                <a:latin typeface="Times New Roman" panose="02020603050405020304" pitchFamily="18" charset="0"/>
                <a:cs typeface="Times New Roman" panose="02020603050405020304" pitchFamily="18" charset="0"/>
              </a:rPr>
              <a:t>Age</a:t>
            </a:r>
          </a:p>
          <a:p>
            <a:pPr lvl="1"/>
            <a:r>
              <a:rPr lang="en-US" sz="1800" dirty="0">
                <a:latin typeface="Times New Roman" panose="02020603050405020304" pitchFamily="18" charset="0"/>
                <a:cs typeface="Times New Roman" panose="02020603050405020304" pitchFamily="18" charset="0"/>
              </a:rPr>
              <a:t>Nutritional status</a:t>
            </a:r>
          </a:p>
          <a:p>
            <a:pPr lvl="1"/>
            <a:r>
              <a:rPr lang="en-US" sz="1800" dirty="0">
                <a:latin typeface="Times New Roman" panose="02020603050405020304" pitchFamily="18" charset="0"/>
                <a:cs typeface="Times New Roman" panose="02020603050405020304" pitchFamily="18" charset="0"/>
              </a:rPr>
              <a:t>Health status</a:t>
            </a:r>
          </a:p>
          <a:p>
            <a:pPr lvl="1"/>
            <a:r>
              <a:rPr lang="en-US" sz="1800" dirty="0">
                <a:latin typeface="Times New Roman" panose="02020603050405020304" pitchFamily="18" charset="0"/>
                <a:cs typeface="Times New Roman" panose="02020603050405020304" pitchFamily="18" charset="0"/>
              </a:rPr>
              <a:t>Medications</a:t>
            </a:r>
          </a:p>
          <a:p>
            <a:pPr lvl="1"/>
            <a:r>
              <a:rPr lang="en-US" sz="1800" dirty="0">
                <a:latin typeface="Times New Roman" panose="02020603050405020304" pitchFamily="18" charset="0"/>
                <a:cs typeface="Times New Roman" panose="02020603050405020304" pitchFamily="18" charset="0"/>
              </a:rPr>
              <a:t>Immunization status</a:t>
            </a:r>
          </a:p>
          <a:p>
            <a:pPr lvl="1"/>
            <a:r>
              <a:rPr lang="en-US" sz="1800" dirty="0">
                <a:latin typeface="Times New Roman" panose="02020603050405020304" pitchFamily="18" charset="0"/>
                <a:cs typeface="Times New Roman" panose="02020603050405020304" pitchFamily="18" charset="0"/>
              </a:rPr>
              <a:t>Stress</a:t>
            </a:r>
          </a:p>
        </p:txBody>
      </p:sp>
      <p:sp>
        <p:nvSpPr>
          <p:cNvPr id="4" name="Content Placeholder 2">
            <a:extLst>
              <a:ext uri="{FF2B5EF4-FFF2-40B4-BE49-F238E27FC236}">
                <a16:creationId xmlns:a16="http://schemas.microsoft.com/office/drawing/2014/main" id="{E9B64A48-8339-4BC2-A0F9-FF09AC6DF23F}"/>
              </a:ext>
            </a:extLst>
          </p:cNvPr>
          <p:cNvSpPr txBox="1">
            <a:spLocks/>
          </p:cNvSpPr>
          <p:nvPr/>
        </p:nvSpPr>
        <p:spPr>
          <a:xfrm>
            <a:off x="3884222" y="984668"/>
            <a:ext cx="4064215" cy="41943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Wingdings" panose="05000000000000000000" pitchFamily="2" charset="2"/>
              <a:buChar char="Ø"/>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Wingdings" panose="05000000000000000000" pitchFamily="2" charset="2"/>
              <a:buChar char="Ø"/>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FF0000"/>
                </a:solidFill>
              </a:rPr>
              <a:t>2. Pathogen</a:t>
            </a:r>
          </a:p>
          <a:p>
            <a:pPr lvl="1"/>
            <a:r>
              <a:rPr lang="en-US" dirty="0"/>
              <a:t>Virulence – Degree of harmfulness</a:t>
            </a:r>
          </a:p>
          <a:p>
            <a:pPr lvl="1"/>
            <a:r>
              <a:rPr lang="en-US" dirty="0"/>
              <a:t>Mode of transmission</a:t>
            </a:r>
          </a:p>
          <a:p>
            <a:pPr lvl="1"/>
            <a:r>
              <a:rPr lang="en-US" dirty="0"/>
              <a:t>Amount of Exposure</a:t>
            </a:r>
          </a:p>
        </p:txBody>
      </p:sp>
      <p:sp>
        <p:nvSpPr>
          <p:cNvPr id="6" name="TextBox 5">
            <a:extLst>
              <a:ext uri="{FF2B5EF4-FFF2-40B4-BE49-F238E27FC236}">
                <a16:creationId xmlns:a16="http://schemas.microsoft.com/office/drawing/2014/main" id="{E07F55AC-1A69-4B86-9A1B-FC24C9C1A5AD}"/>
              </a:ext>
            </a:extLst>
          </p:cNvPr>
          <p:cNvSpPr txBox="1"/>
          <p:nvPr/>
        </p:nvSpPr>
        <p:spPr>
          <a:xfrm>
            <a:off x="8182544" y="1125339"/>
            <a:ext cx="2994930" cy="1446550"/>
          </a:xfrm>
          <a:prstGeom prst="rect">
            <a:avLst/>
          </a:prstGeom>
          <a:noFill/>
        </p:spPr>
        <p:txBody>
          <a:bodyPr wrap="square">
            <a:spAutoFit/>
          </a:bodyPr>
          <a:lstStyle/>
          <a:p>
            <a:pPr marL="0" indent="0">
              <a:buNone/>
            </a:pPr>
            <a:r>
              <a:rPr lang="en-US" sz="2800" b="1" dirty="0">
                <a:solidFill>
                  <a:srgbClr val="FF0000"/>
                </a:solidFill>
                <a:latin typeface="Times New Roman" panose="02020603050405020304" pitchFamily="18" charset="0"/>
                <a:cs typeface="Times New Roman" panose="02020603050405020304" pitchFamily="18" charset="0"/>
              </a:rPr>
              <a:t>3. Environment</a:t>
            </a:r>
          </a:p>
          <a:p>
            <a:pPr lvl="1"/>
            <a:r>
              <a:rPr lang="en-US" sz="2000" dirty="0">
                <a:latin typeface="Times New Roman" panose="02020603050405020304" pitchFamily="18" charset="0"/>
                <a:cs typeface="Times New Roman" panose="02020603050405020304" pitchFamily="18" charset="0"/>
              </a:rPr>
              <a:t>Temperature</a:t>
            </a:r>
          </a:p>
          <a:p>
            <a:pPr lvl="1"/>
            <a:r>
              <a:rPr lang="en-US" sz="2000" dirty="0">
                <a:latin typeface="Times New Roman" panose="02020603050405020304" pitchFamily="18" charset="0"/>
                <a:cs typeface="Times New Roman" panose="02020603050405020304" pitchFamily="18" charset="0"/>
              </a:rPr>
              <a:t>Humidity</a:t>
            </a:r>
          </a:p>
          <a:p>
            <a:pPr lvl="1"/>
            <a:r>
              <a:rPr lang="en-US" sz="2000" dirty="0">
                <a:latin typeface="Times New Roman" panose="02020603050405020304" pitchFamily="18" charset="0"/>
                <a:cs typeface="Times New Roman" panose="02020603050405020304" pitchFamily="18" charset="0"/>
              </a:rPr>
              <a:t>Sanitation</a:t>
            </a:r>
          </a:p>
        </p:txBody>
      </p:sp>
      <p:sp>
        <p:nvSpPr>
          <p:cNvPr id="7" name="Content Placeholder 3">
            <a:extLst>
              <a:ext uri="{FF2B5EF4-FFF2-40B4-BE49-F238E27FC236}">
                <a16:creationId xmlns:a16="http://schemas.microsoft.com/office/drawing/2014/main" id="{7B149B6D-295F-4DD1-9816-1EEAAAEEE8FF}"/>
              </a:ext>
            </a:extLst>
          </p:cNvPr>
          <p:cNvSpPr txBox="1">
            <a:spLocks/>
          </p:cNvSpPr>
          <p:nvPr/>
        </p:nvSpPr>
        <p:spPr>
          <a:xfrm>
            <a:off x="575733" y="3657600"/>
            <a:ext cx="11332692" cy="293511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spcBef>
                <a:spcPts val="0"/>
              </a:spcBef>
              <a:buFont typeface="Wingdings" panose="05000000000000000000" pitchFamily="2" charset="2"/>
              <a:buChar char=""/>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Susceptible host:</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An animal with low resistance to disease (weak immunity, stressed, young, old, or poorly nourished).</a:t>
            </a:r>
          </a:p>
          <a:p>
            <a:pPr marL="342900" indent="-342900">
              <a:lnSpc>
                <a:spcPct val="150000"/>
              </a:lnSpc>
              <a:spcBef>
                <a:spcPts val="0"/>
              </a:spcBef>
              <a:buFont typeface="Wingdings" panose="05000000000000000000" pitchFamily="2" charset="2"/>
              <a:buChar char=""/>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Virulent pathogen:</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A disease-causing organism capable of infecting and causing serious illness.</a:t>
            </a:r>
          </a:p>
          <a:p>
            <a:pPr marL="342900" indent="-342900">
              <a:lnSpc>
                <a:spcPct val="150000"/>
              </a:lnSpc>
              <a:spcBef>
                <a:spcPts val="0"/>
              </a:spcBef>
              <a:buFont typeface="Wingdings" panose="05000000000000000000" pitchFamily="2" charset="2"/>
              <a:buChar char=""/>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Favourable</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environment:</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Conditions that support pathogen survival and transmission (poor hygiene, overcrowding, suitable climate).</a:t>
            </a:r>
          </a:p>
        </p:txBody>
      </p:sp>
    </p:spTree>
    <p:extLst>
      <p:ext uri="{BB962C8B-B14F-4D97-AF65-F5344CB8AC3E}">
        <p14:creationId xmlns:p14="http://schemas.microsoft.com/office/powerpoint/2010/main" val="1449783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3057" y="807283"/>
            <a:ext cx="8494164" cy="3908409"/>
          </a:xfrm>
        </p:spPr>
        <p:txBody>
          <a:bodyPr>
            <a:normAutofit/>
          </a:bodyPr>
          <a:lstStyle/>
          <a:p>
            <a:pPr algn="ctr"/>
            <a:r>
              <a:rPr lang="en-US" b="1" dirty="0">
                <a:solidFill>
                  <a:srgbClr val="00B0F0"/>
                </a:solidFill>
                <a:latin typeface="Century Gothic" panose="020B0502020202020204" pitchFamily="34" charset="0"/>
              </a:rPr>
              <a:t>Prevention, Control and Treatment of Poultry diseases</a:t>
            </a:r>
            <a:endParaRPr lang="en-GB" b="1" dirty="0">
              <a:solidFill>
                <a:srgbClr val="00B0F0"/>
              </a:solidFill>
            </a:endParaRPr>
          </a:p>
        </p:txBody>
      </p:sp>
    </p:spTree>
    <p:extLst>
      <p:ext uri="{BB962C8B-B14F-4D97-AF65-F5344CB8AC3E}">
        <p14:creationId xmlns:p14="http://schemas.microsoft.com/office/powerpoint/2010/main" val="1180672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NEWCASTLE DISEASE</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GB" sz="2400" dirty="0">
                <a:latin typeface="Century Gothic" panose="020B0502020202020204" pitchFamily="34" charset="0"/>
              </a:rPr>
              <a:t>Poultry disease caused by a virus. </a:t>
            </a:r>
            <a:r>
              <a:rPr lang="en-US" sz="2400" dirty="0">
                <a:latin typeface="Century Gothic" panose="020B0502020202020204" pitchFamily="34" charset="0"/>
              </a:rPr>
              <a:t>Transmitted by direct contact, aerosol or fomites.</a:t>
            </a:r>
          </a:p>
          <a:p>
            <a:pPr>
              <a:lnSpc>
                <a:spcPct val="110000"/>
              </a:lnSpc>
            </a:pPr>
            <a:r>
              <a:rPr lang="en-US" sz="2400" dirty="0">
                <a:latin typeface="Century Gothic" panose="020B0502020202020204" pitchFamily="34" charset="0"/>
              </a:rPr>
              <a:t>It causes </a:t>
            </a:r>
            <a:r>
              <a:rPr lang="en-US" sz="2400" dirty="0">
                <a:solidFill>
                  <a:srgbClr val="FF0000"/>
                </a:solidFill>
                <a:latin typeface="Century Gothic" panose="020B0502020202020204" pitchFamily="34" charset="0"/>
              </a:rPr>
              <a:t>conjunctivitis</a:t>
            </a:r>
            <a:r>
              <a:rPr lang="en-US" sz="2400" dirty="0">
                <a:latin typeface="Century Gothic" panose="020B0502020202020204" pitchFamily="34" charset="0"/>
              </a:rPr>
              <a:t> in humans when infected materials splashes or lands into the eye.</a:t>
            </a:r>
          </a:p>
          <a:p>
            <a:pPr>
              <a:lnSpc>
                <a:spcPct val="110000"/>
              </a:lnSpc>
            </a:pPr>
            <a:r>
              <a:rPr lang="en-GB" sz="2400" b="1" dirty="0">
                <a:latin typeface="Century Gothic" panose="020B0502020202020204" pitchFamily="34" charset="0"/>
              </a:rPr>
              <a:t>Clinical Signs:</a:t>
            </a:r>
          </a:p>
          <a:p>
            <a:pPr lvl="1">
              <a:lnSpc>
                <a:spcPct val="110000"/>
              </a:lnSpc>
            </a:pPr>
            <a:r>
              <a:rPr lang="en-GB" altLang="en-US" dirty="0">
                <a:latin typeface="Century Gothic" panose="020B0502020202020204" pitchFamily="34" charset="0"/>
              </a:rPr>
              <a:t>Gasping, twisting of the neck, green diarrhoea, depression, weakness, paralysis of the legs, nasal discharges, reduced egg production</a:t>
            </a:r>
          </a:p>
          <a:p>
            <a:pPr>
              <a:lnSpc>
                <a:spcPct val="110000"/>
              </a:lnSpc>
            </a:pPr>
            <a:r>
              <a:rPr lang="en-GB" altLang="en-US" sz="2400" b="1" dirty="0">
                <a:latin typeface="Century Gothic" panose="020B0502020202020204" pitchFamily="34" charset="0"/>
              </a:rPr>
              <a:t>Treatment</a:t>
            </a:r>
            <a:r>
              <a:rPr lang="en-GB" altLang="en-US" sz="2400" dirty="0">
                <a:latin typeface="Century Gothic" panose="020B0502020202020204" pitchFamily="34" charset="0"/>
              </a:rPr>
              <a:t>: None</a:t>
            </a:r>
          </a:p>
          <a:p>
            <a:pPr>
              <a:lnSpc>
                <a:spcPct val="110000"/>
              </a:lnSpc>
            </a:pPr>
            <a:r>
              <a:rPr lang="en-GB" sz="2400" b="1" dirty="0">
                <a:latin typeface="Century Gothic" panose="020B0502020202020204" pitchFamily="34" charset="0"/>
              </a:rPr>
              <a:t>Control</a:t>
            </a:r>
            <a:r>
              <a:rPr lang="en-GB" sz="2400" dirty="0">
                <a:latin typeface="Century Gothic" panose="020B0502020202020204" pitchFamily="34" charset="0"/>
              </a:rPr>
              <a:t> </a:t>
            </a:r>
            <a:r>
              <a:rPr lang="en-GB" sz="2400" b="1" dirty="0">
                <a:latin typeface="Century Gothic" panose="020B0502020202020204" pitchFamily="34" charset="0"/>
              </a:rPr>
              <a:t>and</a:t>
            </a:r>
            <a:r>
              <a:rPr lang="en-GB" sz="2400" dirty="0">
                <a:latin typeface="Century Gothic" panose="020B0502020202020204" pitchFamily="34" charset="0"/>
              </a:rPr>
              <a:t> </a:t>
            </a:r>
            <a:r>
              <a:rPr lang="en-GB" sz="2400" b="1" dirty="0">
                <a:latin typeface="Century Gothic" panose="020B0502020202020204" pitchFamily="34" charset="0"/>
              </a:rPr>
              <a:t>Prevention: </a:t>
            </a:r>
          </a:p>
          <a:p>
            <a:pPr lvl="1">
              <a:lnSpc>
                <a:spcPct val="110000"/>
              </a:lnSpc>
            </a:pPr>
            <a:r>
              <a:rPr lang="en-GB" dirty="0">
                <a:latin typeface="Century Gothic" panose="020B0502020202020204" pitchFamily="34" charset="0"/>
              </a:rPr>
              <a:t>Vaccination  </a:t>
            </a:r>
          </a:p>
          <a:p>
            <a:pPr lvl="1">
              <a:lnSpc>
                <a:spcPct val="110000"/>
              </a:lnSpc>
            </a:pPr>
            <a:r>
              <a:rPr lang="en-GB" dirty="0">
                <a:latin typeface="Century Gothic" panose="020B0502020202020204" pitchFamily="34" charset="0"/>
              </a:rPr>
              <a:t>Good biosecurity practices</a:t>
            </a:r>
            <a:endParaRPr lang="en-GB" b="1" dirty="0">
              <a:latin typeface="Century Gothic" panose="020B0502020202020204" pitchFamily="34" charset="0"/>
            </a:endParaRPr>
          </a:p>
        </p:txBody>
      </p:sp>
    </p:spTree>
    <p:extLst>
      <p:ext uri="{BB962C8B-B14F-4D97-AF65-F5344CB8AC3E}">
        <p14:creationId xmlns:p14="http://schemas.microsoft.com/office/powerpoint/2010/main" val="613140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COCCIDIOSIS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Caused by a protozoan parasite.</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Reduced weight gains</a:t>
            </a:r>
          </a:p>
          <a:p>
            <a:pPr lvl="1">
              <a:lnSpc>
                <a:spcPct val="110000"/>
              </a:lnSpc>
            </a:pPr>
            <a:r>
              <a:rPr lang="en-US" altLang="en-US" dirty="0">
                <a:latin typeface="Century Gothic" panose="020B0502020202020204" pitchFamily="34" charset="0"/>
              </a:rPr>
              <a:t>Bloody droppings</a:t>
            </a:r>
          </a:p>
          <a:p>
            <a:pPr lvl="1">
              <a:lnSpc>
                <a:spcPct val="110000"/>
              </a:lnSpc>
            </a:pPr>
            <a:r>
              <a:rPr lang="en-US" altLang="en-US" dirty="0">
                <a:latin typeface="Century Gothic" panose="020B0502020202020204" pitchFamily="34" charset="0"/>
              </a:rPr>
              <a:t>Weight loss</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t>
            </a:r>
            <a:r>
              <a:rPr lang="en-US" altLang="en-US" sz="2400" dirty="0" err="1">
                <a:latin typeface="Century Gothic" panose="020B0502020202020204" pitchFamily="34" charset="0"/>
              </a:rPr>
              <a:t>Amprolium</a:t>
            </a:r>
            <a:r>
              <a:rPr lang="en-US" altLang="en-US" sz="2400" dirty="0">
                <a:latin typeface="Century Gothic" panose="020B0502020202020204" pitchFamily="34" charset="0"/>
              </a:rPr>
              <a:t> or sulfa drugs</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Use feeds with </a:t>
            </a:r>
            <a:r>
              <a:rPr lang="en-US" dirty="0" err="1">
                <a:latin typeface="Century Gothic" panose="020B0502020202020204" pitchFamily="34" charset="0"/>
              </a:rPr>
              <a:t>anticoccidial</a:t>
            </a:r>
            <a:r>
              <a:rPr lang="en-US" dirty="0">
                <a:latin typeface="Century Gothic" panose="020B0502020202020204" pitchFamily="34" charset="0"/>
              </a:rPr>
              <a:t> drugs</a:t>
            </a:r>
          </a:p>
          <a:p>
            <a:pPr lvl="1">
              <a:lnSpc>
                <a:spcPct val="110000"/>
              </a:lnSpc>
            </a:pPr>
            <a:r>
              <a:rPr lang="en-US" dirty="0">
                <a:latin typeface="Century Gothic" panose="020B0502020202020204" pitchFamily="34" charset="0"/>
              </a:rPr>
              <a:t>Maintain good hygiene</a:t>
            </a:r>
          </a:p>
        </p:txBody>
      </p:sp>
    </p:spTree>
    <p:extLst>
      <p:ext uri="{BB962C8B-B14F-4D97-AF65-F5344CB8AC3E}">
        <p14:creationId xmlns:p14="http://schemas.microsoft.com/office/powerpoint/2010/main" val="427110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GUMBORO</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A chicken disease caused by a virus.</a:t>
            </a:r>
          </a:p>
          <a:p>
            <a:pPr>
              <a:lnSpc>
                <a:spcPct val="110000"/>
              </a:lnSpc>
            </a:pPr>
            <a:r>
              <a:rPr lang="en-US" sz="2400" dirty="0">
                <a:latin typeface="Century Gothic" panose="020B0502020202020204" pitchFamily="34" charset="0"/>
              </a:rPr>
              <a:t>Observed after 3 weeks of age.</a:t>
            </a:r>
          </a:p>
          <a:p>
            <a:pPr>
              <a:lnSpc>
                <a:spcPct val="110000"/>
              </a:lnSpc>
            </a:pPr>
            <a:r>
              <a:rPr lang="en-US" sz="2400" dirty="0">
                <a:latin typeface="Century Gothic" panose="020B0502020202020204" pitchFamily="34" charset="0"/>
              </a:rPr>
              <a:t>Persist in the environment and can also be transmitted by fomites.</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Anorexia, </a:t>
            </a:r>
            <a:r>
              <a:rPr lang="en-GB" altLang="en-US" dirty="0">
                <a:latin typeface="Century Gothic" panose="020B0502020202020204" pitchFamily="34" charset="0"/>
              </a:rPr>
              <a:t>diarrhoea</a:t>
            </a:r>
            <a:r>
              <a:rPr lang="en-US" altLang="en-US" dirty="0">
                <a:latin typeface="Century Gothic" panose="020B0502020202020204" pitchFamily="34" charset="0"/>
              </a:rPr>
              <a:t>, ruffled feathers, unsteadiness.</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t>
            </a:r>
          </a:p>
          <a:p>
            <a:pPr lvl="1">
              <a:lnSpc>
                <a:spcPct val="110000"/>
              </a:lnSpc>
            </a:pPr>
            <a:r>
              <a:rPr lang="en-US" altLang="en-US" dirty="0">
                <a:latin typeface="Century Gothic" panose="020B0502020202020204" pitchFamily="34" charset="0"/>
              </a:rPr>
              <a:t>None</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Vaccination </a:t>
            </a:r>
          </a:p>
        </p:txBody>
      </p:sp>
    </p:spTree>
    <p:extLst>
      <p:ext uri="{BB962C8B-B14F-4D97-AF65-F5344CB8AC3E}">
        <p14:creationId xmlns:p14="http://schemas.microsoft.com/office/powerpoint/2010/main" val="452709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FOWL POX</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Fowl pox is a slow-spreading viral disease of chickens, turkeys, and many other birds.</a:t>
            </a:r>
          </a:p>
          <a:p>
            <a:pPr>
              <a:lnSpc>
                <a:spcPct val="110000"/>
              </a:lnSpc>
            </a:pPr>
            <a:r>
              <a:rPr lang="en-US" sz="2400" dirty="0">
                <a:latin typeface="Century Gothic" panose="020B0502020202020204" pitchFamily="34" charset="0"/>
              </a:rPr>
              <a:t>Transmitted mechanically or through inhalation.</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Nodular lesions on </a:t>
            </a:r>
            <a:r>
              <a:rPr lang="en-GB" altLang="en-US" dirty="0" err="1">
                <a:latin typeface="Century Gothic" panose="020B0502020202020204" pitchFamily="34" charset="0"/>
              </a:rPr>
              <a:t>unfeathered</a:t>
            </a:r>
            <a:r>
              <a:rPr lang="en-US" altLang="en-US" dirty="0">
                <a:latin typeface="Century Gothic" panose="020B0502020202020204" pitchFamily="34" charset="0"/>
              </a:rPr>
              <a:t> areas</a:t>
            </a:r>
          </a:p>
          <a:p>
            <a:pPr lvl="1">
              <a:lnSpc>
                <a:spcPct val="110000"/>
              </a:lnSpc>
            </a:pPr>
            <a:r>
              <a:rPr lang="en-US" altLang="en-US" dirty="0">
                <a:latin typeface="Century Gothic" panose="020B0502020202020204" pitchFamily="34" charset="0"/>
              </a:rPr>
              <a:t>Lesions in the mouth</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None</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Vaccination </a:t>
            </a:r>
          </a:p>
        </p:txBody>
      </p:sp>
    </p:spTree>
    <p:extLst>
      <p:ext uri="{BB962C8B-B14F-4D97-AF65-F5344CB8AC3E}">
        <p14:creationId xmlns:p14="http://schemas.microsoft.com/office/powerpoint/2010/main" val="2701075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HELMINTHIASIS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Caused by worms.</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Reduced egg production</a:t>
            </a:r>
          </a:p>
          <a:p>
            <a:pPr lvl="1">
              <a:lnSpc>
                <a:spcPct val="110000"/>
              </a:lnSpc>
            </a:pPr>
            <a:r>
              <a:rPr lang="en-GB" altLang="en-US" dirty="0">
                <a:latin typeface="Century Gothic" panose="020B0502020202020204" pitchFamily="34" charset="0"/>
              </a:rPr>
              <a:t>Diarrhoea</a:t>
            </a:r>
          </a:p>
          <a:p>
            <a:pPr lvl="1">
              <a:lnSpc>
                <a:spcPct val="110000"/>
              </a:lnSpc>
            </a:pPr>
            <a:r>
              <a:rPr lang="en-US" altLang="en-US" dirty="0">
                <a:latin typeface="Century Gothic" panose="020B0502020202020204" pitchFamily="34" charset="0"/>
              </a:rPr>
              <a:t>Ruffled feathers</a:t>
            </a:r>
          </a:p>
          <a:p>
            <a:pPr lvl="1">
              <a:lnSpc>
                <a:spcPct val="110000"/>
              </a:lnSpc>
            </a:pPr>
            <a:r>
              <a:rPr lang="en-US" altLang="en-US" dirty="0">
                <a:latin typeface="Century Gothic" panose="020B0502020202020204" pitchFamily="34" charset="0"/>
              </a:rPr>
              <a:t>Reduced weight gains</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t>
            </a:r>
            <a:r>
              <a:rPr lang="en-US" altLang="en-US" sz="2400" dirty="0" err="1">
                <a:latin typeface="Century Gothic" panose="020B0502020202020204" pitchFamily="34" charset="0"/>
              </a:rPr>
              <a:t>anthelmintics</a:t>
            </a:r>
            <a:endParaRPr lang="en-US" altLang="en-US" sz="2400" dirty="0">
              <a:latin typeface="Century Gothic" panose="020B0502020202020204" pitchFamily="34" charset="0"/>
            </a:endParaRP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Good sanitation </a:t>
            </a:r>
          </a:p>
        </p:txBody>
      </p:sp>
    </p:spTree>
    <p:extLst>
      <p:ext uri="{BB962C8B-B14F-4D97-AF65-F5344CB8AC3E}">
        <p14:creationId xmlns:p14="http://schemas.microsoft.com/office/powerpoint/2010/main" val="2025856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PULLORUM DISEASE</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Poultry disease caused by a bacteria, </a:t>
            </a:r>
            <a:r>
              <a:rPr lang="en-US" sz="2400" i="1" dirty="0">
                <a:latin typeface="Century Gothic" panose="020B0502020202020204" pitchFamily="34" charset="0"/>
              </a:rPr>
              <a:t>Salmonella </a:t>
            </a:r>
            <a:r>
              <a:rPr lang="en-US" sz="2400" i="1" dirty="0" err="1">
                <a:latin typeface="Century Gothic" panose="020B0502020202020204" pitchFamily="34" charset="0"/>
              </a:rPr>
              <a:t>pullorum</a:t>
            </a:r>
            <a:r>
              <a:rPr lang="en-US" sz="2400" i="1" dirty="0">
                <a:latin typeface="Century Gothic" panose="020B0502020202020204" pitchFamily="34" charset="0"/>
              </a:rPr>
              <a:t>.</a:t>
            </a:r>
          </a:p>
          <a:p>
            <a:pPr>
              <a:lnSpc>
                <a:spcPct val="110000"/>
              </a:lnSpc>
            </a:pPr>
            <a:r>
              <a:rPr lang="en-US" sz="2400" dirty="0">
                <a:latin typeface="Century Gothic" panose="020B0502020202020204" pitchFamily="34" charset="0"/>
              </a:rPr>
              <a:t>Transmitted by infected breeder hens or via droppings.</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err="1">
                <a:latin typeface="Century Gothic" panose="020B0502020202020204" pitchFamily="34" charset="0"/>
              </a:rPr>
              <a:t>Diarrhoea</a:t>
            </a:r>
            <a:r>
              <a:rPr lang="en-US" altLang="en-US" dirty="0">
                <a:latin typeface="Century Gothic" panose="020B0502020202020204" pitchFamily="34" charset="0"/>
              </a:rPr>
              <a:t> ~ pasted cloaca</a:t>
            </a:r>
          </a:p>
          <a:p>
            <a:pPr lvl="1">
              <a:lnSpc>
                <a:spcPct val="110000"/>
              </a:lnSpc>
            </a:pPr>
            <a:r>
              <a:rPr lang="en-US" altLang="en-US" dirty="0">
                <a:latin typeface="Century Gothic" panose="020B0502020202020204" pitchFamily="34" charset="0"/>
              </a:rPr>
              <a:t>Ruffled feathers, drooping wings, weakness, huddling</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Antibiotics</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Eradication of infected birds; Good sanitation;</a:t>
            </a:r>
          </a:p>
          <a:p>
            <a:pPr lvl="1">
              <a:lnSpc>
                <a:spcPct val="110000"/>
              </a:lnSpc>
            </a:pPr>
            <a:r>
              <a:rPr lang="en-US" dirty="0">
                <a:latin typeface="Century Gothic" panose="020B0502020202020204" pitchFamily="34" charset="0"/>
              </a:rPr>
              <a:t>Vaccination</a:t>
            </a:r>
          </a:p>
        </p:txBody>
      </p:sp>
    </p:spTree>
    <p:extLst>
      <p:ext uri="{BB962C8B-B14F-4D97-AF65-F5344CB8AC3E}">
        <p14:creationId xmlns:p14="http://schemas.microsoft.com/office/powerpoint/2010/main" val="3702674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9002" y="1551865"/>
            <a:ext cx="7886700" cy="2897329"/>
          </a:xfrm>
        </p:spPr>
        <p:txBody>
          <a:bodyPr>
            <a:normAutofit/>
          </a:bodyPr>
          <a:lstStyle/>
          <a:p>
            <a:pPr algn="ctr"/>
            <a:r>
              <a:rPr lang="en-US" b="1" dirty="0">
                <a:solidFill>
                  <a:srgbClr val="00B0F0"/>
                </a:solidFill>
                <a:latin typeface="Century Gothic" panose="020B0502020202020204" pitchFamily="34" charset="0"/>
              </a:rPr>
              <a:t>Prevention, Control and Treatment of Pig diseases</a:t>
            </a:r>
            <a:endParaRPr lang="en-GB" b="1" dirty="0">
              <a:solidFill>
                <a:srgbClr val="00B0F0"/>
              </a:solidFill>
            </a:endParaRPr>
          </a:p>
        </p:txBody>
      </p:sp>
    </p:spTree>
    <p:extLst>
      <p:ext uri="{BB962C8B-B14F-4D97-AF65-F5344CB8AC3E}">
        <p14:creationId xmlns:p14="http://schemas.microsoft.com/office/powerpoint/2010/main" val="842128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AFRICAN SWINE FEVER</a:t>
            </a:r>
          </a:p>
        </p:txBody>
      </p:sp>
      <p:sp>
        <p:nvSpPr>
          <p:cNvPr id="6" name="Tijdelijke aanduiding voor inhoud 5"/>
          <p:cNvSpPr>
            <a:spLocks noGrp="1"/>
          </p:cNvSpPr>
          <p:nvPr>
            <p:ph idx="1"/>
          </p:nvPr>
        </p:nvSpPr>
        <p:spPr>
          <a:xfrm>
            <a:off x="2152650" y="1228299"/>
            <a:ext cx="7886700" cy="4948664"/>
          </a:xfrm>
        </p:spPr>
        <p:txBody>
          <a:bodyPr>
            <a:noAutofit/>
          </a:bodyPr>
          <a:lstStyle/>
          <a:p>
            <a:pPr algn="just"/>
            <a:r>
              <a:rPr lang="en-GB" sz="2400" dirty="0">
                <a:latin typeface="Century Gothic" panose="020B0502020202020204" pitchFamily="34" charset="0"/>
              </a:rPr>
              <a:t>A viral disease transmitted that affects domestic and wild pigs. </a:t>
            </a:r>
          </a:p>
          <a:p>
            <a:pPr algn="just"/>
            <a:r>
              <a:rPr lang="en-GB" sz="2400" dirty="0">
                <a:latin typeface="Century Gothic" panose="020B0502020202020204" pitchFamily="34" charset="0"/>
              </a:rPr>
              <a:t>Transmitted by a tick (</a:t>
            </a:r>
            <a:r>
              <a:rPr lang="en-GB" sz="2400" b="1" i="1" dirty="0" err="1">
                <a:latin typeface="Century Gothic" panose="020B0502020202020204" pitchFamily="34" charset="0"/>
              </a:rPr>
              <a:t>Ornithodorus</a:t>
            </a:r>
            <a:r>
              <a:rPr lang="en-GB" sz="2400" b="1" i="1" dirty="0">
                <a:latin typeface="Century Gothic" panose="020B0502020202020204" pitchFamily="34" charset="0"/>
              </a:rPr>
              <a:t> </a:t>
            </a:r>
            <a:r>
              <a:rPr lang="en-GB" sz="2400" b="1" i="1" dirty="0" err="1">
                <a:latin typeface="Century Gothic" panose="020B0502020202020204" pitchFamily="34" charset="0"/>
              </a:rPr>
              <a:t>moubata</a:t>
            </a:r>
            <a:r>
              <a:rPr lang="en-GB" sz="2400" dirty="0">
                <a:latin typeface="Century Gothic" panose="020B0502020202020204" pitchFamily="34" charset="0"/>
              </a:rPr>
              <a:t>), direct contact usually through the mouth and nose, fomites, ingestion of infected garbage feeds, and bites from infected arthropods. </a:t>
            </a:r>
          </a:p>
          <a:p>
            <a:pPr algn="just">
              <a:lnSpc>
                <a:spcPct val="110000"/>
              </a:lnSpc>
            </a:pPr>
            <a:r>
              <a:rPr lang="en-GB" sz="2400" b="1" dirty="0">
                <a:latin typeface="Century Gothic" panose="020B0502020202020204" pitchFamily="34" charset="0"/>
              </a:rPr>
              <a:t>Clinical Signs:</a:t>
            </a:r>
          </a:p>
          <a:p>
            <a:pPr lvl="1" algn="just">
              <a:lnSpc>
                <a:spcPct val="110000"/>
              </a:lnSpc>
            </a:pPr>
            <a:r>
              <a:rPr lang="en-US" altLang="en-US" dirty="0">
                <a:latin typeface="Century Gothic" panose="020B0502020202020204" pitchFamily="34" charset="0"/>
              </a:rPr>
              <a:t>Fever, huddling together, incoordination, blotching of the skin, lack of appetite,  </a:t>
            </a:r>
          </a:p>
          <a:p>
            <a:pPr algn="just">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None</a:t>
            </a:r>
          </a:p>
          <a:p>
            <a:pPr algn="just">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Cooking garbage feed; vector control; slaughter affected pigs; movement control</a:t>
            </a:r>
            <a:endParaRPr lang="en-GB" sz="2400" dirty="0">
              <a:latin typeface="Century Gothic" panose="020B0502020202020204" pitchFamily="34" charset="0"/>
            </a:endParaRPr>
          </a:p>
        </p:txBody>
      </p:sp>
    </p:spTree>
    <p:extLst>
      <p:ext uri="{BB962C8B-B14F-4D97-AF65-F5344CB8AC3E}">
        <p14:creationId xmlns:p14="http://schemas.microsoft.com/office/powerpoint/2010/main" val="4155430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ANAEMIA</a:t>
            </a:r>
          </a:p>
        </p:txBody>
      </p:sp>
      <p:sp>
        <p:nvSpPr>
          <p:cNvPr id="6" name="Tijdelijke aanduiding voor inhoud 5"/>
          <p:cNvSpPr>
            <a:spLocks noGrp="1"/>
          </p:cNvSpPr>
          <p:nvPr>
            <p:ph idx="1"/>
          </p:nvPr>
        </p:nvSpPr>
        <p:spPr>
          <a:xfrm>
            <a:off x="1110343" y="1228299"/>
            <a:ext cx="10110651" cy="4948664"/>
          </a:xfrm>
        </p:spPr>
        <p:txBody>
          <a:bodyPr>
            <a:noAutofit/>
          </a:bodyPr>
          <a:lstStyle/>
          <a:p>
            <a:pPr>
              <a:lnSpc>
                <a:spcPct val="110000"/>
              </a:lnSpc>
            </a:pPr>
            <a:r>
              <a:rPr lang="en-GB" sz="2400" dirty="0">
                <a:latin typeface="Century Gothic" panose="020B0502020202020204" pitchFamily="34" charset="0"/>
              </a:rPr>
              <a:t>Caused by deficiency of iron in young piglets. Condition can also occur in other animals due to excessive blood loss.</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Pale skin, </a:t>
            </a:r>
            <a:r>
              <a:rPr lang="en-US" altLang="en-US" dirty="0" err="1">
                <a:latin typeface="Century Gothic" panose="020B0502020202020204" pitchFamily="34" charset="0"/>
              </a:rPr>
              <a:t>laboured</a:t>
            </a:r>
            <a:r>
              <a:rPr lang="en-US" altLang="en-US" dirty="0">
                <a:latin typeface="Century Gothic" panose="020B0502020202020204" pitchFamily="34" charset="0"/>
              </a:rPr>
              <a:t> breathing</a:t>
            </a:r>
          </a:p>
          <a:p>
            <a:pPr lvl="1">
              <a:lnSpc>
                <a:spcPct val="110000"/>
              </a:lnSpc>
            </a:pPr>
            <a:r>
              <a:rPr lang="en-US" altLang="en-US" dirty="0">
                <a:latin typeface="Century Gothic" panose="020B0502020202020204" pitchFamily="34" charset="0"/>
              </a:rPr>
              <a:t>Sudden death</a:t>
            </a:r>
          </a:p>
          <a:p>
            <a:pPr lvl="1">
              <a:lnSpc>
                <a:spcPct val="110000"/>
              </a:lnSpc>
            </a:pPr>
            <a:r>
              <a:rPr lang="en-US" altLang="en-US" dirty="0">
                <a:latin typeface="Century Gothic" panose="020B0502020202020204" pitchFamily="34" charset="0"/>
              </a:rPr>
              <a:t>Still births if sow is iron deficient</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injectable or oral iron </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Ensure adequate intake of iron; iron dextran injection should be administered to piglets between 3 – 7 days of life. </a:t>
            </a:r>
          </a:p>
        </p:txBody>
      </p:sp>
    </p:spTree>
    <p:extLst>
      <p:ext uri="{BB962C8B-B14F-4D97-AF65-F5344CB8AC3E}">
        <p14:creationId xmlns:p14="http://schemas.microsoft.com/office/powerpoint/2010/main" val="40500573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MANGE</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GB" sz="2400" dirty="0">
                <a:latin typeface="Century Gothic" panose="020B0502020202020204" pitchFamily="34" charset="0"/>
              </a:rPr>
              <a:t>Mange is caused by a tiny white or yellow mite that bores into the skin.</a:t>
            </a:r>
          </a:p>
          <a:p>
            <a:pPr>
              <a:lnSpc>
                <a:spcPct val="110000"/>
              </a:lnSpc>
            </a:pPr>
            <a:r>
              <a:rPr lang="en-GB" sz="2400" dirty="0">
                <a:latin typeface="Century Gothic" panose="020B0502020202020204" pitchFamily="34" charset="0"/>
              </a:rPr>
              <a:t>Areas mostly affected are around the eyes, ears, back, and neck.</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Loss of hair</a:t>
            </a:r>
          </a:p>
          <a:p>
            <a:pPr lvl="1">
              <a:lnSpc>
                <a:spcPct val="110000"/>
              </a:lnSpc>
            </a:pPr>
            <a:r>
              <a:rPr lang="en-US" altLang="en-US" dirty="0">
                <a:latin typeface="Century Gothic" panose="020B0502020202020204" pitchFamily="34" charset="0"/>
              </a:rPr>
              <a:t>Itching </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t>
            </a:r>
            <a:r>
              <a:rPr lang="en-US" altLang="en-US" sz="2400" dirty="0" err="1">
                <a:latin typeface="Century Gothic" panose="020B0502020202020204" pitchFamily="34" charset="0"/>
              </a:rPr>
              <a:t>Miticide</a:t>
            </a:r>
            <a:endParaRPr lang="en-US" altLang="en-US" sz="2400" dirty="0">
              <a:latin typeface="Century Gothic" panose="020B0502020202020204" pitchFamily="34" charset="0"/>
            </a:endParaRP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Dipping pigs regularly</a:t>
            </a:r>
          </a:p>
        </p:txBody>
      </p:sp>
    </p:spTree>
    <p:extLst>
      <p:ext uri="{BB962C8B-B14F-4D97-AF65-F5344CB8AC3E}">
        <p14:creationId xmlns:p14="http://schemas.microsoft.com/office/powerpoint/2010/main" val="4159341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HELMINTHIASIS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Caused by worms.</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Weight loss</a:t>
            </a:r>
          </a:p>
          <a:p>
            <a:pPr lvl="1">
              <a:lnSpc>
                <a:spcPct val="110000"/>
              </a:lnSpc>
            </a:pPr>
            <a:r>
              <a:rPr lang="en-US" altLang="en-US" dirty="0">
                <a:latin typeface="Century Gothic" panose="020B0502020202020204" pitchFamily="34" charset="0"/>
              </a:rPr>
              <a:t>Rough hair coat</a:t>
            </a:r>
          </a:p>
          <a:p>
            <a:pPr lvl="1">
              <a:lnSpc>
                <a:spcPct val="110000"/>
              </a:lnSpc>
            </a:pPr>
            <a:r>
              <a:rPr lang="en-US" altLang="en-US" dirty="0" err="1">
                <a:latin typeface="Century Gothic" panose="020B0502020202020204" pitchFamily="34" charset="0"/>
              </a:rPr>
              <a:t>Diarrhoea</a:t>
            </a:r>
            <a:endParaRPr lang="en-US" altLang="en-US" dirty="0">
              <a:latin typeface="Century Gothic" panose="020B0502020202020204" pitchFamily="34" charset="0"/>
            </a:endParaRP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t>
            </a:r>
            <a:r>
              <a:rPr lang="en-US" altLang="en-US" sz="2400" dirty="0" err="1">
                <a:latin typeface="Century Gothic" panose="020B0502020202020204" pitchFamily="34" charset="0"/>
              </a:rPr>
              <a:t>anthelmintics</a:t>
            </a:r>
            <a:endParaRPr lang="en-US" altLang="en-US" sz="2400" dirty="0">
              <a:latin typeface="Century Gothic" panose="020B0502020202020204" pitchFamily="34" charset="0"/>
            </a:endParaRP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Good sanitation </a:t>
            </a:r>
          </a:p>
        </p:txBody>
      </p:sp>
    </p:spTree>
    <p:extLst>
      <p:ext uri="{BB962C8B-B14F-4D97-AF65-F5344CB8AC3E}">
        <p14:creationId xmlns:p14="http://schemas.microsoft.com/office/powerpoint/2010/main" val="3158963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9002" y="1551865"/>
            <a:ext cx="7886700" cy="2897329"/>
          </a:xfrm>
        </p:spPr>
        <p:txBody>
          <a:bodyPr>
            <a:normAutofit/>
          </a:bodyPr>
          <a:lstStyle/>
          <a:p>
            <a:pPr algn="ctr"/>
            <a:r>
              <a:rPr lang="en-US" b="1" dirty="0">
                <a:solidFill>
                  <a:srgbClr val="00B0F0"/>
                </a:solidFill>
                <a:latin typeface="Century Gothic" panose="020B0502020202020204" pitchFamily="34" charset="0"/>
              </a:rPr>
              <a:t>Prevention, Control and Treatment of Sheep and Goat diseases</a:t>
            </a:r>
            <a:endParaRPr lang="en-GB" b="1" dirty="0">
              <a:solidFill>
                <a:srgbClr val="00B0F0"/>
              </a:solidFill>
            </a:endParaRPr>
          </a:p>
        </p:txBody>
      </p:sp>
    </p:spTree>
    <p:extLst>
      <p:ext uri="{BB962C8B-B14F-4D97-AF65-F5344CB8AC3E}">
        <p14:creationId xmlns:p14="http://schemas.microsoft.com/office/powerpoint/2010/main" val="19960957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ORF / CONTAGIOUS PUSTULAR DERMATITIS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Caused by a pox virus and affects sheep and goats. It can also infect humans.</a:t>
            </a:r>
          </a:p>
          <a:p>
            <a:pPr>
              <a:lnSpc>
                <a:spcPct val="110000"/>
              </a:lnSpc>
            </a:pPr>
            <a:r>
              <a:rPr lang="en-US" sz="2400" dirty="0">
                <a:latin typeface="Century Gothic" panose="020B0502020202020204" pitchFamily="34" charset="0"/>
              </a:rPr>
              <a:t>Spread by direct contact or contact with contaminated fomites.</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Lesions around the mouth, nose, teats and feet. Scabs may also be observed.</a:t>
            </a:r>
          </a:p>
          <a:p>
            <a:pPr>
              <a:lnSpc>
                <a:spcPct val="10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t>
            </a:r>
            <a:r>
              <a:rPr lang="en-GB" sz="2400" dirty="0">
                <a:latin typeface="Century Gothic" panose="020B0502020202020204" pitchFamily="34" charset="0"/>
              </a:rPr>
              <a:t>Removal of the scabs and the application of ointments or astringent lotions.</a:t>
            </a:r>
          </a:p>
          <a:p>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r>
              <a:rPr lang="en-US" dirty="0">
                <a:latin typeface="Century Gothic" panose="020B0502020202020204" pitchFamily="34" charset="0"/>
              </a:rPr>
              <a:t>Isolation of the infected animal</a:t>
            </a:r>
          </a:p>
          <a:p>
            <a:pPr lvl="1"/>
            <a:r>
              <a:rPr lang="en-US" dirty="0">
                <a:latin typeface="Century Gothic" panose="020B0502020202020204" pitchFamily="34" charset="0"/>
              </a:rPr>
              <a:t>Vaccination</a:t>
            </a:r>
            <a:endParaRPr lang="en-GB" dirty="0">
              <a:latin typeface="Century Gothic" panose="020B0502020202020204" pitchFamily="34" charset="0"/>
            </a:endParaRPr>
          </a:p>
        </p:txBody>
      </p:sp>
    </p:spTree>
    <p:extLst>
      <p:ext uri="{BB962C8B-B14F-4D97-AF65-F5344CB8AC3E}">
        <p14:creationId xmlns:p14="http://schemas.microsoft.com/office/powerpoint/2010/main" val="2656307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HELMINTHIASIS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Caused by worms.</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Weight loss</a:t>
            </a:r>
          </a:p>
          <a:p>
            <a:pPr lvl="1">
              <a:lnSpc>
                <a:spcPct val="110000"/>
              </a:lnSpc>
            </a:pPr>
            <a:r>
              <a:rPr lang="en-US" altLang="en-US" dirty="0" err="1">
                <a:latin typeface="Century Gothic" panose="020B0502020202020204" pitchFamily="34" charset="0"/>
              </a:rPr>
              <a:t>Diarrhoea</a:t>
            </a:r>
            <a:endParaRPr lang="en-US" altLang="en-US" dirty="0">
              <a:latin typeface="Century Gothic" panose="020B0502020202020204" pitchFamily="34" charset="0"/>
            </a:endParaRPr>
          </a:p>
          <a:p>
            <a:pPr lvl="1">
              <a:lnSpc>
                <a:spcPct val="110000"/>
              </a:lnSpc>
            </a:pPr>
            <a:r>
              <a:rPr lang="en-US" altLang="en-US" dirty="0">
                <a:latin typeface="Century Gothic" panose="020B0502020202020204" pitchFamily="34" charset="0"/>
              </a:rPr>
              <a:t>Rough hair coat</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t>
            </a:r>
            <a:r>
              <a:rPr lang="en-US" altLang="en-US" sz="2400" dirty="0" err="1">
                <a:latin typeface="Century Gothic" panose="020B0502020202020204" pitchFamily="34" charset="0"/>
              </a:rPr>
              <a:t>anthelmintics</a:t>
            </a:r>
            <a:endParaRPr lang="en-US" altLang="en-US" sz="2400" dirty="0">
              <a:latin typeface="Century Gothic" panose="020B0502020202020204" pitchFamily="34" charset="0"/>
            </a:endParaRP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Good sanitation </a:t>
            </a:r>
          </a:p>
        </p:txBody>
      </p:sp>
    </p:spTree>
    <p:extLst>
      <p:ext uri="{BB962C8B-B14F-4D97-AF65-F5344CB8AC3E}">
        <p14:creationId xmlns:p14="http://schemas.microsoft.com/office/powerpoint/2010/main" val="31376410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9002" y="1551865"/>
            <a:ext cx="7886700" cy="2897329"/>
          </a:xfrm>
        </p:spPr>
        <p:txBody>
          <a:bodyPr>
            <a:normAutofit/>
          </a:bodyPr>
          <a:lstStyle/>
          <a:p>
            <a:pPr algn="ctr"/>
            <a:r>
              <a:rPr lang="en-US" b="1" dirty="0">
                <a:solidFill>
                  <a:srgbClr val="00B0F0"/>
                </a:solidFill>
                <a:latin typeface="Century Gothic" panose="020B0502020202020204" pitchFamily="34" charset="0"/>
              </a:rPr>
              <a:t>Prevention, Control and Treatment of Dairy and Beef Cattle diseases</a:t>
            </a:r>
            <a:endParaRPr lang="en-GB" b="1" dirty="0">
              <a:solidFill>
                <a:srgbClr val="00B0F0"/>
              </a:solidFill>
            </a:endParaRPr>
          </a:p>
        </p:txBody>
      </p:sp>
    </p:spTree>
    <p:extLst>
      <p:ext uri="{BB962C8B-B14F-4D97-AF65-F5344CB8AC3E}">
        <p14:creationId xmlns:p14="http://schemas.microsoft.com/office/powerpoint/2010/main" val="1266072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EAST COAST FEVER</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It is a tick-borne protozoan parasite caused by the genus </a:t>
            </a:r>
            <a:r>
              <a:rPr lang="en-US" sz="2400" i="1" dirty="0" err="1">
                <a:latin typeface="Century Gothic" panose="020B0502020202020204" pitchFamily="34" charset="0"/>
              </a:rPr>
              <a:t>Theleria</a:t>
            </a:r>
            <a:r>
              <a:rPr lang="en-US" sz="2400" dirty="0">
                <a:latin typeface="Century Gothic" panose="020B0502020202020204" pitchFamily="34" charset="0"/>
              </a:rPr>
              <a:t>. </a:t>
            </a:r>
          </a:p>
          <a:p>
            <a:pPr>
              <a:lnSpc>
                <a:spcPct val="110000"/>
              </a:lnSpc>
            </a:pPr>
            <a:r>
              <a:rPr lang="en-US" sz="2400" dirty="0">
                <a:latin typeface="Century Gothic" panose="020B0502020202020204" pitchFamily="34" charset="0"/>
              </a:rPr>
              <a:t>It is transmitted from cattle to cattle by </a:t>
            </a:r>
            <a:r>
              <a:rPr lang="en-US" sz="2400" i="1" dirty="0" err="1">
                <a:latin typeface="Century Gothic" panose="020B0502020202020204" pitchFamily="34" charset="0"/>
              </a:rPr>
              <a:t>Rhipicephalus</a:t>
            </a:r>
            <a:r>
              <a:rPr lang="en-US" sz="2400" i="1" dirty="0">
                <a:latin typeface="Century Gothic" panose="020B0502020202020204" pitchFamily="34" charset="0"/>
              </a:rPr>
              <a:t> </a:t>
            </a:r>
            <a:r>
              <a:rPr lang="en-US" sz="2400" i="1" dirty="0" err="1">
                <a:latin typeface="Century Gothic" panose="020B0502020202020204" pitchFamily="34" charset="0"/>
              </a:rPr>
              <a:t>appendiculutus</a:t>
            </a:r>
            <a:r>
              <a:rPr lang="en-US" sz="2400" i="1" dirty="0">
                <a:latin typeface="Century Gothic" panose="020B0502020202020204" pitchFamily="34" charset="0"/>
              </a:rPr>
              <a:t> </a:t>
            </a:r>
            <a:r>
              <a:rPr lang="en-US" sz="2400" dirty="0">
                <a:latin typeface="Century Gothic" panose="020B0502020202020204" pitchFamily="34" charset="0"/>
              </a:rPr>
              <a:t>(brown ear tick).</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Fever, enlarged lymph nodes, difficulties in breathing, loss of weight, </a:t>
            </a:r>
            <a:r>
              <a:rPr lang="en-US" altLang="en-US" dirty="0" err="1">
                <a:latin typeface="Century Gothic" panose="020B0502020202020204" pitchFamily="34" charset="0"/>
              </a:rPr>
              <a:t>diarrhoea</a:t>
            </a:r>
            <a:endParaRPr lang="en-US" altLang="en-US" dirty="0">
              <a:latin typeface="Century Gothic" panose="020B0502020202020204" pitchFamily="34" charset="0"/>
            </a:endParaRP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t>
            </a:r>
            <a:r>
              <a:rPr lang="en-US" altLang="en-US" sz="2400" dirty="0" err="1">
                <a:latin typeface="Century Gothic" panose="020B0502020202020204" pitchFamily="34" charset="0"/>
              </a:rPr>
              <a:t>Buparvaquone</a:t>
            </a:r>
            <a:endParaRPr lang="en-US" altLang="en-US" sz="2400" dirty="0">
              <a:latin typeface="Century Gothic" panose="020B0502020202020204" pitchFamily="34" charset="0"/>
            </a:endParaRP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Vaccination </a:t>
            </a:r>
          </a:p>
          <a:p>
            <a:pPr lvl="1">
              <a:lnSpc>
                <a:spcPct val="110000"/>
              </a:lnSpc>
            </a:pPr>
            <a:r>
              <a:rPr lang="en-US" dirty="0">
                <a:latin typeface="Century Gothic" panose="020B0502020202020204" pitchFamily="34" charset="0"/>
              </a:rPr>
              <a:t>tick control</a:t>
            </a:r>
          </a:p>
        </p:txBody>
      </p:sp>
    </p:spTree>
    <p:extLst>
      <p:ext uri="{BB962C8B-B14F-4D97-AF65-F5344CB8AC3E}">
        <p14:creationId xmlns:p14="http://schemas.microsoft.com/office/powerpoint/2010/main" val="426393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BABESIOSIS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Caused by various species of protozoan parasite, </a:t>
            </a:r>
            <a:r>
              <a:rPr lang="en-US" sz="2400" i="1" dirty="0" err="1">
                <a:latin typeface="Century Gothic" panose="020B0502020202020204" pitchFamily="34" charset="0"/>
              </a:rPr>
              <a:t>Babesia</a:t>
            </a:r>
            <a:r>
              <a:rPr lang="en-US" sz="2400" dirty="0">
                <a:latin typeface="Century Gothic" panose="020B0502020202020204" pitchFamily="34" charset="0"/>
              </a:rPr>
              <a:t>.</a:t>
            </a:r>
          </a:p>
          <a:p>
            <a:pPr>
              <a:lnSpc>
                <a:spcPct val="110000"/>
              </a:lnSpc>
            </a:pPr>
            <a:r>
              <a:rPr lang="en-US" sz="2400" dirty="0">
                <a:latin typeface="Century Gothic" panose="020B0502020202020204" pitchFamily="34" charset="0"/>
              </a:rPr>
              <a:t>Transmitted by ticks.</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Fever, loss of appetite, weakness, </a:t>
            </a:r>
            <a:r>
              <a:rPr lang="en-US" altLang="en-US" dirty="0" err="1">
                <a:latin typeface="Century Gothic" panose="020B0502020202020204" pitchFamily="34" charset="0"/>
              </a:rPr>
              <a:t>anaemia</a:t>
            </a:r>
            <a:r>
              <a:rPr lang="en-US" altLang="en-US" dirty="0">
                <a:latin typeface="Century Gothic" panose="020B0502020202020204" pitchFamily="34" charset="0"/>
              </a:rPr>
              <a:t>, dark red or brown urine</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t>
            </a:r>
            <a:r>
              <a:rPr lang="en-US" altLang="en-US" sz="2400" dirty="0" err="1">
                <a:latin typeface="Century Gothic" panose="020B0502020202020204" pitchFamily="34" charset="0"/>
              </a:rPr>
              <a:t>antiprotozoan</a:t>
            </a:r>
            <a:r>
              <a:rPr lang="en-US" altLang="en-US" sz="2400" dirty="0">
                <a:latin typeface="Century Gothic" panose="020B0502020202020204" pitchFamily="34" charset="0"/>
              </a:rPr>
              <a:t> drugs such as </a:t>
            </a:r>
            <a:r>
              <a:rPr lang="en-US" altLang="en-US" sz="2400" dirty="0" err="1">
                <a:latin typeface="Century Gothic" panose="020B0502020202020204" pitchFamily="34" charset="0"/>
              </a:rPr>
              <a:t>diminazene</a:t>
            </a:r>
            <a:r>
              <a:rPr lang="en-US" altLang="en-US" sz="2400" dirty="0">
                <a:latin typeface="Century Gothic" panose="020B0502020202020204" pitchFamily="34" charset="0"/>
              </a:rPr>
              <a:t> </a:t>
            </a:r>
            <a:r>
              <a:rPr lang="en-US" altLang="en-US" sz="2400" dirty="0" err="1">
                <a:latin typeface="Century Gothic" panose="020B0502020202020204" pitchFamily="34" charset="0"/>
              </a:rPr>
              <a:t>aceturate</a:t>
            </a:r>
            <a:r>
              <a:rPr lang="en-US" altLang="en-US" sz="2400" dirty="0">
                <a:latin typeface="Century Gothic" panose="020B0502020202020204" pitchFamily="34" charset="0"/>
              </a:rPr>
              <a:t> (</a:t>
            </a:r>
            <a:r>
              <a:rPr lang="en-US" altLang="en-US" sz="2400" dirty="0" err="1">
                <a:latin typeface="Century Gothic" panose="020B0502020202020204" pitchFamily="34" charset="0"/>
              </a:rPr>
              <a:t>Berenil</a:t>
            </a:r>
            <a:r>
              <a:rPr lang="en-US" altLang="en-US" sz="2400" dirty="0">
                <a:latin typeface="Century Gothic" panose="020B0502020202020204" pitchFamily="34" charset="0"/>
              </a:rPr>
              <a:t>)</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Regular tick control</a:t>
            </a:r>
          </a:p>
          <a:p>
            <a:pPr lvl="1">
              <a:lnSpc>
                <a:spcPct val="110000"/>
              </a:lnSpc>
            </a:pPr>
            <a:r>
              <a:rPr lang="en-US" dirty="0">
                <a:latin typeface="Century Gothic" panose="020B0502020202020204" pitchFamily="34" charset="0"/>
              </a:rPr>
              <a:t>Vaccination </a:t>
            </a:r>
            <a:endParaRPr lang="en-GB" dirty="0">
              <a:latin typeface="Century Gothic" panose="020B0502020202020204" pitchFamily="34" charset="0"/>
            </a:endParaRPr>
          </a:p>
        </p:txBody>
      </p:sp>
    </p:spTree>
    <p:extLst>
      <p:ext uri="{BB962C8B-B14F-4D97-AF65-F5344CB8AC3E}">
        <p14:creationId xmlns:p14="http://schemas.microsoft.com/office/powerpoint/2010/main" val="27766157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FOOT AND MOUTH DISEASE</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00000"/>
              </a:lnSpc>
            </a:pPr>
            <a:r>
              <a:rPr lang="en-US" sz="2400" dirty="0">
                <a:latin typeface="Century Gothic" panose="020B0502020202020204" pitchFamily="34" charset="0"/>
              </a:rPr>
              <a:t>Foot-and-mouth disease (FMD) is a highly contagious disease of sheep, goats, cattle, and pigs; and is caused by a virus. </a:t>
            </a:r>
          </a:p>
          <a:p>
            <a:pPr>
              <a:lnSpc>
                <a:spcPct val="100000"/>
              </a:lnSpc>
            </a:pPr>
            <a:r>
              <a:rPr lang="en-US" sz="2400" b="1" dirty="0">
                <a:latin typeface="Century Gothic" panose="020B0502020202020204" pitchFamily="34" charset="0"/>
              </a:rPr>
              <a:t>Clinical signs: </a:t>
            </a:r>
          </a:p>
          <a:p>
            <a:pPr lvl="1">
              <a:lnSpc>
                <a:spcPct val="100000"/>
              </a:lnSpc>
            </a:pPr>
            <a:r>
              <a:rPr lang="en-US" dirty="0">
                <a:latin typeface="Century Gothic" panose="020B0502020202020204" pitchFamily="34" charset="0"/>
              </a:rPr>
              <a:t>Fever</a:t>
            </a:r>
          </a:p>
          <a:p>
            <a:pPr lvl="1">
              <a:lnSpc>
                <a:spcPct val="100000"/>
              </a:lnSpc>
            </a:pPr>
            <a:r>
              <a:rPr lang="en-US" dirty="0">
                <a:latin typeface="Century Gothic" panose="020B0502020202020204" pitchFamily="34" charset="0"/>
              </a:rPr>
              <a:t>Profuse salivation ~ saliva hanging in long, rope-like strings;</a:t>
            </a:r>
          </a:p>
          <a:p>
            <a:pPr lvl="1">
              <a:lnSpc>
                <a:spcPct val="100000"/>
              </a:lnSpc>
            </a:pPr>
            <a:r>
              <a:rPr lang="en-US" dirty="0">
                <a:latin typeface="Century Gothic" panose="020B0502020202020204" pitchFamily="34" charset="0"/>
              </a:rPr>
              <a:t>Blister-like lesions in mouth and feet</a:t>
            </a:r>
          </a:p>
          <a:p>
            <a:pPr>
              <a:lnSpc>
                <a:spcPct val="100000"/>
              </a:lnSpc>
            </a:pPr>
            <a:r>
              <a:rPr lang="en-US" sz="2400" b="1" dirty="0">
                <a:latin typeface="Century Gothic" panose="020B0502020202020204" pitchFamily="34" charset="0"/>
              </a:rPr>
              <a:t>Treatment</a:t>
            </a:r>
            <a:r>
              <a:rPr lang="en-US" sz="2400" dirty="0">
                <a:latin typeface="Century Gothic" panose="020B0502020202020204" pitchFamily="34" charset="0"/>
              </a:rPr>
              <a:t>:  None except symptomatically.</a:t>
            </a:r>
          </a:p>
          <a:p>
            <a:pPr>
              <a:lnSpc>
                <a:spcPct val="10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a:t>
            </a:r>
          </a:p>
          <a:p>
            <a:pPr lvl="1">
              <a:lnSpc>
                <a:spcPct val="100000"/>
              </a:lnSpc>
            </a:pPr>
            <a:r>
              <a:rPr lang="en-US" dirty="0">
                <a:latin typeface="Century Gothic" panose="020B0502020202020204" pitchFamily="34" charset="0"/>
              </a:rPr>
              <a:t>Mass vaccination in endemic areas, eradication by slaughter when feasible, and strict quarantine during outbreaks.</a:t>
            </a:r>
          </a:p>
        </p:txBody>
      </p:sp>
    </p:spTree>
    <p:extLst>
      <p:ext uri="{BB962C8B-B14F-4D97-AF65-F5344CB8AC3E}">
        <p14:creationId xmlns:p14="http://schemas.microsoft.com/office/powerpoint/2010/main" val="3374161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HELMINTHIASIS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Caused by worms.</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Weight loss</a:t>
            </a:r>
          </a:p>
          <a:p>
            <a:pPr lvl="1">
              <a:lnSpc>
                <a:spcPct val="110000"/>
              </a:lnSpc>
            </a:pPr>
            <a:r>
              <a:rPr lang="en-US" altLang="en-US" dirty="0" err="1">
                <a:latin typeface="Century Gothic" panose="020B0502020202020204" pitchFamily="34" charset="0"/>
              </a:rPr>
              <a:t>Diarrhoea</a:t>
            </a:r>
            <a:endParaRPr lang="en-US" altLang="en-US" dirty="0">
              <a:latin typeface="Century Gothic" panose="020B0502020202020204" pitchFamily="34" charset="0"/>
            </a:endParaRPr>
          </a:p>
          <a:p>
            <a:pPr lvl="1">
              <a:lnSpc>
                <a:spcPct val="110000"/>
              </a:lnSpc>
            </a:pPr>
            <a:r>
              <a:rPr lang="en-US" altLang="en-US" dirty="0">
                <a:latin typeface="Century Gothic" panose="020B0502020202020204" pitchFamily="34" charset="0"/>
              </a:rPr>
              <a:t>Rough hair coat</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t>
            </a:r>
            <a:r>
              <a:rPr lang="en-US" altLang="en-US" sz="2400" dirty="0" err="1">
                <a:latin typeface="Century Gothic" panose="020B0502020202020204" pitchFamily="34" charset="0"/>
              </a:rPr>
              <a:t>anthelmintics</a:t>
            </a:r>
            <a:endParaRPr lang="en-US" altLang="en-US" sz="2400" dirty="0">
              <a:latin typeface="Century Gothic" panose="020B0502020202020204" pitchFamily="34" charset="0"/>
            </a:endParaRP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Good sanitation </a:t>
            </a:r>
          </a:p>
        </p:txBody>
      </p:sp>
    </p:spTree>
    <p:extLst>
      <p:ext uri="{BB962C8B-B14F-4D97-AF65-F5344CB8AC3E}">
        <p14:creationId xmlns:p14="http://schemas.microsoft.com/office/powerpoint/2010/main" val="1784519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MILK FEVER (HYPOCALCAEMIA)</a:t>
            </a:r>
          </a:p>
        </p:txBody>
      </p:sp>
      <p:sp>
        <p:nvSpPr>
          <p:cNvPr id="6" name="Tijdelijke aanduiding voor inhoud 5"/>
          <p:cNvSpPr>
            <a:spLocks noGrp="1"/>
          </p:cNvSpPr>
          <p:nvPr>
            <p:ph idx="1"/>
          </p:nvPr>
        </p:nvSpPr>
        <p:spPr>
          <a:xfrm>
            <a:off x="237067" y="1106311"/>
            <a:ext cx="11435644" cy="4515556"/>
          </a:xfrm>
        </p:spPr>
        <p:txBody>
          <a:bodyPr>
            <a:noAutofit/>
          </a:bodyPr>
          <a:lstStyle/>
          <a:p>
            <a:pPr>
              <a:lnSpc>
                <a:spcPct val="110000"/>
              </a:lnSpc>
            </a:pPr>
            <a:r>
              <a:rPr lang="en-US" sz="2400" dirty="0">
                <a:latin typeface="Century Gothic" panose="020B0502020202020204" pitchFamily="34" charset="0"/>
              </a:rPr>
              <a:t>Caused by an acute drop in serum calcium levels.</a:t>
            </a:r>
          </a:p>
          <a:p>
            <a:pPr>
              <a:lnSpc>
                <a:spcPct val="110000"/>
              </a:lnSpc>
            </a:pPr>
            <a:r>
              <a:rPr lang="en-GB" sz="2400" b="1" dirty="0">
                <a:latin typeface="Century Gothic" panose="020B0502020202020204" pitchFamily="34" charset="0"/>
              </a:rPr>
              <a:t>Clinical Signs:</a:t>
            </a:r>
          </a:p>
          <a:p>
            <a:pPr lvl="1">
              <a:lnSpc>
                <a:spcPct val="110000"/>
              </a:lnSpc>
            </a:pPr>
            <a:r>
              <a:rPr lang="en-US" altLang="en-US" dirty="0">
                <a:latin typeface="Century Gothic" panose="020B0502020202020204" pitchFamily="34" charset="0"/>
              </a:rPr>
              <a:t>Loss of appetite and slight drop in temperature</a:t>
            </a:r>
          </a:p>
          <a:p>
            <a:pPr lvl="1">
              <a:lnSpc>
                <a:spcPct val="110000"/>
              </a:lnSpc>
            </a:pPr>
            <a:r>
              <a:rPr lang="en-US" altLang="en-US" dirty="0">
                <a:latin typeface="Century Gothic" panose="020B0502020202020204" pitchFamily="34" charset="0"/>
              </a:rPr>
              <a:t>Cow staggers or fails to stand due to paralysis.</a:t>
            </a:r>
          </a:p>
          <a:p>
            <a:pPr lvl="1">
              <a:lnSpc>
                <a:spcPct val="110000"/>
              </a:lnSpc>
            </a:pPr>
            <a:r>
              <a:rPr lang="en-US" altLang="en-US" dirty="0">
                <a:latin typeface="Century Gothic" panose="020B0502020202020204" pitchFamily="34" charset="0"/>
              </a:rPr>
              <a:t>Head displaced to one side causing an S-kink in the neck or head turned to the flank.</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Calcium </a:t>
            </a:r>
            <a:r>
              <a:rPr lang="en-US" altLang="en-US" sz="2400" dirty="0" err="1">
                <a:latin typeface="Century Gothic" panose="020B0502020202020204" pitchFamily="34" charset="0"/>
              </a:rPr>
              <a:t>borogluconate</a:t>
            </a:r>
            <a:endParaRPr lang="en-US" altLang="en-US" sz="2400" dirty="0">
              <a:latin typeface="Century Gothic" panose="020B0502020202020204" pitchFamily="34" charset="0"/>
            </a:endParaRP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feeding normal or high phosphorus-low calcium diets during late pregnancy. Massive doses of vitamin D in feed 5 – 7 days before parturition.</a:t>
            </a:r>
            <a:endParaRPr lang="en-GB" sz="2400" dirty="0">
              <a:latin typeface="Century Gothic" panose="020B0502020202020204" pitchFamily="34" charset="0"/>
            </a:endParaRPr>
          </a:p>
        </p:txBody>
      </p:sp>
    </p:spTree>
    <p:extLst>
      <p:ext uri="{BB962C8B-B14F-4D97-AF65-F5344CB8AC3E}">
        <p14:creationId xmlns:p14="http://schemas.microsoft.com/office/powerpoint/2010/main" val="123879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METRITIS</a:t>
            </a:r>
          </a:p>
        </p:txBody>
      </p:sp>
      <p:sp>
        <p:nvSpPr>
          <p:cNvPr id="6" name="Tijdelijke aanduiding voor inhoud 5"/>
          <p:cNvSpPr>
            <a:spLocks noGrp="1"/>
          </p:cNvSpPr>
          <p:nvPr>
            <p:ph idx="1"/>
          </p:nvPr>
        </p:nvSpPr>
        <p:spPr>
          <a:xfrm>
            <a:off x="2152650" y="1228299"/>
            <a:ext cx="7886700" cy="4948664"/>
          </a:xfrm>
        </p:spPr>
        <p:txBody>
          <a:bodyPr>
            <a:normAutofit/>
          </a:bodyPr>
          <a:lstStyle/>
          <a:p>
            <a:r>
              <a:rPr lang="en-GB" sz="2400" dirty="0">
                <a:latin typeface="Century Gothic" panose="020B0502020202020204" pitchFamily="34" charset="0"/>
              </a:rPr>
              <a:t>The aetiology is multifactorial. </a:t>
            </a:r>
            <a:r>
              <a:rPr lang="en-US" sz="2400" dirty="0">
                <a:latin typeface="Century Gothic" panose="020B0502020202020204" pitchFamily="34" charset="0"/>
              </a:rPr>
              <a:t>It can also occur in other species.</a:t>
            </a:r>
          </a:p>
          <a:p>
            <a:pPr>
              <a:lnSpc>
                <a:spcPct val="100000"/>
              </a:lnSpc>
            </a:pPr>
            <a:r>
              <a:rPr lang="en-US" sz="2400" dirty="0">
                <a:latin typeface="Century Gothic" panose="020B0502020202020204" pitchFamily="34" charset="0"/>
              </a:rPr>
              <a:t>Metritis is most common in animals with fetal membranes retained for more than </a:t>
            </a:r>
            <a:r>
              <a:rPr lang="en-GB" sz="2400" dirty="0">
                <a:latin typeface="Century Gothic" panose="020B0502020202020204" pitchFamily="34" charset="0"/>
              </a:rPr>
              <a:t>24 hours following parturition.</a:t>
            </a:r>
          </a:p>
          <a:p>
            <a:r>
              <a:rPr lang="en-GB" sz="2400" b="1" dirty="0">
                <a:latin typeface="Century Gothic" panose="020B0502020202020204" pitchFamily="34" charset="0"/>
              </a:rPr>
              <a:t>Clinical Signs:</a:t>
            </a:r>
          </a:p>
          <a:p>
            <a:pPr lvl="1"/>
            <a:r>
              <a:rPr lang="en-US" altLang="en-US" dirty="0">
                <a:latin typeface="Century Gothic" panose="020B0502020202020204" pitchFamily="34" charset="0"/>
              </a:rPr>
              <a:t>Abnormal discharge from vulva</a:t>
            </a:r>
          </a:p>
          <a:p>
            <a:pPr lvl="1"/>
            <a:r>
              <a:rPr lang="en-US" altLang="en-US" dirty="0">
                <a:latin typeface="Century Gothic" panose="020B0502020202020204" pitchFamily="34" charset="0"/>
              </a:rPr>
              <a:t>Loss of appetite</a:t>
            </a:r>
          </a:p>
          <a:p>
            <a:pPr lvl="1"/>
            <a:r>
              <a:rPr lang="en-US" altLang="en-US" dirty="0">
                <a:latin typeface="Century Gothic" panose="020B0502020202020204" pitchFamily="34" charset="0"/>
              </a:rPr>
              <a:t>stand with backs arched</a:t>
            </a:r>
          </a:p>
          <a:p>
            <a:pPr lvl="1"/>
            <a:r>
              <a:rPr lang="en-US" altLang="en-US" dirty="0">
                <a:latin typeface="Century Gothic" panose="020B0502020202020204" pitchFamily="34" charset="0"/>
              </a:rPr>
              <a:t>Fever </a:t>
            </a:r>
          </a:p>
          <a:p>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Broad-spectrum antibiotics</a:t>
            </a:r>
            <a:endParaRPr lang="en-GB" sz="2400" dirty="0">
              <a:latin typeface="Century Gothic" panose="020B0502020202020204" pitchFamily="34" charset="0"/>
            </a:endParaRPr>
          </a:p>
        </p:txBody>
      </p:sp>
    </p:spTree>
    <p:extLst>
      <p:ext uri="{BB962C8B-B14F-4D97-AF65-F5344CB8AC3E}">
        <p14:creationId xmlns:p14="http://schemas.microsoft.com/office/powerpoint/2010/main" val="3145695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MASTITIS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Disease of the mammary gland that is caused by various contagious organisms.</a:t>
            </a:r>
          </a:p>
          <a:p>
            <a:pPr>
              <a:lnSpc>
                <a:spcPct val="110000"/>
              </a:lnSpc>
            </a:pPr>
            <a:r>
              <a:rPr lang="en-US" sz="2400" dirty="0">
                <a:latin typeface="Century Gothic" panose="020B0502020202020204" pitchFamily="34" charset="0"/>
              </a:rPr>
              <a:t>Disease spread by bad milking practices and unclean environment.</a:t>
            </a:r>
          </a:p>
          <a:p>
            <a:r>
              <a:rPr lang="en-GB" sz="2400" b="1" dirty="0">
                <a:latin typeface="Century Gothic" panose="020B0502020202020204" pitchFamily="34" charset="0"/>
              </a:rPr>
              <a:t>Clinical Signs:</a:t>
            </a:r>
          </a:p>
          <a:p>
            <a:pPr lvl="1"/>
            <a:r>
              <a:rPr lang="en-US" altLang="en-US" dirty="0">
                <a:latin typeface="Century Gothic" panose="020B0502020202020204" pitchFamily="34" charset="0"/>
              </a:rPr>
              <a:t>Swollen and hot udder</a:t>
            </a:r>
          </a:p>
          <a:p>
            <a:pPr lvl="1"/>
            <a:r>
              <a:rPr lang="en-US" altLang="en-US" dirty="0">
                <a:latin typeface="Century Gothic" panose="020B0502020202020204" pitchFamily="34" charset="0"/>
              </a:rPr>
              <a:t>Clots or flakes in milk</a:t>
            </a:r>
          </a:p>
          <a:p>
            <a:pPr lvl="1"/>
            <a:r>
              <a:rPr lang="en-US" altLang="en-US" dirty="0">
                <a:latin typeface="Century Gothic" panose="020B0502020202020204" pitchFamily="34" charset="0"/>
              </a:rPr>
              <a:t>Bloody or pus like secretions</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Antibiotics</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a:t>
            </a:r>
          </a:p>
          <a:p>
            <a:pPr lvl="1">
              <a:lnSpc>
                <a:spcPct val="110000"/>
              </a:lnSpc>
            </a:pPr>
            <a:r>
              <a:rPr lang="en-US" dirty="0">
                <a:latin typeface="Century Gothic" panose="020B0502020202020204" pitchFamily="34" charset="0"/>
              </a:rPr>
              <a:t>Good milking habits</a:t>
            </a:r>
          </a:p>
          <a:p>
            <a:pPr lvl="1">
              <a:lnSpc>
                <a:spcPct val="110000"/>
              </a:lnSpc>
            </a:pPr>
            <a:r>
              <a:rPr lang="en-US" dirty="0">
                <a:latin typeface="Century Gothic" panose="020B0502020202020204" pitchFamily="34" charset="0"/>
              </a:rPr>
              <a:t>Ensure the environment is clean and dry</a:t>
            </a:r>
          </a:p>
        </p:txBody>
      </p:sp>
    </p:spTree>
    <p:extLst>
      <p:ext uri="{BB962C8B-B14F-4D97-AF65-F5344CB8AC3E}">
        <p14:creationId xmlns:p14="http://schemas.microsoft.com/office/powerpoint/2010/main" val="25976201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NAVEL ILL</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00000"/>
              </a:lnSpc>
            </a:pPr>
            <a:r>
              <a:rPr lang="en-US" sz="2400" dirty="0">
                <a:latin typeface="Century Gothic" panose="020B0502020202020204" pitchFamily="34" charset="0"/>
              </a:rPr>
              <a:t>Infection of the umbilicus caused by various bacteria due to poor hygiene at the time of birth.</a:t>
            </a:r>
          </a:p>
          <a:p>
            <a:pPr>
              <a:lnSpc>
                <a:spcPct val="100000"/>
              </a:lnSpc>
            </a:pPr>
            <a:r>
              <a:rPr lang="en-US" sz="2400" dirty="0">
                <a:latin typeface="Century Gothic" panose="020B0502020202020204" pitchFamily="34" charset="0"/>
              </a:rPr>
              <a:t>The infection can also spread to joints and meninges.</a:t>
            </a:r>
          </a:p>
          <a:p>
            <a:pPr>
              <a:lnSpc>
                <a:spcPct val="100000"/>
              </a:lnSpc>
            </a:pPr>
            <a:r>
              <a:rPr lang="en-US" sz="2400" b="1" dirty="0">
                <a:latin typeface="Century Gothic" panose="020B0502020202020204" pitchFamily="34" charset="0"/>
              </a:rPr>
              <a:t>Clinical signs: </a:t>
            </a:r>
          </a:p>
          <a:p>
            <a:pPr lvl="1">
              <a:lnSpc>
                <a:spcPct val="100000"/>
              </a:lnSpc>
            </a:pPr>
            <a:r>
              <a:rPr lang="en-US" dirty="0">
                <a:latin typeface="Century Gothic" panose="020B0502020202020204" pitchFamily="34" charset="0"/>
              </a:rPr>
              <a:t>Umbilicus is enlarged and painful on palpation</a:t>
            </a:r>
          </a:p>
          <a:p>
            <a:pPr>
              <a:lnSpc>
                <a:spcPct val="100000"/>
              </a:lnSpc>
            </a:pPr>
            <a:r>
              <a:rPr lang="en-US" sz="2400" b="1" dirty="0">
                <a:latin typeface="Century Gothic" panose="020B0502020202020204" pitchFamily="34" charset="0"/>
              </a:rPr>
              <a:t>Treatment</a:t>
            </a:r>
            <a:r>
              <a:rPr lang="en-US" sz="2400" dirty="0">
                <a:latin typeface="Century Gothic" panose="020B0502020202020204" pitchFamily="34" charset="0"/>
              </a:rPr>
              <a:t>:  Antibiotics</a:t>
            </a:r>
          </a:p>
          <a:p>
            <a:pPr>
              <a:lnSpc>
                <a:spcPct val="10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a:t>
            </a:r>
          </a:p>
          <a:p>
            <a:pPr lvl="1">
              <a:lnSpc>
                <a:spcPct val="100000"/>
              </a:lnSpc>
            </a:pPr>
            <a:r>
              <a:rPr lang="en-US" dirty="0">
                <a:latin typeface="Century Gothic" panose="020B0502020202020204" pitchFamily="34" charset="0"/>
              </a:rPr>
              <a:t>Ensure good sanitation and hygiene at the time of birth</a:t>
            </a:r>
          </a:p>
        </p:txBody>
      </p:sp>
    </p:spTree>
    <p:extLst>
      <p:ext uri="{BB962C8B-B14F-4D97-AF65-F5344CB8AC3E}">
        <p14:creationId xmlns:p14="http://schemas.microsoft.com/office/powerpoint/2010/main" val="967915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SCOURS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00000"/>
              </a:lnSpc>
            </a:pPr>
            <a:r>
              <a:rPr lang="en-US" sz="2400" dirty="0">
                <a:latin typeface="Century Gothic" panose="020B0502020202020204" pitchFamily="34" charset="0"/>
              </a:rPr>
              <a:t>Bacteria is the major cause of </a:t>
            </a:r>
            <a:r>
              <a:rPr lang="en-US" sz="2400" dirty="0" err="1">
                <a:latin typeface="Century Gothic" panose="020B0502020202020204" pitchFamily="34" charset="0"/>
              </a:rPr>
              <a:t>diarrhoea</a:t>
            </a:r>
            <a:r>
              <a:rPr lang="en-US" sz="2400" dirty="0">
                <a:latin typeface="Century Gothic" panose="020B0502020202020204" pitchFamily="34" charset="0"/>
              </a:rPr>
              <a:t> in young animals. </a:t>
            </a:r>
          </a:p>
          <a:p>
            <a:pPr>
              <a:lnSpc>
                <a:spcPct val="100000"/>
              </a:lnSpc>
            </a:pPr>
            <a:r>
              <a:rPr lang="en-US" sz="2400" dirty="0">
                <a:latin typeface="Century Gothic" panose="020B0502020202020204" pitchFamily="34" charset="0"/>
              </a:rPr>
              <a:t>Common where hygiene is poor.</a:t>
            </a:r>
          </a:p>
          <a:p>
            <a:pPr>
              <a:lnSpc>
                <a:spcPct val="100000"/>
              </a:lnSpc>
            </a:pPr>
            <a:r>
              <a:rPr lang="en-US" sz="2400" b="1" dirty="0">
                <a:latin typeface="Century Gothic" panose="020B0502020202020204" pitchFamily="34" charset="0"/>
              </a:rPr>
              <a:t>Clinical signs: </a:t>
            </a:r>
          </a:p>
          <a:p>
            <a:pPr lvl="1">
              <a:lnSpc>
                <a:spcPct val="100000"/>
              </a:lnSpc>
            </a:pPr>
            <a:r>
              <a:rPr lang="en-US" dirty="0">
                <a:latin typeface="Century Gothic" panose="020B0502020202020204" pitchFamily="34" charset="0"/>
              </a:rPr>
              <a:t>Watery stool that may be brown, yellow, green in </a:t>
            </a:r>
            <a:r>
              <a:rPr lang="en-US" dirty="0" err="1">
                <a:latin typeface="Century Gothic" panose="020B0502020202020204" pitchFamily="34" charset="0"/>
              </a:rPr>
              <a:t>colour</a:t>
            </a:r>
            <a:r>
              <a:rPr lang="en-US" dirty="0">
                <a:latin typeface="Century Gothic" panose="020B0502020202020204" pitchFamily="34" charset="0"/>
              </a:rPr>
              <a:t>; fever, weakness</a:t>
            </a:r>
          </a:p>
          <a:p>
            <a:pPr marL="228600" lvl="1">
              <a:lnSpc>
                <a:spcPct val="100000"/>
              </a:lnSpc>
              <a:spcBef>
                <a:spcPts val="1000"/>
              </a:spcBef>
            </a:pPr>
            <a:r>
              <a:rPr lang="en-US" b="1" dirty="0">
                <a:latin typeface="Century Gothic" panose="020B0502020202020204" pitchFamily="34" charset="0"/>
              </a:rPr>
              <a:t>Treatment</a:t>
            </a:r>
            <a:r>
              <a:rPr lang="en-US" dirty="0">
                <a:latin typeface="Century Gothic" panose="020B0502020202020204" pitchFamily="34" charset="0"/>
              </a:rPr>
              <a:t>:  fluid therapy; antibiotics</a:t>
            </a:r>
          </a:p>
          <a:p>
            <a:pPr marL="228600" lvl="1">
              <a:lnSpc>
                <a:spcPct val="100000"/>
              </a:lnSpc>
              <a:spcBef>
                <a:spcPts val="1000"/>
              </a:spcBef>
            </a:pPr>
            <a:r>
              <a:rPr lang="en-US" b="1" dirty="0">
                <a:latin typeface="Century Gothic" panose="020B0502020202020204" pitchFamily="34" charset="0"/>
              </a:rPr>
              <a:t>Prevention and Control</a:t>
            </a:r>
            <a:r>
              <a:rPr lang="en-US" dirty="0">
                <a:latin typeface="Century Gothic" panose="020B0502020202020204" pitchFamily="34" charset="0"/>
              </a:rPr>
              <a:t>:</a:t>
            </a:r>
          </a:p>
          <a:p>
            <a:pPr lvl="1">
              <a:lnSpc>
                <a:spcPct val="100000"/>
              </a:lnSpc>
            </a:pPr>
            <a:r>
              <a:rPr lang="en-US" dirty="0">
                <a:latin typeface="Century Gothic" panose="020B0502020202020204" pitchFamily="34" charset="0"/>
              </a:rPr>
              <a:t>Isolate infected ones</a:t>
            </a:r>
          </a:p>
        </p:txBody>
      </p:sp>
    </p:spTree>
    <p:extLst>
      <p:ext uri="{BB962C8B-B14F-4D97-AF65-F5344CB8AC3E}">
        <p14:creationId xmlns:p14="http://schemas.microsoft.com/office/powerpoint/2010/main" val="28342217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KETOSIS (ACETONAEMIA)</a:t>
            </a:r>
          </a:p>
        </p:txBody>
      </p:sp>
      <p:sp>
        <p:nvSpPr>
          <p:cNvPr id="6" name="Tijdelijke aanduiding voor inhoud 5"/>
          <p:cNvSpPr>
            <a:spLocks noGrp="1"/>
          </p:cNvSpPr>
          <p:nvPr>
            <p:ph idx="1"/>
          </p:nvPr>
        </p:nvSpPr>
        <p:spPr>
          <a:xfrm>
            <a:off x="2152650" y="1228299"/>
            <a:ext cx="7886700" cy="4948664"/>
          </a:xfrm>
        </p:spPr>
        <p:txBody>
          <a:bodyPr>
            <a:noAutofit/>
          </a:bodyPr>
          <a:lstStyle/>
          <a:p>
            <a:r>
              <a:rPr lang="en-US" sz="2400" dirty="0">
                <a:latin typeface="Century Gothic" panose="020B0502020202020204" pitchFamily="34" charset="0"/>
              </a:rPr>
              <a:t>Metabolic disease due to negative energy balance especially carbohydrates.</a:t>
            </a:r>
          </a:p>
          <a:p>
            <a:r>
              <a:rPr lang="en-US" sz="2400" b="1" dirty="0">
                <a:latin typeface="Century Gothic" panose="020B0502020202020204" pitchFamily="34" charset="0"/>
              </a:rPr>
              <a:t>Clinical signs: </a:t>
            </a:r>
          </a:p>
          <a:p>
            <a:pPr lvl="1"/>
            <a:r>
              <a:rPr lang="en-US" dirty="0">
                <a:latin typeface="Century Gothic" panose="020B0502020202020204" pitchFamily="34" charset="0"/>
              </a:rPr>
              <a:t>Sweet smell of acetone detected in smell or milk.</a:t>
            </a:r>
          </a:p>
          <a:p>
            <a:pPr lvl="1"/>
            <a:r>
              <a:rPr lang="en-US" dirty="0">
                <a:latin typeface="Century Gothic" panose="020B0502020202020204" pitchFamily="34" charset="0"/>
              </a:rPr>
              <a:t>Some have short periods of bizarre neurologic and behavioral abnormality</a:t>
            </a:r>
          </a:p>
          <a:p>
            <a:r>
              <a:rPr lang="en-US" sz="2400" b="1" dirty="0">
                <a:latin typeface="Century Gothic" panose="020B0502020202020204" pitchFamily="34" charset="0"/>
              </a:rPr>
              <a:t>Treatment</a:t>
            </a:r>
            <a:r>
              <a:rPr lang="en-US" sz="2400" dirty="0">
                <a:latin typeface="Century Gothic" panose="020B0502020202020204" pitchFamily="34" charset="0"/>
              </a:rPr>
              <a:t>:  Intravenous glucose, injectable corticosteroid</a:t>
            </a:r>
          </a:p>
          <a:p>
            <a:r>
              <a:rPr lang="en-US" sz="2400" b="1" dirty="0">
                <a:latin typeface="Century Gothic" panose="020B0502020202020204" pitchFamily="34" charset="0"/>
              </a:rPr>
              <a:t>Prevention and Control</a:t>
            </a:r>
            <a:r>
              <a:rPr lang="en-US" sz="2400" dirty="0">
                <a:latin typeface="Century Gothic" panose="020B0502020202020204" pitchFamily="34" charset="0"/>
              </a:rPr>
              <a:t>:</a:t>
            </a:r>
          </a:p>
          <a:p>
            <a:pPr lvl="1"/>
            <a:r>
              <a:rPr lang="en-US" dirty="0">
                <a:latin typeface="Century Gothic" panose="020B0502020202020204" pitchFamily="34" charset="0"/>
              </a:rPr>
              <a:t>Correction of energy imbalance.</a:t>
            </a:r>
          </a:p>
        </p:txBody>
      </p:sp>
    </p:spTree>
    <p:extLst>
      <p:ext uri="{BB962C8B-B14F-4D97-AF65-F5344CB8AC3E}">
        <p14:creationId xmlns:p14="http://schemas.microsoft.com/office/powerpoint/2010/main" val="38005045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9002" y="1551865"/>
            <a:ext cx="7886700" cy="2897329"/>
          </a:xfrm>
        </p:spPr>
        <p:txBody>
          <a:bodyPr>
            <a:normAutofit/>
          </a:bodyPr>
          <a:lstStyle/>
          <a:p>
            <a:pPr algn="ctr"/>
            <a:r>
              <a:rPr lang="en-US" b="1" dirty="0">
                <a:solidFill>
                  <a:srgbClr val="00B0F0"/>
                </a:solidFill>
                <a:latin typeface="Century Gothic" panose="020B0502020202020204" pitchFamily="34" charset="0"/>
              </a:rPr>
              <a:t>Prevention, Control and Treatment of Some Zoonotic diseases</a:t>
            </a:r>
            <a:endParaRPr lang="en-GB" b="1" dirty="0">
              <a:solidFill>
                <a:srgbClr val="00B0F0"/>
              </a:solidFill>
            </a:endParaRPr>
          </a:p>
        </p:txBody>
      </p:sp>
    </p:spTree>
    <p:extLst>
      <p:ext uri="{BB962C8B-B14F-4D97-AF65-F5344CB8AC3E}">
        <p14:creationId xmlns:p14="http://schemas.microsoft.com/office/powerpoint/2010/main" val="17365593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BC0AAB-2084-4507-97BB-2BFB655ED60D}"/>
              </a:ext>
            </a:extLst>
          </p:cNvPr>
          <p:cNvSpPr>
            <a:spLocks noGrp="1"/>
          </p:cNvSpPr>
          <p:nvPr>
            <p:ph idx="1"/>
          </p:nvPr>
        </p:nvSpPr>
        <p:spPr>
          <a:xfrm>
            <a:off x="451556" y="338667"/>
            <a:ext cx="11480799" cy="6400800"/>
          </a:xfrm>
        </p:spPr>
        <p:txBody>
          <a:bodyPr>
            <a:normAutofit/>
          </a:bodyPr>
          <a:lstStyle/>
          <a:p>
            <a:pPr marL="0" indent="0">
              <a:buNone/>
            </a:pPr>
            <a:r>
              <a:rPr lang="en-US" sz="3200" b="1" dirty="0">
                <a:solidFill>
                  <a:srgbClr val="FFFF00"/>
                </a:solidFill>
              </a:rPr>
              <a:t>Zoonotic diseases</a:t>
            </a:r>
            <a:r>
              <a:rPr lang="en-US" sz="3200" dirty="0">
                <a:solidFill>
                  <a:srgbClr val="FFFF00"/>
                </a:solidFill>
              </a:rPr>
              <a:t> </a:t>
            </a:r>
            <a:r>
              <a:rPr lang="en-US" sz="3200" b="1" dirty="0">
                <a:solidFill>
                  <a:srgbClr val="FFFF00"/>
                </a:solidFill>
              </a:rPr>
              <a:t>are</a:t>
            </a:r>
            <a:r>
              <a:rPr lang="en-US" sz="3200" dirty="0">
                <a:solidFill>
                  <a:srgbClr val="FFFF00"/>
                </a:solidFill>
              </a:rPr>
              <a:t> </a:t>
            </a:r>
            <a:r>
              <a:rPr lang="en-US" sz="3200" b="1" dirty="0">
                <a:solidFill>
                  <a:srgbClr val="FFFF00"/>
                </a:solidFill>
              </a:rPr>
              <a:t>diseases that can be transmitted from animals to humans</a:t>
            </a:r>
            <a:r>
              <a:rPr lang="en-US" sz="3200" dirty="0">
                <a:solidFill>
                  <a:srgbClr val="FFFF00"/>
                </a:solidFill>
              </a:rPr>
              <a:t>.</a:t>
            </a:r>
          </a:p>
          <a:p>
            <a:pPr marL="0" indent="0">
              <a:buNone/>
            </a:pPr>
            <a:endParaRPr lang="en-US" dirty="0"/>
          </a:p>
          <a:p>
            <a:pPr marL="0" indent="0">
              <a:buNone/>
            </a:pPr>
            <a:r>
              <a:rPr lang="en-US" b="1" dirty="0"/>
              <a:t>Common zoonotic diseases (livestock-related):</a:t>
            </a:r>
          </a:p>
          <a:p>
            <a:pPr marL="514350" indent="-514350" algn="just">
              <a:buFont typeface="+mj-lt"/>
              <a:buAutoNum type="alphaLcParenR"/>
            </a:pPr>
            <a:r>
              <a:rPr lang="en-US" b="1" dirty="0"/>
              <a:t>Anthrax</a:t>
            </a:r>
            <a:r>
              <a:rPr lang="en-US" dirty="0"/>
              <a:t> – from cattle, goats, sheep</a:t>
            </a:r>
          </a:p>
          <a:p>
            <a:pPr marL="514350" indent="-514350" algn="just">
              <a:buFont typeface="+mj-lt"/>
              <a:buAutoNum type="alphaLcParenR"/>
            </a:pPr>
            <a:r>
              <a:rPr lang="en-US" b="1" dirty="0"/>
              <a:t>Brucellosis</a:t>
            </a:r>
            <a:r>
              <a:rPr lang="en-US" dirty="0"/>
              <a:t> – from cattle, goats, pigs (via milk or contact)</a:t>
            </a:r>
          </a:p>
          <a:p>
            <a:pPr marL="514350" indent="-514350" algn="just">
              <a:buFont typeface="+mj-lt"/>
              <a:buAutoNum type="alphaLcParenR"/>
            </a:pPr>
            <a:r>
              <a:rPr lang="en-US" b="1" dirty="0"/>
              <a:t>Rabies</a:t>
            </a:r>
            <a:r>
              <a:rPr lang="en-US" dirty="0"/>
              <a:t> – from dogs and other mammals (via bites)</a:t>
            </a:r>
          </a:p>
          <a:p>
            <a:pPr marL="514350" indent="-514350" algn="just">
              <a:buFont typeface="+mj-lt"/>
              <a:buAutoNum type="alphaLcParenR"/>
            </a:pPr>
            <a:r>
              <a:rPr lang="en-US" b="1" dirty="0"/>
              <a:t>Bovine tuberculosis</a:t>
            </a:r>
            <a:r>
              <a:rPr lang="en-US" dirty="0"/>
              <a:t> – from cattle (via milk or close contact)</a:t>
            </a:r>
          </a:p>
          <a:p>
            <a:pPr marL="514350" indent="-514350" algn="just">
              <a:buFont typeface="+mj-lt"/>
              <a:buAutoNum type="alphaLcParenR"/>
            </a:pPr>
            <a:r>
              <a:rPr lang="en-US" b="1" dirty="0"/>
              <a:t>Avian influenza</a:t>
            </a:r>
            <a:r>
              <a:rPr lang="en-US" dirty="0"/>
              <a:t> – from poultry</a:t>
            </a:r>
          </a:p>
          <a:p>
            <a:pPr marL="514350" indent="-514350" algn="just">
              <a:buFont typeface="+mj-lt"/>
              <a:buAutoNum type="alphaLcParenR"/>
            </a:pPr>
            <a:r>
              <a:rPr lang="en-US" b="1" dirty="0"/>
              <a:t>Salmonellosis</a:t>
            </a:r>
            <a:r>
              <a:rPr lang="en-US" dirty="0"/>
              <a:t> – from poultry, eggs, and meat</a:t>
            </a:r>
          </a:p>
          <a:p>
            <a:pPr marL="514350" indent="-514350" algn="just">
              <a:buFont typeface="+mj-lt"/>
              <a:buAutoNum type="alphaLcParenR"/>
            </a:pPr>
            <a:r>
              <a:rPr lang="en-US" b="1" dirty="0"/>
              <a:t>Leptospirosis</a:t>
            </a:r>
            <a:r>
              <a:rPr lang="en-US" dirty="0"/>
              <a:t> – from cattle, pigs (via urine-contaminated water)</a:t>
            </a:r>
          </a:p>
          <a:p>
            <a:pPr marL="514350" indent="-514350" algn="just">
              <a:buFont typeface="+mj-lt"/>
              <a:buAutoNum type="alphaLcParenR"/>
            </a:pPr>
            <a:r>
              <a:rPr lang="en-US" b="1" dirty="0"/>
              <a:t>Q fever</a:t>
            </a:r>
            <a:r>
              <a:rPr lang="en-US" dirty="0"/>
              <a:t> – from cattle, sheep, goats</a:t>
            </a:r>
          </a:p>
          <a:p>
            <a:pPr marL="514350" indent="-514350" algn="just">
              <a:buFont typeface="+mj-lt"/>
              <a:buAutoNum type="alphaLcParenR"/>
            </a:pPr>
            <a:r>
              <a:rPr lang="en-US" b="1" dirty="0"/>
              <a:t>Toxoplasmosis</a:t>
            </a:r>
            <a:r>
              <a:rPr lang="en-US" dirty="0"/>
              <a:t> – from cats and undercooked meat</a:t>
            </a:r>
          </a:p>
          <a:p>
            <a:pPr marL="514350" indent="-514350" algn="just">
              <a:buFont typeface="+mj-lt"/>
              <a:buAutoNum type="alphaLcParenR"/>
            </a:pPr>
            <a:r>
              <a:rPr lang="en-US" b="1" dirty="0"/>
              <a:t>Campylobacteriosis</a:t>
            </a:r>
            <a:r>
              <a:rPr lang="en-US" dirty="0"/>
              <a:t> – from poultry</a:t>
            </a:r>
          </a:p>
        </p:txBody>
      </p:sp>
    </p:spTree>
    <p:extLst>
      <p:ext uri="{BB962C8B-B14F-4D97-AF65-F5344CB8AC3E}">
        <p14:creationId xmlns:p14="http://schemas.microsoft.com/office/powerpoint/2010/main" val="4133526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AVIAN INFLUENZA</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Any infection or disease caused by the Type A influenza viruses.</a:t>
            </a:r>
          </a:p>
          <a:p>
            <a:pPr>
              <a:lnSpc>
                <a:spcPct val="110000"/>
              </a:lnSpc>
            </a:pPr>
            <a:r>
              <a:rPr lang="en-US" sz="2400" dirty="0">
                <a:latin typeface="Century Gothic" panose="020B0502020202020204" pitchFamily="34" charset="0"/>
              </a:rPr>
              <a:t>Can be classified as low pathogenic (H1 – H16) OR highly pathogenic (some H5, H7 subtypes).</a:t>
            </a:r>
          </a:p>
          <a:p>
            <a:pPr>
              <a:lnSpc>
                <a:spcPct val="110000"/>
              </a:lnSpc>
            </a:pPr>
            <a:r>
              <a:rPr lang="en-GB" sz="2400" b="1" dirty="0">
                <a:latin typeface="Century Gothic" panose="020B0502020202020204" pitchFamily="34" charset="0"/>
              </a:rPr>
              <a:t>Clinical Signs in animals:</a:t>
            </a:r>
          </a:p>
          <a:p>
            <a:pPr lvl="1">
              <a:lnSpc>
                <a:spcPct val="110000"/>
              </a:lnSpc>
            </a:pPr>
            <a:r>
              <a:rPr lang="en-US" altLang="en-US" dirty="0">
                <a:latin typeface="Century Gothic" panose="020B0502020202020204" pitchFamily="34" charset="0"/>
              </a:rPr>
              <a:t>Coughing, sneezing, lacrimation, reduced feed intake, decreased egg production, depression, weakness, ruffled feathers, huddling </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None</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good biosecurity practices, slaughter infected flocks, vaccination</a:t>
            </a:r>
            <a:endParaRPr lang="en-GB" sz="2400" dirty="0">
              <a:latin typeface="Century Gothic" panose="020B0502020202020204" pitchFamily="34" charset="0"/>
            </a:endParaRPr>
          </a:p>
        </p:txBody>
      </p:sp>
    </p:spTree>
    <p:extLst>
      <p:ext uri="{BB962C8B-B14F-4D97-AF65-F5344CB8AC3E}">
        <p14:creationId xmlns:p14="http://schemas.microsoft.com/office/powerpoint/2010/main" val="5823447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TUBERCULOSIS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Caused by </a:t>
            </a:r>
            <a:r>
              <a:rPr lang="en-US" sz="2400" i="1" dirty="0">
                <a:latin typeface="Century Gothic" panose="020B0502020202020204" pitchFamily="34" charset="0"/>
              </a:rPr>
              <a:t>Mycobacterium</a:t>
            </a:r>
            <a:r>
              <a:rPr lang="en-US" sz="2400" dirty="0">
                <a:latin typeface="Century Gothic" panose="020B0502020202020204" pitchFamily="34" charset="0"/>
              </a:rPr>
              <a:t> species and the disease is zoonotic. Spread via inhalation and ingestion.</a:t>
            </a:r>
          </a:p>
          <a:p>
            <a:pPr>
              <a:lnSpc>
                <a:spcPct val="110000"/>
              </a:lnSpc>
            </a:pPr>
            <a:r>
              <a:rPr lang="en-US" sz="2400" dirty="0">
                <a:latin typeface="Century Gothic" panose="020B0502020202020204" pitchFamily="34" charset="0"/>
              </a:rPr>
              <a:t>Affects all species but infection is predominant in cattle and pigs.  </a:t>
            </a:r>
          </a:p>
          <a:p>
            <a:pPr>
              <a:lnSpc>
                <a:spcPct val="110000"/>
              </a:lnSpc>
            </a:pPr>
            <a:r>
              <a:rPr lang="en-GB" sz="2400" b="1" dirty="0">
                <a:latin typeface="Century Gothic" panose="020B0502020202020204" pitchFamily="34" charset="0"/>
              </a:rPr>
              <a:t>Clinical Signs in animals:</a:t>
            </a:r>
          </a:p>
          <a:p>
            <a:pPr lvl="1">
              <a:lnSpc>
                <a:spcPct val="110000"/>
              </a:lnSpc>
            </a:pPr>
            <a:r>
              <a:rPr lang="en-US" altLang="en-US" dirty="0">
                <a:latin typeface="Century Gothic" panose="020B0502020202020204" pitchFamily="34" charset="0"/>
              </a:rPr>
              <a:t>Emaciation, reduced appetite, rough hair coat, fluctuating temperature</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None</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Test and slaughter infected animals.</a:t>
            </a:r>
            <a:endParaRPr lang="en-GB" sz="2400" dirty="0">
              <a:latin typeface="Century Gothic" panose="020B0502020202020204" pitchFamily="34" charset="0"/>
            </a:endParaRPr>
          </a:p>
        </p:txBody>
      </p:sp>
    </p:spTree>
    <p:extLst>
      <p:ext uri="{BB962C8B-B14F-4D97-AF65-F5344CB8AC3E}">
        <p14:creationId xmlns:p14="http://schemas.microsoft.com/office/powerpoint/2010/main" val="8974435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18825"/>
            <a:ext cx="7886700" cy="1325563"/>
          </a:xfrm>
        </p:spPr>
        <p:txBody>
          <a:bodyPr>
            <a:normAutofit/>
          </a:bodyPr>
          <a:lstStyle/>
          <a:p>
            <a:r>
              <a:rPr lang="en-US" sz="3200" dirty="0">
                <a:solidFill>
                  <a:srgbClr val="00B0F0"/>
                </a:solidFill>
                <a:latin typeface="Century Gothic" panose="020B0502020202020204" pitchFamily="34" charset="0"/>
              </a:rPr>
              <a:t>CYSTICERCOSIS</a:t>
            </a:r>
          </a:p>
        </p:txBody>
      </p:sp>
      <p:sp>
        <p:nvSpPr>
          <p:cNvPr id="6" name="Tijdelijke aanduiding voor inhoud 5"/>
          <p:cNvSpPr>
            <a:spLocks noGrp="1"/>
          </p:cNvSpPr>
          <p:nvPr>
            <p:ph idx="1"/>
          </p:nvPr>
        </p:nvSpPr>
        <p:spPr>
          <a:xfrm>
            <a:off x="2152650" y="1023579"/>
            <a:ext cx="7886700" cy="4948664"/>
          </a:xfrm>
        </p:spPr>
        <p:txBody>
          <a:bodyPr>
            <a:noAutofit/>
          </a:bodyPr>
          <a:lstStyle/>
          <a:p>
            <a:pPr>
              <a:lnSpc>
                <a:spcPct val="110000"/>
              </a:lnSpc>
            </a:pPr>
            <a:r>
              <a:rPr lang="en-US" sz="2400" dirty="0">
                <a:latin typeface="Century Gothic" panose="020B0502020202020204" pitchFamily="34" charset="0"/>
              </a:rPr>
              <a:t>Caused by </a:t>
            </a:r>
            <a:r>
              <a:rPr lang="en-US" sz="2400" i="1" dirty="0" err="1">
                <a:latin typeface="Century Gothic" panose="020B0502020202020204" pitchFamily="34" charset="0"/>
              </a:rPr>
              <a:t>Cysticercus</a:t>
            </a:r>
            <a:r>
              <a:rPr lang="en-US" sz="2400" dirty="0">
                <a:latin typeface="Century Gothic" panose="020B0502020202020204" pitchFamily="34" charset="0"/>
              </a:rPr>
              <a:t>, a larval stage of the tapeworm </a:t>
            </a:r>
            <a:r>
              <a:rPr lang="en-US" sz="2400" i="1" dirty="0" err="1">
                <a:latin typeface="Century Gothic" panose="020B0502020202020204" pitchFamily="34" charset="0"/>
              </a:rPr>
              <a:t>Taenia</a:t>
            </a:r>
            <a:r>
              <a:rPr lang="en-US" sz="2400" dirty="0">
                <a:latin typeface="Century Gothic" panose="020B0502020202020204" pitchFamily="34" charset="0"/>
              </a:rPr>
              <a:t> species. </a:t>
            </a:r>
          </a:p>
          <a:p>
            <a:pPr>
              <a:lnSpc>
                <a:spcPct val="110000"/>
              </a:lnSpc>
            </a:pPr>
            <a:r>
              <a:rPr lang="en-US" sz="2400" dirty="0">
                <a:latin typeface="Century Gothic" panose="020B0502020202020204" pitchFamily="34" charset="0"/>
              </a:rPr>
              <a:t>Beef and pork tapeworms are passed via undercooked or insufficiently cured pork or beef. </a:t>
            </a:r>
          </a:p>
          <a:p>
            <a:pPr>
              <a:lnSpc>
                <a:spcPct val="110000"/>
              </a:lnSpc>
            </a:pPr>
            <a:r>
              <a:rPr lang="en-US" sz="2400" i="1" dirty="0" err="1">
                <a:latin typeface="Century Gothic" panose="020B0502020202020204" pitchFamily="34" charset="0"/>
              </a:rPr>
              <a:t>Taenia</a:t>
            </a:r>
            <a:r>
              <a:rPr lang="en-US" sz="2400" i="1" dirty="0">
                <a:latin typeface="Century Gothic" panose="020B0502020202020204" pitchFamily="34" charset="0"/>
              </a:rPr>
              <a:t> </a:t>
            </a:r>
            <a:r>
              <a:rPr lang="en-US" sz="2400" i="1" dirty="0" err="1">
                <a:latin typeface="Century Gothic" panose="020B0502020202020204" pitchFamily="34" charset="0"/>
              </a:rPr>
              <a:t>solium</a:t>
            </a:r>
            <a:r>
              <a:rPr lang="en-US" sz="2400" dirty="0">
                <a:latin typeface="Century Gothic" panose="020B0502020202020204" pitchFamily="34" charset="0"/>
              </a:rPr>
              <a:t>, pork tapeworm, can also cause human </a:t>
            </a:r>
            <a:r>
              <a:rPr lang="en-US" sz="2400" dirty="0" err="1">
                <a:latin typeface="Century Gothic" panose="020B0502020202020204" pitchFamily="34" charset="0"/>
              </a:rPr>
              <a:t>cysticercosis</a:t>
            </a:r>
            <a:r>
              <a:rPr lang="en-US" sz="2400" dirty="0">
                <a:latin typeface="Century Gothic" panose="020B0502020202020204" pitchFamily="34" charset="0"/>
              </a:rPr>
              <a:t> which may result in seizures.</a:t>
            </a:r>
          </a:p>
          <a:p>
            <a:pPr>
              <a:lnSpc>
                <a:spcPct val="110000"/>
              </a:lnSpc>
            </a:pPr>
            <a:r>
              <a:rPr lang="en-GB" sz="2400" b="1" dirty="0">
                <a:latin typeface="Century Gothic" panose="020B0502020202020204" pitchFamily="34" charset="0"/>
              </a:rPr>
              <a:t>Clinical Signs in animals:</a:t>
            </a:r>
          </a:p>
          <a:p>
            <a:pPr marL="266700" lvl="1" indent="0">
              <a:lnSpc>
                <a:spcPct val="110000"/>
              </a:lnSpc>
              <a:buNone/>
            </a:pPr>
            <a:r>
              <a:rPr lang="en-US" altLang="en-US" dirty="0">
                <a:latin typeface="Century Gothic" panose="020B0502020202020204" pitchFamily="34" charset="0"/>
              </a:rPr>
              <a:t>Signs usually seen when there’s massive infestation; and include:</a:t>
            </a:r>
          </a:p>
          <a:p>
            <a:pPr lvl="1">
              <a:lnSpc>
                <a:spcPct val="110000"/>
              </a:lnSpc>
            </a:pPr>
            <a:r>
              <a:rPr lang="en-US" altLang="en-US" dirty="0">
                <a:latin typeface="Century Gothic" panose="020B0502020202020204" pitchFamily="34" charset="0"/>
              </a:rPr>
              <a:t>Muscle disorders; loss of condition; blister-like lesions on the tongue</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Good sanitation and hygiene</a:t>
            </a:r>
          </a:p>
        </p:txBody>
      </p:sp>
    </p:spTree>
    <p:extLst>
      <p:ext uri="{BB962C8B-B14F-4D97-AF65-F5344CB8AC3E}">
        <p14:creationId xmlns:p14="http://schemas.microsoft.com/office/powerpoint/2010/main" val="8203757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RABIES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Caused by a virus; and the virus is mostly transmitted by bites of infected animal.</a:t>
            </a:r>
          </a:p>
          <a:p>
            <a:pPr>
              <a:lnSpc>
                <a:spcPct val="110000"/>
              </a:lnSpc>
            </a:pPr>
            <a:r>
              <a:rPr lang="en-GB" sz="2400" b="1" dirty="0">
                <a:latin typeface="Century Gothic" panose="020B0502020202020204" pitchFamily="34" charset="0"/>
              </a:rPr>
              <a:t>Clinical Signs in animals:</a:t>
            </a:r>
          </a:p>
          <a:p>
            <a:pPr lvl="1">
              <a:lnSpc>
                <a:spcPct val="110000"/>
              </a:lnSpc>
            </a:pPr>
            <a:r>
              <a:rPr lang="en-US" altLang="en-US" dirty="0">
                <a:latin typeface="Century Gothic" panose="020B0502020202020204" pitchFamily="34" charset="0"/>
              </a:rPr>
              <a:t>Paralysis, drooling saliva, vocalization, aggressiveness, biting</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No treatment after onset of clinical signs</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vaccination of pets; post exposure vaccination of domesticated animals; controlling access of wildlife that are likely to come in contact with farm animals</a:t>
            </a:r>
            <a:endParaRPr lang="en-GB" sz="2400" dirty="0">
              <a:latin typeface="Century Gothic" panose="020B0502020202020204" pitchFamily="34" charset="0"/>
            </a:endParaRPr>
          </a:p>
        </p:txBody>
      </p:sp>
    </p:spTree>
    <p:extLst>
      <p:ext uri="{BB962C8B-B14F-4D97-AF65-F5344CB8AC3E}">
        <p14:creationId xmlns:p14="http://schemas.microsoft.com/office/powerpoint/2010/main" val="5823447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BRUCELLOSIS</a:t>
            </a:r>
          </a:p>
        </p:txBody>
      </p:sp>
      <p:sp>
        <p:nvSpPr>
          <p:cNvPr id="6" name="Tijdelijke aanduiding voor inhoud 5"/>
          <p:cNvSpPr>
            <a:spLocks noGrp="1"/>
          </p:cNvSpPr>
          <p:nvPr>
            <p:ph idx="1"/>
          </p:nvPr>
        </p:nvSpPr>
        <p:spPr>
          <a:xfrm>
            <a:off x="2152650" y="1228299"/>
            <a:ext cx="7886700" cy="4948664"/>
          </a:xfrm>
        </p:spPr>
        <p:txBody>
          <a:bodyPr>
            <a:noAutofit/>
          </a:bodyPr>
          <a:lstStyle/>
          <a:p>
            <a:pPr>
              <a:lnSpc>
                <a:spcPct val="110000"/>
              </a:lnSpc>
            </a:pPr>
            <a:r>
              <a:rPr lang="en-US" sz="2400" dirty="0">
                <a:latin typeface="Century Gothic" panose="020B0502020202020204" pitchFamily="34" charset="0"/>
              </a:rPr>
              <a:t>Caused by </a:t>
            </a:r>
            <a:r>
              <a:rPr lang="en-US" sz="2400" i="1" dirty="0" err="1">
                <a:latin typeface="Century Gothic" panose="020B0502020202020204" pitchFamily="34" charset="0"/>
              </a:rPr>
              <a:t>Brucella</a:t>
            </a:r>
            <a:r>
              <a:rPr lang="en-US" sz="2400" dirty="0">
                <a:latin typeface="Century Gothic" panose="020B0502020202020204" pitchFamily="34" charset="0"/>
              </a:rPr>
              <a:t> bacteria and it causes undulant fever in humans. Different species affect cattle, sheep, goats and pigs.</a:t>
            </a:r>
          </a:p>
          <a:p>
            <a:pPr>
              <a:lnSpc>
                <a:spcPct val="110000"/>
              </a:lnSpc>
            </a:pPr>
            <a:r>
              <a:rPr lang="en-US" sz="2400" dirty="0">
                <a:latin typeface="Century Gothic" panose="020B0502020202020204" pitchFamily="34" charset="0"/>
              </a:rPr>
              <a:t>Transmitted by ingestion, aerosol or contact with uterine discharge.</a:t>
            </a:r>
          </a:p>
          <a:p>
            <a:pPr>
              <a:lnSpc>
                <a:spcPct val="110000"/>
              </a:lnSpc>
            </a:pPr>
            <a:r>
              <a:rPr lang="en-GB" sz="2400" b="1" dirty="0">
                <a:latin typeface="Century Gothic" panose="020B0502020202020204" pitchFamily="34" charset="0"/>
              </a:rPr>
              <a:t>Clinical Signs in animals:</a:t>
            </a:r>
          </a:p>
          <a:p>
            <a:pPr lvl="1">
              <a:lnSpc>
                <a:spcPct val="110000"/>
              </a:lnSpc>
            </a:pPr>
            <a:r>
              <a:rPr lang="en-US" altLang="en-US" dirty="0">
                <a:latin typeface="Century Gothic" panose="020B0502020202020204" pitchFamily="34" charset="0"/>
              </a:rPr>
              <a:t>Abortions esp. during last trimester</a:t>
            </a:r>
          </a:p>
          <a:p>
            <a:pPr lvl="1">
              <a:lnSpc>
                <a:spcPct val="110000"/>
              </a:lnSpc>
            </a:pPr>
            <a:r>
              <a:rPr lang="en-US" altLang="en-US" dirty="0">
                <a:latin typeface="Century Gothic" panose="020B0502020202020204" pitchFamily="34" charset="0"/>
              </a:rPr>
              <a:t>Swollen testicles</a:t>
            </a:r>
          </a:p>
          <a:p>
            <a:pPr>
              <a:lnSpc>
                <a:spcPct val="110000"/>
              </a:lnSpc>
            </a:pPr>
            <a:r>
              <a:rPr lang="en-US" altLang="en-US" sz="2400" b="1" dirty="0">
                <a:latin typeface="Century Gothic" panose="020B0502020202020204" pitchFamily="34" charset="0"/>
              </a:rPr>
              <a:t>Treatment</a:t>
            </a:r>
            <a:r>
              <a:rPr lang="en-US" altLang="en-US" sz="2400" dirty="0">
                <a:latin typeface="Century Gothic" panose="020B0502020202020204" pitchFamily="34" charset="0"/>
              </a:rPr>
              <a:t>: Not usually done </a:t>
            </a:r>
          </a:p>
          <a:p>
            <a:pPr>
              <a:lnSpc>
                <a:spcPct val="110000"/>
              </a:lnSpc>
            </a:pPr>
            <a:r>
              <a:rPr lang="en-US" sz="2400" b="1" dirty="0">
                <a:latin typeface="Century Gothic" panose="020B0502020202020204" pitchFamily="34" charset="0"/>
              </a:rPr>
              <a:t>Prevention and Control</a:t>
            </a:r>
            <a:r>
              <a:rPr lang="en-US" sz="2400" dirty="0">
                <a:latin typeface="Century Gothic" panose="020B0502020202020204" pitchFamily="34" charset="0"/>
              </a:rPr>
              <a:t>: vaccination; good hygiene; slaughter of infected animals; and burial of all placentas and </a:t>
            </a:r>
            <a:r>
              <a:rPr lang="en-US" sz="2400" dirty="0" err="1">
                <a:latin typeface="Century Gothic" panose="020B0502020202020204" pitchFamily="34" charset="0"/>
              </a:rPr>
              <a:t>foetuses</a:t>
            </a:r>
            <a:r>
              <a:rPr lang="en-US" sz="2400" dirty="0">
                <a:latin typeface="Century Gothic" panose="020B0502020202020204" pitchFamily="34" charset="0"/>
              </a:rPr>
              <a:t> in endemic areas.</a:t>
            </a:r>
            <a:endParaRPr lang="en-GB" sz="2400" dirty="0">
              <a:latin typeface="Century Gothic" panose="020B0502020202020204" pitchFamily="34" charset="0"/>
            </a:endParaRPr>
          </a:p>
        </p:txBody>
      </p:sp>
    </p:spTree>
    <p:extLst>
      <p:ext uri="{BB962C8B-B14F-4D97-AF65-F5344CB8AC3E}">
        <p14:creationId xmlns:p14="http://schemas.microsoft.com/office/powerpoint/2010/main" val="4527095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14361"/>
            <a:ext cx="7886700" cy="1325563"/>
          </a:xfrm>
        </p:spPr>
        <p:txBody>
          <a:bodyPr>
            <a:normAutofit/>
          </a:bodyPr>
          <a:lstStyle/>
          <a:p>
            <a:r>
              <a:rPr lang="en-US" sz="3200" dirty="0">
                <a:solidFill>
                  <a:srgbClr val="00B0F0"/>
                </a:solidFill>
                <a:latin typeface="Century Gothic" panose="020B0502020202020204" pitchFamily="34" charset="0"/>
              </a:rPr>
              <a:t>TRYPANOSOMIASIS</a:t>
            </a:r>
          </a:p>
        </p:txBody>
      </p:sp>
      <p:sp>
        <p:nvSpPr>
          <p:cNvPr id="6" name="Tijdelijke aanduiding voor inhoud 5"/>
          <p:cNvSpPr>
            <a:spLocks noGrp="1"/>
          </p:cNvSpPr>
          <p:nvPr>
            <p:ph idx="1"/>
          </p:nvPr>
        </p:nvSpPr>
        <p:spPr>
          <a:xfrm>
            <a:off x="191911" y="948268"/>
            <a:ext cx="11604978" cy="3917243"/>
          </a:xfrm>
        </p:spPr>
        <p:txBody>
          <a:bodyPr>
            <a:noAutofit/>
          </a:bodyPr>
          <a:lstStyle/>
          <a:p>
            <a:pPr>
              <a:lnSpc>
                <a:spcPct val="110000"/>
              </a:lnSpc>
            </a:pPr>
            <a:r>
              <a:rPr lang="en-US" sz="2400" dirty="0">
                <a:latin typeface="Times New Roman" panose="02020603050405020304" pitchFamily="18" charset="0"/>
                <a:cs typeface="Times New Roman" panose="02020603050405020304" pitchFamily="18" charset="0"/>
              </a:rPr>
              <a:t>Caused by a protozoan parasite, </a:t>
            </a:r>
            <a:r>
              <a:rPr lang="en-US" sz="2400" i="1" dirty="0" err="1">
                <a:latin typeface="Times New Roman" panose="02020603050405020304" pitchFamily="18" charset="0"/>
                <a:cs typeface="Times New Roman" panose="02020603050405020304" pitchFamily="18" charset="0"/>
              </a:rPr>
              <a:t>Trypanosoma</a:t>
            </a:r>
            <a:r>
              <a:rPr lang="en-US" sz="2400" dirty="0">
                <a:latin typeface="Times New Roman" panose="02020603050405020304" pitchFamily="18" charset="0"/>
                <a:cs typeface="Times New Roman" panose="02020603050405020304" pitchFamily="18" charset="0"/>
              </a:rPr>
              <a:t>. </a:t>
            </a:r>
          </a:p>
          <a:p>
            <a:pPr>
              <a:lnSpc>
                <a:spcPct val="110000"/>
              </a:lnSpc>
            </a:pPr>
            <a:r>
              <a:rPr lang="en-US" sz="2400" dirty="0">
                <a:latin typeface="Times New Roman" panose="02020603050405020304" pitchFamily="18" charset="0"/>
                <a:cs typeface="Times New Roman" panose="02020603050405020304" pitchFamily="18" charset="0"/>
              </a:rPr>
              <a:t>Only</a:t>
            </a:r>
            <a:r>
              <a:rPr lang="en-US" sz="2400" i="1" dirty="0">
                <a:latin typeface="Times New Roman" panose="02020603050405020304" pitchFamily="18" charset="0"/>
                <a:cs typeface="Times New Roman" panose="02020603050405020304" pitchFamily="18" charset="0"/>
              </a:rPr>
              <a:t> T. </a:t>
            </a:r>
            <a:r>
              <a:rPr lang="en-US" sz="2400" i="1" dirty="0" err="1">
                <a:latin typeface="Times New Roman" panose="02020603050405020304" pitchFamily="18" charset="0"/>
                <a:cs typeface="Times New Roman" panose="02020603050405020304" pitchFamily="18" charset="0"/>
              </a:rPr>
              <a:t>brucei</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zoonotic and causes sleeping sickness in humans.</a:t>
            </a:r>
          </a:p>
          <a:p>
            <a:pPr>
              <a:lnSpc>
                <a:spcPct val="110000"/>
              </a:lnSpc>
            </a:pPr>
            <a:r>
              <a:rPr lang="en-GB" sz="2400" b="1" dirty="0">
                <a:latin typeface="Times New Roman" panose="02020603050405020304" pitchFamily="18" charset="0"/>
                <a:cs typeface="Times New Roman" panose="02020603050405020304" pitchFamily="18" charset="0"/>
              </a:rPr>
              <a:t>Clinical Signs in animals:</a:t>
            </a:r>
          </a:p>
          <a:p>
            <a:pPr lvl="1">
              <a:lnSpc>
                <a:spcPct val="110000"/>
              </a:lnSpc>
            </a:pPr>
            <a:r>
              <a:rPr lang="en-US" altLang="en-US" dirty="0">
                <a:latin typeface="Times New Roman" panose="02020603050405020304" pitchFamily="18" charset="0"/>
                <a:cs typeface="Times New Roman" panose="02020603050405020304" pitchFamily="18" charset="0"/>
              </a:rPr>
              <a:t>Fever, pale mucous membranes, swollen lymph nodes, loss of weight, sometimes nervous signs.</a:t>
            </a:r>
          </a:p>
          <a:p>
            <a:pPr>
              <a:lnSpc>
                <a:spcPct val="110000"/>
              </a:lnSpc>
            </a:pPr>
            <a:r>
              <a:rPr lang="en-US" altLang="en-US" sz="2400" b="1" dirty="0">
                <a:latin typeface="Times New Roman" panose="02020603050405020304" pitchFamily="18" charset="0"/>
                <a:cs typeface="Times New Roman" panose="02020603050405020304" pitchFamily="18" charset="0"/>
              </a:rPr>
              <a:t>Treatment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Trypanocides</a:t>
            </a:r>
            <a:r>
              <a:rPr lang="en-US" altLang="en-US" sz="2400" dirty="0">
                <a:latin typeface="Times New Roman" panose="02020603050405020304" pitchFamily="18" charset="0"/>
                <a:cs typeface="Times New Roman" panose="02020603050405020304" pitchFamily="18" charset="0"/>
              </a:rPr>
              <a:t> such as </a:t>
            </a:r>
            <a:r>
              <a:rPr lang="en-US" altLang="en-US" sz="2400" dirty="0" err="1">
                <a:latin typeface="Times New Roman" panose="02020603050405020304" pitchFamily="18" charset="0"/>
                <a:cs typeface="Times New Roman" panose="02020603050405020304" pitchFamily="18" charset="0"/>
              </a:rPr>
              <a:t>Berenil</a:t>
            </a:r>
            <a:endParaRPr lang="en-US" altLang="en-US" sz="2400" dirty="0">
              <a:latin typeface="Times New Roman" panose="02020603050405020304" pitchFamily="18" charset="0"/>
              <a:cs typeface="Times New Roman" panose="02020603050405020304" pitchFamily="18" charset="0"/>
            </a:endParaRPr>
          </a:p>
          <a:p>
            <a:pPr>
              <a:lnSpc>
                <a:spcPct val="110000"/>
              </a:lnSpc>
            </a:pPr>
            <a:r>
              <a:rPr lang="en-US" sz="2400" b="1" dirty="0">
                <a:latin typeface="Times New Roman" panose="02020603050405020304" pitchFamily="18" charset="0"/>
                <a:cs typeface="Times New Roman" panose="02020603050405020304" pitchFamily="18" charset="0"/>
              </a:rPr>
              <a:t>Prevention and Control</a:t>
            </a:r>
            <a:r>
              <a:rPr lang="en-US" sz="2400" dirty="0">
                <a:latin typeface="Times New Roman" panose="02020603050405020304" pitchFamily="18" charset="0"/>
                <a:cs typeface="Times New Roman" panose="02020603050405020304" pitchFamily="18" charset="0"/>
              </a:rPr>
              <a:t>: integrated methods involving tsetse fly control, prophylaxis, good husbandry, and use of </a:t>
            </a:r>
            <a:r>
              <a:rPr lang="en-US" sz="2400" dirty="0" err="1">
                <a:latin typeface="Times New Roman" panose="02020603050405020304" pitchFamily="18" charset="0"/>
                <a:cs typeface="Times New Roman" panose="02020603050405020304" pitchFamily="18" charset="0"/>
              </a:rPr>
              <a:t>trypanotolerant</a:t>
            </a:r>
            <a:r>
              <a:rPr lang="en-US" sz="2400" dirty="0">
                <a:latin typeface="Times New Roman" panose="02020603050405020304" pitchFamily="18" charset="0"/>
                <a:cs typeface="Times New Roman" panose="02020603050405020304" pitchFamily="18" charset="0"/>
              </a:rPr>
              <a:t> breeds.</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91591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48393</TotalTime>
  <Words>2816</Words>
  <Application>Microsoft Office PowerPoint</Application>
  <PresentationFormat>Widescreen</PresentationFormat>
  <Paragraphs>424</Paragraphs>
  <Slides>49</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Arial</vt:lpstr>
      <vt:lpstr>Arial Narrow</vt:lpstr>
      <vt:lpstr>Calibri</vt:lpstr>
      <vt:lpstr>Century Gothic</vt:lpstr>
      <vt:lpstr>Times New Roman</vt:lpstr>
      <vt:lpstr>Wingdings</vt:lpstr>
      <vt:lpstr>Wingdings 3</vt:lpstr>
      <vt:lpstr>Ion</vt:lpstr>
      <vt:lpstr>Animal Health and Biosecurity Measures</vt:lpstr>
      <vt:lpstr>PowerPoint Presentation</vt:lpstr>
      <vt:lpstr>PowerPoint Presentation</vt:lpstr>
      <vt:lpstr>PowerPoint Presentation</vt:lpstr>
      <vt:lpstr>Malawian Livestock legislation and Policies</vt:lpstr>
      <vt:lpstr>Malawian Livestock legislation and Policies</vt:lpstr>
      <vt:lpstr>ANIMAL HEALTH PROCEDURES</vt:lpstr>
      <vt:lpstr>PowerPoint Presentation</vt:lpstr>
      <vt:lpstr>PowerPoint Presentation</vt:lpstr>
      <vt:lpstr>ANIMAL HEALTH PROCEDURES</vt:lpstr>
      <vt:lpstr>ANIMAL HEALTH PROCEDURES</vt:lpstr>
      <vt:lpstr>ANIMAL HEALTH PROCEDURES</vt:lpstr>
      <vt:lpstr>ANIMAL HEALTH PROCEDURES</vt:lpstr>
      <vt:lpstr>ANIMAL DISEASE TRIANGLE</vt:lpstr>
      <vt:lpstr>Predisposing Factors to Disease Development</vt:lpstr>
      <vt:lpstr>Prevention, Control and Treatment of Poultry diseases</vt:lpstr>
      <vt:lpstr>NEWCASTLE DISEASE</vt:lpstr>
      <vt:lpstr>COCCIDIOSIS</vt:lpstr>
      <vt:lpstr>GUMBORO</vt:lpstr>
      <vt:lpstr>FOWL POX</vt:lpstr>
      <vt:lpstr>HELMINTHIASIS</vt:lpstr>
      <vt:lpstr>PULLORUM DISEASE</vt:lpstr>
      <vt:lpstr>Prevention, Control and Treatment of Pig diseases</vt:lpstr>
      <vt:lpstr>AFRICAN SWINE FEVER</vt:lpstr>
      <vt:lpstr>ANAEMIA</vt:lpstr>
      <vt:lpstr>MANGE</vt:lpstr>
      <vt:lpstr>HELMINTHIASIS</vt:lpstr>
      <vt:lpstr>Prevention, Control and Treatment of Sheep and Goat diseases</vt:lpstr>
      <vt:lpstr>ORF / CONTAGIOUS PUSTULAR DERMATITIS</vt:lpstr>
      <vt:lpstr>HELMINTHIASIS</vt:lpstr>
      <vt:lpstr>Prevention, Control and Treatment of Dairy and Beef Cattle diseases</vt:lpstr>
      <vt:lpstr>EAST COAST FEVER</vt:lpstr>
      <vt:lpstr>BABESIOSIS</vt:lpstr>
      <vt:lpstr>FOOT AND MOUTH DISEASE</vt:lpstr>
      <vt:lpstr>HELMINTHIASIS</vt:lpstr>
      <vt:lpstr>MILK FEVER (HYPOCALCAEMIA)</vt:lpstr>
      <vt:lpstr>METRITIS</vt:lpstr>
      <vt:lpstr>MASTITIS</vt:lpstr>
      <vt:lpstr>NAVEL ILL</vt:lpstr>
      <vt:lpstr>SCOURS</vt:lpstr>
      <vt:lpstr>KETOSIS (ACETONAEMIA)</vt:lpstr>
      <vt:lpstr>Prevention, Control and Treatment of Some Zoonotic diseases</vt:lpstr>
      <vt:lpstr>PowerPoint Presentation</vt:lpstr>
      <vt:lpstr>AVIAN INFLUENZA</vt:lpstr>
      <vt:lpstr>TUBERCULOSIS</vt:lpstr>
      <vt:lpstr>CYSTICERCOSIS</vt:lpstr>
      <vt:lpstr>RABIES</vt:lpstr>
      <vt:lpstr>BRUCELLOSIS</vt:lpstr>
      <vt:lpstr>TRYPANOSOMIASIS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Mike Luwe</dc:creator>
  <cp:lastModifiedBy>JOSEPH D. LIWONDE</cp:lastModifiedBy>
  <cp:revision>797</cp:revision>
  <dcterms:created xsi:type="dcterms:W3CDTF">2018-04-27T21:44:57Z</dcterms:created>
  <dcterms:modified xsi:type="dcterms:W3CDTF">2026-02-11T15:24:29Z</dcterms:modified>
</cp:coreProperties>
</file>